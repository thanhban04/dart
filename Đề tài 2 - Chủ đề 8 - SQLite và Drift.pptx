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1" r:id="rId5"/>
  </p:sldMasterIdLst>
  <p:notesMasterIdLst>
    <p:notesMasterId r:id="rId60"/>
  </p:notesMasterIdLst>
  <p:sldIdLst>
    <p:sldId id="404" r:id="rId6"/>
    <p:sldId id="257" r:id="rId7"/>
    <p:sldId id="402" r:id="rId8"/>
    <p:sldId id="413" r:id="rId9"/>
    <p:sldId id="406" r:id="rId10"/>
    <p:sldId id="414" r:id="rId11"/>
    <p:sldId id="407" r:id="rId12"/>
    <p:sldId id="480" r:id="rId13"/>
    <p:sldId id="483" r:id="rId14"/>
    <p:sldId id="481" r:id="rId15"/>
    <p:sldId id="497" r:id="rId16"/>
    <p:sldId id="484" r:id="rId17"/>
    <p:sldId id="482" r:id="rId18"/>
    <p:sldId id="485" r:id="rId19"/>
    <p:sldId id="486" r:id="rId20"/>
    <p:sldId id="487" r:id="rId21"/>
    <p:sldId id="488" r:id="rId22"/>
    <p:sldId id="489" r:id="rId23"/>
    <p:sldId id="491" r:id="rId24"/>
    <p:sldId id="492" r:id="rId25"/>
    <p:sldId id="490" r:id="rId26"/>
    <p:sldId id="493" r:id="rId27"/>
    <p:sldId id="494" r:id="rId28"/>
    <p:sldId id="495" r:id="rId29"/>
    <p:sldId id="415" r:id="rId30"/>
    <p:sldId id="409" r:id="rId31"/>
    <p:sldId id="498" r:id="rId32"/>
    <p:sldId id="499" r:id="rId33"/>
    <p:sldId id="500" r:id="rId34"/>
    <p:sldId id="501" r:id="rId35"/>
    <p:sldId id="502" r:id="rId36"/>
    <p:sldId id="504" r:id="rId37"/>
    <p:sldId id="503" r:id="rId38"/>
    <p:sldId id="505" r:id="rId39"/>
    <p:sldId id="510" r:id="rId40"/>
    <p:sldId id="416" r:id="rId41"/>
    <p:sldId id="507" r:id="rId42"/>
    <p:sldId id="508" r:id="rId43"/>
    <p:sldId id="518" r:id="rId44"/>
    <p:sldId id="509" r:id="rId45"/>
    <p:sldId id="519" r:id="rId46"/>
    <p:sldId id="511" r:id="rId47"/>
    <p:sldId id="513" r:id="rId48"/>
    <p:sldId id="512" r:id="rId49"/>
    <p:sldId id="417" r:id="rId50"/>
    <p:sldId id="520" r:id="rId51"/>
    <p:sldId id="521" r:id="rId52"/>
    <p:sldId id="522" r:id="rId53"/>
    <p:sldId id="525" r:id="rId54"/>
    <p:sldId id="523" r:id="rId55"/>
    <p:sldId id="524" r:id="rId56"/>
    <p:sldId id="412" r:id="rId57"/>
    <p:sldId id="479" r:id="rId58"/>
    <p:sldId id="419"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061" autoAdjust="0"/>
  </p:normalViewPr>
  <p:slideViewPr>
    <p:cSldViewPr snapToGrid="0">
      <p:cViewPr varScale="1">
        <p:scale>
          <a:sx n="70" d="100"/>
          <a:sy n="70" d="100"/>
        </p:scale>
        <p:origin x="70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5" Type="http://schemas.openxmlformats.org/officeDocument/2006/relationships/slideMaster" Target="slideMasters/slideMaster2.xml"/><Relationship Id="rId61" Type="http://schemas.openxmlformats.org/officeDocument/2006/relationships/presProps" Target="pres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33D093-51C2-4723-B64C-B6B4E17A8DCD}" type="datetimeFigureOut">
              <a:rPr lang="en-US" smtClean="0"/>
              <a:t>27/10/2025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4F3EF9-408D-4D6B-BB53-BBA657EC26EA}" type="slidenum">
              <a:rPr lang="en-US" smtClean="0"/>
              <a:t>‹#›</a:t>
            </a:fld>
            <a:endParaRPr lang="en-US"/>
          </a:p>
        </p:txBody>
      </p:sp>
    </p:spTree>
    <p:extLst>
      <p:ext uri="{BB962C8B-B14F-4D97-AF65-F5344CB8AC3E}">
        <p14:creationId xmlns:p14="http://schemas.microsoft.com/office/powerpoint/2010/main" val="1849362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83A999-5E0E-42CA-8400-604AE921FF7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0835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83A999-5E0E-42CA-8400-604AE921FF7C}" type="slidenum">
              <a:rPr lang="en-US" smtClean="0"/>
              <a:t>3</a:t>
            </a:fld>
            <a:endParaRPr lang="en-US"/>
          </a:p>
        </p:txBody>
      </p:sp>
    </p:spTree>
    <p:extLst>
      <p:ext uri="{BB962C8B-B14F-4D97-AF65-F5344CB8AC3E}">
        <p14:creationId xmlns:p14="http://schemas.microsoft.com/office/powerpoint/2010/main" val="41848599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457CB-BB3A-5332-8DDB-33E452E9A6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0FDA04-DF0D-4BB0-93AC-12C976C6F6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6BE3A7-F565-8595-D4BE-BCB48DCF33E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B92FF4A-C388-F378-FC20-A77EEB758784}"/>
              </a:ext>
            </a:extLst>
          </p:cNvPr>
          <p:cNvSpPr>
            <a:spLocks noGrp="1"/>
          </p:cNvSpPr>
          <p:nvPr>
            <p:ph type="sldNum" sz="quarter" idx="5"/>
          </p:nvPr>
        </p:nvSpPr>
        <p:spPr/>
        <p:txBody>
          <a:bodyPr/>
          <a:lstStyle/>
          <a:p>
            <a:fld id="{1983A999-5E0E-42CA-8400-604AE921FF7C}" type="slidenum">
              <a:rPr lang="en-US" smtClean="0"/>
              <a:t>4</a:t>
            </a:fld>
            <a:endParaRPr lang="en-US"/>
          </a:p>
        </p:txBody>
      </p:sp>
    </p:spTree>
    <p:extLst>
      <p:ext uri="{BB962C8B-B14F-4D97-AF65-F5344CB8AC3E}">
        <p14:creationId xmlns:p14="http://schemas.microsoft.com/office/powerpoint/2010/main" val="23984292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EDF9A-F2E9-2A54-4D95-1110341058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2932B0-7140-9991-0052-42D84DFB7F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EA321B-99C0-61FB-DFF1-4B3AB2D5B6F8}"/>
              </a:ext>
            </a:extLst>
          </p:cNvPr>
          <p:cNvSpPr>
            <a:spLocks noGrp="1"/>
          </p:cNvSpPr>
          <p:nvPr>
            <p:ph type="body" idx="1"/>
          </p:nvPr>
        </p:nvSpPr>
        <p:spPr/>
        <p:txBody>
          <a:bodyPr/>
          <a:lstStyle/>
          <a:p>
            <a:r>
              <a:rPr lang="vi-VN" b="1"/>
              <a:t>Mục tiêu của nội dung này</a:t>
            </a:r>
            <a:r>
              <a:rPr lang="vi-VN"/>
              <a:t> là giúp người học </a:t>
            </a:r>
            <a:r>
              <a:rPr lang="vi-VN" b="1"/>
              <a:t>hiểu và thực hành hai cách quản lý cơ sở dữ liệu quan hệ trong Flutter</a:t>
            </a:r>
            <a:r>
              <a:rPr lang="vi-VN"/>
              <a:t>, bao gồm:</a:t>
            </a:r>
          </a:p>
          <a:p>
            <a:r>
              <a:rPr lang="vi-VN" b="1"/>
              <a:t>Sử dụng SQLite thuần:</a:t>
            </a:r>
            <a:endParaRPr lang="vi-VN"/>
          </a:p>
          <a:p>
            <a:pPr lvl="1"/>
            <a:r>
              <a:rPr lang="vi-VN"/>
              <a:t>Là cách tiếp cận truyền thống, trong đó lập trình viên </a:t>
            </a:r>
            <a:r>
              <a:rPr lang="vi-VN" b="1"/>
              <a:t>tự viết các câu lệnh SQL</a:t>
            </a:r>
            <a:r>
              <a:rPr lang="vi-VN"/>
              <a:t> (như </a:t>
            </a:r>
            <a:r>
              <a:rPr lang="vi-VN" sz="1200" kern="1200">
                <a:solidFill>
                  <a:schemeClr val="tx1"/>
                </a:solidFill>
                <a:latin typeface="+mn-lt"/>
                <a:ea typeface="+mn-ea"/>
                <a:cs typeface="+mn-cs"/>
              </a:rPr>
              <a:t>CREATE TABLE</a:t>
            </a:r>
            <a:r>
              <a:rPr lang="vi-VN"/>
              <a:t>, </a:t>
            </a:r>
            <a:r>
              <a:rPr lang="vi-VN" sz="1200" kern="1200">
                <a:solidFill>
                  <a:schemeClr val="tx1"/>
                </a:solidFill>
                <a:latin typeface="+mn-lt"/>
                <a:ea typeface="+mn-ea"/>
                <a:cs typeface="+mn-cs"/>
              </a:rPr>
              <a:t>INSERT</a:t>
            </a:r>
            <a:r>
              <a:rPr lang="vi-VN"/>
              <a:t>, </a:t>
            </a:r>
            <a:r>
              <a:rPr lang="vi-VN" sz="1200" kern="1200">
                <a:solidFill>
                  <a:schemeClr val="tx1"/>
                </a:solidFill>
                <a:latin typeface="+mn-lt"/>
                <a:ea typeface="+mn-ea"/>
                <a:cs typeface="+mn-cs"/>
              </a:rPr>
              <a:t>SELECT</a:t>
            </a:r>
            <a:r>
              <a:rPr lang="vi-VN"/>
              <a:t>, </a:t>
            </a:r>
            <a:r>
              <a:rPr lang="vi-VN" sz="1200" kern="1200">
                <a:solidFill>
                  <a:schemeClr val="tx1"/>
                </a:solidFill>
                <a:latin typeface="+mn-lt"/>
                <a:ea typeface="+mn-ea"/>
                <a:cs typeface="+mn-cs"/>
              </a:rPr>
              <a:t>UPDATE</a:t>
            </a:r>
            <a:r>
              <a:rPr lang="vi-VN"/>
              <a:t>, </a:t>
            </a:r>
            <a:r>
              <a:rPr lang="vi-VN" sz="1200" kern="1200">
                <a:solidFill>
                  <a:schemeClr val="tx1"/>
                </a:solidFill>
                <a:latin typeface="+mn-lt"/>
                <a:ea typeface="+mn-ea"/>
                <a:cs typeface="+mn-cs"/>
              </a:rPr>
              <a:t>DELETE</a:t>
            </a:r>
            <a:r>
              <a:rPr lang="vi-VN"/>
              <a:t>) để thao tác với dữ liệu.</a:t>
            </a:r>
          </a:p>
          <a:p>
            <a:pPr lvl="1"/>
            <a:r>
              <a:rPr lang="vi-VN"/>
              <a:t>Ưu điểm: kiểm soát chặt chẽ, tối ưu được hiệu năng theo nhu cầu.</a:t>
            </a:r>
          </a:p>
          <a:p>
            <a:pPr lvl="1"/>
            <a:r>
              <a:rPr lang="vi-VN"/>
              <a:t>Nhược điểm: cú pháp SQL dễ sai, khó bảo trì khi ứng dụng lớn.</a:t>
            </a:r>
          </a:p>
          <a:p>
            <a:r>
              <a:rPr lang="vi-VN" b="1"/>
              <a:t>Sử dụng Drift ORM (Object Relational Mapping):</a:t>
            </a:r>
            <a:endParaRPr lang="vi-VN"/>
          </a:p>
          <a:p>
            <a:pPr lvl="1"/>
            <a:r>
              <a:rPr lang="vi-VN"/>
              <a:t>Là cách tiếp cận hiện đại, trong đó dữ liệu trong cơ sở dữ liệu được </a:t>
            </a:r>
            <a:r>
              <a:rPr lang="vi-VN" b="1"/>
              <a:t>biểu diễn bằng các đối tượng Dart</a:t>
            </a:r>
            <a:r>
              <a:rPr lang="vi-VN"/>
              <a:t> thay vì viết câu lệnh SQL thủ công.</a:t>
            </a:r>
          </a:p>
          <a:p>
            <a:pPr lvl="1"/>
            <a:r>
              <a:rPr lang="vi-VN"/>
              <a:t>Drift sẽ </a:t>
            </a:r>
            <a:r>
              <a:rPr lang="vi-VN" b="1"/>
              <a:t>tự động sinh mã SQL</a:t>
            </a:r>
            <a:r>
              <a:rPr lang="vi-VN"/>
              <a:t> và </a:t>
            </a:r>
            <a:r>
              <a:rPr lang="vi-VN" b="1"/>
              <a:t>xử lý truy vấn</a:t>
            </a:r>
            <a:r>
              <a:rPr lang="vi-VN"/>
              <a:t> dựa trên định nghĩa bảng, giúp mã nguồn ngắn gọn, an toàn và dễ bảo trì hơn.</a:t>
            </a:r>
          </a:p>
          <a:p>
            <a:pPr lvl="1"/>
            <a:r>
              <a:rPr lang="vi-VN"/>
              <a:t>Ưu điểm: lập trình viên thao tác với dữ liệu giống như làm việc với đối tượng trong Dart, đồng thời tận dụng được tính năng kiểm tra kiểu (type-safety).</a:t>
            </a:r>
          </a:p>
          <a:p>
            <a:r>
              <a:rPr lang="en-US"/>
              <a:t>---------------------------------------------------------------------------------------------------------------------------------------------------------------------------------</a:t>
            </a:r>
          </a:p>
          <a:p>
            <a:r>
              <a:rPr lang="en-US" b="1"/>
              <a:t>B</a:t>
            </a:r>
            <a:r>
              <a:rPr lang="vi-VN" b="1"/>
              <a:t>iểu diễn bằng các đối tượng Dart thay vì viết câu lệnh SQL thủ công</a:t>
            </a:r>
            <a:r>
              <a:rPr lang="en-US" b="1"/>
              <a:t>,</a:t>
            </a:r>
            <a:r>
              <a:rPr lang="vi-VN" b="1"/>
              <a:t> nghĩa là sao</a:t>
            </a:r>
            <a:r>
              <a:rPr lang="en-US" b="1"/>
              <a:t> ?</a:t>
            </a:r>
          </a:p>
          <a:p>
            <a:r>
              <a:rPr lang="vi-VN"/>
              <a:t>Câu </a:t>
            </a:r>
            <a:r>
              <a:rPr lang="vi-VN" b="1"/>
              <a:t>“biểu diễn bằng các đối tượng Dart thay vì viết câu lệnh SQL thủ công”</a:t>
            </a:r>
            <a:r>
              <a:rPr lang="vi-VN"/>
              <a:t> nghĩa là:</a:t>
            </a:r>
          </a:p>
          <a:p>
            <a:r>
              <a:rPr lang="vi-VN"/>
              <a:t>Thay vì bạn </a:t>
            </a:r>
            <a:r>
              <a:rPr lang="vi-VN" b="1"/>
              <a:t>tự viết các câu lệnh SQL</a:t>
            </a:r>
            <a:r>
              <a:rPr lang="vi-VN"/>
              <a:t> (như </a:t>
            </a:r>
            <a:r>
              <a:rPr lang="vi-VN" sz="1200" kern="1200">
                <a:solidFill>
                  <a:schemeClr val="tx1"/>
                </a:solidFill>
                <a:latin typeface="+mn-lt"/>
                <a:ea typeface="+mn-ea"/>
                <a:cs typeface="+mn-cs"/>
              </a:rPr>
              <a:t>INSERT INTO products VALUES (...)</a:t>
            </a:r>
            <a:r>
              <a:rPr lang="vi-VN"/>
              <a:t> hay </a:t>
            </a:r>
            <a:r>
              <a:rPr lang="vi-VN" sz="1200" kern="1200">
                <a:solidFill>
                  <a:schemeClr val="tx1"/>
                </a:solidFill>
                <a:latin typeface="+mn-lt"/>
                <a:ea typeface="+mn-ea"/>
                <a:cs typeface="+mn-cs"/>
              </a:rPr>
              <a:t>SELECT * FROM users WHERE age &gt; 20;</a:t>
            </a:r>
            <a:r>
              <a:rPr lang="vi-VN"/>
              <a:t>) để thao tác với dữ liệu, thì với </a:t>
            </a:r>
            <a:r>
              <a:rPr lang="vi-VN" b="1"/>
              <a:t>Drift</a:t>
            </a:r>
            <a:r>
              <a:rPr lang="vi-VN"/>
              <a:t>, bạn </a:t>
            </a:r>
            <a:r>
              <a:rPr lang="vi-VN" b="1"/>
              <a:t>khai báo các bảng và thao tác dữ liệu bằng mã Dart</a:t>
            </a:r>
            <a:r>
              <a:rPr lang="vi-VN"/>
              <a:t>.</a:t>
            </a:r>
          </a:p>
          <a:p>
            <a:r>
              <a:rPr lang="vi-VN"/>
              <a:t>Drift sẽ </a:t>
            </a:r>
            <a:r>
              <a:rPr lang="vi-VN" b="1"/>
              <a:t>tự động sinh ra và thực thi các câu lệnh SQL tương ứng</a:t>
            </a:r>
            <a:r>
              <a:rPr lang="vi-VN"/>
              <a:t> phía sau.</a:t>
            </a:r>
          </a:p>
          <a:p>
            <a:r>
              <a:rPr lang="vi-VN"/>
              <a:t>Ví dụ:</a:t>
            </a:r>
          </a:p>
          <a:p>
            <a:r>
              <a:rPr lang="en-US" b="1"/>
              <a:t>🧱 </a:t>
            </a:r>
            <a:r>
              <a:rPr lang="vi-VN" b="1"/>
              <a:t>Với SQLite thuần</a:t>
            </a:r>
          </a:p>
          <a:p>
            <a:r>
              <a:rPr lang="vi-VN"/>
              <a:t>Bạn phải viết trực tiếp câu lệnh SQL:</a:t>
            </a:r>
          </a:p>
          <a:p>
            <a:pPr rtl="0"/>
            <a:r>
              <a:rPr lang="vi-VN" sz="1200" kern="1200">
                <a:solidFill>
                  <a:schemeClr val="tx1"/>
                </a:solidFill>
                <a:latin typeface="+mn-lt"/>
                <a:ea typeface="+mn-ea"/>
                <a:cs typeface="+mn-cs"/>
              </a:rPr>
              <a:t>await db.rawInsert('INSERT INTO products (name, price) VALUES (?, ?)', ['Apple', 10]);</a:t>
            </a:r>
          </a:p>
          <a:p>
            <a:r>
              <a:rPr lang="en-US" b="1"/>
              <a:t>🚀 </a:t>
            </a:r>
            <a:r>
              <a:rPr lang="vi-VN" b="1"/>
              <a:t>Với Drift</a:t>
            </a:r>
          </a:p>
          <a:p>
            <a:r>
              <a:rPr lang="vi-VN"/>
              <a:t>Bạn chỉ cần thao tác bằng đối tượng Dart:</a:t>
            </a:r>
          </a:p>
          <a:p>
            <a:pPr rtl="0"/>
            <a:r>
              <a:rPr lang="vi-VN" sz="1200" kern="1200">
                <a:solidFill>
                  <a:schemeClr val="tx1"/>
                </a:solidFill>
                <a:latin typeface="+mn-lt"/>
                <a:ea typeface="+mn-ea"/>
                <a:cs typeface="+mn-cs"/>
              </a:rPr>
              <a:t>into(products).insert(ProductsCompanion(name: Value('Apple'), price: Value(10)));</a:t>
            </a:r>
          </a:p>
          <a:p>
            <a:r>
              <a:rPr lang="vi-VN"/>
              <a:t>Ở đây, </a:t>
            </a:r>
            <a:r>
              <a:rPr lang="vi-VN" sz="1200" kern="1200">
                <a:solidFill>
                  <a:schemeClr val="tx1"/>
                </a:solidFill>
                <a:latin typeface="+mn-lt"/>
                <a:ea typeface="+mn-ea"/>
                <a:cs typeface="+mn-cs"/>
              </a:rPr>
              <a:t>products</a:t>
            </a:r>
            <a:r>
              <a:rPr lang="vi-VN"/>
              <a:t> là bảng được khai báo như một </a:t>
            </a:r>
            <a:r>
              <a:rPr lang="vi-VN" b="1"/>
              <a:t>lớp Dart</a:t>
            </a:r>
            <a:r>
              <a:rPr lang="vi-VN"/>
              <a:t>, và bạn dùng cú pháp Dart thuần để thêm, sửa, xóa, truy vấn dữ liệu mà </a:t>
            </a:r>
            <a:r>
              <a:rPr lang="vi-VN" b="1"/>
              <a:t>không phải viết SQL thủ công</a:t>
            </a:r>
            <a:r>
              <a:rPr lang="vi-VN"/>
              <a:t>.</a:t>
            </a:r>
          </a:p>
          <a:p>
            <a:r>
              <a:rPr lang="vi-VN"/>
              <a:t>Nói cách khác, </a:t>
            </a:r>
            <a:r>
              <a:rPr lang="vi-VN" b="1"/>
              <a:t>ORM (Drift)</a:t>
            </a:r>
            <a:r>
              <a:rPr lang="vi-VN"/>
              <a:t> giúp bạn làm việc với dữ liệu trong SQLite </a:t>
            </a:r>
            <a:r>
              <a:rPr lang="vi-VN" b="1"/>
              <a:t>như làm việc với biến và đối tượng trong Dart</a:t>
            </a:r>
            <a:r>
              <a:rPr lang="vi-VN"/>
              <a:t>, vừa dễ đọc, vừa giảm lỗi cú pháp SQL.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a:t>
            </a:r>
          </a:p>
          <a:p>
            <a:r>
              <a:rPr lang="en-US" b="1"/>
              <a:t>Đối tượng Dart ở đây là gì ?</a:t>
            </a:r>
          </a:p>
          <a:p>
            <a:r>
              <a:rPr lang="vi-VN" b="1"/>
              <a:t>“Đối tượng Dart”</a:t>
            </a:r>
            <a:r>
              <a:rPr lang="vi-VN"/>
              <a:t> ở đây nghĩa là </a:t>
            </a:r>
            <a:r>
              <a:rPr lang="vi-VN" b="1"/>
              <a:t>một thực thể (object)</a:t>
            </a:r>
            <a:r>
              <a:rPr lang="vi-VN"/>
              <a:t> được tạo ra từ </a:t>
            </a:r>
            <a:r>
              <a:rPr lang="vi-VN" b="1"/>
              <a:t>một lớp (class)</a:t>
            </a:r>
            <a:r>
              <a:rPr lang="vi-VN"/>
              <a:t> trong ngôn ngữ lập trình </a:t>
            </a:r>
            <a:r>
              <a:rPr lang="vi-VN" b="1"/>
              <a:t>Dart</a:t>
            </a:r>
            <a:r>
              <a:rPr lang="vi-VN"/>
              <a:t> — tương tự như “đối tượng” trong các ngôn ngữ hướng đối tượng khác (C++, Java, Python,…).</a:t>
            </a:r>
          </a:p>
          <a:p>
            <a:r>
              <a:rPr lang="en-US" b="1"/>
              <a:t>🔹 </a:t>
            </a:r>
            <a:r>
              <a:rPr lang="vi-VN" b="1"/>
              <a:t>Cụ thể trong Drift:</a:t>
            </a:r>
          </a:p>
          <a:p>
            <a:r>
              <a:rPr lang="vi-VN"/>
              <a:t>Khi bạn dùng Drift, mỗi </a:t>
            </a:r>
            <a:r>
              <a:rPr lang="vi-VN" b="1"/>
              <a:t>bảng trong cơ sở dữ liệu</a:t>
            </a:r>
            <a:r>
              <a:rPr lang="vi-VN"/>
              <a:t> sẽ được </a:t>
            </a:r>
            <a:r>
              <a:rPr lang="vi-VN" b="1"/>
              <a:t>đại diện bởi một lớp Dart</a:t>
            </a:r>
            <a:r>
              <a:rPr lang="vi-VN"/>
              <a:t>, và mỗi </a:t>
            </a:r>
            <a:r>
              <a:rPr lang="vi-VN" b="1"/>
              <a:t>dòng dữ liệu (record)</a:t>
            </a:r>
            <a:r>
              <a:rPr lang="vi-VN"/>
              <a:t> trong bảng sẽ tương ứng với </a:t>
            </a:r>
            <a:r>
              <a:rPr lang="vi-VN" b="1"/>
              <a:t>một đối tượng của lớp đó</a:t>
            </a:r>
            <a:r>
              <a:rPr lang="vi-VN"/>
              <a:t>.</a:t>
            </a:r>
          </a:p>
          <a:p>
            <a:r>
              <a:rPr lang="vi-VN"/>
              <a:t>Ví dụ:</a:t>
            </a:r>
          </a:p>
          <a:p>
            <a:r>
              <a:rPr lang="en-US" b="1"/>
              <a:t>📋 </a:t>
            </a:r>
            <a:r>
              <a:rPr lang="vi-VN" b="1"/>
              <a:t>Giả sử bạn có bảng </a:t>
            </a:r>
            <a:r>
              <a:rPr lang="vi-VN" sz="1200" b="1" kern="1200">
                <a:solidFill>
                  <a:schemeClr val="tx1"/>
                </a:solidFill>
                <a:latin typeface="+mn-lt"/>
                <a:ea typeface="+mn-ea"/>
                <a:cs typeface="+mn-cs"/>
              </a:rPr>
              <a:t>Products</a:t>
            </a:r>
            <a:r>
              <a:rPr lang="vi-VN" b="1"/>
              <a:t> trong SQLite:</a:t>
            </a:r>
          </a:p>
          <a:p>
            <a:r>
              <a:rPr lang="vi-VN"/>
              <a:t>Id</a:t>
            </a:r>
            <a:r>
              <a:rPr lang="en-US"/>
              <a:t>	</a:t>
            </a:r>
            <a:r>
              <a:rPr lang="vi-VN"/>
              <a:t>name</a:t>
            </a:r>
            <a:r>
              <a:rPr lang="en-US"/>
              <a:t>	</a:t>
            </a:r>
            <a:r>
              <a:rPr lang="vi-VN"/>
              <a:t>price</a:t>
            </a:r>
            <a:endParaRPr lang="en-US"/>
          </a:p>
          <a:p>
            <a:pPr marL="228600" indent="-228600">
              <a:buAutoNum type="arabicPlain"/>
            </a:pPr>
            <a:r>
              <a:rPr lang="en-US"/>
              <a:t>                  </a:t>
            </a:r>
            <a:r>
              <a:rPr lang="vi-VN"/>
              <a:t>Apple</a:t>
            </a:r>
            <a:r>
              <a:rPr lang="en-US"/>
              <a:t>	</a:t>
            </a:r>
            <a:r>
              <a:rPr lang="vi-VN"/>
              <a:t>10</a:t>
            </a:r>
            <a:endParaRPr lang="en-US"/>
          </a:p>
          <a:p>
            <a:pPr marL="228600" indent="-228600">
              <a:buAutoNum type="arabicPlain"/>
            </a:pPr>
            <a:r>
              <a:rPr lang="en-US"/>
              <a:t>	</a:t>
            </a:r>
            <a:r>
              <a:rPr lang="vi-VN"/>
              <a:t>Banana</a:t>
            </a:r>
            <a:r>
              <a:rPr lang="en-US"/>
              <a:t>	</a:t>
            </a:r>
            <a:r>
              <a:rPr lang="vi-VN"/>
              <a:t>8</a:t>
            </a:r>
          </a:p>
          <a:p>
            <a:r>
              <a:rPr lang="en-US" b="1"/>
              <a:t>🧱 </a:t>
            </a:r>
            <a:r>
              <a:rPr lang="vi-VN" b="1"/>
              <a:t>Trong Drift, bạn khai báo bảng bằng Dart:</a:t>
            </a:r>
          </a:p>
          <a:p>
            <a:pPr rtl="0"/>
            <a:r>
              <a:rPr lang="vi-VN" sz="1200" kern="1200">
                <a:solidFill>
                  <a:schemeClr val="tx1"/>
                </a:solidFill>
                <a:latin typeface="+mn-lt"/>
                <a:ea typeface="+mn-ea"/>
                <a:cs typeface="+mn-cs"/>
              </a:rPr>
              <a:t>class Products extends Table {</a:t>
            </a:r>
          </a:p>
          <a:p>
            <a:pPr rtl="0"/>
            <a:r>
              <a:rPr lang="vi-VN" sz="1200" kern="1200">
                <a:solidFill>
                  <a:schemeClr val="tx1"/>
                </a:solidFill>
                <a:latin typeface="+mn-lt"/>
                <a:ea typeface="+mn-ea"/>
                <a:cs typeface="+mn-cs"/>
              </a:rPr>
              <a:t>  IntColumn get id =&gt; integer().autoIncrement()();</a:t>
            </a:r>
          </a:p>
          <a:p>
            <a:pPr rtl="0"/>
            <a:r>
              <a:rPr lang="vi-VN" sz="1200" kern="1200">
                <a:solidFill>
                  <a:schemeClr val="tx1"/>
                </a:solidFill>
                <a:latin typeface="+mn-lt"/>
                <a:ea typeface="+mn-ea"/>
                <a:cs typeface="+mn-cs"/>
              </a:rPr>
              <a:t>  TextColumn get name =&gt; text()();</a:t>
            </a:r>
          </a:p>
          <a:p>
            <a:pPr rtl="0"/>
            <a:r>
              <a:rPr lang="vi-VN" sz="1200" kern="1200">
                <a:solidFill>
                  <a:schemeClr val="tx1"/>
                </a:solidFill>
                <a:latin typeface="+mn-lt"/>
                <a:ea typeface="+mn-ea"/>
                <a:cs typeface="+mn-cs"/>
              </a:rPr>
              <a:t>  RealColumn get price =&gt; real()();</a:t>
            </a:r>
          </a:p>
          <a:p>
            <a:pPr rtl="0"/>
            <a:r>
              <a:rPr lang="vi-VN" sz="1200" kern="1200">
                <a:solidFill>
                  <a:schemeClr val="tx1"/>
                </a:solidFill>
                <a:latin typeface="+mn-lt"/>
                <a:ea typeface="+mn-ea"/>
                <a:cs typeface="+mn-cs"/>
              </a:rPr>
              <a:t>}</a:t>
            </a:r>
          </a:p>
          <a:p>
            <a:r>
              <a:rPr lang="vi-VN"/>
              <a:t>Drift sẽ tự động sinh ra một </a:t>
            </a:r>
            <a:r>
              <a:rPr lang="vi-VN" b="1"/>
              <a:t>lớp Dart</a:t>
            </a:r>
            <a:r>
              <a:rPr lang="vi-VN"/>
              <a:t> tương ứng, ví dụ:</a:t>
            </a:r>
          </a:p>
          <a:p>
            <a:pPr rtl="0"/>
            <a:r>
              <a:rPr lang="vi-VN" sz="1200" kern="1200">
                <a:solidFill>
                  <a:schemeClr val="tx1"/>
                </a:solidFill>
                <a:latin typeface="+mn-lt"/>
                <a:ea typeface="+mn-ea"/>
                <a:cs typeface="+mn-cs"/>
              </a:rPr>
              <a:t>class Product {</a:t>
            </a:r>
          </a:p>
          <a:p>
            <a:pPr rtl="0"/>
            <a:r>
              <a:rPr lang="vi-VN" sz="1200" kern="1200">
                <a:solidFill>
                  <a:schemeClr val="tx1"/>
                </a:solidFill>
                <a:latin typeface="+mn-lt"/>
                <a:ea typeface="+mn-ea"/>
                <a:cs typeface="+mn-cs"/>
              </a:rPr>
              <a:t>  final int id;</a:t>
            </a:r>
          </a:p>
          <a:p>
            <a:pPr rtl="0"/>
            <a:r>
              <a:rPr lang="vi-VN" sz="1200" kern="1200">
                <a:solidFill>
                  <a:schemeClr val="tx1"/>
                </a:solidFill>
                <a:latin typeface="+mn-lt"/>
                <a:ea typeface="+mn-ea"/>
                <a:cs typeface="+mn-cs"/>
              </a:rPr>
              <a:t>  final String name;</a:t>
            </a:r>
          </a:p>
          <a:p>
            <a:pPr rtl="0"/>
            <a:r>
              <a:rPr lang="vi-VN" sz="1200" kern="1200">
                <a:solidFill>
                  <a:schemeClr val="tx1"/>
                </a:solidFill>
                <a:latin typeface="+mn-lt"/>
                <a:ea typeface="+mn-ea"/>
                <a:cs typeface="+mn-cs"/>
              </a:rPr>
              <a:t>  final double price;</a:t>
            </a:r>
          </a:p>
          <a:p>
            <a:pPr rtl="0"/>
            <a:endParaRPr lang="vi-VN" sz="1200" kern="1200">
              <a:solidFill>
                <a:schemeClr val="tx1"/>
              </a:solidFill>
              <a:latin typeface="+mn-lt"/>
              <a:ea typeface="+mn-ea"/>
              <a:cs typeface="+mn-cs"/>
            </a:endParaRPr>
          </a:p>
          <a:p>
            <a:pPr rtl="0"/>
            <a:r>
              <a:rPr lang="vi-VN" sz="1200" kern="1200">
                <a:solidFill>
                  <a:schemeClr val="tx1"/>
                </a:solidFill>
                <a:latin typeface="+mn-lt"/>
                <a:ea typeface="+mn-ea"/>
                <a:cs typeface="+mn-cs"/>
              </a:rPr>
              <a:t>  Product({required this.id, required this.name, required this.price});</a:t>
            </a:r>
          </a:p>
          <a:p>
            <a:pPr rtl="0"/>
            <a:r>
              <a:rPr lang="vi-VN" sz="1200" kern="1200">
                <a:solidFill>
                  <a:schemeClr val="tx1"/>
                </a:solidFill>
                <a:latin typeface="+mn-lt"/>
                <a:ea typeface="+mn-ea"/>
                <a:cs typeface="+mn-cs"/>
              </a:rPr>
              <a:t>}</a:t>
            </a:r>
          </a:p>
          <a:p>
            <a:r>
              <a:rPr lang="en-US" b="1"/>
              <a:t>👉 </a:t>
            </a:r>
            <a:r>
              <a:rPr lang="vi-VN" b="1"/>
              <a:t>Khi bạn truy vấn:</a:t>
            </a:r>
          </a:p>
          <a:p>
            <a:pPr rtl="0"/>
            <a:r>
              <a:rPr lang="vi-VN" sz="1200" kern="1200">
                <a:solidFill>
                  <a:schemeClr val="tx1"/>
                </a:solidFill>
                <a:latin typeface="+mn-lt"/>
                <a:ea typeface="+mn-ea"/>
                <a:cs typeface="+mn-cs"/>
              </a:rPr>
              <a:t>final allProducts = await select(products).get();</a:t>
            </a:r>
          </a:p>
          <a:p>
            <a:r>
              <a:rPr lang="vi-VN"/>
              <a:t>Biến </a:t>
            </a:r>
            <a:r>
              <a:rPr lang="vi-VN" sz="1200" kern="1200">
                <a:solidFill>
                  <a:schemeClr val="tx1"/>
                </a:solidFill>
                <a:latin typeface="+mn-lt"/>
                <a:ea typeface="+mn-ea"/>
                <a:cs typeface="+mn-cs"/>
              </a:rPr>
              <a:t>allProducts</a:t>
            </a:r>
            <a:r>
              <a:rPr lang="vi-VN"/>
              <a:t> sẽ chứa </a:t>
            </a:r>
            <a:r>
              <a:rPr lang="vi-VN" b="1"/>
              <a:t>một danh sách các đối tượng Dart kiểu </a:t>
            </a:r>
            <a:r>
              <a:rPr lang="vi-VN" sz="1200" b="1" kern="1200">
                <a:solidFill>
                  <a:schemeClr val="tx1"/>
                </a:solidFill>
                <a:latin typeface="+mn-lt"/>
                <a:ea typeface="+mn-ea"/>
                <a:cs typeface="+mn-cs"/>
              </a:rPr>
              <a:t>Product</a:t>
            </a:r>
            <a:r>
              <a:rPr lang="vi-VN"/>
              <a:t>.</a:t>
            </a:r>
            <a:br>
              <a:rPr lang="vi-VN"/>
            </a:br>
            <a:r>
              <a:rPr lang="vi-VN"/>
              <a:t>Bạn có thể truy cập như:</a:t>
            </a:r>
          </a:p>
          <a:p>
            <a:pPr rtl="0"/>
            <a:r>
              <a:rPr lang="vi-VN" sz="1200" kern="1200">
                <a:solidFill>
                  <a:schemeClr val="tx1"/>
                </a:solidFill>
                <a:latin typeface="+mn-lt"/>
                <a:ea typeface="+mn-ea"/>
                <a:cs typeface="+mn-cs"/>
              </a:rPr>
              <a:t>print(allProducts[0].name); // In ra: Apple</a:t>
            </a:r>
            <a:endParaRPr lang="vi-VN"/>
          </a:p>
          <a:p>
            <a:r>
              <a:rPr lang="vi-VN"/>
              <a:t>➡️ </a:t>
            </a:r>
            <a:r>
              <a:rPr lang="vi-VN" b="1"/>
              <a:t>Tóm lại:</a:t>
            </a:r>
            <a:br>
              <a:rPr lang="vi-VN"/>
            </a:br>
            <a:r>
              <a:rPr lang="vi-VN"/>
              <a:t>“Đối tượng Dart” là </a:t>
            </a:r>
            <a:r>
              <a:rPr lang="vi-VN" b="1"/>
              <a:t>đại diện bằng mã Dart</a:t>
            </a:r>
            <a:r>
              <a:rPr lang="vi-VN"/>
              <a:t> cho dữ liệu trong cơ sở dữ liệu.</a:t>
            </a:r>
            <a:br>
              <a:rPr lang="vi-VN"/>
            </a:br>
            <a:r>
              <a:rPr lang="vi-VN"/>
              <a:t>Nó giúp bạn thao tác dữ liệu </a:t>
            </a:r>
            <a:r>
              <a:rPr lang="vi-VN" b="1"/>
              <a:t>như làm việc với biến và thuộc tính trong Dart</a:t>
            </a:r>
            <a:r>
              <a:rPr lang="vi-VN"/>
              <a:t>, thay vì phải viết và xử lý câu lệnh SQL thủ công.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a:t>
            </a:r>
          </a:p>
          <a:p>
            <a:br>
              <a:rPr lang="vi-VN"/>
            </a:br>
            <a:endParaRPr lang="en-US" b="0"/>
          </a:p>
          <a:p>
            <a:endParaRPr lang="en-US"/>
          </a:p>
        </p:txBody>
      </p:sp>
      <p:sp>
        <p:nvSpPr>
          <p:cNvPr id="4" name="Slide Number Placeholder 3">
            <a:extLst>
              <a:ext uri="{FF2B5EF4-FFF2-40B4-BE49-F238E27FC236}">
                <a16:creationId xmlns:a16="http://schemas.microsoft.com/office/drawing/2014/main" id="{D67EFAFD-7A44-3699-3C35-55C61859D9CE}"/>
              </a:ext>
            </a:extLst>
          </p:cNvPr>
          <p:cNvSpPr>
            <a:spLocks noGrp="1"/>
          </p:cNvSpPr>
          <p:nvPr>
            <p:ph type="sldNum" sz="quarter" idx="5"/>
          </p:nvPr>
        </p:nvSpPr>
        <p:spPr/>
        <p:txBody>
          <a:bodyPr/>
          <a:lstStyle/>
          <a:p>
            <a:fld id="{1983A999-5E0E-42CA-8400-604AE921FF7C}" type="slidenum">
              <a:rPr lang="en-US" smtClean="0"/>
              <a:t>5</a:t>
            </a:fld>
            <a:endParaRPr lang="en-US"/>
          </a:p>
        </p:txBody>
      </p:sp>
    </p:spTree>
    <p:extLst>
      <p:ext uri="{BB962C8B-B14F-4D97-AF65-F5344CB8AC3E}">
        <p14:creationId xmlns:p14="http://schemas.microsoft.com/office/powerpoint/2010/main" val="9747556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01B07-5F73-1393-A227-051865B5EB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65845B-DE52-61F6-CF5E-C08073D2C3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A62F1A-61E8-4A8D-217E-3A3F5E85B8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E77EFE3-AD89-59DB-B66B-E1159FC724F0}"/>
              </a:ext>
            </a:extLst>
          </p:cNvPr>
          <p:cNvSpPr>
            <a:spLocks noGrp="1"/>
          </p:cNvSpPr>
          <p:nvPr>
            <p:ph type="sldNum" sz="quarter" idx="5"/>
          </p:nvPr>
        </p:nvSpPr>
        <p:spPr/>
        <p:txBody>
          <a:bodyPr/>
          <a:lstStyle/>
          <a:p>
            <a:fld id="{1983A999-5E0E-42CA-8400-604AE921FF7C}" type="slidenum">
              <a:rPr lang="en-US" smtClean="0"/>
              <a:t>6</a:t>
            </a:fld>
            <a:endParaRPr lang="en-US"/>
          </a:p>
        </p:txBody>
      </p:sp>
    </p:spTree>
    <p:extLst>
      <p:ext uri="{BB962C8B-B14F-4D97-AF65-F5344CB8AC3E}">
        <p14:creationId xmlns:p14="http://schemas.microsoft.com/office/powerpoint/2010/main" val="32985495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E4105-305B-1ED5-5DC3-40C22E9854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113A2B-A169-D533-4E6F-244A88BC67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C46233-12AD-ED74-0863-71682473CC34}"/>
              </a:ext>
            </a:extLst>
          </p:cNvPr>
          <p:cNvSpPr>
            <a:spLocks noGrp="1"/>
          </p:cNvSpPr>
          <p:nvPr>
            <p:ph type="body" idx="1"/>
          </p:nvPr>
        </p:nvSpPr>
        <p:spPr/>
        <p:txBody>
          <a:bodyPr/>
          <a:lstStyle/>
          <a:p>
            <a:r>
              <a:rPr lang="vi-VN" b="1"/>
              <a:t>Truy vấn (query)</a:t>
            </a:r>
            <a:r>
              <a:rPr lang="vi-VN"/>
              <a:t> là </a:t>
            </a:r>
            <a:r>
              <a:rPr lang="vi-VN" b="1"/>
              <a:t>một yêu cầu lấy, thêm, sửa hoặc xóa dữ liệu</a:t>
            </a:r>
            <a:r>
              <a:rPr lang="vi-VN"/>
              <a:t> từ cơ sở dữ liệu.</a:t>
            </a:r>
            <a:br>
              <a:rPr lang="vi-VN"/>
            </a:br>
            <a:r>
              <a:rPr lang="vi-VN"/>
              <a:t>Nói đơn giản, truy vấn là </a:t>
            </a:r>
            <a:r>
              <a:rPr lang="vi-VN" b="1"/>
              <a:t>cách bạn “hỏi” hoặc “ra lệnh” cho cơ sở dữ liệu</a:t>
            </a:r>
            <a:r>
              <a:rPr lang="vi-VN"/>
              <a:t> thực hiện một công việc cụ thể.</a:t>
            </a:r>
          </a:p>
          <a:p>
            <a:r>
              <a:rPr lang="en-US" b="1"/>
              <a:t>🔹 </a:t>
            </a:r>
            <a:r>
              <a:rPr lang="vi-VN" b="1"/>
              <a:t>Có 4 loại truy vấn cơ bản:</a:t>
            </a:r>
          </a:p>
          <a:p>
            <a:r>
              <a:rPr lang="vi-VN" b="1"/>
              <a:t>SELECT</a:t>
            </a:r>
            <a:r>
              <a:rPr lang="vi-VN"/>
              <a:t> – lấy dữ liệu</a:t>
            </a:r>
            <a:br>
              <a:rPr lang="vi-VN"/>
            </a:br>
            <a:r>
              <a:rPr lang="vi-VN"/>
              <a:t>→ Ví dụ:</a:t>
            </a:r>
          </a:p>
          <a:p>
            <a:pPr rtl="0"/>
            <a:r>
              <a:rPr lang="vi-VN" sz="1200" kern="1200">
                <a:solidFill>
                  <a:schemeClr val="tx1"/>
                </a:solidFill>
                <a:latin typeface="+mn-lt"/>
                <a:ea typeface="+mn-ea"/>
                <a:cs typeface="+mn-cs"/>
              </a:rPr>
              <a:t>SELECT * FROM Products WHERE price &gt; 10;</a:t>
            </a:r>
          </a:p>
          <a:p>
            <a:r>
              <a:rPr lang="vi-VN"/>
              <a:t>(Lấy tất cả sản phẩm có giá lớn hơn 10)</a:t>
            </a:r>
          </a:p>
          <a:p>
            <a:r>
              <a:rPr lang="vi-VN" b="1"/>
              <a:t>INSERT</a:t>
            </a:r>
            <a:r>
              <a:rPr lang="vi-VN"/>
              <a:t> – thêm dữ liệu mới</a:t>
            </a:r>
            <a:br>
              <a:rPr lang="vi-VN"/>
            </a:br>
            <a:r>
              <a:rPr lang="vi-VN"/>
              <a:t>→ Ví dụ:</a:t>
            </a:r>
          </a:p>
          <a:p>
            <a:pPr rtl="0"/>
            <a:r>
              <a:rPr lang="vi-VN" sz="1200" kern="1200">
                <a:solidFill>
                  <a:schemeClr val="tx1"/>
                </a:solidFill>
                <a:latin typeface="+mn-lt"/>
                <a:ea typeface="+mn-ea"/>
                <a:cs typeface="+mn-cs"/>
              </a:rPr>
              <a:t>INSERT INTO Products (name, price) VALUES ('Apple', 10);</a:t>
            </a:r>
          </a:p>
          <a:p>
            <a:r>
              <a:rPr lang="vi-VN" b="1"/>
              <a:t>UPDATE</a:t>
            </a:r>
            <a:r>
              <a:rPr lang="vi-VN"/>
              <a:t> – cập nhật dữ liệu có sẵn</a:t>
            </a:r>
            <a:br>
              <a:rPr lang="vi-VN"/>
            </a:br>
            <a:r>
              <a:rPr lang="vi-VN"/>
              <a:t>→ Ví dụ:</a:t>
            </a:r>
          </a:p>
          <a:p>
            <a:pPr rtl="0"/>
            <a:r>
              <a:rPr lang="vi-VN" sz="1200" kern="1200">
                <a:solidFill>
                  <a:schemeClr val="tx1"/>
                </a:solidFill>
                <a:latin typeface="+mn-lt"/>
                <a:ea typeface="+mn-ea"/>
                <a:cs typeface="+mn-cs"/>
              </a:rPr>
              <a:t>UPDATE Products SET price = 12 WHERE name = 'Apple';</a:t>
            </a:r>
          </a:p>
          <a:p>
            <a:r>
              <a:rPr lang="vi-VN" b="1"/>
              <a:t>DELETE</a:t>
            </a:r>
            <a:r>
              <a:rPr lang="vi-VN"/>
              <a:t> – xóa dữ liệu</a:t>
            </a:r>
            <a:br>
              <a:rPr lang="vi-VN"/>
            </a:br>
            <a:r>
              <a:rPr lang="vi-VN"/>
              <a:t>→ Ví dụ:</a:t>
            </a:r>
          </a:p>
          <a:p>
            <a:pPr rtl="0"/>
            <a:r>
              <a:rPr lang="vi-VN" sz="1200" kern="1200">
                <a:solidFill>
                  <a:schemeClr val="tx1"/>
                </a:solidFill>
                <a:latin typeface="+mn-lt"/>
                <a:ea typeface="+mn-ea"/>
                <a:cs typeface="+mn-cs"/>
              </a:rPr>
              <a:t>DELETE FROM Products WHERE name = 'Apple';</a:t>
            </a:r>
            <a:endParaRPr lang="vi-VN"/>
          </a:p>
          <a:p>
            <a:r>
              <a:rPr lang="en-US" b="1"/>
              <a:t>🔹 </a:t>
            </a:r>
            <a:r>
              <a:rPr lang="vi-VN" b="1"/>
              <a:t>Trong Flutter:</a:t>
            </a:r>
          </a:p>
          <a:p>
            <a:r>
              <a:rPr lang="vi-VN"/>
              <a:t>Nếu dùng </a:t>
            </a:r>
            <a:r>
              <a:rPr lang="vi-VN" b="1"/>
              <a:t>SQLite thuần</a:t>
            </a:r>
            <a:r>
              <a:rPr lang="vi-VN"/>
              <a:t>, bạn viết các truy vấn SQL trực tiếp như trên.</a:t>
            </a:r>
          </a:p>
          <a:p>
            <a:r>
              <a:rPr lang="vi-VN"/>
              <a:t>Nếu dùng </a:t>
            </a:r>
            <a:r>
              <a:rPr lang="vi-VN" b="1"/>
              <a:t>Drift</a:t>
            </a:r>
            <a:r>
              <a:rPr lang="vi-VN"/>
              <a:t>, bạn viết </a:t>
            </a:r>
            <a:r>
              <a:rPr lang="vi-VN" b="1"/>
              <a:t>truy vấn bằng cú pháp Dart</a:t>
            </a:r>
            <a:r>
              <a:rPr lang="vi-VN"/>
              <a:t>, ví dụ:</a:t>
            </a:r>
          </a:p>
          <a:p>
            <a:pPr rtl="0"/>
            <a:r>
              <a:rPr lang="vi-VN" sz="1200" kern="1200">
                <a:solidFill>
                  <a:schemeClr val="tx1"/>
                </a:solidFill>
                <a:latin typeface="+mn-lt"/>
                <a:ea typeface="+mn-ea"/>
                <a:cs typeface="+mn-cs"/>
              </a:rPr>
              <a:t>final result = await (select(products)..where((p) =&gt; p.price.isBiggerThanValue(10))).get();</a:t>
            </a:r>
          </a:p>
          <a:p>
            <a:r>
              <a:rPr lang="vi-VN"/>
              <a:t>Cả hai cách đều thực hiện cùng một việc: </a:t>
            </a:r>
            <a:r>
              <a:rPr lang="vi-VN" b="1"/>
              <a:t>gửi yêu cầu truy vấn dữ liệu tới cơ sở dữ liệu</a:t>
            </a:r>
            <a:r>
              <a:rPr lang="vi-VN"/>
              <a:t>, chỉ khác ở cách viết.</a:t>
            </a:r>
            <a:endParaRPr lang="en-US"/>
          </a:p>
          <a:p>
            <a:r>
              <a:rPr lang="en-US"/>
              <a:t>-----------------------------------------------------------------------------------------------------------------------------------------------------------------</a:t>
            </a:r>
          </a:p>
          <a:p>
            <a:r>
              <a:rPr lang="en-US" b="1"/>
              <a:t>🔹 1. “</a:t>
            </a:r>
            <a:r>
              <a:rPr lang="vi-VN" b="1"/>
              <a:t>Là một cơ sở dữ liệu quan hệ nhúng, mạnh mẽ để lưu trữ dữ liệu có cấu trúc dạng bảng.”</a:t>
            </a:r>
          </a:p>
          <a:p>
            <a:r>
              <a:rPr lang="vi-VN" b="1"/>
              <a:t>Cơ sở dữ liệu quan hệ (Relational Database)</a:t>
            </a:r>
            <a:r>
              <a:rPr lang="vi-VN"/>
              <a:t>: là loại cơ sở dữ liệu lưu trữ dữ liệu </a:t>
            </a:r>
            <a:r>
              <a:rPr lang="vi-VN" b="1"/>
              <a:t>theo dạng bảng (table)</a:t>
            </a:r>
            <a:r>
              <a:rPr lang="vi-VN"/>
              <a:t> — gồm </a:t>
            </a:r>
            <a:r>
              <a:rPr lang="vi-VN" b="1"/>
              <a:t>các hàng (records)</a:t>
            </a:r>
            <a:r>
              <a:rPr lang="vi-VN"/>
              <a:t> và </a:t>
            </a:r>
            <a:r>
              <a:rPr lang="vi-VN" b="1"/>
              <a:t>cột (fields)</a:t>
            </a:r>
            <a:r>
              <a:rPr lang="vi-VN"/>
              <a:t>.</a:t>
            </a:r>
            <a:br>
              <a:rPr lang="vi-VN"/>
            </a:br>
            <a:r>
              <a:rPr lang="vi-VN"/>
              <a:t>→ Mỗi bảng lưu một loại thông tin, ví dụ: </a:t>
            </a:r>
            <a:r>
              <a:rPr lang="vi-VN" sz="1200" kern="1200">
                <a:solidFill>
                  <a:schemeClr val="tx1"/>
                </a:solidFill>
                <a:latin typeface="+mn-lt"/>
                <a:ea typeface="+mn-ea"/>
                <a:cs typeface="+mn-cs"/>
              </a:rPr>
              <a:t>Users</a:t>
            </a:r>
            <a:r>
              <a:rPr lang="vi-VN"/>
              <a:t>, </a:t>
            </a:r>
            <a:r>
              <a:rPr lang="vi-VN" sz="1200" kern="1200">
                <a:solidFill>
                  <a:schemeClr val="tx1"/>
                </a:solidFill>
                <a:latin typeface="+mn-lt"/>
                <a:ea typeface="+mn-ea"/>
                <a:cs typeface="+mn-cs"/>
              </a:rPr>
              <a:t>Products</a:t>
            </a:r>
            <a:r>
              <a:rPr lang="vi-VN"/>
              <a:t>, </a:t>
            </a:r>
            <a:r>
              <a:rPr lang="vi-VN" sz="1200" kern="1200">
                <a:solidFill>
                  <a:schemeClr val="tx1"/>
                </a:solidFill>
                <a:latin typeface="+mn-lt"/>
                <a:ea typeface="+mn-ea"/>
                <a:cs typeface="+mn-cs"/>
              </a:rPr>
              <a:t>Orders</a:t>
            </a:r>
            <a:r>
              <a:rPr lang="vi-VN"/>
              <a:t>.</a:t>
            </a:r>
          </a:p>
          <a:p>
            <a:r>
              <a:rPr lang="vi-VN" b="1"/>
              <a:t>Nhúng (Embedded)</a:t>
            </a:r>
            <a:r>
              <a:rPr lang="vi-VN"/>
              <a:t>: nghĩa là </a:t>
            </a:r>
            <a:r>
              <a:rPr lang="vi-VN" b="1"/>
              <a:t>SQLite không cần cài đặt hay chạy trên máy chủ riêng</a:t>
            </a:r>
            <a:r>
              <a:rPr lang="vi-VN"/>
              <a:t> như MySQL hay PostgreSQL.</a:t>
            </a:r>
            <a:br>
              <a:rPr lang="vi-VN"/>
            </a:br>
            <a:r>
              <a:rPr lang="vi-VN"/>
              <a:t>→ Nó được “nhúng” trực tiếp </a:t>
            </a:r>
            <a:r>
              <a:rPr lang="vi-VN" b="1"/>
              <a:t>bên trong ứng dụng</a:t>
            </a:r>
            <a:r>
              <a:rPr lang="vi-VN"/>
              <a:t>, và dữ liệu được lưu trong </a:t>
            </a:r>
            <a:r>
              <a:rPr lang="vi-VN" b="1"/>
              <a:t>một tệp duy nhất</a:t>
            </a:r>
            <a:r>
              <a:rPr lang="vi-VN"/>
              <a:t> trên thiết bị (thường có đuôi </a:t>
            </a:r>
            <a:r>
              <a:rPr lang="vi-VN" sz="1200" kern="1200">
                <a:solidFill>
                  <a:schemeClr val="tx1"/>
                </a:solidFill>
                <a:latin typeface="+mn-lt"/>
                <a:ea typeface="+mn-ea"/>
                <a:cs typeface="+mn-cs"/>
              </a:rPr>
              <a:t>.db</a:t>
            </a:r>
            <a:r>
              <a:rPr lang="vi-VN"/>
              <a:t>).</a:t>
            </a:r>
          </a:p>
          <a:p>
            <a:r>
              <a:rPr lang="vi-VN"/>
              <a:t>Do đó, SQLite </a:t>
            </a:r>
            <a:r>
              <a:rPr lang="vi-VN" b="1"/>
              <a:t>nhỏ gọn nhưng rất mạnh mẽ</a:t>
            </a:r>
            <a:r>
              <a:rPr lang="vi-VN"/>
              <a:t>, phù hợp cho các ứng dụng di động hoặc nhúng.</a:t>
            </a:r>
          </a:p>
          <a:p>
            <a:r>
              <a:rPr lang="en-US"/>
              <a:t>📖 </a:t>
            </a:r>
            <a:r>
              <a:rPr lang="vi-VN" i="1"/>
              <a:t>Tài liệu tham khảo:</a:t>
            </a:r>
            <a:r>
              <a:rPr lang="vi-VN"/>
              <a:t> SQLite Introduction</a:t>
            </a:r>
          </a:p>
          <a:p>
            <a:r>
              <a:rPr lang="en-US" b="1"/>
              <a:t>🔹 2. “</a:t>
            </a:r>
            <a:r>
              <a:rPr lang="vi-VN" b="1"/>
              <a:t>Sử dụng thư viện sqflite để tương tác.”</a:t>
            </a:r>
          </a:p>
          <a:p>
            <a:r>
              <a:rPr lang="vi-VN"/>
              <a:t>Trong Flutter, SQLite </a:t>
            </a:r>
            <a:r>
              <a:rPr lang="vi-VN" b="1"/>
              <a:t>không được dùng trực tiếp</a:t>
            </a:r>
            <a:r>
              <a:rPr lang="vi-VN"/>
              <a:t> mà thông qua </a:t>
            </a:r>
            <a:r>
              <a:rPr lang="vi-VN" b="1"/>
              <a:t>gói (package)</a:t>
            </a:r>
            <a:r>
              <a:rPr lang="vi-VN"/>
              <a:t> có tên là </a:t>
            </a:r>
            <a:r>
              <a:rPr lang="vi-VN" sz="1200" kern="1200">
                <a:solidFill>
                  <a:schemeClr val="tx1"/>
                </a:solidFill>
                <a:latin typeface="+mn-lt"/>
                <a:ea typeface="+mn-ea"/>
                <a:cs typeface="+mn-cs"/>
              </a:rPr>
              <a:t>sqflite</a:t>
            </a:r>
            <a:r>
              <a:rPr lang="vi-VN"/>
              <a:t>.</a:t>
            </a:r>
          </a:p>
          <a:p>
            <a:r>
              <a:rPr lang="vi-VN"/>
              <a:t>Thư viện này cung cấp </a:t>
            </a:r>
            <a:r>
              <a:rPr lang="vi-VN" b="1"/>
              <a:t>API Dart</a:t>
            </a:r>
            <a:r>
              <a:rPr lang="vi-VN"/>
              <a:t> cho phép:</a:t>
            </a:r>
          </a:p>
          <a:p>
            <a:pPr lvl="1"/>
            <a:r>
              <a:rPr lang="vi-VN"/>
              <a:t>Mở hoặc tạo database,</a:t>
            </a:r>
          </a:p>
          <a:p>
            <a:pPr lvl="1"/>
            <a:r>
              <a:rPr lang="vi-VN"/>
              <a:t>Viết và thực thi các câu lệnh SQL (</a:t>
            </a:r>
            <a:r>
              <a:rPr lang="vi-VN" sz="1200" kern="1200">
                <a:solidFill>
                  <a:schemeClr val="tx1"/>
                </a:solidFill>
                <a:latin typeface="+mn-lt"/>
                <a:ea typeface="+mn-ea"/>
                <a:cs typeface="+mn-cs"/>
              </a:rPr>
              <a:t>SELECT</a:t>
            </a:r>
            <a:r>
              <a:rPr lang="vi-VN"/>
              <a:t>, </a:t>
            </a:r>
            <a:r>
              <a:rPr lang="vi-VN" sz="1200" kern="1200">
                <a:solidFill>
                  <a:schemeClr val="tx1"/>
                </a:solidFill>
                <a:latin typeface="+mn-lt"/>
                <a:ea typeface="+mn-ea"/>
                <a:cs typeface="+mn-cs"/>
              </a:rPr>
              <a:t>INSERT</a:t>
            </a:r>
            <a:r>
              <a:rPr lang="vi-VN"/>
              <a:t>, </a:t>
            </a:r>
            <a:r>
              <a:rPr lang="vi-VN" sz="1200" kern="1200">
                <a:solidFill>
                  <a:schemeClr val="tx1"/>
                </a:solidFill>
                <a:latin typeface="+mn-lt"/>
                <a:ea typeface="+mn-ea"/>
                <a:cs typeface="+mn-cs"/>
              </a:rPr>
              <a:t>UPDATE</a:t>
            </a:r>
            <a:r>
              <a:rPr lang="vi-VN"/>
              <a:t>, </a:t>
            </a:r>
            <a:r>
              <a:rPr lang="vi-VN" sz="1200" kern="1200">
                <a:solidFill>
                  <a:schemeClr val="tx1"/>
                </a:solidFill>
                <a:latin typeface="+mn-lt"/>
                <a:ea typeface="+mn-ea"/>
                <a:cs typeface="+mn-cs"/>
              </a:rPr>
              <a:t>DELETE</a:t>
            </a:r>
            <a:r>
              <a:rPr lang="vi-VN"/>
              <a:t>),</a:t>
            </a:r>
          </a:p>
          <a:p>
            <a:pPr lvl="1"/>
            <a:r>
              <a:rPr lang="vi-VN"/>
              <a:t>Đọc và ghi dữ liệu từ các bảng.</a:t>
            </a:r>
          </a:p>
          <a:p>
            <a:r>
              <a:rPr lang="en-US"/>
              <a:t>📖 </a:t>
            </a:r>
            <a:r>
              <a:rPr lang="vi-VN" i="1"/>
              <a:t>Tài liệu tham khảo:</a:t>
            </a:r>
            <a:r>
              <a:rPr lang="vi-VN"/>
              <a:t> sqflite Flutter Package</a:t>
            </a:r>
          </a:p>
          <a:p>
            <a:r>
              <a:rPr lang="en-US" b="1"/>
              <a:t>🔹 3. “</a:t>
            </a:r>
            <a:r>
              <a:rPr lang="vi-VN" b="1"/>
              <a:t>Phù hợp cho danh sách bài viết, sản phẩm, lịch sử giao dịch...”</a:t>
            </a:r>
          </a:p>
          <a:p>
            <a:r>
              <a:rPr lang="vi-VN"/>
              <a:t>SQLite được dùng phổ biến trong các ứng dụng cần </a:t>
            </a:r>
            <a:r>
              <a:rPr lang="vi-VN" b="1"/>
              <a:t>lưu trữ dữ liệu có cấu trúc rõ ràng và không quá lớn</a:t>
            </a:r>
            <a:r>
              <a:rPr lang="vi-VN"/>
              <a:t>, ví dụ:</a:t>
            </a:r>
          </a:p>
          <a:p>
            <a:pPr lvl="1"/>
            <a:r>
              <a:rPr lang="vi-VN"/>
              <a:t>Danh sách </a:t>
            </a:r>
            <a:r>
              <a:rPr lang="vi-VN" b="1"/>
              <a:t>bài viết</a:t>
            </a:r>
            <a:r>
              <a:rPr lang="vi-VN"/>
              <a:t> trong ứng dụng tin tức,</a:t>
            </a:r>
          </a:p>
          <a:p>
            <a:pPr lvl="1"/>
            <a:r>
              <a:rPr lang="vi-VN"/>
              <a:t>Danh sách </a:t>
            </a:r>
            <a:r>
              <a:rPr lang="vi-VN" b="1"/>
              <a:t>sản phẩm</a:t>
            </a:r>
            <a:r>
              <a:rPr lang="vi-VN"/>
              <a:t> trong app bán hàng,</a:t>
            </a:r>
          </a:p>
          <a:p>
            <a:pPr lvl="1"/>
            <a:r>
              <a:rPr lang="vi-VN"/>
              <a:t>Lưu </a:t>
            </a:r>
            <a:r>
              <a:rPr lang="vi-VN" b="1"/>
              <a:t>lịch sử giao dịch hoặc hoạt động</a:t>
            </a:r>
            <a:r>
              <a:rPr lang="vi-VN"/>
              <a:t> trong app tài chính.</a:t>
            </a:r>
          </a:p>
          <a:p>
            <a:r>
              <a:rPr lang="vi-VN"/>
              <a:t>Vì SQLite hoạt động </a:t>
            </a:r>
            <a:r>
              <a:rPr lang="vi-VN" b="1"/>
              <a:t>hoàn toàn offline</a:t>
            </a:r>
            <a:r>
              <a:rPr lang="vi-VN"/>
              <a:t>, nên nó </a:t>
            </a:r>
            <a:r>
              <a:rPr lang="vi-VN" b="1"/>
              <a:t>rất thích hợp cho ứng dụng di động</a:t>
            </a:r>
            <a:r>
              <a:rPr lang="vi-VN"/>
              <a:t> cần lưu trữ tạm thời hoặc cục bộ.</a:t>
            </a:r>
          </a:p>
          <a:p>
            <a:r>
              <a:rPr lang="en-US"/>
              <a:t>📖 </a:t>
            </a:r>
            <a:r>
              <a:rPr lang="vi-VN" i="1"/>
              <a:t>Tài liệu tham khảo:</a:t>
            </a:r>
            <a:r>
              <a:rPr lang="vi-VN"/>
              <a:t> SQLite Use Cases</a:t>
            </a:r>
          </a:p>
          <a:p>
            <a:r>
              <a:rPr lang="en-US" b="1"/>
              <a:t>🔹 4. “</a:t>
            </a:r>
            <a:r>
              <a:rPr lang="vi-VN" b="1"/>
              <a:t>Yêu cầu viết các câu lệnh SQL thuần túy.”</a:t>
            </a:r>
          </a:p>
          <a:p>
            <a:r>
              <a:rPr lang="vi-VN"/>
              <a:t>“</a:t>
            </a:r>
            <a:r>
              <a:rPr lang="vi-VN" b="1"/>
              <a:t>SQL thuần túy</a:t>
            </a:r>
            <a:r>
              <a:rPr lang="vi-VN"/>
              <a:t>” (raw SQL) nghĩa là bạn phải </a:t>
            </a:r>
            <a:r>
              <a:rPr lang="vi-VN" b="1"/>
              <a:t>tự viết thủ công các câu lệnh SQL</a:t>
            </a:r>
            <a:r>
              <a:rPr lang="vi-VN"/>
              <a:t> để thao tác dữ liệu.</a:t>
            </a:r>
            <a:br>
              <a:rPr lang="vi-VN"/>
            </a:br>
            <a:r>
              <a:rPr lang="vi-VN"/>
              <a:t>Ví dụ:</a:t>
            </a:r>
          </a:p>
          <a:p>
            <a:pPr rtl="0"/>
            <a:r>
              <a:rPr lang="vi-VN" sz="1200" kern="1200">
                <a:solidFill>
                  <a:schemeClr val="tx1"/>
                </a:solidFill>
                <a:latin typeface="+mn-lt"/>
                <a:ea typeface="+mn-ea"/>
                <a:cs typeface="+mn-cs"/>
              </a:rPr>
              <a:t>await db.rawInsert('INSERT INTO products (name, price) VALUES (?, ?)', ['Apple', 10]);</a:t>
            </a:r>
          </a:p>
          <a:p>
            <a:r>
              <a:rPr lang="vi-VN"/>
              <a:t>Điều này giúp bạn </a:t>
            </a:r>
            <a:r>
              <a:rPr lang="vi-VN" b="1"/>
              <a:t>toàn quyền kiểm soát</a:t>
            </a:r>
            <a:r>
              <a:rPr lang="vi-VN"/>
              <a:t>, nhưng </a:t>
            </a:r>
            <a:r>
              <a:rPr lang="vi-VN" b="1"/>
              <a:t>dễ sai cú pháp</a:t>
            </a:r>
            <a:r>
              <a:rPr lang="vi-VN"/>
              <a:t> và </a:t>
            </a:r>
            <a:r>
              <a:rPr lang="vi-VN" b="1"/>
              <a:t>tốn thời gian hơn</a:t>
            </a:r>
            <a:r>
              <a:rPr lang="vi-VN"/>
              <a:t> so với ORM như Drift.</a:t>
            </a:r>
          </a:p>
          <a:p>
            <a:r>
              <a:rPr lang="en-US"/>
              <a:t>📖 </a:t>
            </a:r>
            <a:r>
              <a:rPr lang="vi-VN" i="1"/>
              <a:t>Tài liệu tham khảo:</a:t>
            </a:r>
            <a:r>
              <a:rPr lang="vi-VN"/>
              <a:t> SQLite SQL Syntax</a:t>
            </a:r>
          </a:p>
          <a:p>
            <a:r>
              <a:rPr lang="en-US"/>
              <a:t>💡 </a:t>
            </a:r>
            <a:r>
              <a:rPr lang="vi-VN" b="1"/>
              <a:t>Tóm lại:</a:t>
            </a:r>
            <a:endParaRPr lang="vi-VN"/>
          </a:p>
          <a:p>
            <a:r>
              <a:rPr lang="vi-VN"/>
              <a:t>SQLite là một cơ sở dữ liệu nhỏ gọn, lưu dữ liệu dạng bảng trong ứng dụng.</a:t>
            </a:r>
            <a:br>
              <a:rPr lang="vi-VN"/>
            </a:br>
            <a:r>
              <a:rPr lang="vi-VN"/>
              <a:t>Flutter sử dụng thư viện </a:t>
            </a:r>
            <a:r>
              <a:rPr lang="vi-VN" sz="1200" kern="1200">
                <a:solidFill>
                  <a:schemeClr val="tx1"/>
                </a:solidFill>
                <a:latin typeface="+mn-lt"/>
                <a:ea typeface="+mn-ea"/>
                <a:cs typeface="+mn-cs"/>
              </a:rPr>
              <a:t>sqflite</a:t>
            </a:r>
            <a:r>
              <a:rPr lang="vi-VN"/>
              <a:t> để thao tác với nó bằng các câu lệnh SQL.</a:t>
            </a:r>
            <a:br>
              <a:rPr lang="vi-VN"/>
            </a:br>
            <a:r>
              <a:rPr lang="vi-VN"/>
              <a:t>Cách này mạnh mẽ và linh hoạt, nhưng lập trình viên cần tự viết SQL thủ công.</a:t>
            </a:r>
          </a:p>
          <a:p>
            <a:endParaRPr lang="vi-VN"/>
          </a:p>
          <a:p>
            <a:endParaRPr lang="en-US"/>
          </a:p>
        </p:txBody>
      </p:sp>
      <p:sp>
        <p:nvSpPr>
          <p:cNvPr id="4" name="Slide Number Placeholder 3">
            <a:extLst>
              <a:ext uri="{FF2B5EF4-FFF2-40B4-BE49-F238E27FC236}">
                <a16:creationId xmlns:a16="http://schemas.microsoft.com/office/drawing/2014/main" id="{80193009-C9DB-43FF-D465-14E7642AAAC9}"/>
              </a:ext>
            </a:extLst>
          </p:cNvPr>
          <p:cNvSpPr>
            <a:spLocks noGrp="1"/>
          </p:cNvSpPr>
          <p:nvPr>
            <p:ph type="sldNum" sz="quarter" idx="5"/>
          </p:nvPr>
        </p:nvSpPr>
        <p:spPr/>
        <p:txBody>
          <a:bodyPr/>
          <a:lstStyle/>
          <a:p>
            <a:fld id="{1983A999-5E0E-42CA-8400-604AE921FF7C}" type="slidenum">
              <a:rPr lang="en-US" smtClean="0"/>
              <a:t>7</a:t>
            </a:fld>
            <a:endParaRPr lang="en-US"/>
          </a:p>
        </p:txBody>
      </p:sp>
    </p:spTree>
    <p:extLst>
      <p:ext uri="{BB962C8B-B14F-4D97-AF65-F5344CB8AC3E}">
        <p14:creationId xmlns:p14="http://schemas.microsoft.com/office/powerpoint/2010/main" val="33266842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261B7-C8F9-D76F-1BFD-30627F7FDF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686362-5CEA-6A47-EA5E-3BCE709F6F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986882-143C-31ED-5CF9-742682809F45}"/>
              </a:ext>
            </a:extLst>
          </p:cNvPr>
          <p:cNvSpPr>
            <a:spLocks noGrp="1"/>
          </p:cNvSpPr>
          <p:nvPr>
            <p:ph type="body" idx="1"/>
          </p:nvPr>
        </p:nvSpPr>
        <p:spPr/>
        <p:txBody>
          <a:bodyPr/>
          <a:lstStyle/>
          <a:p>
            <a:pPr marL="0" indent="0">
              <a:buFontTx/>
              <a:buNone/>
            </a:pPr>
            <a:r>
              <a:rPr lang="en-US" b="1"/>
              <a:t>- </a:t>
            </a:r>
            <a:r>
              <a:rPr lang="vi-VN" b="1"/>
              <a:t>product_model.dart</a:t>
            </a:r>
            <a:r>
              <a:rPr lang="vi-VN"/>
              <a:t>: định nghĩa lớp dữ liệu </a:t>
            </a:r>
            <a:r>
              <a:rPr lang="vi-VN" sz="1200" kern="1200">
                <a:solidFill>
                  <a:schemeClr val="tx1"/>
                </a:solidFill>
                <a:latin typeface="+mn-lt"/>
                <a:ea typeface="+mn-ea"/>
                <a:cs typeface="+mn-cs"/>
              </a:rPr>
              <a:t>Product</a:t>
            </a:r>
            <a:r>
              <a:rPr lang="vi-VN"/>
              <a:t> (model) — cấu trúc của một sản phẩm trong app và hai phương thức chuyển đổi giữa object và </a:t>
            </a:r>
            <a:r>
              <a:rPr lang="vi-VN" sz="1200" kern="1200">
                <a:solidFill>
                  <a:schemeClr val="tx1"/>
                </a:solidFill>
                <a:latin typeface="+mn-lt"/>
                <a:ea typeface="+mn-ea"/>
                <a:cs typeface="+mn-cs"/>
              </a:rPr>
              <a:t>Map&lt;String,dynamic&gt;</a:t>
            </a:r>
            <a:r>
              <a:rPr lang="vi-VN"/>
              <a:t> (để lưu vào SQLite).</a:t>
            </a:r>
            <a:endParaRPr lang="en-US"/>
          </a:p>
          <a:p>
            <a:pPr>
              <a:buNone/>
            </a:pPr>
            <a:r>
              <a:rPr lang="en-US" b="1"/>
              <a:t>- </a:t>
            </a:r>
            <a:r>
              <a:rPr lang="vi-VN" b="1"/>
              <a:t>Giải thích từng đoạn / từng dòng:</a:t>
            </a:r>
            <a:endParaRPr lang="vi-VN"/>
          </a:p>
          <a:p>
            <a:pPr>
              <a:buFont typeface="Arial" panose="020B0604020202020204" pitchFamily="34" charset="0"/>
              <a:buChar char="•"/>
            </a:pPr>
            <a:r>
              <a:rPr lang="vi-VN">
                <a:latin typeface="Courier New" panose="02070309020205020404" pitchFamily="49" charset="0"/>
              </a:rPr>
              <a:t>class Product {</a:t>
            </a:r>
            <a:br>
              <a:rPr lang="vi-VN"/>
            </a:br>
            <a:r>
              <a:rPr lang="vi-VN"/>
              <a:t>Định nghĩa một lớp (class) tên </a:t>
            </a:r>
            <a:r>
              <a:rPr lang="vi-VN">
                <a:latin typeface="Courier New" panose="02070309020205020404" pitchFamily="49" charset="0"/>
              </a:rPr>
              <a:t>Product</a:t>
            </a:r>
            <a:r>
              <a:rPr lang="vi-VN"/>
              <a:t> — biểu diễn một sản phẩm.</a:t>
            </a:r>
          </a:p>
          <a:p>
            <a:pPr>
              <a:buFont typeface="Arial" panose="020B0604020202020204" pitchFamily="34" charset="0"/>
              <a:buChar char="•"/>
            </a:pPr>
            <a:r>
              <a:rPr lang="vi-VN">
                <a:latin typeface="Courier New" panose="02070309020205020404" pitchFamily="49" charset="0"/>
              </a:rPr>
              <a:t>final int? id;</a:t>
            </a:r>
            <a:br>
              <a:rPr lang="vi-VN"/>
            </a:br>
            <a:r>
              <a:rPr lang="vi-VN"/>
              <a:t>Trường </a:t>
            </a:r>
            <a:r>
              <a:rPr lang="vi-VN">
                <a:latin typeface="Courier New" panose="02070309020205020404" pitchFamily="49" charset="0"/>
              </a:rPr>
              <a:t>id</a:t>
            </a:r>
            <a:r>
              <a:rPr lang="vi-VN"/>
              <a:t> kiểu </a:t>
            </a:r>
            <a:r>
              <a:rPr lang="vi-VN">
                <a:latin typeface="Courier New" panose="02070309020205020404" pitchFamily="49" charset="0"/>
              </a:rPr>
              <a:t>int?</a:t>
            </a:r>
            <a:r>
              <a:rPr lang="vi-VN"/>
              <a:t> (nullable). Dùng để lưu khóa chính từ SQLite. </a:t>
            </a:r>
            <a:r>
              <a:rPr lang="vi-VN">
                <a:latin typeface="Courier New" panose="02070309020205020404" pitchFamily="49" charset="0"/>
              </a:rPr>
              <a:t>final</a:t>
            </a:r>
            <a:r>
              <a:rPr lang="vi-VN"/>
              <a:t> nghĩa là một khi khởi tạo object thì không đổi.</a:t>
            </a:r>
          </a:p>
          <a:p>
            <a:pPr>
              <a:buFont typeface="Arial" panose="020B0604020202020204" pitchFamily="34" charset="0"/>
              <a:buChar char="•"/>
            </a:pPr>
            <a:r>
              <a:rPr lang="vi-VN">
                <a:latin typeface="Courier New" panose="02070309020205020404" pitchFamily="49" charset="0"/>
              </a:rPr>
              <a:t>final String name;</a:t>
            </a:r>
            <a:br>
              <a:rPr lang="vi-VN"/>
            </a:br>
            <a:r>
              <a:rPr lang="vi-VN"/>
              <a:t>Tên sản phẩm — bắt buộc (non-null).</a:t>
            </a:r>
          </a:p>
          <a:p>
            <a:pPr>
              <a:buFont typeface="Arial" panose="020B0604020202020204" pitchFamily="34" charset="0"/>
              <a:buChar char="•"/>
            </a:pPr>
            <a:r>
              <a:rPr lang="vi-VN">
                <a:latin typeface="Courier New" panose="02070309020205020404" pitchFamily="49" charset="0"/>
              </a:rPr>
              <a:t>final double price;</a:t>
            </a:r>
            <a:br>
              <a:rPr lang="vi-VN"/>
            </a:br>
            <a:r>
              <a:rPr lang="vi-VN"/>
              <a:t>Giá sản phẩm — kiểu số thực (double).</a:t>
            </a:r>
          </a:p>
          <a:p>
            <a:pPr>
              <a:buFont typeface="Arial" panose="020B0604020202020204" pitchFamily="34" charset="0"/>
              <a:buChar char="•"/>
            </a:pPr>
            <a:r>
              <a:rPr lang="vi-VN">
                <a:latin typeface="Courier New" panose="02070309020205020404" pitchFamily="49" charset="0"/>
              </a:rPr>
              <a:t>final int quantity;</a:t>
            </a:r>
            <a:br>
              <a:rPr lang="vi-VN"/>
            </a:br>
            <a:r>
              <a:rPr lang="vi-VN"/>
              <a:t>Số lượng sản phẩm — kiểu integer.</a:t>
            </a:r>
          </a:p>
          <a:p>
            <a:pPr>
              <a:buFont typeface="Arial" panose="020B0604020202020204" pitchFamily="34" charset="0"/>
              <a:buChar char="•"/>
            </a:pPr>
            <a:r>
              <a:rPr lang="vi-VN">
                <a:latin typeface="Courier New" panose="02070309020205020404" pitchFamily="49" charset="0"/>
              </a:rPr>
              <a:t>final String description;</a:t>
            </a:r>
            <a:br>
              <a:rPr lang="vi-VN"/>
            </a:br>
            <a:r>
              <a:rPr lang="vi-VN"/>
              <a:t>Mô tả sản phẩm — chuỗi.</a:t>
            </a:r>
          </a:p>
          <a:p>
            <a:pPr>
              <a:buFont typeface="Arial" panose="020B0604020202020204" pitchFamily="34" charset="0"/>
              <a:buChar char="•"/>
            </a:pPr>
            <a:r>
              <a:rPr lang="vi-VN">
                <a:latin typeface="Courier New" panose="02070309020205020404" pitchFamily="49" charset="0"/>
              </a:rPr>
              <a:t>final String createdAt;</a:t>
            </a:r>
            <a:br>
              <a:rPr lang="vi-VN"/>
            </a:br>
            <a:r>
              <a:rPr lang="vi-VN"/>
              <a:t>Thời gian tạo (được lưu dưới dạng chuỗi). Bạn dùng </a:t>
            </a:r>
            <a:r>
              <a:rPr lang="vi-VN">
                <a:latin typeface="Courier New" panose="02070309020205020404" pitchFamily="49" charset="0"/>
              </a:rPr>
              <a:t>DateFormat</a:t>
            </a:r>
            <a:r>
              <a:rPr lang="vi-VN"/>
              <a:t> ở </a:t>
            </a:r>
            <a:r>
              <a:rPr lang="vi-VN">
                <a:latin typeface="Courier New" panose="02070309020205020404" pitchFamily="49" charset="0"/>
              </a:rPr>
              <a:t>main.dart</a:t>
            </a:r>
            <a:r>
              <a:rPr lang="vi-VN"/>
              <a:t> để tạo chuỗi này.</a:t>
            </a:r>
          </a:p>
          <a:p>
            <a:pPr>
              <a:buFont typeface="Arial" panose="020B0604020202020204" pitchFamily="34" charset="0"/>
              <a:buChar char="•"/>
            </a:pPr>
            <a:r>
              <a:rPr lang="vi-VN">
                <a:latin typeface="Courier New" panose="02070309020205020404" pitchFamily="49" charset="0"/>
              </a:rPr>
              <a:t>Product({ this.id, required this.name, required this.price, required this.quantity, required this.description, required this.createdAt, });</a:t>
            </a:r>
            <a:br>
              <a:rPr lang="vi-VN"/>
            </a:br>
            <a:r>
              <a:rPr lang="vi-VN"/>
              <a:t>Constructor đặt tên (named constructor) cho class. </a:t>
            </a:r>
            <a:r>
              <a:rPr lang="vi-VN">
                <a:latin typeface="Courier New" panose="02070309020205020404" pitchFamily="49" charset="0"/>
              </a:rPr>
              <a:t>required</a:t>
            </a:r>
            <a:r>
              <a:rPr lang="vi-VN"/>
              <a:t> là bắt buộc khi khởi tạo; </a:t>
            </a:r>
            <a:r>
              <a:rPr lang="vi-VN">
                <a:latin typeface="Courier New" panose="02070309020205020404" pitchFamily="49" charset="0"/>
              </a:rPr>
              <a:t>this.id</a:t>
            </a:r>
            <a:r>
              <a:rPr lang="vi-VN"/>
              <a:t> không required vì DB sẽ tự cấp id khi insert.</a:t>
            </a:r>
          </a:p>
          <a:p>
            <a:pPr>
              <a:buFont typeface="Arial" panose="020B0604020202020204" pitchFamily="34" charset="0"/>
              <a:buChar char="•"/>
            </a:pPr>
            <a:r>
              <a:rPr lang="vi-VN">
                <a:latin typeface="Courier New" panose="02070309020205020404" pitchFamily="49" charset="0"/>
              </a:rPr>
              <a:t>Map&lt;String, dynamic&gt; toMap() { return { ... }; }</a:t>
            </a:r>
            <a:br>
              <a:rPr lang="vi-VN"/>
            </a:br>
            <a:r>
              <a:rPr lang="vi-VN"/>
              <a:t>Phương thức chuyển </a:t>
            </a:r>
            <a:r>
              <a:rPr lang="vi-VN">
                <a:latin typeface="Courier New" panose="02070309020205020404" pitchFamily="49" charset="0"/>
              </a:rPr>
              <a:t>Product</a:t>
            </a:r>
            <a:r>
              <a:rPr lang="vi-VN"/>
              <a:t> → </a:t>
            </a:r>
            <a:r>
              <a:rPr lang="vi-VN">
                <a:latin typeface="Courier New" panose="02070309020205020404" pitchFamily="49" charset="0"/>
              </a:rPr>
              <a:t>Map</a:t>
            </a:r>
            <a:r>
              <a:rPr lang="vi-VN"/>
              <a:t> (key là tên cột DB). Đây là định dạng </a:t>
            </a:r>
            <a:r>
              <a:rPr lang="vi-VN">
                <a:latin typeface="Courier New" panose="02070309020205020404" pitchFamily="49" charset="0"/>
              </a:rPr>
              <a:t>sqflite</a:t>
            </a:r>
            <a:r>
              <a:rPr lang="vi-VN"/>
              <a:t> dùng để </a:t>
            </a:r>
            <a:r>
              <a:rPr lang="vi-VN">
                <a:latin typeface="Courier New" panose="02070309020205020404" pitchFamily="49" charset="0"/>
              </a:rPr>
              <a:t>insert</a:t>
            </a:r>
            <a:r>
              <a:rPr lang="vi-VN"/>
              <a:t> hay </a:t>
            </a:r>
            <a:r>
              <a:rPr lang="vi-VN">
                <a:latin typeface="Courier New" panose="02070309020205020404" pitchFamily="49" charset="0"/>
              </a:rPr>
              <a:t>update</a:t>
            </a:r>
            <a:r>
              <a:rPr lang="vi-VN"/>
              <a:t>.</a:t>
            </a:r>
          </a:p>
          <a:p>
            <a:pPr marL="742950" lvl="1" indent="-285750">
              <a:buFont typeface="Arial" panose="020B0604020202020204" pitchFamily="34" charset="0"/>
              <a:buChar char="•"/>
            </a:pPr>
            <a:r>
              <a:rPr lang="vi-VN">
                <a:latin typeface="Courier New" panose="02070309020205020404" pitchFamily="49" charset="0"/>
              </a:rPr>
              <a:t>'created_at': createdAt,</a:t>
            </a:r>
            <a:r>
              <a:rPr lang="vi-VN"/>
              <a:t> lưu key </a:t>
            </a:r>
            <a:r>
              <a:rPr lang="vi-VN">
                <a:latin typeface="Courier New" panose="02070309020205020404" pitchFamily="49" charset="0"/>
              </a:rPr>
              <a:t>created_at</a:t>
            </a:r>
            <a:r>
              <a:rPr lang="vi-VN"/>
              <a:t> tương ứng với cột DB bạn tạo.</a:t>
            </a:r>
          </a:p>
          <a:p>
            <a:pPr>
              <a:buFont typeface="Arial" panose="020B0604020202020204" pitchFamily="34" charset="0"/>
              <a:buChar char="•"/>
            </a:pPr>
            <a:r>
              <a:rPr lang="vi-VN">
                <a:latin typeface="Courier New" panose="02070309020205020404" pitchFamily="49" charset="0"/>
              </a:rPr>
              <a:t>factory Product.fromMap(Map&lt;String, dynamic&gt; map) { return Product(...); }</a:t>
            </a:r>
            <a:br>
              <a:rPr lang="vi-VN"/>
            </a:br>
            <a:r>
              <a:rPr lang="vi-VN"/>
              <a:t>Factory constructor để tạo </a:t>
            </a:r>
            <a:r>
              <a:rPr lang="vi-VN">
                <a:latin typeface="Courier New" panose="02070309020205020404" pitchFamily="49" charset="0"/>
              </a:rPr>
              <a:t>Product</a:t>
            </a:r>
            <a:r>
              <a:rPr lang="vi-VN"/>
              <a:t> từ </a:t>
            </a:r>
            <a:r>
              <a:rPr lang="vi-VN">
                <a:latin typeface="Courier New" panose="02070309020205020404" pitchFamily="49" charset="0"/>
              </a:rPr>
              <a:t>Map</a:t>
            </a:r>
            <a:r>
              <a:rPr lang="vi-VN"/>
              <a:t> (ví dụ khi lấy </a:t>
            </a:r>
            <a:r>
              <a:rPr lang="vi-VN">
                <a:latin typeface="Courier New" panose="02070309020205020404" pitchFamily="49" charset="0"/>
              </a:rPr>
              <a:t>query</a:t>
            </a:r>
            <a:r>
              <a:rPr lang="vi-VN"/>
              <a:t> từ DB).</a:t>
            </a:r>
          </a:p>
          <a:p>
            <a:pPr marL="742950" lvl="1" indent="-285750">
              <a:buFont typeface="Arial" panose="020B0604020202020204" pitchFamily="34" charset="0"/>
              <a:buChar char="•"/>
            </a:pPr>
            <a:r>
              <a:rPr lang="vi-VN">
                <a:latin typeface="Courier New" panose="02070309020205020404" pitchFamily="49" charset="0"/>
              </a:rPr>
              <a:t>map['description'] ?? ''</a:t>
            </a:r>
            <a:r>
              <a:rPr lang="vi-VN"/>
              <a:t> đảm bảo nếu DB trả </a:t>
            </a:r>
            <a:r>
              <a:rPr lang="vi-VN">
                <a:latin typeface="Courier New" panose="02070309020205020404" pitchFamily="49" charset="0"/>
              </a:rPr>
              <a:t>null</a:t>
            </a:r>
            <a:r>
              <a:rPr lang="vi-VN"/>
              <a:t> cho mô tả thì dùng chuỗi rỗng thay vì ném lỗi.</a:t>
            </a:r>
          </a:p>
          <a:p>
            <a:pPr marL="742950" lvl="1" indent="-285750">
              <a:buFont typeface="Arial" panose="020B0604020202020204" pitchFamily="34" charset="0"/>
              <a:buChar char="•"/>
            </a:pPr>
            <a:r>
              <a:rPr lang="vi-VN"/>
              <a:t>Tương tự </a:t>
            </a:r>
            <a:r>
              <a:rPr lang="vi-VN">
                <a:latin typeface="Courier New" panose="02070309020205020404" pitchFamily="49" charset="0"/>
              </a:rPr>
              <a:t>created_at</a:t>
            </a:r>
            <a:r>
              <a:rPr lang="vi-VN"/>
              <a:t>.</a:t>
            </a:r>
            <a:endParaRPr lang="en-US"/>
          </a:p>
          <a:p>
            <a:r>
              <a:rPr lang="vi-VN" b="1"/>
              <a:t>Ghi chú / best practice</a:t>
            </a:r>
            <a:r>
              <a:rPr lang="vi-VN"/>
              <a:t>:</a:t>
            </a:r>
          </a:p>
          <a:p>
            <a:r>
              <a:rPr lang="vi-VN" sz="1200" kern="1200">
                <a:solidFill>
                  <a:schemeClr val="tx1"/>
                </a:solidFill>
                <a:latin typeface="+mn-lt"/>
                <a:ea typeface="+mn-ea"/>
                <a:cs typeface="+mn-cs"/>
              </a:rPr>
              <a:t>createdAt</a:t>
            </a:r>
            <a:r>
              <a:rPr lang="vi-VN"/>
              <a:t> lưu chuỗi — nếu cần xử lý thời gian (so sánh/sắp xếp) sau này, lưu dưới dạng ISO8601 (</a:t>
            </a:r>
            <a:r>
              <a:rPr lang="vi-VN" sz="1200" kern="1200">
                <a:solidFill>
                  <a:schemeClr val="tx1"/>
                </a:solidFill>
                <a:latin typeface="+mn-lt"/>
                <a:ea typeface="+mn-ea"/>
                <a:cs typeface="+mn-cs"/>
              </a:rPr>
              <a:t>DateTime.toIso8601String()</a:t>
            </a:r>
            <a:r>
              <a:rPr lang="vi-VN"/>
              <a:t>) sẽ dễ hơn.</a:t>
            </a:r>
          </a:p>
          <a:p>
            <a:r>
              <a:rPr lang="vi-VN"/>
              <a:t>Kiểm soát kiểu: khi đọc từ DB đôi khi giá trị </a:t>
            </a:r>
            <a:r>
              <a:rPr lang="vi-VN" sz="1200" kern="1200">
                <a:solidFill>
                  <a:schemeClr val="tx1"/>
                </a:solidFill>
                <a:latin typeface="+mn-lt"/>
                <a:ea typeface="+mn-ea"/>
                <a:cs typeface="+mn-cs"/>
              </a:rPr>
              <a:t>map['price']</a:t>
            </a:r>
            <a:r>
              <a:rPr lang="vi-VN"/>
              <a:t> có thể là </a:t>
            </a:r>
            <a:r>
              <a:rPr lang="vi-VN" sz="1200" kern="1200">
                <a:solidFill>
                  <a:schemeClr val="tx1"/>
                </a:solidFill>
                <a:latin typeface="+mn-lt"/>
                <a:ea typeface="+mn-ea"/>
                <a:cs typeface="+mn-cs"/>
              </a:rPr>
              <a:t>int</a:t>
            </a:r>
            <a:r>
              <a:rPr lang="vi-VN"/>
              <a:t> nếu giá trị nguyên — có thể cần ép kiểu an toàn (ví dụ: </a:t>
            </a:r>
            <a:r>
              <a:rPr lang="vi-VN" sz="1200" kern="1200">
                <a:solidFill>
                  <a:schemeClr val="tx1"/>
                </a:solidFill>
                <a:latin typeface="+mn-lt"/>
                <a:ea typeface="+mn-ea"/>
                <a:cs typeface="+mn-cs"/>
              </a:rPr>
              <a:t>map['price'] is int ? (map['price'] as int).toDouble() : map['price'] as double</a:t>
            </a:r>
            <a:r>
              <a:rPr lang="vi-VN"/>
              <a:t>).</a:t>
            </a:r>
          </a:p>
          <a:p>
            <a:pPr marL="457200" lvl="1" indent="0">
              <a:buFont typeface="Arial" panose="020B0604020202020204" pitchFamily="34" charset="0"/>
              <a:buNone/>
            </a:pPr>
            <a:endParaRPr lang="vi-VN"/>
          </a:p>
          <a:p>
            <a:pPr marL="0" indent="0">
              <a:buFontTx/>
              <a:buNone/>
            </a:pPr>
            <a:r>
              <a:rPr lang="en-US"/>
              <a:t>---------------------------------------------------------------------------------------------------------------------------------</a:t>
            </a:r>
          </a:p>
          <a:p>
            <a:pPr marL="0" indent="0">
              <a:buFontTx/>
              <a:buNone/>
            </a:pPr>
            <a:r>
              <a:rPr lang="en-US"/>
              <a:t>H</a:t>
            </a:r>
            <a:r>
              <a:rPr lang="vi-VN"/>
              <a:t>ai hàm đó (</a:t>
            </a:r>
            <a:r>
              <a:rPr lang="vi-VN" sz="1200" kern="1200">
                <a:solidFill>
                  <a:schemeClr val="tx1"/>
                </a:solidFill>
                <a:latin typeface="+mn-lt"/>
                <a:ea typeface="+mn-ea"/>
                <a:cs typeface="+mn-cs"/>
              </a:rPr>
              <a:t>toMap()</a:t>
            </a:r>
            <a:r>
              <a:rPr lang="vi-VN"/>
              <a:t> và </a:t>
            </a:r>
            <a:r>
              <a:rPr lang="vi-VN" sz="1200" kern="1200">
                <a:solidFill>
                  <a:schemeClr val="tx1"/>
                </a:solidFill>
                <a:latin typeface="+mn-lt"/>
                <a:ea typeface="+mn-ea"/>
                <a:cs typeface="+mn-cs"/>
              </a:rPr>
              <a:t>fromMap()</a:t>
            </a:r>
            <a:r>
              <a:rPr lang="vi-VN"/>
              <a:t>) </a:t>
            </a:r>
            <a:r>
              <a:rPr lang="vi-VN" b="1"/>
              <a:t>không phải dư thừa</a:t>
            </a:r>
            <a:r>
              <a:rPr lang="vi-VN"/>
              <a:t>, mà là </a:t>
            </a:r>
            <a:r>
              <a:rPr lang="vi-VN" b="1"/>
              <a:t>cặp chuyển đổi hai chiều giữa đối tượng (Object) và dữ liệu trong SQLite (Map)</a:t>
            </a:r>
            <a:r>
              <a:rPr lang="vi-VN"/>
              <a:t>.</a:t>
            </a:r>
            <a:endParaRPr lang="en-US"/>
          </a:p>
          <a:p>
            <a:r>
              <a:rPr lang="en-US" b="1"/>
              <a:t>🎯 </a:t>
            </a:r>
            <a:r>
              <a:rPr lang="vi-VN" b="1"/>
              <a:t>Mục đích chính</a:t>
            </a:r>
          </a:p>
          <a:p>
            <a:r>
              <a:rPr lang="vi-VN"/>
              <a:t>Khi bạn dùng </a:t>
            </a:r>
            <a:r>
              <a:rPr lang="vi-VN" b="1"/>
              <a:t>SQLite trong Flutter (hoặc bất kỳ hệ CSDL nào)</a:t>
            </a:r>
            <a:r>
              <a:rPr lang="vi-VN"/>
              <a:t>, bạn cần “dịch” qua lại giữa:</a:t>
            </a:r>
          </a:p>
          <a:p>
            <a:r>
              <a:rPr lang="vi-VN"/>
              <a:t>Dạng dữ liệu</a:t>
            </a:r>
            <a:r>
              <a:rPr lang="en-US"/>
              <a:t>			</a:t>
            </a:r>
            <a:r>
              <a:rPr lang="vi-VN"/>
              <a:t>Mô tả</a:t>
            </a:r>
            <a:r>
              <a:rPr lang="en-US"/>
              <a:t>				</a:t>
            </a:r>
            <a:r>
              <a:rPr lang="vi-VN"/>
              <a:t>Ví dụ</a:t>
            </a:r>
            <a:endParaRPr lang="en-US"/>
          </a:p>
          <a:p>
            <a:r>
              <a:rPr lang="vi-VN" b="1"/>
              <a:t>Object (Dart class)</a:t>
            </a:r>
            <a:r>
              <a:rPr lang="en-US" b="1"/>
              <a:t>	</a:t>
            </a:r>
            <a:r>
              <a:rPr lang="vi-VN"/>
              <a:t>Dạng dữ liệu bạn dùng trong code, dễ đọc, dễ quản lý</a:t>
            </a:r>
            <a:r>
              <a:rPr lang="en-US"/>
              <a:t>	</a:t>
            </a:r>
            <a:r>
              <a:rPr lang="vi-VN" sz="1200" kern="1200">
                <a:solidFill>
                  <a:schemeClr val="tx1"/>
                </a:solidFill>
                <a:latin typeface="+mn-lt"/>
                <a:ea typeface="+mn-ea"/>
                <a:cs typeface="+mn-cs"/>
              </a:rPr>
              <a:t>Product(name: "Bánh mì", price: 5000, ...)</a:t>
            </a:r>
            <a:endParaRPr lang="en-US" sz="1200" kern="1200">
              <a:solidFill>
                <a:schemeClr val="tx1"/>
              </a:solidFill>
              <a:latin typeface="+mn-lt"/>
              <a:ea typeface="+mn-ea"/>
              <a:cs typeface="+mn-cs"/>
            </a:endParaRPr>
          </a:p>
          <a:p>
            <a:r>
              <a:rPr lang="vi-VN" b="1"/>
              <a:t>Map&lt;String, dynamic&gt;</a:t>
            </a:r>
            <a:r>
              <a:rPr lang="en-US" b="1"/>
              <a:t>	</a:t>
            </a:r>
            <a:r>
              <a:rPr lang="vi-VN"/>
              <a:t>Dạng dữ liệu mà thư viện </a:t>
            </a:r>
            <a:r>
              <a:rPr lang="vi-VN" sz="1200" kern="1200">
                <a:solidFill>
                  <a:schemeClr val="tx1"/>
                </a:solidFill>
                <a:latin typeface="+mn-lt"/>
                <a:ea typeface="+mn-ea"/>
                <a:cs typeface="+mn-cs"/>
              </a:rPr>
              <a:t>sqflite</a:t>
            </a:r>
            <a:r>
              <a:rPr lang="vi-VN"/>
              <a:t> hiểu và lưu vào database</a:t>
            </a:r>
            <a:r>
              <a:rPr lang="en-US"/>
              <a:t>	</a:t>
            </a:r>
            <a:r>
              <a:rPr lang="vi-VN" sz="1200" kern="1200">
                <a:solidFill>
                  <a:schemeClr val="tx1"/>
                </a:solidFill>
                <a:latin typeface="+mn-lt"/>
                <a:ea typeface="+mn-ea"/>
                <a:cs typeface="+mn-cs"/>
              </a:rPr>
              <a:t>{ 'name': 'Bánh mì', 'price': 5000, ... }</a:t>
            </a:r>
            <a:endParaRPr lang="vi-VN"/>
          </a:p>
          <a:p>
            <a:r>
              <a:rPr lang="vi-VN"/>
              <a:t>Hai dạng này </a:t>
            </a:r>
            <a:r>
              <a:rPr lang="vi-VN" b="1"/>
              <a:t>không thể dùng thay thế trực tiếp</a:t>
            </a:r>
            <a:r>
              <a:rPr lang="vi-VN"/>
              <a:t> cho nhau.</a:t>
            </a:r>
            <a:br>
              <a:rPr lang="vi-VN"/>
            </a:br>
            <a:r>
              <a:rPr lang="vi-VN"/>
              <a:t>Do đó, bạn phải có </a:t>
            </a:r>
            <a:r>
              <a:rPr lang="vi-VN" b="1"/>
              <a:t>hàm chuyển đổi qua lại</a:t>
            </a:r>
            <a:r>
              <a:rPr lang="vi-VN"/>
              <a:t>:</a:t>
            </a:r>
          </a:p>
          <a:p>
            <a:r>
              <a:rPr lang="vi-VN" sz="1200" kern="1200">
                <a:solidFill>
                  <a:schemeClr val="tx1"/>
                </a:solidFill>
                <a:latin typeface="+mn-lt"/>
                <a:ea typeface="+mn-ea"/>
                <a:cs typeface="+mn-cs"/>
              </a:rPr>
              <a:t>toMap()</a:t>
            </a:r>
            <a:r>
              <a:rPr lang="vi-VN"/>
              <a:t> </a:t>
            </a:r>
            <a:r>
              <a:rPr lang="en-US"/>
              <a:t>👉 </a:t>
            </a:r>
            <a:r>
              <a:rPr lang="vi-VN"/>
              <a:t>từ </a:t>
            </a:r>
            <a:r>
              <a:rPr lang="vi-VN" b="1"/>
              <a:t>Object → Map</a:t>
            </a:r>
            <a:r>
              <a:rPr lang="vi-VN"/>
              <a:t> (để lưu vào DB)</a:t>
            </a:r>
          </a:p>
          <a:p>
            <a:r>
              <a:rPr lang="vi-VN" sz="1200" kern="1200">
                <a:solidFill>
                  <a:schemeClr val="tx1"/>
                </a:solidFill>
                <a:latin typeface="+mn-lt"/>
                <a:ea typeface="+mn-ea"/>
                <a:cs typeface="+mn-cs"/>
              </a:rPr>
              <a:t>fromMap()</a:t>
            </a:r>
            <a:r>
              <a:rPr lang="vi-VN"/>
              <a:t> </a:t>
            </a:r>
            <a:r>
              <a:rPr lang="en-US"/>
              <a:t>👉 </a:t>
            </a:r>
            <a:r>
              <a:rPr lang="vi-VN"/>
              <a:t>từ </a:t>
            </a:r>
            <a:r>
              <a:rPr lang="vi-VN" b="1"/>
              <a:t>Map → Object</a:t>
            </a:r>
            <a:r>
              <a:rPr lang="vi-VN"/>
              <a:t> (để đọc ra từ DB)</a:t>
            </a:r>
            <a:br>
              <a:rPr lang="vi-VN"/>
            </a:br>
            <a:endParaRPr lang="vi-VN"/>
          </a:p>
          <a:p>
            <a:r>
              <a:rPr lang="vi-VN" b="1"/>
              <a:t>⚙️ 1️⃣ Hàm </a:t>
            </a:r>
            <a:r>
              <a:rPr lang="vi-VN" sz="1200" b="1" kern="1200">
                <a:solidFill>
                  <a:schemeClr val="tx1"/>
                </a:solidFill>
                <a:latin typeface="+mn-lt"/>
                <a:ea typeface="+mn-ea"/>
                <a:cs typeface="+mn-cs"/>
              </a:rPr>
              <a:t>toMap()</a:t>
            </a:r>
            <a:r>
              <a:rPr lang="vi-VN" b="1"/>
              <a:t> — dùng khi lưu dữ liệu vào DB</a:t>
            </a:r>
            <a:r>
              <a:rPr lang="en-US" b="1"/>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a:t>Vd: </a:t>
            </a:r>
            <a:r>
              <a:rPr lang="en-US"/>
              <a:t>SQLite sẽ dùng Map đó để biết </a:t>
            </a:r>
            <a:r>
              <a:rPr lang="en-US" b="1"/>
              <a:t>cột nào – giá trị nào</a:t>
            </a:r>
            <a:r>
              <a:rPr lang="en-US"/>
              <a:t> cần chèn vào bảng.</a:t>
            </a:r>
          </a:p>
          <a:p>
            <a:r>
              <a:rPr lang="en-US"/>
              <a:t>⚙️ 2️⃣ Factory </a:t>
            </a:r>
            <a:r>
              <a:rPr lang="en-US" sz="1200" kern="1200">
                <a:solidFill>
                  <a:schemeClr val="tx1"/>
                </a:solidFill>
                <a:latin typeface="+mn-lt"/>
                <a:ea typeface="+mn-ea"/>
                <a:cs typeface="+mn-cs"/>
              </a:rPr>
              <a:t>fromMap()</a:t>
            </a:r>
            <a:r>
              <a:rPr lang="en-US"/>
              <a:t> — dùng khi </a:t>
            </a:r>
            <a:r>
              <a:rPr lang="en-US" b="1"/>
              <a:t>đọc dữ liệu từ DB</a:t>
            </a:r>
          </a:p>
          <a:p>
            <a:r>
              <a:rPr lang="vi-VN"/>
              <a:t>Khi bạn </a:t>
            </a:r>
            <a:r>
              <a:rPr lang="vi-VN" sz="1200" kern="1200">
                <a:solidFill>
                  <a:schemeClr val="tx1"/>
                </a:solidFill>
                <a:latin typeface="+mn-lt"/>
                <a:ea typeface="+mn-ea"/>
                <a:cs typeface="+mn-cs"/>
              </a:rPr>
              <a:t>query()</a:t>
            </a:r>
            <a:r>
              <a:rPr lang="vi-VN"/>
              <a:t> bảng, SQLite trả về </a:t>
            </a:r>
            <a:r>
              <a:rPr lang="vi-VN" b="1"/>
              <a:t>List&lt;Map&lt;String, dynamic&gt;&gt;</a:t>
            </a:r>
            <a:r>
              <a:rPr lang="vi-VN"/>
              <a:t>.</a:t>
            </a:r>
          </a:p>
          <a:p>
            <a:r>
              <a:rPr lang="vi-VN"/>
              <a:t>Mỗi hàng là một </a:t>
            </a:r>
            <a:r>
              <a:rPr lang="vi-VN" sz="1200" kern="1200">
                <a:solidFill>
                  <a:schemeClr val="tx1"/>
                </a:solidFill>
                <a:latin typeface="+mn-lt"/>
                <a:ea typeface="+mn-ea"/>
                <a:cs typeface="+mn-cs"/>
              </a:rPr>
              <a:t>Map</a:t>
            </a:r>
            <a:r>
              <a:rPr lang="vi-VN"/>
              <a:t> (tương tự JSON).</a:t>
            </a:r>
          </a:p>
          <a:p>
            <a:r>
              <a:rPr lang="vi-VN"/>
              <a:t>Hàm </a:t>
            </a:r>
            <a:r>
              <a:rPr lang="vi-VN" sz="1200" kern="1200">
                <a:solidFill>
                  <a:schemeClr val="tx1"/>
                </a:solidFill>
                <a:latin typeface="+mn-lt"/>
                <a:ea typeface="+mn-ea"/>
                <a:cs typeface="+mn-cs"/>
              </a:rPr>
              <a:t>fromMap()</a:t>
            </a:r>
            <a:r>
              <a:rPr lang="vi-VN"/>
              <a:t> chuyển Map đó thành </a:t>
            </a:r>
            <a:r>
              <a:rPr lang="vi-VN" sz="1200" kern="1200">
                <a:solidFill>
                  <a:schemeClr val="tx1"/>
                </a:solidFill>
                <a:latin typeface="+mn-lt"/>
                <a:ea typeface="+mn-ea"/>
                <a:cs typeface="+mn-cs"/>
              </a:rPr>
              <a:t>Product</a:t>
            </a:r>
            <a:r>
              <a:rPr lang="vi-VN"/>
              <a:t> để bạn dễ làm việc trong Flutter.</a:t>
            </a:r>
            <a:endParaRPr lang="en-US"/>
          </a:p>
          <a:p>
            <a:r>
              <a:rPr lang="en-US" b="1"/>
              <a:t>💡 </a:t>
            </a:r>
            <a:r>
              <a:rPr lang="vi-VN" b="1"/>
              <a:t>Ví dụ thực tế</a:t>
            </a:r>
          </a:p>
          <a:p>
            <a:r>
              <a:rPr lang="vi-VN"/>
              <a:t>Sau khi query:</a:t>
            </a:r>
          </a:p>
          <a:p>
            <a:pPr rtl="0"/>
            <a:r>
              <a:rPr lang="vi-VN" sz="1200" kern="1200">
                <a:solidFill>
                  <a:schemeClr val="tx1"/>
                </a:solidFill>
                <a:latin typeface="+mn-lt"/>
                <a:ea typeface="+mn-ea"/>
                <a:cs typeface="+mn-cs"/>
              </a:rPr>
              <a:t>final data = await db.query('products');</a:t>
            </a:r>
          </a:p>
          <a:p>
            <a:pPr rtl="0"/>
            <a:r>
              <a:rPr lang="vi-VN" sz="1200" kern="1200">
                <a:solidFill>
                  <a:schemeClr val="tx1"/>
                </a:solidFill>
                <a:latin typeface="+mn-lt"/>
                <a:ea typeface="+mn-ea"/>
                <a:cs typeface="+mn-cs"/>
              </a:rPr>
              <a:t>print(data);</a:t>
            </a:r>
          </a:p>
          <a:p>
            <a:r>
              <a:rPr lang="vi-VN"/>
              <a:t>Kết quả có thể là:</a:t>
            </a:r>
          </a:p>
          <a:p>
            <a:pPr rtl="0"/>
            <a:r>
              <a:rPr lang="vi-VN" sz="1200" kern="1200">
                <a:solidFill>
                  <a:schemeClr val="tx1"/>
                </a:solidFill>
                <a:latin typeface="+mn-lt"/>
                <a:ea typeface="+mn-ea"/>
                <a:cs typeface="+mn-cs"/>
              </a:rPr>
              <a:t>[</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'id': 1,</a:t>
            </a:r>
          </a:p>
          <a:p>
            <a:pPr rtl="0"/>
            <a:r>
              <a:rPr lang="vi-VN" sz="1200" kern="1200">
                <a:solidFill>
                  <a:schemeClr val="tx1"/>
                </a:solidFill>
                <a:latin typeface="+mn-lt"/>
                <a:ea typeface="+mn-ea"/>
                <a:cs typeface="+mn-cs"/>
              </a:rPr>
              <a:t>    'name': 'Bánh mì',</a:t>
            </a:r>
          </a:p>
          <a:p>
            <a:pPr rtl="0"/>
            <a:r>
              <a:rPr lang="vi-VN" sz="1200" kern="1200">
                <a:solidFill>
                  <a:schemeClr val="tx1"/>
                </a:solidFill>
                <a:latin typeface="+mn-lt"/>
                <a:ea typeface="+mn-ea"/>
                <a:cs typeface="+mn-cs"/>
              </a:rPr>
              <a:t>    'price': 5000.0,</a:t>
            </a:r>
          </a:p>
          <a:p>
            <a:pPr rtl="0"/>
            <a:r>
              <a:rPr lang="vi-VN" sz="1200" kern="1200">
                <a:solidFill>
                  <a:schemeClr val="tx1"/>
                </a:solidFill>
                <a:latin typeface="+mn-lt"/>
                <a:ea typeface="+mn-ea"/>
                <a:cs typeface="+mn-cs"/>
              </a:rPr>
              <a:t>    'quantity': 10,</a:t>
            </a:r>
          </a:p>
          <a:p>
            <a:pPr rtl="0"/>
            <a:r>
              <a:rPr lang="vi-VN" sz="1200" kern="1200">
                <a:solidFill>
                  <a:schemeClr val="tx1"/>
                </a:solidFill>
                <a:latin typeface="+mn-lt"/>
                <a:ea typeface="+mn-ea"/>
                <a:cs typeface="+mn-cs"/>
              </a:rPr>
              <a:t>    'description': 'Bánh mì Việt Nam',</a:t>
            </a:r>
          </a:p>
          <a:p>
            <a:pPr rtl="0"/>
            <a:r>
              <a:rPr lang="vi-VN" sz="1200" kern="1200">
                <a:solidFill>
                  <a:schemeClr val="tx1"/>
                </a:solidFill>
                <a:latin typeface="+mn-lt"/>
                <a:ea typeface="+mn-ea"/>
                <a:cs typeface="+mn-cs"/>
              </a:rPr>
              <a:t>    'created_at': '22/10/2025'</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a:t>
            </a:r>
          </a:p>
          <a:p>
            <a:r>
              <a:rPr lang="vi-VN"/>
              <a:t>Bạn dùng:</a:t>
            </a:r>
          </a:p>
          <a:p>
            <a:pPr rtl="0"/>
            <a:r>
              <a:rPr lang="vi-VN" sz="1200" kern="1200">
                <a:solidFill>
                  <a:schemeClr val="tx1"/>
                </a:solidFill>
                <a:latin typeface="+mn-lt"/>
                <a:ea typeface="+mn-ea"/>
                <a:cs typeface="+mn-cs"/>
              </a:rPr>
              <a:t>final products = data.map((e) =&gt; Product.fromMap(e)).toList();</a:t>
            </a:r>
          </a:p>
          <a:p>
            <a:r>
              <a:rPr lang="vi-VN"/>
              <a:t>Khi đó, bạn nhận được danh sách đối tượng kiểu </a:t>
            </a:r>
            <a:r>
              <a:rPr lang="vi-VN" sz="1200" kern="1200">
                <a:solidFill>
                  <a:schemeClr val="tx1"/>
                </a:solidFill>
                <a:latin typeface="+mn-lt"/>
                <a:ea typeface="+mn-ea"/>
                <a:cs typeface="+mn-cs"/>
              </a:rPr>
              <a:t>List&lt;Product&gt;</a:t>
            </a:r>
            <a:r>
              <a:rPr lang="vi-VN"/>
              <a:t>:</a:t>
            </a:r>
          </a:p>
          <a:p>
            <a:pPr rtl="0"/>
            <a:r>
              <a:rPr lang="vi-VN" sz="1200" kern="1200">
                <a:solidFill>
                  <a:schemeClr val="tx1"/>
                </a:solidFill>
                <a:latin typeface="+mn-lt"/>
                <a:ea typeface="+mn-ea"/>
                <a:cs typeface="+mn-cs"/>
              </a:rPr>
              <a:t>[</a:t>
            </a:r>
          </a:p>
          <a:p>
            <a:pPr rtl="0"/>
            <a:r>
              <a:rPr lang="vi-VN" sz="1200" kern="1200">
                <a:solidFill>
                  <a:schemeClr val="tx1"/>
                </a:solidFill>
                <a:latin typeface="+mn-lt"/>
                <a:ea typeface="+mn-ea"/>
                <a:cs typeface="+mn-cs"/>
              </a:rPr>
              <a:t>  Product(id: 1, name: "Bánh mì", price: 5000, quantity: 10, ...)</a:t>
            </a:r>
          </a:p>
          <a:p>
            <a:pPr rtl="0"/>
            <a:r>
              <a:rPr lang="vi-VN" sz="1200" kern="1200">
                <a:solidFill>
                  <a:schemeClr val="tx1"/>
                </a:solidFill>
                <a:latin typeface="+mn-lt"/>
                <a:ea typeface="+mn-ea"/>
                <a:cs typeface="+mn-cs"/>
              </a:rPr>
              <a:t>]</a:t>
            </a:r>
          </a:p>
          <a:p>
            <a:endParaRPr lang="vi-VN"/>
          </a:p>
          <a:p>
            <a:r>
              <a:rPr lang="en-US" b="1"/>
              <a:t>🔒 </a:t>
            </a:r>
            <a:r>
              <a:rPr lang="vi-VN" b="1"/>
              <a:t>Lý do có </a:t>
            </a:r>
            <a:r>
              <a:rPr lang="vi-VN" sz="1200" b="1" kern="1200">
                <a:solidFill>
                  <a:schemeClr val="tx1"/>
                </a:solidFill>
                <a:latin typeface="+mn-lt"/>
                <a:ea typeface="+mn-ea"/>
                <a:cs typeface="+mn-cs"/>
              </a:rPr>
              <a:t>?? ''</a:t>
            </a:r>
            <a:r>
              <a:rPr lang="vi-VN" b="1"/>
              <a:t> trong </a:t>
            </a:r>
            <a:r>
              <a:rPr lang="vi-VN" sz="1200" b="1" kern="1200">
                <a:solidFill>
                  <a:schemeClr val="tx1"/>
                </a:solidFill>
                <a:latin typeface="+mn-lt"/>
                <a:ea typeface="+mn-ea"/>
                <a:cs typeface="+mn-cs"/>
              </a:rPr>
              <a:t>fromMap()</a:t>
            </a:r>
            <a:endParaRPr lang="vi-VN" b="1"/>
          </a:p>
          <a:p>
            <a:r>
              <a:rPr lang="vi-VN"/>
              <a:t>Dòng:</a:t>
            </a:r>
          </a:p>
          <a:p>
            <a:pPr rtl="0"/>
            <a:r>
              <a:rPr lang="vi-VN" sz="1200" kern="1200">
                <a:solidFill>
                  <a:schemeClr val="tx1"/>
                </a:solidFill>
                <a:latin typeface="+mn-lt"/>
                <a:ea typeface="+mn-ea"/>
                <a:cs typeface="+mn-cs"/>
              </a:rPr>
              <a:t>description: map['description'] ?? '',</a:t>
            </a:r>
          </a:p>
          <a:p>
            <a:pPr rtl="0"/>
            <a:r>
              <a:rPr lang="vi-VN" sz="1200" kern="1200">
                <a:solidFill>
                  <a:schemeClr val="tx1"/>
                </a:solidFill>
                <a:latin typeface="+mn-lt"/>
                <a:ea typeface="+mn-ea"/>
                <a:cs typeface="+mn-cs"/>
              </a:rPr>
              <a:t>createdAt: map['created_at'] ?? '',</a:t>
            </a:r>
          </a:p>
          <a:p>
            <a:r>
              <a:rPr lang="vi-VN"/>
              <a:t>nghĩa là:</a:t>
            </a:r>
          </a:p>
          <a:p>
            <a:r>
              <a:rPr lang="vi-VN"/>
              <a:t>Nếu cột </a:t>
            </a:r>
            <a:r>
              <a:rPr lang="vi-VN" sz="1200" kern="1200">
                <a:solidFill>
                  <a:schemeClr val="tx1"/>
                </a:solidFill>
                <a:latin typeface="+mn-lt"/>
                <a:ea typeface="+mn-ea"/>
                <a:cs typeface="+mn-cs"/>
              </a:rPr>
              <a:t>description</a:t>
            </a:r>
            <a:r>
              <a:rPr lang="vi-VN"/>
              <a:t> hoặc </a:t>
            </a:r>
            <a:r>
              <a:rPr lang="vi-VN" sz="1200" kern="1200">
                <a:solidFill>
                  <a:schemeClr val="tx1"/>
                </a:solidFill>
                <a:latin typeface="+mn-lt"/>
                <a:ea typeface="+mn-ea"/>
                <a:cs typeface="+mn-cs"/>
              </a:rPr>
              <a:t>created_at</a:t>
            </a:r>
            <a:r>
              <a:rPr lang="vi-VN"/>
              <a:t> trong DB </a:t>
            </a:r>
            <a:r>
              <a:rPr lang="vi-VN" b="1"/>
              <a:t>không có dữ liệu (null)</a:t>
            </a:r>
            <a:r>
              <a:rPr lang="vi-VN"/>
              <a:t>,</a:t>
            </a:r>
            <a:br>
              <a:rPr lang="vi-VN"/>
            </a:br>
            <a:r>
              <a:rPr lang="vi-VN"/>
              <a:t>thì gán giá trị mặc định là </a:t>
            </a:r>
            <a:r>
              <a:rPr lang="vi-VN" b="1"/>
              <a:t>chuỗi rỗng </a:t>
            </a:r>
            <a:r>
              <a:rPr lang="vi-VN" sz="1200" b="1" kern="1200">
                <a:solidFill>
                  <a:schemeClr val="tx1"/>
                </a:solidFill>
                <a:latin typeface="+mn-lt"/>
                <a:ea typeface="+mn-ea"/>
                <a:cs typeface="+mn-cs"/>
              </a:rPr>
              <a:t>''</a:t>
            </a:r>
            <a:r>
              <a:rPr lang="vi-VN"/>
              <a:t> để tránh lỗi </a:t>
            </a:r>
            <a:r>
              <a:rPr lang="vi-VN" sz="1200" kern="1200">
                <a:solidFill>
                  <a:schemeClr val="tx1"/>
                </a:solidFill>
                <a:latin typeface="+mn-lt"/>
                <a:ea typeface="+mn-ea"/>
                <a:cs typeface="+mn-cs"/>
              </a:rPr>
              <a:t>null</a:t>
            </a:r>
            <a:r>
              <a:rPr lang="vi-VN"/>
              <a:t>.</a:t>
            </a:r>
          </a:p>
          <a:p>
            <a:r>
              <a:rPr lang="vi-VN"/>
              <a:t>Nếu bạn không thêm </a:t>
            </a:r>
            <a:r>
              <a:rPr lang="vi-VN" sz="1200" kern="1200">
                <a:solidFill>
                  <a:schemeClr val="tx1"/>
                </a:solidFill>
                <a:latin typeface="+mn-lt"/>
                <a:ea typeface="+mn-ea"/>
                <a:cs typeface="+mn-cs"/>
              </a:rPr>
              <a:t>?? ''</a:t>
            </a:r>
            <a:r>
              <a:rPr lang="vi-VN"/>
              <a:t>, khi SQLite trả về </a:t>
            </a:r>
            <a:r>
              <a:rPr lang="vi-VN" sz="1200" kern="1200">
                <a:solidFill>
                  <a:schemeClr val="tx1"/>
                </a:solidFill>
                <a:latin typeface="+mn-lt"/>
                <a:ea typeface="+mn-ea"/>
                <a:cs typeface="+mn-cs"/>
              </a:rPr>
              <a:t>null</a:t>
            </a:r>
            <a:r>
              <a:rPr lang="vi-VN"/>
              <a:t>, chương trình có thể báo lỗi kiểu dữ liệu.</a:t>
            </a:r>
            <a:br>
              <a:rPr lang="vi-VN"/>
            </a:br>
            <a:endParaRPr lang="vi-VN"/>
          </a:p>
          <a:p>
            <a:r>
              <a:rPr lang="en-US" b="1"/>
              <a:t>🧠 </a:t>
            </a:r>
            <a:r>
              <a:rPr lang="vi-VN" b="1"/>
              <a:t>Tổng kết: vì sao cần cả hai</a:t>
            </a:r>
          </a:p>
          <a:p>
            <a:r>
              <a:rPr lang="vi-VN"/>
              <a:t>Hàm</a:t>
            </a:r>
            <a:r>
              <a:rPr lang="en-US"/>
              <a:t>	</a:t>
            </a:r>
            <a:r>
              <a:rPr lang="vi-VN"/>
              <a:t>Chuyển đổi hướng</a:t>
            </a:r>
            <a:r>
              <a:rPr lang="en-US"/>
              <a:t>	        </a:t>
            </a:r>
            <a:r>
              <a:rPr lang="vi-VN"/>
              <a:t>Khi dùng</a:t>
            </a:r>
            <a:endParaRPr lang="en-US"/>
          </a:p>
          <a:p>
            <a:r>
              <a:rPr lang="vi-VN" sz="1200" kern="1200">
                <a:solidFill>
                  <a:schemeClr val="tx1"/>
                </a:solidFill>
                <a:latin typeface="+mn-lt"/>
                <a:ea typeface="+mn-ea"/>
                <a:cs typeface="+mn-cs"/>
              </a:rPr>
              <a:t>toMap()</a:t>
            </a:r>
            <a:r>
              <a:rPr lang="en-US" sz="1200" kern="1200">
                <a:solidFill>
                  <a:schemeClr val="tx1"/>
                </a:solidFill>
                <a:latin typeface="+mn-lt"/>
                <a:ea typeface="+mn-ea"/>
                <a:cs typeface="+mn-cs"/>
              </a:rPr>
              <a:t>	</a:t>
            </a:r>
            <a:r>
              <a:rPr lang="vi-VN" sz="1200" kern="1200">
                <a:solidFill>
                  <a:schemeClr val="tx1"/>
                </a:solidFill>
                <a:latin typeface="+mn-lt"/>
                <a:ea typeface="+mn-ea"/>
                <a:cs typeface="+mn-cs"/>
              </a:rPr>
              <a:t>Product</a:t>
            </a:r>
            <a:r>
              <a:rPr lang="vi-VN"/>
              <a:t> → </a:t>
            </a:r>
            <a:r>
              <a:rPr lang="vi-VN" sz="1200" kern="1200">
                <a:solidFill>
                  <a:schemeClr val="tx1"/>
                </a:solidFill>
                <a:latin typeface="+mn-lt"/>
                <a:ea typeface="+mn-ea"/>
                <a:cs typeface="+mn-cs"/>
              </a:rPr>
              <a:t>Map</a:t>
            </a:r>
            <a:r>
              <a:rPr lang="en-US" sz="1200" kern="1200">
                <a:solidFill>
                  <a:schemeClr val="tx1"/>
                </a:solidFill>
                <a:latin typeface="+mn-lt"/>
                <a:ea typeface="+mn-ea"/>
                <a:cs typeface="+mn-cs"/>
              </a:rPr>
              <a:t>	</a:t>
            </a:r>
            <a:r>
              <a:rPr lang="vi-VN"/>
              <a:t>Khi </a:t>
            </a:r>
            <a:r>
              <a:rPr lang="vi-VN" b="1"/>
              <a:t>insert/update</a:t>
            </a:r>
            <a:r>
              <a:rPr lang="vi-VN"/>
              <a:t> DB</a:t>
            </a:r>
            <a:endParaRPr lang="en-US"/>
          </a:p>
          <a:p>
            <a:r>
              <a:rPr lang="vi-VN" sz="1200" kern="1200">
                <a:solidFill>
                  <a:schemeClr val="tx1"/>
                </a:solidFill>
                <a:latin typeface="+mn-lt"/>
                <a:ea typeface="+mn-ea"/>
                <a:cs typeface="+mn-cs"/>
              </a:rPr>
              <a:t>fromMap()</a:t>
            </a:r>
            <a:r>
              <a:rPr lang="en-US" sz="1200" kern="1200">
                <a:solidFill>
                  <a:schemeClr val="tx1"/>
                </a:solidFill>
                <a:latin typeface="+mn-lt"/>
                <a:ea typeface="+mn-ea"/>
                <a:cs typeface="+mn-cs"/>
              </a:rPr>
              <a:t>	</a:t>
            </a:r>
            <a:r>
              <a:rPr lang="vi-VN" sz="1200" kern="1200">
                <a:solidFill>
                  <a:schemeClr val="tx1"/>
                </a:solidFill>
                <a:latin typeface="+mn-lt"/>
                <a:ea typeface="+mn-ea"/>
                <a:cs typeface="+mn-cs"/>
              </a:rPr>
              <a:t>Map</a:t>
            </a:r>
            <a:r>
              <a:rPr lang="vi-VN"/>
              <a:t> → </a:t>
            </a:r>
            <a:r>
              <a:rPr lang="vi-VN" sz="1200" kern="1200">
                <a:solidFill>
                  <a:schemeClr val="tx1"/>
                </a:solidFill>
                <a:latin typeface="+mn-lt"/>
                <a:ea typeface="+mn-ea"/>
                <a:cs typeface="+mn-cs"/>
              </a:rPr>
              <a:t>Product</a:t>
            </a:r>
            <a:r>
              <a:rPr lang="en-US" sz="1200" kern="1200">
                <a:solidFill>
                  <a:schemeClr val="tx1"/>
                </a:solidFill>
                <a:latin typeface="+mn-lt"/>
                <a:ea typeface="+mn-ea"/>
                <a:cs typeface="+mn-cs"/>
              </a:rPr>
              <a:t>	</a:t>
            </a:r>
            <a:r>
              <a:rPr lang="vi-VN"/>
              <a:t>Khi </a:t>
            </a:r>
            <a:r>
              <a:rPr lang="vi-VN" b="1"/>
              <a:t>query/select</a:t>
            </a:r>
            <a:r>
              <a:rPr lang="vi-VN"/>
              <a:t> DB</a:t>
            </a:r>
          </a:p>
          <a:p>
            <a:r>
              <a:rPr lang="en-US"/>
              <a:t>👉 </a:t>
            </a:r>
            <a:r>
              <a:rPr lang="vi-VN"/>
              <a:t>Hai hàm này tạo thành </a:t>
            </a:r>
            <a:r>
              <a:rPr lang="vi-VN" b="1"/>
              <a:t>cầu nối hai chiều</a:t>
            </a:r>
            <a:r>
              <a:rPr lang="vi-VN"/>
              <a:t> giữa Flutter (object) và SQLite (Map).</a:t>
            </a:r>
          </a:p>
          <a:p>
            <a:r>
              <a:rPr lang="en-US"/>
              <a:t>-------------------------------------------------------------------------------------------------------------</a:t>
            </a:r>
            <a:endParaRPr lang="vi-VN"/>
          </a:p>
          <a:p>
            <a:endParaRPr lang="vi-VN" b="1"/>
          </a:p>
          <a:p>
            <a:pPr marL="0" indent="0">
              <a:buFontTx/>
              <a:buNone/>
            </a:pPr>
            <a:endParaRPr lang="en-US"/>
          </a:p>
        </p:txBody>
      </p:sp>
      <p:sp>
        <p:nvSpPr>
          <p:cNvPr id="4" name="Slide Number Placeholder 3">
            <a:extLst>
              <a:ext uri="{FF2B5EF4-FFF2-40B4-BE49-F238E27FC236}">
                <a16:creationId xmlns:a16="http://schemas.microsoft.com/office/drawing/2014/main" id="{7E725EC5-9F8E-3260-AA9B-171AFF3FB0C8}"/>
              </a:ext>
            </a:extLst>
          </p:cNvPr>
          <p:cNvSpPr>
            <a:spLocks noGrp="1"/>
          </p:cNvSpPr>
          <p:nvPr>
            <p:ph type="sldNum" sz="quarter" idx="5"/>
          </p:nvPr>
        </p:nvSpPr>
        <p:spPr/>
        <p:txBody>
          <a:bodyPr/>
          <a:lstStyle/>
          <a:p>
            <a:fld id="{1983A999-5E0E-42CA-8400-604AE921FF7C}" type="slidenum">
              <a:rPr lang="en-US" smtClean="0"/>
              <a:t>8</a:t>
            </a:fld>
            <a:endParaRPr lang="en-US"/>
          </a:p>
        </p:txBody>
      </p:sp>
    </p:spTree>
    <p:extLst>
      <p:ext uri="{BB962C8B-B14F-4D97-AF65-F5344CB8AC3E}">
        <p14:creationId xmlns:p14="http://schemas.microsoft.com/office/powerpoint/2010/main" val="6637941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90065-F5FF-3489-DD32-ED632EB03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930286-2A2C-DEB6-F68C-4465BDC60E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B38401-3285-0735-0F79-17B3F18848A1}"/>
              </a:ext>
            </a:extLst>
          </p:cNvPr>
          <p:cNvSpPr>
            <a:spLocks noGrp="1"/>
          </p:cNvSpPr>
          <p:nvPr>
            <p:ph type="body" idx="1"/>
          </p:nvPr>
        </p:nvSpPr>
        <p:spPr/>
        <p:txBody>
          <a:bodyPr/>
          <a:lstStyle/>
          <a:p>
            <a:pPr marL="0" indent="0">
              <a:buFontTx/>
              <a:buNone/>
            </a:pPr>
            <a:r>
              <a:rPr lang="en-US" b="1"/>
              <a:t>- </a:t>
            </a:r>
            <a:r>
              <a:rPr lang="vi-VN" b="1"/>
              <a:t>product_model.dart</a:t>
            </a:r>
            <a:r>
              <a:rPr lang="vi-VN"/>
              <a:t>: định nghĩa lớp dữ liệu </a:t>
            </a:r>
            <a:r>
              <a:rPr lang="vi-VN" sz="1200" kern="1200">
                <a:solidFill>
                  <a:schemeClr val="tx1"/>
                </a:solidFill>
                <a:latin typeface="+mn-lt"/>
                <a:ea typeface="+mn-ea"/>
                <a:cs typeface="+mn-cs"/>
              </a:rPr>
              <a:t>Product</a:t>
            </a:r>
            <a:r>
              <a:rPr lang="vi-VN"/>
              <a:t> (model) — cấu trúc của một sản phẩm trong app và hai phương thức chuyển đổi giữa object và </a:t>
            </a:r>
            <a:r>
              <a:rPr lang="vi-VN" sz="1200" kern="1200">
                <a:solidFill>
                  <a:schemeClr val="tx1"/>
                </a:solidFill>
                <a:latin typeface="+mn-lt"/>
                <a:ea typeface="+mn-ea"/>
                <a:cs typeface="+mn-cs"/>
              </a:rPr>
              <a:t>Map&lt;String,dynamic&gt;</a:t>
            </a:r>
            <a:r>
              <a:rPr lang="vi-VN"/>
              <a:t> (để lưu vào SQLite).</a:t>
            </a:r>
            <a:endParaRPr lang="en-US"/>
          </a:p>
          <a:p>
            <a:pPr>
              <a:buNone/>
            </a:pPr>
            <a:r>
              <a:rPr lang="en-US" b="1"/>
              <a:t>- </a:t>
            </a:r>
            <a:r>
              <a:rPr lang="vi-VN" b="1"/>
              <a:t>Giải thích từng đoạn / từng dòng:</a:t>
            </a:r>
            <a:endParaRPr lang="vi-VN"/>
          </a:p>
          <a:p>
            <a:pPr>
              <a:buFont typeface="Arial" panose="020B0604020202020204" pitchFamily="34" charset="0"/>
              <a:buChar char="•"/>
            </a:pPr>
            <a:r>
              <a:rPr lang="vi-VN">
                <a:latin typeface="Courier New" panose="02070309020205020404" pitchFamily="49" charset="0"/>
              </a:rPr>
              <a:t>class Product {</a:t>
            </a:r>
            <a:br>
              <a:rPr lang="vi-VN"/>
            </a:br>
            <a:r>
              <a:rPr lang="vi-VN"/>
              <a:t>Định nghĩa một lớp (class) tên </a:t>
            </a:r>
            <a:r>
              <a:rPr lang="vi-VN">
                <a:latin typeface="Courier New" panose="02070309020205020404" pitchFamily="49" charset="0"/>
              </a:rPr>
              <a:t>Product</a:t>
            </a:r>
            <a:r>
              <a:rPr lang="vi-VN"/>
              <a:t> — biểu diễn một sản phẩm.</a:t>
            </a:r>
          </a:p>
          <a:p>
            <a:pPr>
              <a:buFont typeface="Arial" panose="020B0604020202020204" pitchFamily="34" charset="0"/>
              <a:buChar char="•"/>
            </a:pPr>
            <a:r>
              <a:rPr lang="vi-VN">
                <a:latin typeface="Courier New" panose="02070309020205020404" pitchFamily="49" charset="0"/>
              </a:rPr>
              <a:t>final int? id;</a:t>
            </a:r>
            <a:br>
              <a:rPr lang="vi-VN"/>
            </a:br>
            <a:r>
              <a:rPr lang="vi-VN"/>
              <a:t>Trường </a:t>
            </a:r>
            <a:r>
              <a:rPr lang="vi-VN">
                <a:latin typeface="Courier New" panose="02070309020205020404" pitchFamily="49" charset="0"/>
              </a:rPr>
              <a:t>id</a:t>
            </a:r>
            <a:r>
              <a:rPr lang="vi-VN"/>
              <a:t> kiểu </a:t>
            </a:r>
            <a:r>
              <a:rPr lang="vi-VN">
                <a:latin typeface="Courier New" panose="02070309020205020404" pitchFamily="49" charset="0"/>
              </a:rPr>
              <a:t>int?</a:t>
            </a:r>
            <a:r>
              <a:rPr lang="vi-VN"/>
              <a:t> (nullable). Dùng để lưu khóa chính từ SQLite. </a:t>
            </a:r>
            <a:r>
              <a:rPr lang="vi-VN">
                <a:latin typeface="Courier New" panose="02070309020205020404" pitchFamily="49" charset="0"/>
              </a:rPr>
              <a:t>final</a:t>
            </a:r>
            <a:r>
              <a:rPr lang="vi-VN"/>
              <a:t> nghĩa là một khi khởi tạo object thì không đổi.</a:t>
            </a:r>
          </a:p>
          <a:p>
            <a:pPr>
              <a:buFont typeface="Arial" panose="020B0604020202020204" pitchFamily="34" charset="0"/>
              <a:buChar char="•"/>
            </a:pPr>
            <a:r>
              <a:rPr lang="vi-VN">
                <a:latin typeface="Courier New" panose="02070309020205020404" pitchFamily="49" charset="0"/>
              </a:rPr>
              <a:t>final String name;</a:t>
            </a:r>
            <a:br>
              <a:rPr lang="vi-VN"/>
            </a:br>
            <a:r>
              <a:rPr lang="vi-VN"/>
              <a:t>Tên sản phẩm — bắt buộc (non-null).</a:t>
            </a:r>
          </a:p>
          <a:p>
            <a:pPr>
              <a:buFont typeface="Arial" panose="020B0604020202020204" pitchFamily="34" charset="0"/>
              <a:buChar char="•"/>
            </a:pPr>
            <a:r>
              <a:rPr lang="vi-VN">
                <a:latin typeface="Courier New" panose="02070309020205020404" pitchFamily="49" charset="0"/>
              </a:rPr>
              <a:t>final double price;</a:t>
            </a:r>
            <a:br>
              <a:rPr lang="vi-VN"/>
            </a:br>
            <a:r>
              <a:rPr lang="vi-VN"/>
              <a:t>Giá sản phẩm — kiểu số thực (double).</a:t>
            </a:r>
          </a:p>
          <a:p>
            <a:pPr>
              <a:buFont typeface="Arial" panose="020B0604020202020204" pitchFamily="34" charset="0"/>
              <a:buChar char="•"/>
            </a:pPr>
            <a:r>
              <a:rPr lang="vi-VN">
                <a:latin typeface="Courier New" panose="02070309020205020404" pitchFamily="49" charset="0"/>
              </a:rPr>
              <a:t>final int quantity;</a:t>
            </a:r>
            <a:br>
              <a:rPr lang="vi-VN"/>
            </a:br>
            <a:r>
              <a:rPr lang="vi-VN"/>
              <a:t>Số lượng sản phẩm — kiểu integer.</a:t>
            </a:r>
          </a:p>
          <a:p>
            <a:pPr>
              <a:buFont typeface="Arial" panose="020B0604020202020204" pitchFamily="34" charset="0"/>
              <a:buChar char="•"/>
            </a:pPr>
            <a:r>
              <a:rPr lang="vi-VN">
                <a:latin typeface="Courier New" panose="02070309020205020404" pitchFamily="49" charset="0"/>
              </a:rPr>
              <a:t>final String description;</a:t>
            </a:r>
            <a:br>
              <a:rPr lang="vi-VN"/>
            </a:br>
            <a:r>
              <a:rPr lang="vi-VN"/>
              <a:t>Mô tả sản phẩm — chuỗi.</a:t>
            </a:r>
          </a:p>
          <a:p>
            <a:pPr>
              <a:buFont typeface="Arial" panose="020B0604020202020204" pitchFamily="34" charset="0"/>
              <a:buChar char="•"/>
            </a:pPr>
            <a:r>
              <a:rPr lang="vi-VN">
                <a:latin typeface="Courier New" panose="02070309020205020404" pitchFamily="49" charset="0"/>
              </a:rPr>
              <a:t>final String createdAt;</a:t>
            </a:r>
            <a:br>
              <a:rPr lang="vi-VN"/>
            </a:br>
            <a:r>
              <a:rPr lang="vi-VN"/>
              <a:t>Thời gian tạo (được lưu dưới dạng chuỗi). Bạn dùng </a:t>
            </a:r>
            <a:r>
              <a:rPr lang="vi-VN">
                <a:latin typeface="Courier New" panose="02070309020205020404" pitchFamily="49" charset="0"/>
              </a:rPr>
              <a:t>DateFormat</a:t>
            </a:r>
            <a:r>
              <a:rPr lang="vi-VN"/>
              <a:t> ở </a:t>
            </a:r>
            <a:r>
              <a:rPr lang="vi-VN">
                <a:latin typeface="Courier New" panose="02070309020205020404" pitchFamily="49" charset="0"/>
              </a:rPr>
              <a:t>main.dart</a:t>
            </a:r>
            <a:r>
              <a:rPr lang="vi-VN"/>
              <a:t> để tạo chuỗi này.</a:t>
            </a:r>
          </a:p>
          <a:p>
            <a:pPr>
              <a:buFont typeface="Arial" panose="020B0604020202020204" pitchFamily="34" charset="0"/>
              <a:buChar char="•"/>
            </a:pPr>
            <a:r>
              <a:rPr lang="vi-VN">
                <a:latin typeface="Courier New" panose="02070309020205020404" pitchFamily="49" charset="0"/>
              </a:rPr>
              <a:t>Product({ this.id, required this.name, required this.price, required this.quantity, required this.description, required this.createdAt, });</a:t>
            </a:r>
            <a:br>
              <a:rPr lang="vi-VN"/>
            </a:br>
            <a:r>
              <a:rPr lang="vi-VN"/>
              <a:t>Constructor đặt tên (named constructor) cho class. </a:t>
            </a:r>
            <a:r>
              <a:rPr lang="vi-VN">
                <a:latin typeface="Courier New" panose="02070309020205020404" pitchFamily="49" charset="0"/>
              </a:rPr>
              <a:t>required</a:t>
            </a:r>
            <a:r>
              <a:rPr lang="vi-VN"/>
              <a:t> là bắt buộc khi khởi tạo; </a:t>
            </a:r>
            <a:r>
              <a:rPr lang="vi-VN">
                <a:latin typeface="Courier New" panose="02070309020205020404" pitchFamily="49" charset="0"/>
              </a:rPr>
              <a:t>this.id</a:t>
            </a:r>
            <a:r>
              <a:rPr lang="vi-VN"/>
              <a:t> không required vì DB sẽ tự cấp id khi insert.</a:t>
            </a:r>
          </a:p>
          <a:p>
            <a:pPr>
              <a:buFont typeface="Arial" panose="020B0604020202020204" pitchFamily="34" charset="0"/>
              <a:buChar char="•"/>
            </a:pPr>
            <a:r>
              <a:rPr lang="vi-VN">
                <a:latin typeface="Courier New" panose="02070309020205020404" pitchFamily="49" charset="0"/>
              </a:rPr>
              <a:t>Map&lt;String, dynamic&gt; toMap() { return { ... }; }</a:t>
            </a:r>
            <a:br>
              <a:rPr lang="vi-VN"/>
            </a:br>
            <a:r>
              <a:rPr lang="vi-VN"/>
              <a:t>Phương thức chuyển </a:t>
            </a:r>
            <a:r>
              <a:rPr lang="vi-VN">
                <a:latin typeface="Courier New" panose="02070309020205020404" pitchFamily="49" charset="0"/>
              </a:rPr>
              <a:t>Product</a:t>
            </a:r>
            <a:r>
              <a:rPr lang="vi-VN"/>
              <a:t> → </a:t>
            </a:r>
            <a:r>
              <a:rPr lang="vi-VN">
                <a:latin typeface="Courier New" panose="02070309020205020404" pitchFamily="49" charset="0"/>
              </a:rPr>
              <a:t>Map</a:t>
            </a:r>
            <a:r>
              <a:rPr lang="vi-VN"/>
              <a:t> (key là tên cột DB). Đây là định dạng </a:t>
            </a:r>
            <a:r>
              <a:rPr lang="vi-VN">
                <a:latin typeface="Courier New" panose="02070309020205020404" pitchFamily="49" charset="0"/>
              </a:rPr>
              <a:t>sqflite</a:t>
            </a:r>
            <a:r>
              <a:rPr lang="vi-VN"/>
              <a:t> dùng để </a:t>
            </a:r>
            <a:r>
              <a:rPr lang="vi-VN">
                <a:latin typeface="Courier New" panose="02070309020205020404" pitchFamily="49" charset="0"/>
              </a:rPr>
              <a:t>insert</a:t>
            </a:r>
            <a:r>
              <a:rPr lang="vi-VN"/>
              <a:t> hay </a:t>
            </a:r>
            <a:r>
              <a:rPr lang="vi-VN">
                <a:latin typeface="Courier New" panose="02070309020205020404" pitchFamily="49" charset="0"/>
              </a:rPr>
              <a:t>update</a:t>
            </a:r>
            <a:r>
              <a:rPr lang="vi-VN"/>
              <a:t>.</a:t>
            </a:r>
          </a:p>
          <a:p>
            <a:pPr marL="742950" lvl="1" indent="-285750">
              <a:buFont typeface="Arial" panose="020B0604020202020204" pitchFamily="34" charset="0"/>
              <a:buChar char="•"/>
            </a:pPr>
            <a:r>
              <a:rPr lang="vi-VN">
                <a:latin typeface="Courier New" panose="02070309020205020404" pitchFamily="49" charset="0"/>
              </a:rPr>
              <a:t>'created_at': createdAt,</a:t>
            </a:r>
            <a:r>
              <a:rPr lang="vi-VN"/>
              <a:t> lưu key </a:t>
            </a:r>
            <a:r>
              <a:rPr lang="vi-VN">
                <a:latin typeface="Courier New" panose="02070309020205020404" pitchFamily="49" charset="0"/>
              </a:rPr>
              <a:t>created_at</a:t>
            </a:r>
            <a:r>
              <a:rPr lang="vi-VN"/>
              <a:t> tương ứng với cột DB bạn tạo.</a:t>
            </a:r>
          </a:p>
          <a:p>
            <a:pPr>
              <a:buFont typeface="Arial" panose="020B0604020202020204" pitchFamily="34" charset="0"/>
              <a:buChar char="•"/>
            </a:pPr>
            <a:r>
              <a:rPr lang="vi-VN">
                <a:latin typeface="Courier New" panose="02070309020205020404" pitchFamily="49" charset="0"/>
              </a:rPr>
              <a:t>factory Product.fromMap(Map&lt;String, dynamic&gt; map) { return Product(...); }</a:t>
            </a:r>
            <a:br>
              <a:rPr lang="vi-VN"/>
            </a:br>
            <a:r>
              <a:rPr lang="vi-VN"/>
              <a:t>Factory constructor để tạo </a:t>
            </a:r>
            <a:r>
              <a:rPr lang="vi-VN">
                <a:latin typeface="Courier New" panose="02070309020205020404" pitchFamily="49" charset="0"/>
              </a:rPr>
              <a:t>Product</a:t>
            </a:r>
            <a:r>
              <a:rPr lang="vi-VN"/>
              <a:t> từ </a:t>
            </a:r>
            <a:r>
              <a:rPr lang="vi-VN">
                <a:latin typeface="Courier New" panose="02070309020205020404" pitchFamily="49" charset="0"/>
              </a:rPr>
              <a:t>Map</a:t>
            </a:r>
            <a:r>
              <a:rPr lang="vi-VN"/>
              <a:t> (ví dụ khi lấy </a:t>
            </a:r>
            <a:r>
              <a:rPr lang="vi-VN">
                <a:latin typeface="Courier New" panose="02070309020205020404" pitchFamily="49" charset="0"/>
              </a:rPr>
              <a:t>query</a:t>
            </a:r>
            <a:r>
              <a:rPr lang="vi-VN"/>
              <a:t> từ DB).</a:t>
            </a:r>
          </a:p>
          <a:p>
            <a:pPr marL="742950" lvl="1" indent="-285750">
              <a:buFont typeface="Arial" panose="020B0604020202020204" pitchFamily="34" charset="0"/>
              <a:buChar char="•"/>
            </a:pPr>
            <a:r>
              <a:rPr lang="vi-VN">
                <a:latin typeface="Courier New" panose="02070309020205020404" pitchFamily="49" charset="0"/>
              </a:rPr>
              <a:t>map['description'] ?? ''</a:t>
            </a:r>
            <a:r>
              <a:rPr lang="vi-VN"/>
              <a:t> đảm bảo nếu DB trả </a:t>
            </a:r>
            <a:r>
              <a:rPr lang="vi-VN">
                <a:latin typeface="Courier New" panose="02070309020205020404" pitchFamily="49" charset="0"/>
              </a:rPr>
              <a:t>null</a:t>
            </a:r>
            <a:r>
              <a:rPr lang="vi-VN"/>
              <a:t> cho mô tả thì dùng chuỗi rỗng thay vì ném lỗi.</a:t>
            </a:r>
          </a:p>
          <a:p>
            <a:pPr marL="742950" lvl="1" indent="-285750">
              <a:buFont typeface="Arial" panose="020B0604020202020204" pitchFamily="34" charset="0"/>
              <a:buChar char="•"/>
            </a:pPr>
            <a:r>
              <a:rPr lang="vi-VN"/>
              <a:t>Tương tự </a:t>
            </a:r>
            <a:r>
              <a:rPr lang="vi-VN">
                <a:latin typeface="Courier New" panose="02070309020205020404" pitchFamily="49" charset="0"/>
              </a:rPr>
              <a:t>created_at</a:t>
            </a:r>
            <a:r>
              <a:rPr lang="vi-VN"/>
              <a:t>.</a:t>
            </a:r>
            <a:endParaRPr lang="en-US"/>
          </a:p>
          <a:p>
            <a:r>
              <a:rPr lang="vi-VN" b="1"/>
              <a:t>Ghi chú / best practice</a:t>
            </a:r>
            <a:r>
              <a:rPr lang="vi-VN"/>
              <a:t>:</a:t>
            </a:r>
          </a:p>
          <a:p>
            <a:r>
              <a:rPr lang="vi-VN" sz="1200" kern="1200">
                <a:solidFill>
                  <a:schemeClr val="tx1"/>
                </a:solidFill>
                <a:latin typeface="+mn-lt"/>
                <a:ea typeface="+mn-ea"/>
                <a:cs typeface="+mn-cs"/>
              </a:rPr>
              <a:t>createdAt</a:t>
            </a:r>
            <a:r>
              <a:rPr lang="vi-VN"/>
              <a:t> lưu chuỗi — nếu cần xử lý thời gian (so sánh/sắp xếp) sau này, lưu dưới dạng ISO8601 (</a:t>
            </a:r>
            <a:r>
              <a:rPr lang="vi-VN" sz="1200" kern="1200">
                <a:solidFill>
                  <a:schemeClr val="tx1"/>
                </a:solidFill>
                <a:latin typeface="+mn-lt"/>
                <a:ea typeface="+mn-ea"/>
                <a:cs typeface="+mn-cs"/>
              </a:rPr>
              <a:t>DateTime.toIso8601String()</a:t>
            </a:r>
            <a:r>
              <a:rPr lang="vi-VN"/>
              <a:t>) sẽ dễ hơn.</a:t>
            </a:r>
          </a:p>
          <a:p>
            <a:r>
              <a:rPr lang="vi-VN"/>
              <a:t>Kiểm soát kiểu: khi đọc từ DB đôi khi giá trị </a:t>
            </a:r>
            <a:r>
              <a:rPr lang="vi-VN" sz="1200" kern="1200">
                <a:solidFill>
                  <a:schemeClr val="tx1"/>
                </a:solidFill>
                <a:latin typeface="+mn-lt"/>
                <a:ea typeface="+mn-ea"/>
                <a:cs typeface="+mn-cs"/>
              </a:rPr>
              <a:t>map['price']</a:t>
            </a:r>
            <a:r>
              <a:rPr lang="vi-VN"/>
              <a:t> có thể là </a:t>
            </a:r>
            <a:r>
              <a:rPr lang="vi-VN" sz="1200" kern="1200">
                <a:solidFill>
                  <a:schemeClr val="tx1"/>
                </a:solidFill>
                <a:latin typeface="+mn-lt"/>
                <a:ea typeface="+mn-ea"/>
                <a:cs typeface="+mn-cs"/>
              </a:rPr>
              <a:t>int</a:t>
            </a:r>
            <a:r>
              <a:rPr lang="vi-VN"/>
              <a:t> nếu giá trị nguyên — có thể cần ép kiểu an toàn (ví dụ: </a:t>
            </a:r>
            <a:r>
              <a:rPr lang="vi-VN" sz="1200" kern="1200">
                <a:solidFill>
                  <a:schemeClr val="tx1"/>
                </a:solidFill>
                <a:latin typeface="+mn-lt"/>
                <a:ea typeface="+mn-ea"/>
                <a:cs typeface="+mn-cs"/>
              </a:rPr>
              <a:t>map['price'] is int ? (map['price'] as int).toDouble() : map['price'] as double</a:t>
            </a:r>
            <a:r>
              <a:rPr lang="vi-VN"/>
              <a:t>).</a:t>
            </a:r>
          </a:p>
          <a:p>
            <a:pPr marL="457200" lvl="1" indent="0">
              <a:buFont typeface="Arial" panose="020B0604020202020204" pitchFamily="34" charset="0"/>
              <a:buNone/>
            </a:pPr>
            <a:endParaRPr lang="vi-VN"/>
          </a:p>
          <a:p>
            <a:pPr marL="0" indent="0">
              <a:buFontTx/>
              <a:buNone/>
            </a:pPr>
            <a:r>
              <a:rPr lang="en-US"/>
              <a:t>---------------------------------------------------------------------------------------------------------------------------------</a:t>
            </a:r>
          </a:p>
          <a:p>
            <a:pPr marL="0" indent="0">
              <a:buFontTx/>
              <a:buNone/>
            </a:pPr>
            <a:r>
              <a:rPr lang="en-US"/>
              <a:t>H</a:t>
            </a:r>
            <a:r>
              <a:rPr lang="vi-VN"/>
              <a:t>ai hàm đó (</a:t>
            </a:r>
            <a:r>
              <a:rPr lang="vi-VN" sz="1200" kern="1200">
                <a:solidFill>
                  <a:schemeClr val="tx1"/>
                </a:solidFill>
                <a:latin typeface="+mn-lt"/>
                <a:ea typeface="+mn-ea"/>
                <a:cs typeface="+mn-cs"/>
              </a:rPr>
              <a:t>toMap()</a:t>
            </a:r>
            <a:r>
              <a:rPr lang="vi-VN"/>
              <a:t> và </a:t>
            </a:r>
            <a:r>
              <a:rPr lang="vi-VN" sz="1200" kern="1200">
                <a:solidFill>
                  <a:schemeClr val="tx1"/>
                </a:solidFill>
                <a:latin typeface="+mn-lt"/>
                <a:ea typeface="+mn-ea"/>
                <a:cs typeface="+mn-cs"/>
              </a:rPr>
              <a:t>fromMap()</a:t>
            </a:r>
            <a:r>
              <a:rPr lang="vi-VN"/>
              <a:t>) </a:t>
            </a:r>
            <a:r>
              <a:rPr lang="vi-VN" b="1"/>
              <a:t>không phải dư thừa</a:t>
            </a:r>
            <a:r>
              <a:rPr lang="vi-VN"/>
              <a:t>, mà là </a:t>
            </a:r>
            <a:r>
              <a:rPr lang="vi-VN" b="1"/>
              <a:t>cặp chuyển đổi hai chiều giữa đối tượng (Object) và dữ liệu trong SQLite (Map)</a:t>
            </a:r>
            <a:r>
              <a:rPr lang="vi-VN"/>
              <a:t>.</a:t>
            </a:r>
            <a:endParaRPr lang="en-US"/>
          </a:p>
          <a:p>
            <a:r>
              <a:rPr lang="en-US" b="1"/>
              <a:t>🎯 </a:t>
            </a:r>
            <a:r>
              <a:rPr lang="vi-VN" b="1"/>
              <a:t>Mục đích chính</a:t>
            </a:r>
          </a:p>
          <a:p>
            <a:r>
              <a:rPr lang="vi-VN"/>
              <a:t>Khi bạn dùng </a:t>
            </a:r>
            <a:r>
              <a:rPr lang="vi-VN" b="1"/>
              <a:t>SQLite trong Flutter (hoặc bất kỳ hệ CSDL nào)</a:t>
            </a:r>
            <a:r>
              <a:rPr lang="vi-VN"/>
              <a:t>, bạn cần “dịch” qua lại giữa:</a:t>
            </a:r>
          </a:p>
          <a:p>
            <a:r>
              <a:rPr lang="vi-VN"/>
              <a:t>Dạng dữ liệu</a:t>
            </a:r>
            <a:r>
              <a:rPr lang="en-US"/>
              <a:t>			</a:t>
            </a:r>
            <a:r>
              <a:rPr lang="vi-VN"/>
              <a:t>Mô tả</a:t>
            </a:r>
            <a:r>
              <a:rPr lang="en-US"/>
              <a:t>				</a:t>
            </a:r>
            <a:r>
              <a:rPr lang="vi-VN"/>
              <a:t>Ví dụ</a:t>
            </a:r>
            <a:endParaRPr lang="en-US"/>
          </a:p>
          <a:p>
            <a:r>
              <a:rPr lang="vi-VN" b="1"/>
              <a:t>Object (Dart class)</a:t>
            </a:r>
            <a:r>
              <a:rPr lang="en-US" b="1"/>
              <a:t>	</a:t>
            </a:r>
            <a:r>
              <a:rPr lang="vi-VN"/>
              <a:t>Dạng dữ liệu bạn dùng trong code, dễ đọc, dễ quản lý</a:t>
            </a:r>
            <a:r>
              <a:rPr lang="en-US"/>
              <a:t>	</a:t>
            </a:r>
            <a:r>
              <a:rPr lang="vi-VN" sz="1200" kern="1200">
                <a:solidFill>
                  <a:schemeClr val="tx1"/>
                </a:solidFill>
                <a:latin typeface="+mn-lt"/>
                <a:ea typeface="+mn-ea"/>
                <a:cs typeface="+mn-cs"/>
              </a:rPr>
              <a:t>Product(name: "Bánh mì", price: 5000, ...)</a:t>
            </a:r>
            <a:endParaRPr lang="en-US" sz="1200" kern="1200">
              <a:solidFill>
                <a:schemeClr val="tx1"/>
              </a:solidFill>
              <a:latin typeface="+mn-lt"/>
              <a:ea typeface="+mn-ea"/>
              <a:cs typeface="+mn-cs"/>
            </a:endParaRPr>
          </a:p>
          <a:p>
            <a:r>
              <a:rPr lang="vi-VN" b="1"/>
              <a:t>Map&lt;String, dynamic&gt;</a:t>
            </a:r>
            <a:r>
              <a:rPr lang="en-US" b="1"/>
              <a:t>	</a:t>
            </a:r>
            <a:r>
              <a:rPr lang="vi-VN"/>
              <a:t>Dạng dữ liệu mà thư viện </a:t>
            </a:r>
            <a:r>
              <a:rPr lang="vi-VN" sz="1200" kern="1200">
                <a:solidFill>
                  <a:schemeClr val="tx1"/>
                </a:solidFill>
                <a:latin typeface="+mn-lt"/>
                <a:ea typeface="+mn-ea"/>
                <a:cs typeface="+mn-cs"/>
              </a:rPr>
              <a:t>sqflite</a:t>
            </a:r>
            <a:r>
              <a:rPr lang="vi-VN"/>
              <a:t> hiểu và lưu vào database</a:t>
            </a:r>
            <a:r>
              <a:rPr lang="en-US"/>
              <a:t>	</a:t>
            </a:r>
            <a:r>
              <a:rPr lang="vi-VN" sz="1200" kern="1200">
                <a:solidFill>
                  <a:schemeClr val="tx1"/>
                </a:solidFill>
                <a:latin typeface="+mn-lt"/>
                <a:ea typeface="+mn-ea"/>
                <a:cs typeface="+mn-cs"/>
              </a:rPr>
              <a:t>{ 'name': 'Bánh mì', 'price': 5000, ... }</a:t>
            </a:r>
            <a:endParaRPr lang="vi-VN"/>
          </a:p>
          <a:p>
            <a:r>
              <a:rPr lang="vi-VN"/>
              <a:t>Hai dạng này </a:t>
            </a:r>
            <a:r>
              <a:rPr lang="vi-VN" b="1"/>
              <a:t>không thể dùng thay thế trực tiếp</a:t>
            </a:r>
            <a:r>
              <a:rPr lang="vi-VN"/>
              <a:t> cho nhau.</a:t>
            </a:r>
            <a:br>
              <a:rPr lang="vi-VN"/>
            </a:br>
            <a:r>
              <a:rPr lang="vi-VN"/>
              <a:t>Do đó, bạn phải có </a:t>
            </a:r>
            <a:r>
              <a:rPr lang="vi-VN" b="1"/>
              <a:t>hàm chuyển đổi qua lại</a:t>
            </a:r>
            <a:r>
              <a:rPr lang="vi-VN"/>
              <a:t>:</a:t>
            </a:r>
          </a:p>
          <a:p>
            <a:r>
              <a:rPr lang="vi-VN" sz="1200" kern="1200">
                <a:solidFill>
                  <a:schemeClr val="tx1"/>
                </a:solidFill>
                <a:latin typeface="+mn-lt"/>
                <a:ea typeface="+mn-ea"/>
                <a:cs typeface="+mn-cs"/>
              </a:rPr>
              <a:t>toMap()</a:t>
            </a:r>
            <a:r>
              <a:rPr lang="vi-VN"/>
              <a:t> </a:t>
            </a:r>
            <a:r>
              <a:rPr lang="en-US"/>
              <a:t>👉 </a:t>
            </a:r>
            <a:r>
              <a:rPr lang="vi-VN"/>
              <a:t>từ </a:t>
            </a:r>
            <a:r>
              <a:rPr lang="vi-VN" b="1"/>
              <a:t>Object → Map</a:t>
            </a:r>
            <a:r>
              <a:rPr lang="vi-VN"/>
              <a:t> (để lưu vào DB)</a:t>
            </a:r>
          </a:p>
          <a:p>
            <a:r>
              <a:rPr lang="vi-VN" sz="1200" kern="1200">
                <a:solidFill>
                  <a:schemeClr val="tx1"/>
                </a:solidFill>
                <a:latin typeface="+mn-lt"/>
                <a:ea typeface="+mn-ea"/>
                <a:cs typeface="+mn-cs"/>
              </a:rPr>
              <a:t>fromMap()</a:t>
            </a:r>
            <a:r>
              <a:rPr lang="vi-VN"/>
              <a:t> </a:t>
            </a:r>
            <a:r>
              <a:rPr lang="en-US"/>
              <a:t>👉 </a:t>
            </a:r>
            <a:r>
              <a:rPr lang="vi-VN"/>
              <a:t>từ </a:t>
            </a:r>
            <a:r>
              <a:rPr lang="vi-VN" b="1"/>
              <a:t>Map → Object</a:t>
            </a:r>
            <a:r>
              <a:rPr lang="vi-VN"/>
              <a:t> (để đọc ra từ DB)</a:t>
            </a:r>
            <a:br>
              <a:rPr lang="vi-VN"/>
            </a:br>
            <a:endParaRPr lang="vi-VN"/>
          </a:p>
          <a:p>
            <a:r>
              <a:rPr lang="vi-VN" b="1"/>
              <a:t>⚙️ 1️⃣ Hàm </a:t>
            </a:r>
            <a:r>
              <a:rPr lang="vi-VN" sz="1200" b="1" kern="1200">
                <a:solidFill>
                  <a:schemeClr val="tx1"/>
                </a:solidFill>
                <a:latin typeface="+mn-lt"/>
                <a:ea typeface="+mn-ea"/>
                <a:cs typeface="+mn-cs"/>
              </a:rPr>
              <a:t>toMap()</a:t>
            </a:r>
            <a:r>
              <a:rPr lang="vi-VN" b="1"/>
              <a:t> — dùng khi lưu dữ liệu vào DB</a:t>
            </a:r>
            <a:r>
              <a:rPr lang="en-US" b="1"/>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a:t>Vd: </a:t>
            </a:r>
            <a:r>
              <a:rPr lang="en-US"/>
              <a:t>SQLite sẽ dùng Map đó để biết </a:t>
            </a:r>
            <a:r>
              <a:rPr lang="en-US" b="1"/>
              <a:t>cột nào – giá trị nào</a:t>
            </a:r>
            <a:r>
              <a:rPr lang="en-US"/>
              <a:t> cần chèn vào bảng.</a:t>
            </a:r>
          </a:p>
          <a:p>
            <a:r>
              <a:rPr lang="en-US"/>
              <a:t>⚙️ 2️⃣ Factory </a:t>
            </a:r>
            <a:r>
              <a:rPr lang="en-US" sz="1200" kern="1200">
                <a:solidFill>
                  <a:schemeClr val="tx1"/>
                </a:solidFill>
                <a:latin typeface="+mn-lt"/>
                <a:ea typeface="+mn-ea"/>
                <a:cs typeface="+mn-cs"/>
              </a:rPr>
              <a:t>fromMap()</a:t>
            </a:r>
            <a:r>
              <a:rPr lang="en-US"/>
              <a:t> — dùng khi </a:t>
            </a:r>
            <a:r>
              <a:rPr lang="en-US" b="1"/>
              <a:t>đọc dữ liệu từ DB</a:t>
            </a:r>
          </a:p>
          <a:p>
            <a:r>
              <a:rPr lang="vi-VN"/>
              <a:t>Khi bạn </a:t>
            </a:r>
            <a:r>
              <a:rPr lang="vi-VN" sz="1200" kern="1200">
                <a:solidFill>
                  <a:schemeClr val="tx1"/>
                </a:solidFill>
                <a:latin typeface="+mn-lt"/>
                <a:ea typeface="+mn-ea"/>
                <a:cs typeface="+mn-cs"/>
              </a:rPr>
              <a:t>query()</a:t>
            </a:r>
            <a:r>
              <a:rPr lang="vi-VN"/>
              <a:t> bảng, SQLite trả về </a:t>
            </a:r>
            <a:r>
              <a:rPr lang="vi-VN" b="1"/>
              <a:t>List&lt;Map&lt;String, dynamic&gt;&gt;</a:t>
            </a:r>
            <a:r>
              <a:rPr lang="vi-VN"/>
              <a:t>.</a:t>
            </a:r>
          </a:p>
          <a:p>
            <a:r>
              <a:rPr lang="vi-VN"/>
              <a:t>Mỗi hàng là một </a:t>
            </a:r>
            <a:r>
              <a:rPr lang="vi-VN" sz="1200" kern="1200">
                <a:solidFill>
                  <a:schemeClr val="tx1"/>
                </a:solidFill>
                <a:latin typeface="+mn-lt"/>
                <a:ea typeface="+mn-ea"/>
                <a:cs typeface="+mn-cs"/>
              </a:rPr>
              <a:t>Map</a:t>
            </a:r>
            <a:r>
              <a:rPr lang="vi-VN"/>
              <a:t> (tương tự JSON).</a:t>
            </a:r>
          </a:p>
          <a:p>
            <a:r>
              <a:rPr lang="vi-VN"/>
              <a:t>Hàm </a:t>
            </a:r>
            <a:r>
              <a:rPr lang="vi-VN" sz="1200" kern="1200">
                <a:solidFill>
                  <a:schemeClr val="tx1"/>
                </a:solidFill>
                <a:latin typeface="+mn-lt"/>
                <a:ea typeface="+mn-ea"/>
                <a:cs typeface="+mn-cs"/>
              </a:rPr>
              <a:t>fromMap()</a:t>
            </a:r>
            <a:r>
              <a:rPr lang="vi-VN"/>
              <a:t> chuyển Map đó thành </a:t>
            </a:r>
            <a:r>
              <a:rPr lang="vi-VN" sz="1200" kern="1200">
                <a:solidFill>
                  <a:schemeClr val="tx1"/>
                </a:solidFill>
                <a:latin typeface="+mn-lt"/>
                <a:ea typeface="+mn-ea"/>
                <a:cs typeface="+mn-cs"/>
              </a:rPr>
              <a:t>Product</a:t>
            </a:r>
            <a:r>
              <a:rPr lang="vi-VN"/>
              <a:t> để bạn dễ làm việc trong Flutter.</a:t>
            </a:r>
            <a:endParaRPr lang="en-US"/>
          </a:p>
          <a:p>
            <a:r>
              <a:rPr lang="en-US" b="1"/>
              <a:t>💡 </a:t>
            </a:r>
            <a:r>
              <a:rPr lang="vi-VN" b="1"/>
              <a:t>Ví dụ thực tế</a:t>
            </a:r>
          </a:p>
          <a:p>
            <a:r>
              <a:rPr lang="vi-VN"/>
              <a:t>Sau khi query:</a:t>
            </a:r>
          </a:p>
          <a:p>
            <a:pPr rtl="0"/>
            <a:r>
              <a:rPr lang="vi-VN" sz="1200" kern="1200">
                <a:solidFill>
                  <a:schemeClr val="tx1"/>
                </a:solidFill>
                <a:latin typeface="+mn-lt"/>
                <a:ea typeface="+mn-ea"/>
                <a:cs typeface="+mn-cs"/>
              </a:rPr>
              <a:t>final data = await db.query('products');</a:t>
            </a:r>
          </a:p>
          <a:p>
            <a:pPr rtl="0"/>
            <a:r>
              <a:rPr lang="vi-VN" sz="1200" kern="1200">
                <a:solidFill>
                  <a:schemeClr val="tx1"/>
                </a:solidFill>
                <a:latin typeface="+mn-lt"/>
                <a:ea typeface="+mn-ea"/>
                <a:cs typeface="+mn-cs"/>
              </a:rPr>
              <a:t>print(data);</a:t>
            </a:r>
          </a:p>
          <a:p>
            <a:r>
              <a:rPr lang="vi-VN"/>
              <a:t>Kết quả có thể là:</a:t>
            </a:r>
          </a:p>
          <a:p>
            <a:pPr rtl="0"/>
            <a:r>
              <a:rPr lang="vi-VN" sz="1200" kern="1200">
                <a:solidFill>
                  <a:schemeClr val="tx1"/>
                </a:solidFill>
                <a:latin typeface="+mn-lt"/>
                <a:ea typeface="+mn-ea"/>
                <a:cs typeface="+mn-cs"/>
              </a:rPr>
              <a:t>[</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'id': 1,</a:t>
            </a:r>
          </a:p>
          <a:p>
            <a:pPr rtl="0"/>
            <a:r>
              <a:rPr lang="vi-VN" sz="1200" kern="1200">
                <a:solidFill>
                  <a:schemeClr val="tx1"/>
                </a:solidFill>
                <a:latin typeface="+mn-lt"/>
                <a:ea typeface="+mn-ea"/>
                <a:cs typeface="+mn-cs"/>
              </a:rPr>
              <a:t>    'name': 'Bánh mì',</a:t>
            </a:r>
          </a:p>
          <a:p>
            <a:pPr rtl="0"/>
            <a:r>
              <a:rPr lang="vi-VN" sz="1200" kern="1200">
                <a:solidFill>
                  <a:schemeClr val="tx1"/>
                </a:solidFill>
                <a:latin typeface="+mn-lt"/>
                <a:ea typeface="+mn-ea"/>
                <a:cs typeface="+mn-cs"/>
              </a:rPr>
              <a:t>    'price': 5000.0,</a:t>
            </a:r>
          </a:p>
          <a:p>
            <a:pPr rtl="0"/>
            <a:r>
              <a:rPr lang="vi-VN" sz="1200" kern="1200">
                <a:solidFill>
                  <a:schemeClr val="tx1"/>
                </a:solidFill>
                <a:latin typeface="+mn-lt"/>
                <a:ea typeface="+mn-ea"/>
                <a:cs typeface="+mn-cs"/>
              </a:rPr>
              <a:t>    'quantity': 10,</a:t>
            </a:r>
          </a:p>
          <a:p>
            <a:pPr rtl="0"/>
            <a:r>
              <a:rPr lang="vi-VN" sz="1200" kern="1200">
                <a:solidFill>
                  <a:schemeClr val="tx1"/>
                </a:solidFill>
                <a:latin typeface="+mn-lt"/>
                <a:ea typeface="+mn-ea"/>
                <a:cs typeface="+mn-cs"/>
              </a:rPr>
              <a:t>    'description': 'Bánh mì Việt Nam',</a:t>
            </a:r>
          </a:p>
          <a:p>
            <a:pPr rtl="0"/>
            <a:r>
              <a:rPr lang="vi-VN" sz="1200" kern="1200">
                <a:solidFill>
                  <a:schemeClr val="tx1"/>
                </a:solidFill>
                <a:latin typeface="+mn-lt"/>
                <a:ea typeface="+mn-ea"/>
                <a:cs typeface="+mn-cs"/>
              </a:rPr>
              <a:t>    'created_at': '22/10/2025'</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a:t>
            </a:r>
          </a:p>
          <a:p>
            <a:r>
              <a:rPr lang="vi-VN"/>
              <a:t>Bạn dùng:</a:t>
            </a:r>
          </a:p>
          <a:p>
            <a:pPr rtl="0"/>
            <a:r>
              <a:rPr lang="vi-VN" sz="1200" kern="1200">
                <a:solidFill>
                  <a:schemeClr val="tx1"/>
                </a:solidFill>
                <a:latin typeface="+mn-lt"/>
                <a:ea typeface="+mn-ea"/>
                <a:cs typeface="+mn-cs"/>
              </a:rPr>
              <a:t>final products = data.map((e) =&gt; Product.fromMap(e)).toList();</a:t>
            </a:r>
          </a:p>
          <a:p>
            <a:r>
              <a:rPr lang="vi-VN"/>
              <a:t>Khi đó, bạn nhận được danh sách đối tượng kiểu </a:t>
            </a:r>
            <a:r>
              <a:rPr lang="vi-VN" sz="1200" kern="1200">
                <a:solidFill>
                  <a:schemeClr val="tx1"/>
                </a:solidFill>
                <a:latin typeface="+mn-lt"/>
                <a:ea typeface="+mn-ea"/>
                <a:cs typeface="+mn-cs"/>
              </a:rPr>
              <a:t>List&lt;Product&gt;</a:t>
            </a:r>
            <a:r>
              <a:rPr lang="vi-VN"/>
              <a:t>:</a:t>
            </a:r>
          </a:p>
          <a:p>
            <a:pPr rtl="0"/>
            <a:r>
              <a:rPr lang="vi-VN" sz="1200" kern="1200">
                <a:solidFill>
                  <a:schemeClr val="tx1"/>
                </a:solidFill>
                <a:latin typeface="+mn-lt"/>
                <a:ea typeface="+mn-ea"/>
                <a:cs typeface="+mn-cs"/>
              </a:rPr>
              <a:t>[</a:t>
            </a:r>
          </a:p>
          <a:p>
            <a:pPr rtl="0"/>
            <a:r>
              <a:rPr lang="vi-VN" sz="1200" kern="1200">
                <a:solidFill>
                  <a:schemeClr val="tx1"/>
                </a:solidFill>
                <a:latin typeface="+mn-lt"/>
                <a:ea typeface="+mn-ea"/>
                <a:cs typeface="+mn-cs"/>
              </a:rPr>
              <a:t>  Product(id: 1, name: "Bánh mì", price: 5000, quantity: 10, ...)</a:t>
            </a:r>
          </a:p>
          <a:p>
            <a:pPr rtl="0"/>
            <a:r>
              <a:rPr lang="vi-VN" sz="1200" kern="1200">
                <a:solidFill>
                  <a:schemeClr val="tx1"/>
                </a:solidFill>
                <a:latin typeface="+mn-lt"/>
                <a:ea typeface="+mn-ea"/>
                <a:cs typeface="+mn-cs"/>
              </a:rPr>
              <a:t>]</a:t>
            </a:r>
          </a:p>
          <a:p>
            <a:endParaRPr lang="vi-VN"/>
          </a:p>
          <a:p>
            <a:r>
              <a:rPr lang="en-US" b="1"/>
              <a:t>🔒 </a:t>
            </a:r>
            <a:r>
              <a:rPr lang="vi-VN" b="1"/>
              <a:t>Lý do có </a:t>
            </a:r>
            <a:r>
              <a:rPr lang="vi-VN" sz="1200" b="1" kern="1200">
                <a:solidFill>
                  <a:schemeClr val="tx1"/>
                </a:solidFill>
                <a:latin typeface="+mn-lt"/>
                <a:ea typeface="+mn-ea"/>
                <a:cs typeface="+mn-cs"/>
              </a:rPr>
              <a:t>?? ''</a:t>
            </a:r>
            <a:r>
              <a:rPr lang="vi-VN" b="1"/>
              <a:t> trong </a:t>
            </a:r>
            <a:r>
              <a:rPr lang="vi-VN" sz="1200" b="1" kern="1200">
                <a:solidFill>
                  <a:schemeClr val="tx1"/>
                </a:solidFill>
                <a:latin typeface="+mn-lt"/>
                <a:ea typeface="+mn-ea"/>
                <a:cs typeface="+mn-cs"/>
              </a:rPr>
              <a:t>fromMap()</a:t>
            </a:r>
            <a:endParaRPr lang="vi-VN" b="1"/>
          </a:p>
          <a:p>
            <a:r>
              <a:rPr lang="vi-VN"/>
              <a:t>Dòng:</a:t>
            </a:r>
          </a:p>
          <a:p>
            <a:pPr rtl="0"/>
            <a:r>
              <a:rPr lang="vi-VN" sz="1200" kern="1200">
                <a:solidFill>
                  <a:schemeClr val="tx1"/>
                </a:solidFill>
                <a:latin typeface="+mn-lt"/>
                <a:ea typeface="+mn-ea"/>
                <a:cs typeface="+mn-cs"/>
              </a:rPr>
              <a:t>description: map['description'] ?? '',</a:t>
            </a:r>
          </a:p>
          <a:p>
            <a:pPr rtl="0"/>
            <a:r>
              <a:rPr lang="vi-VN" sz="1200" kern="1200">
                <a:solidFill>
                  <a:schemeClr val="tx1"/>
                </a:solidFill>
                <a:latin typeface="+mn-lt"/>
                <a:ea typeface="+mn-ea"/>
                <a:cs typeface="+mn-cs"/>
              </a:rPr>
              <a:t>createdAt: map['created_at'] ?? '',</a:t>
            </a:r>
          </a:p>
          <a:p>
            <a:r>
              <a:rPr lang="vi-VN"/>
              <a:t>nghĩa là:</a:t>
            </a:r>
          </a:p>
          <a:p>
            <a:r>
              <a:rPr lang="vi-VN"/>
              <a:t>Nếu cột </a:t>
            </a:r>
            <a:r>
              <a:rPr lang="vi-VN" sz="1200" kern="1200">
                <a:solidFill>
                  <a:schemeClr val="tx1"/>
                </a:solidFill>
                <a:latin typeface="+mn-lt"/>
                <a:ea typeface="+mn-ea"/>
                <a:cs typeface="+mn-cs"/>
              </a:rPr>
              <a:t>description</a:t>
            </a:r>
            <a:r>
              <a:rPr lang="vi-VN"/>
              <a:t> hoặc </a:t>
            </a:r>
            <a:r>
              <a:rPr lang="vi-VN" sz="1200" kern="1200">
                <a:solidFill>
                  <a:schemeClr val="tx1"/>
                </a:solidFill>
                <a:latin typeface="+mn-lt"/>
                <a:ea typeface="+mn-ea"/>
                <a:cs typeface="+mn-cs"/>
              </a:rPr>
              <a:t>created_at</a:t>
            </a:r>
            <a:r>
              <a:rPr lang="vi-VN"/>
              <a:t> trong DB </a:t>
            </a:r>
            <a:r>
              <a:rPr lang="vi-VN" b="1"/>
              <a:t>không có dữ liệu (null)</a:t>
            </a:r>
            <a:r>
              <a:rPr lang="vi-VN"/>
              <a:t>,</a:t>
            </a:r>
            <a:br>
              <a:rPr lang="vi-VN"/>
            </a:br>
            <a:r>
              <a:rPr lang="vi-VN"/>
              <a:t>thì gán giá trị mặc định là </a:t>
            </a:r>
            <a:r>
              <a:rPr lang="vi-VN" b="1"/>
              <a:t>chuỗi rỗng </a:t>
            </a:r>
            <a:r>
              <a:rPr lang="vi-VN" sz="1200" b="1" kern="1200">
                <a:solidFill>
                  <a:schemeClr val="tx1"/>
                </a:solidFill>
                <a:latin typeface="+mn-lt"/>
                <a:ea typeface="+mn-ea"/>
                <a:cs typeface="+mn-cs"/>
              </a:rPr>
              <a:t>''</a:t>
            </a:r>
            <a:r>
              <a:rPr lang="vi-VN"/>
              <a:t> để tránh lỗi </a:t>
            </a:r>
            <a:r>
              <a:rPr lang="vi-VN" sz="1200" kern="1200">
                <a:solidFill>
                  <a:schemeClr val="tx1"/>
                </a:solidFill>
                <a:latin typeface="+mn-lt"/>
                <a:ea typeface="+mn-ea"/>
                <a:cs typeface="+mn-cs"/>
              </a:rPr>
              <a:t>null</a:t>
            </a:r>
            <a:r>
              <a:rPr lang="vi-VN"/>
              <a:t>.</a:t>
            </a:r>
          </a:p>
          <a:p>
            <a:r>
              <a:rPr lang="vi-VN"/>
              <a:t>Nếu bạn không thêm </a:t>
            </a:r>
            <a:r>
              <a:rPr lang="vi-VN" sz="1200" kern="1200">
                <a:solidFill>
                  <a:schemeClr val="tx1"/>
                </a:solidFill>
                <a:latin typeface="+mn-lt"/>
                <a:ea typeface="+mn-ea"/>
                <a:cs typeface="+mn-cs"/>
              </a:rPr>
              <a:t>?? ''</a:t>
            </a:r>
            <a:r>
              <a:rPr lang="vi-VN"/>
              <a:t>, khi SQLite trả về </a:t>
            </a:r>
            <a:r>
              <a:rPr lang="vi-VN" sz="1200" kern="1200">
                <a:solidFill>
                  <a:schemeClr val="tx1"/>
                </a:solidFill>
                <a:latin typeface="+mn-lt"/>
                <a:ea typeface="+mn-ea"/>
                <a:cs typeface="+mn-cs"/>
              </a:rPr>
              <a:t>null</a:t>
            </a:r>
            <a:r>
              <a:rPr lang="vi-VN"/>
              <a:t>, chương trình có thể báo lỗi kiểu dữ liệu.</a:t>
            </a:r>
            <a:br>
              <a:rPr lang="vi-VN"/>
            </a:br>
            <a:endParaRPr lang="vi-VN"/>
          </a:p>
          <a:p>
            <a:r>
              <a:rPr lang="en-US" b="1"/>
              <a:t>🧠 </a:t>
            </a:r>
            <a:r>
              <a:rPr lang="vi-VN" b="1"/>
              <a:t>Tổng kết: vì sao cần cả hai</a:t>
            </a:r>
          </a:p>
          <a:p>
            <a:r>
              <a:rPr lang="vi-VN"/>
              <a:t>Hàm</a:t>
            </a:r>
            <a:r>
              <a:rPr lang="en-US"/>
              <a:t>	</a:t>
            </a:r>
            <a:r>
              <a:rPr lang="vi-VN"/>
              <a:t>Chuyển đổi hướng</a:t>
            </a:r>
            <a:r>
              <a:rPr lang="en-US"/>
              <a:t>	        </a:t>
            </a:r>
            <a:r>
              <a:rPr lang="vi-VN"/>
              <a:t>Khi dùng</a:t>
            </a:r>
            <a:endParaRPr lang="en-US"/>
          </a:p>
          <a:p>
            <a:r>
              <a:rPr lang="vi-VN" sz="1200" kern="1200">
                <a:solidFill>
                  <a:schemeClr val="tx1"/>
                </a:solidFill>
                <a:latin typeface="+mn-lt"/>
                <a:ea typeface="+mn-ea"/>
                <a:cs typeface="+mn-cs"/>
              </a:rPr>
              <a:t>toMap()</a:t>
            </a:r>
            <a:r>
              <a:rPr lang="en-US" sz="1200" kern="1200">
                <a:solidFill>
                  <a:schemeClr val="tx1"/>
                </a:solidFill>
                <a:latin typeface="+mn-lt"/>
                <a:ea typeface="+mn-ea"/>
                <a:cs typeface="+mn-cs"/>
              </a:rPr>
              <a:t>	</a:t>
            </a:r>
            <a:r>
              <a:rPr lang="vi-VN" sz="1200" kern="1200">
                <a:solidFill>
                  <a:schemeClr val="tx1"/>
                </a:solidFill>
                <a:latin typeface="+mn-lt"/>
                <a:ea typeface="+mn-ea"/>
                <a:cs typeface="+mn-cs"/>
              </a:rPr>
              <a:t>Product</a:t>
            </a:r>
            <a:r>
              <a:rPr lang="vi-VN"/>
              <a:t> → </a:t>
            </a:r>
            <a:r>
              <a:rPr lang="vi-VN" sz="1200" kern="1200">
                <a:solidFill>
                  <a:schemeClr val="tx1"/>
                </a:solidFill>
                <a:latin typeface="+mn-lt"/>
                <a:ea typeface="+mn-ea"/>
                <a:cs typeface="+mn-cs"/>
              </a:rPr>
              <a:t>Map</a:t>
            </a:r>
            <a:r>
              <a:rPr lang="en-US" sz="1200" kern="1200">
                <a:solidFill>
                  <a:schemeClr val="tx1"/>
                </a:solidFill>
                <a:latin typeface="+mn-lt"/>
                <a:ea typeface="+mn-ea"/>
                <a:cs typeface="+mn-cs"/>
              </a:rPr>
              <a:t>	</a:t>
            </a:r>
            <a:r>
              <a:rPr lang="vi-VN"/>
              <a:t>Khi </a:t>
            </a:r>
            <a:r>
              <a:rPr lang="vi-VN" b="1"/>
              <a:t>insert/update</a:t>
            </a:r>
            <a:r>
              <a:rPr lang="vi-VN"/>
              <a:t> DB</a:t>
            </a:r>
            <a:endParaRPr lang="en-US"/>
          </a:p>
          <a:p>
            <a:r>
              <a:rPr lang="vi-VN" sz="1200" kern="1200">
                <a:solidFill>
                  <a:schemeClr val="tx1"/>
                </a:solidFill>
                <a:latin typeface="+mn-lt"/>
                <a:ea typeface="+mn-ea"/>
                <a:cs typeface="+mn-cs"/>
              </a:rPr>
              <a:t>fromMap()</a:t>
            </a:r>
            <a:r>
              <a:rPr lang="en-US" sz="1200" kern="1200">
                <a:solidFill>
                  <a:schemeClr val="tx1"/>
                </a:solidFill>
                <a:latin typeface="+mn-lt"/>
                <a:ea typeface="+mn-ea"/>
                <a:cs typeface="+mn-cs"/>
              </a:rPr>
              <a:t>	</a:t>
            </a:r>
            <a:r>
              <a:rPr lang="vi-VN" sz="1200" kern="1200">
                <a:solidFill>
                  <a:schemeClr val="tx1"/>
                </a:solidFill>
                <a:latin typeface="+mn-lt"/>
                <a:ea typeface="+mn-ea"/>
                <a:cs typeface="+mn-cs"/>
              </a:rPr>
              <a:t>Map</a:t>
            </a:r>
            <a:r>
              <a:rPr lang="vi-VN"/>
              <a:t> → </a:t>
            </a:r>
            <a:r>
              <a:rPr lang="vi-VN" sz="1200" kern="1200">
                <a:solidFill>
                  <a:schemeClr val="tx1"/>
                </a:solidFill>
                <a:latin typeface="+mn-lt"/>
                <a:ea typeface="+mn-ea"/>
                <a:cs typeface="+mn-cs"/>
              </a:rPr>
              <a:t>Product</a:t>
            </a:r>
            <a:r>
              <a:rPr lang="en-US" sz="1200" kern="1200">
                <a:solidFill>
                  <a:schemeClr val="tx1"/>
                </a:solidFill>
                <a:latin typeface="+mn-lt"/>
                <a:ea typeface="+mn-ea"/>
                <a:cs typeface="+mn-cs"/>
              </a:rPr>
              <a:t>	</a:t>
            </a:r>
            <a:r>
              <a:rPr lang="vi-VN"/>
              <a:t>Khi </a:t>
            </a:r>
            <a:r>
              <a:rPr lang="vi-VN" b="1"/>
              <a:t>query/select</a:t>
            </a:r>
            <a:r>
              <a:rPr lang="vi-VN"/>
              <a:t> DB</a:t>
            </a:r>
          </a:p>
          <a:p>
            <a:r>
              <a:rPr lang="en-US"/>
              <a:t>👉 </a:t>
            </a:r>
            <a:r>
              <a:rPr lang="vi-VN"/>
              <a:t>Hai hàm này tạo thành </a:t>
            </a:r>
            <a:r>
              <a:rPr lang="vi-VN" b="1"/>
              <a:t>cầu nối hai chiều</a:t>
            </a:r>
            <a:r>
              <a:rPr lang="vi-VN"/>
              <a:t> giữa Flutter (object) và SQLite (Map).</a:t>
            </a:r>
          </a:p>
          <a:p>
            <a:r>
              <a:rPr lang="en-US"/>
              <a:t>-------------------------------------------------------------------------------------------------------------</a:t>
            </a:r>
            <a:endParaRPr lang="vi-VN"/>
          </a:p>
          <a:p>
            <a:endParaRPr lang="vi-VN" b="1"/>
          </a:p>
          <a:p>
            <a:pPr marL="0" indent="0">
              <a:buFontTx/>
              <a:buNone/>
            </a:pPr>
            <a:endParaRPr lang="en-US"/>
          </a:p>
        </p:txBody>
      </p:sp>
      <p:sp>
        <p:nvSpPr>
          <p:cNvPr id="4" name="Slide Number Placeholder 3">
            <a:extLst>
              <a:ext uri="{FF2B5EF4-FFF2-40B4-BE49-F238E27FC236}">
                <a16:creationId xmlns:a16="http://schemas.microsoft.com/office/drawing/2014/main" id="{D2620A41-E064-0012-DF69-713B3251FC6D}"/>
              </a:ext>
            </a:extLst>
          </p:cNvPr>
          <p:cNvSpPr>
            <a:spLocks noGrp="1"/>
          </p:cNvSpPr>
          <p:nvPr>
            <p:ph type="sldNum" sz="quarter" idx="5"/>
          </p:nvPr>
        </p:nvSpPr>
        <p:spPr/>
        <p:txBody>
          <a:bodyPr/>
          <a:lstStyle/>
          <a:p>
            <a:fld id="{1983A999-5E0E-42CA-8400-604AE921FF7C}" type="slidenum">
              <a:rPr lang="en-US" smtClean="0"/>
              <a:t>9</a:t>
            </a:fld>
            <a:endParaRPr lang="en-US"/>
          </a:p>
        </p:txBody>
      </p:sp>
    </p:spTree>
    <p:extLst>
      <p:ext uri="{BB962C8B-B14F-4D97-AF65-F5344CB8AC3E}">
        <p14:creationId xmlns:p14="http://schemas.microsoft.com/office/powerpoint/2010/main" val="30220840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47BDA-21B7-3D6E-AFE7-563E33C9B4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BBC92D-7B9C-3441-C6BD-6253792228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4F3296-DD79-8DC3-9C4D-B883FD009B02}"/>
              </a:ext>
            </a:extLst>
          </p:cNvPr>
          <p:cNvSpPr>
            <a:spLocks noGrp="1"/>
          </p:cNvSpPr>
          <p:nvPr>
            <p:ph type="body" idx="1"/>
          </p:nvPr>
        </p:nvSpPr>
        <p:spPr/>
        <p:txBody>
          <a:bodyPr/>
          <a:lstStyle/>
          <a:p>
            <a:r>
              <a:rPr lang="vi-VN" b="1"/>
              <a:t>db_helper.dart</a:t>
            </a:r>
            <a:r>
              <a:rPr lang="vi-VN"/>
              <a:t>: lớp trợ giúp truy cập SQLite (DB helper). Chịu trách nhiệm khởi tạo DB, tạo bảng, và thực hiện thao tác CRUD (Create, Read, Update, Delete).</a:t>
            </a:r>
          </a:p>
          <a:p>
            <a:r>
              <a:rPr lang="en-US" b="1"/>
              <a:t>Làm rõ code:</a:t>
            </a:r>
          </a:p>
          <a:p>
            <a:r>
              <a:rPr lang="vi-VN"/>
              <a:t>File này định nghĩa một lớp </a:t>
            </a:r>
            <a:r>
              <a:rPr lang="vi-VN" sz="1200" b="1" kern="1200">
                <a:solidFill>
                  <a:schemeClr val="tx1"/>
                </a:solidFill>
                <a:latin typeface="+mn-lt"/>
                <a:ea typeface="+mn-ea"/>
                <a:cs typeface="+mn-cs"/>
              </a:rPr>
              <a:t>DBHelper</a:t>
            </a:r>
            <a:r>
              <a:rPr lang="vi-VN"/>
              <a:t> có nhiệm vụ:</a:t>
            </a:r>
          </a:p>
          <a:p>
            <a:r>
              <a:rPr lang="vi-VN"/>
              <a:t>Khởi tạo và quản lý </a:t>
            </a:r>
            <a:r>
              <a:rPr lang="vi-VN" b="1"/>
              <a:t>cơ sở dữ liệu SQLite</a:t>
            </a:r>
            <a:r>
              <a:rPr lang="vi-VN"/>
              <a:t> cục bộ.</a:t>
            </a:r>
          </a:p>
          <a:p>
            <a:r>
              <a:rPr lang="vi-VN"/>
              <a:t>Tạo bảng </a:t>
            </a:r>
            <a:r>
              <a:rPr lang="vi-VN" sz="1200" kern="1200">
                <a:solidFill>
                  <a:schemeClr val="tx1"/>
                </a:solidFill>
                <a:latin typeface="+mn-lt"/>
                <a:ea typeface="+mn-ea"/>
                <a:cs typeface="+mn-cs"/>
              </a:rPr>
              <a:t>products</a:t>
            </a:r>
            <a:r>
              <a:rPr lang="vi-VN"/>
              <a:t> nếu chưa có.</a:t>
            </a:r>
          </a:p>
          <a:p>
            <a:r>
              <a:rPr lang="vi-VN"/>
              <a:t>Cung cấp các </a:t>
            </a:r>
            <a:r>
              <a:rPr lang="vi-VN" b="1"/>
              <a:t>hàm CRUD</a:t>
            </a:r>
            <a:r>
              <a:rPr lang="vi-VN"/>
              <a:t> (Create – Read – Update – Delete) để làm việc với bảng </a:t>
            </a:r>
            <a:r>
              <a:rPr lang="vi-VN" sz="1200" kern="1200">
                <a:solidFill>
                  <a:schemeClr val="tx1"/>
                </a:solidFill>
                <a:latin typeface="+mn-lt"/>
                <a:ea typeface="+mn-ea"/>
                <a:cs typeface="+mn-cs"/>
              </a:rPr>
              <a:t>products</a:t>
            </a:r>
            <a:r>
              <a:rPr lang="vi-VN"/>
              <a:t>.</a:t>
            </a:r>
          </a:p>
          <a:p>
            <a:r>
              <a:rPr lang="vi-VN" b="1"/>
              <a:t>1️⃣ Import các thư viện</a:t>
            </a:r>
          </a:p>
          <a:p>
            <a:pPr rtl="0"/>
            <a:r>
              <a:rPr lang="vi-VN" sz="1200" kern="1200">
                <a:solidFill>
                  <a:schemeClr val="tx1"/>
                </a:solidFill>
                <a:latin typeface="+mn-lt"/>
                <a:ea typeface="+mn-ea"/>
                <a:cs typeface="+mn-cs"/>
              </a:rPr>
              <a:t>import 'package:sqflite_common_ffi/sqflite_ffi.dart';</a:t>
            </a:r>
          </a:p>
          <a:p>
            <a:pPr rtl="0"/>
            <a:r>
              <a:rPr lang="vi-VN" sz="1200" kern="1200">
                <a:solidFill>
                  <a:schemeClr val="tx1"/>
                </a:solidFill>
                <a:latin typeface="+mn-lt"/>
                <a:ea typeface="+mn-ea"/>
                <a:cs typeface="+mn-cs"/>
              </a:rPr>
              <a:t>import 'package:path/path.dart' as p;</a:t>
            </a:r>
          </a:p>
          <a:p>
            <a:pPr rtl="0"/>
            <a:r>
              <a:rPr lang="vi-VN" sz="1200" kern="1200">
                <a:solidFill>
                  <a:schemeClr val="tx1"/>
                </a:solidFill>
                <a:latin typeface="+mn-lt"/>
                <a:ea typeface="+mn-ea"/>
                <a:cs typeface="+mn-cs"/>
              </a:rPr>
              <a:t>import 'product_model.dart';</a:t>
            </a:r>
          </a:p>
          <a:p>
            <a:r>
              <a:rPr lang="vi-VN" sz="1200" kern="1200">
                <a:solidFill>
                  <a:schemeClr val="tx1"/>
                </a:solidFill>
                <a:latin typeface="+mn-lt"/>
                <a:ea typeface="+mn-ea"/>
                <a:cs typeface="+mn-cs"/>
              </a:rPr>
              <a:t>sqflite_common_ffi</a:t>
            </a:r>
            <a:r>
              <a:rPr lang="vi-VN"/>
              <a:t>: phiên bản SQLite có thể chạy trên desktop (Windows/macOS/Linux).</a:t>
            </a:r>
            <a:br>
              <a:rPr lang="vi-VN"/>
            </a:br>
            <a:r>
              <a:rPr lang="vi-VN"/>
              <a:t>→ khác với </a:t>
            </a:r>
            <a:r>
              <a:rPr lang="vi-VN" sz="1200" kern="1200">
                <a:solidFill>
                  <a:schemeClr val="tx1"/>
                </a:solidFill>
                <a:latin typeface="+mn-lt"/>
                <a:ea typeface="+mn-ea"/>
                <a:cs typeface="+mn-cs"/>
              </a:rPr>
              <a:t>sqflite</a:t>
            </a:r>
            <a:r>
              <a:rPr lang="vi-VN"/>
              <a:t> chỉ hỗ trợ Android/iOS.</a:t>
            </a:r>
          </a:p>
          <a:p>
            <a:r>
              <a:rPr lang="vi-VN" sz="1200" kern="1200">
                <a:solidFill>
                  <a:schemeClr val="tx1"/>
                </a:solidFill>
                <a:latin typeface="+mn-lt"/>
                <a:ea typeface="+mn-ea"/>
                <a:cs typeface="+mn-cs"/>
              </a:rPr>
              <a:t>path</a:t>
            </a:r>
            <a:r>
              <a:rPr lang="vi-VN"/>
              <a:t>: hỗ trợ nối đường dẫn file cơ sở dữ liệu an toàn (</a:t>
            </a:r>
            <a:r>
              <a:rPr lang="vi-VN" sz="1200" kern="1200">
                <a:solidFill>
                  <a:schemeClr val="tx1"/>
                </a:solidFill>
                <a:latin typeface="+mn-lt"/>
                <a:ea typeface="+mn-ea"/>
                <a:cs typeface="+mn-cs"/>
              </a:rPr>
              <a:t>join</a:t>
            </a:r>
            <a:r>
              <a:rPr lang="vi-VN"/>
              <a:t>, </a:t>
            </a:r>
            <a:r>
              <a:rPr lang="vi-VN" sz="1200" kern="1200">
                <a:solidFill>
                  <a:schemeClr val="tx1"/>
                </a:solidFill>
                <a:latin typeface="+mn-lt"/>
                <a:ea typeface="+mn-ea"/>
                <a:cs typeface="+mn-cs"/>
              </a:rPr>
              <a:t>basename</a:t>
            </a:r>
            <a:r>
              <a:rPr lang="vi-VN"/>
              <a:t>, ...).</a:t>
            </a:r>
          </a:p>
          <a:p>
            <a:r>
              <a:rPr lang="vi-VN" sz="1200" kern="1200">
                <a:solidFill>
                  <a:schemeClr val="tx1"/>
                </a:solidFill>
                <a:latin typeface="+mn-lt"/>
                <a:ea typeface="+mn-ea"/>
                <a:cs typeface="+mn-cs"/>
              </a:rPr>
              <a:t>product_model.dart</a:t>
            </a:r>
            <a:r>
              <a:rPr lang="vi-VN"/>
              <a:t>: chứa lớp </a:t>
            </a:r>
            <a:r>
              <a:rPr lang="vi-VN" sz="1200" kern="1200">
                <a:solidFill>
                  <a:schemeClr val="tx1"/>
                </a:solidFill>
                <a:latin typeface="+mn-lt"/>
                <a:ea typeface="+mn-ea"/>
                <a:cs typeface="+mn-cs"/>
              </a:rPr>
              <a:t>Product</a:t>
            </a:r>
            <a:r>
              <a:rPr lang="vi-VN"/>
              <a:t> định nghĩa dữ liệu sản phẩm (có </a:t>
            </a:r>
            <a:r>
              <a:rPr lang="vi-VN" sz="1200" kern="1200">
                <a:solidFill>
                  <a:schemeClr val="tx1"/>
                </a:solidFill>
                <a:latin typeface="+mn-lt"/>
                <a:ea typeface="+mn-ea"/>
                <a:cs typeface="+mn-cs"/>
              </a:rPr>
              <a:t>toMap()</a:t>
            </a:r>
            <a:r>
              <a:rPr lang="vi-VN"/>
              <a:t> và </a:t>
            </a:r>
            <a:r>
              <a:rPr lang="vi-VN" sz="1200" kern="1200">
                <a:solidFill>
                  <a:schemeClr val="tx1"/>
                </a:solidFill>
                <a:latin typeface="+mn-lt"/>
                <a:ea typeface="+mn-ea"/>
                <a:cs typeface="+mn-cs"/>
              </a:rPr>
              <a:t>fromMap()</a:t>
            </a:r>
            <a:r>
              <a:rPr lang="vi-VN"/>
              <a:t>).</a:t>
            </a:r>
          </a:p>
          <a:p>
            <a:r>
              <a:rPr lang="vi-VN" b="1"/>
              <a:t>2️⃣ Tạo lớp DBHelper theo mô hình Singleton</a:t>
            </a:r>
          </a:p>
          <a:p>
            <a:pPr rtl="0"/>
            <a:r>
              <a:rPr lang="vi-VN" sz="1200" kern="1200">
                <a:solidFill>
                  <a:schemeClr val="tx1"/>
                </a:solidFill>
                <a:latin typeface="+mn-lt"/>
                <a:ea typeface="+mn-ea"/>
                <a:cs typeface="+mn-cs"/>
              </a:rPr>
              <a:t>class DBHelper {</a:t>
            </a:r>
          </a:p>
          <a:p>
            <a:pPr rtl="0"/>
            <a:r>
              <a:rPr lang="vi-VN" sz="1200" kern="1200">
                <a:solidFill>
                  <a:schemeClr val="tx1"/>
                </a:solidFill>
                <a:latin typeface="+mn-lt"/>
                <a:ea typeface="+mn-ea"/>
                <a:cs typeface="+mn-cs"/>
              </a:rPr>
              <a:t>  static final DBHelper _instance = DBHelper._internal();</a:t>
            </a:r>
          </a:p>
          <a:p>
            <a:pPr rtl="0"/>
            <a:r>
              <a:rPr lang="vi-VN" sz="1200" kern="1200">
                <a:solidFill>
                  <a:schemeClr val="tx1"/>
                </a:solidFill>
                <a:latin typeface="+mn-lt"/>
                <a:ea typeface="+mn-ea"/>
                <a:cs typeface="+mn-cs"/>
              </a:rPr>
              <a:t>  static Database? _db;</a:t>
            </a:r>
          </a:p>
          <a:p>
            <a:pPr rtl="0"/>
            <a:endParaRPr lang="vi-VN" sz="1200" kern="1200">
              <a:solidFill>
                <a:schemeClr val="tx1"/>
              </a:solidFill>
              <a:latin typeface="+mn-lt"/>
              <a:ea typeface="+mn-ea"/>
              <a:cs typeface="+mn-cs"/>
            </a:endParaRPr>
          </a:p>
          <a:p>
            <a:pPr rtl="0"/>
            <a:r>
              <a:rPr lang="vi-VN" sz="1200" kern="1200">
                <a:solidFill>
                  <a:schemeClr val="tx1"/>
                </a:solidFill>
                <a:latin typeface="+mn-lt"/>
                <a:ea typeface="+mn-ea"/>
                <a:cs typeface="+mn-cs"/>
              </a:rPr>
              <a:t>  factory DBHelper() =&gt; _instance;</a:t>
            </a:r>
          </a:p>
          <a:p>
            <a:pPr rtl="0"/>
            <a:r>
              <a:rPr lang="vi-VN" sz="1200" kern="1200">
                <a:solidFill>
                  <a:schemeClr val="tx1"/>
                </a:solidFill>
                <a:latin typeface="+mn-lt"/>
                <a:ea typeface="+mn-ea"/>
                <a:cs typeface="+mn-cs"/>
              </a:rPr>
              <a:t>  DBHelper._internal();</a:t>
            </a:r>
          </a:p>
          <a:p>
            <a:r>
              <a:rPr lang="vi-VN" b="1"/>
              <a:t>Singleton pattern</a:t>
            </a:r>
            <a:r>
              <a:rPr lang="vi-VN"/>
              <a:t>: đảm bảo chỉ tạo </a:t>
            </a:r>
            <a:r>
              <a:rPr lang="vi-VN" b="1"/>
              <a:t>một đối tượng duy nhất</a:t>
            </a:r>
            <a:r>
              <a:rPr lang="vi-VN"/>
              <a:t> cho toàn ứng dụng.</a:t>
            </a:r>
            <a:endParaRPr lang="en-US"/>
          </a:p>
          <a:p>
            <a:r>
              <a:rPr lang="vi-VN"/>
              <a:t>Đối tượng </a:t>
            </a:r>
            <a:r>
              <a:rPr lang="vi-VN" sz="1200" kern="1200">
                <a:solidFill>
                  <a:schemeClr val="tx1"/>
                </a:solidFill>
                <a:latin typeface="+mn-lt"/>
                <a:ea typeface="+mn-ea"/>
                <a:cs typeface="+mn-cs"/>
              </a:rPr>
              <a:t>DBHelper</a:t>
            </a:r>
            <a:r>
              <a:rPr lang="vi-VN"/>
              <a:t> này:</a:t>
            </a:r>
          </a:p>
          <a:p>
            <a:r>
              <a:rPr lang="vi-VN"/>
              <a:t>Giữ kết nối tới SQLite thông qua biến tĩnh </a:t>
            </a:r>
            <a:r>
              <a:rPr lang="vi-VN" sz="1200" kern="1200">
                <a:solidFill>
                  <a:schemeClr val="tx1"/>
                </a:solidFill>
                <a:latin typeface="+mn-lt"/>
                <a:ea typeface="+mn-ea"/>
                <a:cs typeface="+mn-cs"/>
              </a:rPr>
              <a:t>_db</a:t>
            </a:r>
            <a:r>
              <a:rPr lang="vi-VN"/>
              <a:t>.</a:t>
            </a:r>
          </a:p>
          <a:p>
            <a:pPr lvl="1"/>
            <a:r>
              <a:rPr lang="vi-VN" sz="1200" kern="1200">
                <a:solidFill>
                  <a:schemeClr val="tx1"/>
                </a:solidFill>
                <a:latin typeface="+mn-lt"/>
                <a:ea typeface="+mn-ea"/>
                <a:cs typeface="+mn-cs"/>
              </a:rPr>
              <a:t>_instance</a:t>
            </a:r>
            <a:r>
              <a:rPr lang="vi-VN"/>
              <a:t> là thể hiện duy nhất của </a:t>
            </a:r>
            <a:r>
              <a:rPr lang="vi-VN" sz="1200" kern="1200">
                <a:solidFill>
                  <a:schemeClr val="tx1"/>
                </a:solidFill>
                <a:latin typeface="+mn-lt"/>
                <a:ea typeface="+mn-ea"/>
                <a:cs typeface="+mn-cs"/>
              </a:rPr>
              <a:t>DBHelper</a:t>
            </a:r>
            <a:r>
              <a:rPr lang="vi-VN"/>
              <a:t>.</a:t>
            </a:r>
          </a:p>
          <a:p>
            <a:pPr lvl="1"/>
            <a:r>
              <a:rPr lang="vi-VN" sz="1200" kern="1200">
                <a:solidFill>
                  <a:schemeClr val="tx1"/>
                </a:solidFill>
                <a:latin typeface="+mn-lt"/>
                <a:ea typeface="+mn-ea"/>
                <a:cs typeface="+mn-cs"/>
              </a:rPr>
              <a:t>_internal()</a:t>
            </a:r>
            <a:r>
              <a:rPr lang="vi-VN"/>
              <a:t> là constructor riêng, chỉ dùng nội bộ.</a:t>
            </a:r>
          </a:p>
          <a:p>
            <a:pPr lvl="1"/>
            <a:r>
              <a:rPr lang="vi-VN" sz="1200" kern="1200">
                <a:solidFill>
                  <a:schemeClr val="tx1"/>
                </a:solidFill>
                <a:latin typeface="+mn-lt"/>
                <a:ea typeface="+mn-ea"/>
                <a:cs typeface="+mn-cs"/>
              </a:rPr>
              <a:t>factory DBHelper()</a:t>
            </a:r>
            <a:r>
              <a:rPr lang="vi-VN"/>
              <a:t> trả về cùng một </a:t>
            </a:r>
            <a:r>
              <a:rPr lang="vi-VN" sz="1200" kern="1200">
                <a:solidFill>
                  <a:schemeClr val="tx1"/>
                </a:solidFill>
                <a:latin typeface="+mn-lt"/>
                <a:ea typeface="+mn-ea"/>
                <a:cs typeface="+mn-cs"/>
              </a:rPr>
              <a:t>_instance</a:t>
            </a:r>
            <a:r>
              <a:rPr lang="vi-VN"/>
              <a:t> mỗi khi gọi </a:t>
            </a:r>
            <a:r>
              <a:rPr lang="vi-VN" sz="1200" kern="1200">
                <a:solidFill>
                  <a:schemeClr val="tx1"/>
                </a:solidFill>
                <a:latin typeface="+mn-lt"/>
                <a:ea typeface="+mn-ea"/>
                <a:cs typeface="+mn-cs"/>
              </a:rPr>
              <a:t>DBHelper()</a:t>
            </a:r>
            <a:r>
              <a:rPr lang="vi-VN"/>
              <a:t>.</a:t>
            </a:r>
          </a:p>
          <a:p>
            <a:r>
              <a:rPr lang="vi-VN"/>
              <a:t>Điều này giúp </a:t>
            </a:r>
            <a:r>
              <a:rPr lang="vi-VN" b="1"/>
              <a:t>tất cả các phần trong app dùng chung một kết nối database</a:t>
            </a:r>
            <a:r>
              <a:rPr lang="vi-VN"/>
              <a:t> → tránh lỗi truy cập song song.</a:t>
            </a:r>
            <a:endParaRPr lang="en-US"/>
          </a:p>
          <a:p>
            <a:r>
              <a:rPr lang="vi-VN" b="1"/>
              <a:t>3️⃣ Getter </a:t>
            </a:r>
            <a:r>
              <a:rPr lang="vi-VN" sz="1200" b="1" kern="1200">
                <a:solidFill>
                  <a:schemeClr val="tx1"/>
                </a:solidFill>
                <a:latin typeface="+mn-lt"/>
                <a:ea typeface="+mn-ea"/>
                <a:cs typeface="+mn-cs"/>
              </a:rPr>
              <a:t>database</a:t>
            </a:r>
            <a:endParaRPr lang="vi-VN" b="1"/>
          </a:p>
          <a:p>
            <a:pPr rtl="0"/>
            <a:r>
              <a:rPr lang="vi-VN" sz="1200" kern="1200">
                <a:solidFill>
                  <a:schemeClr val="tx1"/>
                </a:solidFill>
                <a:latin typeface="+mn-lt"/>
                <a:ea typeface="+mn-ea"/>
                <a:cs typeface="+mn-cs"/>
              </a:rPr>
              <a:t>Future&lt;Database&gt; get database async {</a:t>
            </a:r>
          </a:p>
          <a:p>
            <a:pPr rtl="0"/>
            <a:r>
              <a:rPr lang="vi-VN" sz="1200" kern="1200">
                <a:solidFill>
                  <a:schemeClr val="tx1"/>
                </a:solidFill>
                <a:latin typeface="+mn-lt"/>
                <a:ea typeface="+mn-ea"/>
                <a:cs typeface="+mn-cs"/>
              </a:rPr>
              <a:t>  _db ??= await _initDb();</a:t>
            </a:r>
          </a:p>
          <a:p>
            <a:pPr rtl="0"/>
            <a:r>
              <a:rPr lang="vi-VN" sz="1200" kern="1200">
                <a:solidFill>
                  <a:schemeClr val="tx1"/>
                </a:solidFill>
                <a:latin typeface="+mn-lt"/>
                <a:ea typeface="+mn-ea"/>
                <a:cs typeface="+mn-cs"/>
              </a:rPr>
              <a:t>  return _db!;</a:t>
            </a:r>
          </a:p>
          <a:p>
            <a:pPr rtl="0"/>
            <a:r>
              <a:rPr lang="vi-VN" sz="1200" kern="1200">
                <a:solidFill>
                  <a:schemeClr val="tx1"/>
                </a:solidFill>
                <a:latin typeface="+mn-lt"/>
                <a:ea typeface="+mn-ea"/>
                <a:cs typeface="+mn-cs"/>
              </a:rPr>
              <a:t>}</a:t>
            </a:r>
          </a:p>
          <a:p>
            <a:r>
              <a:rPr lang="vi-VN"/>
              <a:t>Khi gọi </a:t>
            </a:r>
            <a:r>
              <a:rPr lang="vi-VN" sz="1200" kern="1200">
                <a:solidFill>
                  <a:schemeClr val="tx1"/>
                </a:solidFill>
                <a:latin typeface="+mn-lt"/>
                <a:ea typeface="+mn-ea"/>
                <a:cs typeface="+mn-cs"/>
              </a:rPr>
              <a:t>DBHelper().database</a:t>
            </a:r>
            <a:r>
              <a:rPr lang="vi-VN"/>
              <a:t>, nó:</a:t>
            </a:r>
          </a:p>
          <a:p>
            <a:pPr lvl="1"/>
            <a:r>
              <a:rPr lang="vi-VN"/>
              <a:t>Kiểm tra </a:t>
            </a:r>
            <a:r>
              <a:rPr lang="vi-VN" sz="1200" kern="1200">
                <a:solidFill>
                  <a:schemeClr val="tx1"/>
                </a:solidFill>
                <a:latin typeface="+mn-lt"/>
                <a:ea typeface="+mn-ea"/>
                <a:cs typeface="+mn-cs"/>
              </a:rPr>
              <a:t>_db</a:t>
            </a:r>
            <a:r>
              <a:rPr lang="vi-VN"/>
              <a:t> đã khởi tạo chưa.</a:t>
            </a:r>
          </a:p>
          <a:p>
            <a:pPr lvl="1"/>
            <a:r>
              <a:rPr lang="vi-VN"/>
              <a:t>Nếu chưa có thì gọi </a:t>
            </a:r>
            <a:r>
              <a:rPr lang="vi-VN" sz="1200" kern="1200">
                <a:solidFill>
                  <a:schemeClr val="tx1"/>
                </a:solidFill>
                <a:latin typeface="+mn-lt"/>
                <a:ea typeface="+mn-ea"/>
                <a:cs typeface="+mn-cs"/>
              </a:rPr>
              <a:t>_initDb()</a:t>
            </a:r>
            <a:r>
              <a:rPr lang="vi-VN"/>
              <a:t> để khởi tạo.</a:t>
            </a:r>
          </a:p>
          <a:p>
            <a:pPr lvl="1"/>
            <a:r>
              <a:rPr lang="vi-VN"/>
              <a:t>Trả về instance </a:t>
            </a:r>
            <a:r>
              <a:rPr lang="vi-VN" sz="1200" kern="1200">
                <a:solidFill>
                  <a:schemeClr val="tx1"/>
                </a:solidFill>
                <a:latin typeface="+mn-lt"/>
                <a:ea typeface="+mn-ea"/>
                <a:cs typeface="+mn-cs"/>
              </a:rPr>
              <a:t>Database</a:t>
            </a:r>
            <a:r>
              <a:rPr lang="vi-VN"/>
              <a:t>.</a:t>
            </a:r>
          </a:p>
          <a:p>
            <a:endParaRPr lang="en-US"/>
          </a:p>
          <a:p>
            <a:r>
              <a:rPr lang="en-US"/>
              <a:t>--------------------------------------------------------------------------------------------------------------------------</a:t>
            </a:r>
          </a:p>
          <a:p>
            <a:r>
              <a:rPr lang="en-US" b="1"/>
              <a:t>|??|</a:t>
            </a:r>
            <a:r>
              <a:rPr lang="en-US"/>
              <a:t>     </a:t>
            </a:r>
            <a:r>
              <a:rPr lang="vi-VN"/>
              <a:t>Singleton pattern: đảm bảo chỉ tạo một đối tượng duy nhất cho toàn ứng dụng. </a:t>
            </a:r>
            <a:r>
              <a:rPr lang="en-US"/>
              <a:t>Đ</a:t>
            </a:r>
            <a:r>
              <a:rPr lang="vi-VN"/>
              <a:t>ối tượng này là đối tượng gì</a:t>
            </a:r>
            <a:r>
              <a:rPr lang="en-US"/>
              <a:t>?</a:t>
            </a:r>
          </a:p>
          <a:p>
            <a:r>
              <a:rPr lang="en-US" b="1"/>
              <a:t>=&gt;</a:t>
            </a:r>
            <a:r>
              <a:rPr lang="en-US"/>
              <a:t> </a:t>
            </a:r>
          </a:p>
          <a:p>
            <a:r>
              <a:rPr lang="en-US" b="1"/>
              <a:t>🧱 </a:t>
            </a:r>
            <a:r>
              <a:rPr lang="vi-VN" b="1"/>
              <a:t>Trong đoạn code này:</a:t>
            </a:r>
          </a:p>
          <a:p>
            <a:r>
              <a:rPr lang="vi-VN"/>
              <a:t>Đối tượng </a:t>
            </a:r>
            <a:r>
              <a:rPr lang="vi-VN" b="1"/>
              <a:t>duy nhất</a:t>
            </a:r>
            <a:r>
              <a:rPr lang="vi-VN"/>
              <a:t> được tạo ra theo </a:t>
            </a:r>
            <a:r>
              <a:rPr lang="vi-VN" b="1"/>
              <a:t>Singleton pattern</a:t>
            </a:r>
            <a:r>
              <a:rPr lang="vi-VN"/>
              <a:t> chính là </a:t>
            </a:r>
            <a:r>
              <a:rPr lang="vi-VN" b="1"/>
              <a:t>đối tượng của lớp </a:t>
            </a:r>
            <a:r>
              <a:rPr lang="vi-VN" sz="1200" b="1" kern="1200">
                <a:solidFill>
                  <a:schemeClr val="tx1"/>
                </a:solidFill>
                <a:latin typeface="+mn-lt"/>
                <a:ea typeface="+mn-ea"/>
                <a:cs typeface="+mn-cs"/>
              </a:rPr>
              <a:t>DBHelper</a:t>
            </a:r>
            <a:r>
              <a:rPr lang="vi-VN"/>
              <a:t>.</a:t>
            </a:r>
            <a:br>
              <a:rPr lang="vi-VN"/>
            </a:br>
            <a:r>
              <a:rPr lang="vi-VN"/>
              <a:t>Cụ thể là biến:</a:t>
            </a:r>
          </a:p>
          <a:p>
            <a:pPr rtl="0"/>
            <a:r>
              <a:rPr lang="vi-VN" sz="1200" kern="1200">
                <a:solidFill>
                  <a:schemeClr val="tx1"/>
                </a:solidFill>
                <a:latin typeface="+mn-lt"/>
                <a:ea typeface="+mn-ea"/>
                <a:cs typeface="+mn-cs"/>
              </a:rPr>
              <a:t>static final DBHelper _instance = DBHelper._internal();</a:t>
            </a:r>
            <a:endParaRPr lang="vi-VN"/>
          </a:p>
          <a:p>
            <a:r>
              <a:rPr lang="en-US" b="1"/>
              <a:t>💡 </a:t>
            </a:r>
            <a:r>
              <a:rPr lang="vi-VN" b="1"/>
              <a:t>Giải thích chi tiết:</a:t>
            </a:r>
          </a:p>
          <a:p>
            <a:r>
              <a:rPr lang="vi-VN" b="1"/>
              <a:t>1️⃣ Bình thường (nếu không dùng Singleton)</a:t>
            </a:r>
          </a:p>
          <a:p>
            <a:r>
              <a:rPr lang="vi-VN"/>
              <a:t>Khi bạn viết:</a:t>
            </a:r>
          </a:p>
          <a:p>
            <a:pPr rtl="0"/>
            <a:r>
              <a:rPr lang="vi-VN" sz="1200" kern="1200">
                <a:solidFill>
                  <a:schemeClr val="tx1"/>
                </a:solidFill>
                <a:latin typeface="+mn-lt"/>
                <a:ea typeface="+mn-ea"/>
                <a:cs typeface="+mn-cs"/>
              </a:rPr>
              <a:t>var db1 = DBHelper();</a:t>
            </a:r>
          </a:p>
          <a:p>
            <a:pPr rtl="0"/>
            <a:r>
              <a:rPr lang="vi-VN" sz="1200" kern="1200">
                <a:solidFill>
                  <a:schemeClr val="tx1"/>
                </a:solidFill>
                <a:latin typeface="+mn-lt"/>
                <a:ea typeface="+mn-ea"/>
                <a:cs typeface="+mn-cs"/>
              </a:rPr>
              <a:t>var db2 = DBHelper();</a:t>
            </a:r>
          </a:p>
          <a:p>
            <a:r>
              <a:rPr lang="vi-VN"/>
              <a:t>→ Dart sẽ </a:t>
            </a:r>
            <a:r>
              <a:rPr lang="vi-VN" b="1"/>
              <a:t>tạo ra 2 đối tượng khác nhau</a:t>
            </a:r>
            <a:r>
              <a:rPr lang="vi-VN"/>
              <a:t>, mỗi cái có vùng nhớ riêng biệt.</a:t>
            </a:r>
            <a:br>
              <a:rPr lang="vi-VN"/>
            </a:br>
            <a:r>
              <a:rPr lang="vi-VN"/>
              <a:t>Mỗi đối tượng đó có thể mở </a:t>
            </a:r>
            <a:r>
              <a:rPr lang="vi-VN" b="1"/>
              <a:t>một kết nối khác nhau tới cơ sở dữ liệu</a:t>
            </a:r>
            <a:r>
              <a:rPr lang="vi-VN"/>
              <a:t>, dễ gây:</a:t>
            </a:r>
          </a:p>
          <a:p>
            <a:r>
              <a:rPr lang="vi-VN"/>
              <a:t>trùng lặp dữ liệu,</a:t>
            </a:r>
          </a:p>
          <a:p>
            <a:r>
              <a:rPr lang="vi-VN"/>
              <a:t>xung đột khi ghi/xóa cùng lúc,</a:t>
            </a:r>
          </a:p>
          <a:p>
            <a:r>
              <a:rPr lang="vi-VN"/>
              <a:t>hoặc lỗi “database locked”.</a:t>
            </a:r>
          </a:p>
          <a:p>
            <a:r>
              <a:rPr lang="vi-VN" b="1"/>
              <a:t>2️⃣ Khi dùng Singleton</a:t>
            </a:r>
          </a:p>
          <a:p>
            <a:r>
              <a:rPr lang="vi-VN"/>
              <a:t>Lớp </a:t>
            </a:r>
            <a:r>
              <a:rPr lang="vi-VN" sz="1200" kern="1200">
                <a:solidFill>
                  <a:schemeClr val="tx1"/>
                </a:solidFill>
                <a:latin typeface="+mn-lt"/>
                <a:ea typeface="+mn-ea"/>
                <a:cs typeface="+mn-cs"/>
              </a:rPr>
              <a:t>DBHelper</a:t>
            </a:r>
            <a:r>
              <a:rPr lang="vi-VN"/>
              <a:t> được thiết kế đặc biệt:</a:t>
            </a:r>
          </a:p>
          <a:p>
            <a:pPr rtl="0"/>
            <a:r>
              <a:rPr lang="vi-VN" sz="1200" kern="1200">
                <a:solidFill>
                  <a:schemeClr val="tx1"/>
                </a:solidFill>
                <a:latin typeface="+mn-lt"/>
                <a:ea typeface="+mn-ea"/>
                <a:cs typeface="+mn-cs"/>
              </a:rPr>
              <a:t>class DBHelper {</a:t>
            </a:r>
          </a:p>
          <a:p>
            <a:pPr rtl="0"/>
            <a:r>
              <a:rPr lang="vi-VN" sz="1200" kern="1200">
                <a:solidFill>
                  <a:schemeClr val="tx1"/>
                </a:solidFill>
                <a:latin typeface="+mn-lt"/>
                <a:ea typeface="+mn-ea"/>
                <a:cs typeface="+mn-cs"/>
              </a:rPr>
              <a:t>  static final DBHelper _instance = DBHelper._internal();</a:t>
            </a:r>
          </a:p>
          <a:p>
            <a:pPr rtl="0"/>
            <a:r>
              <a:rPr lang="vi-VN" sz="1200" kern="1200">
                <a:solidFill>
                  <a:schemeClr val="tx1"/>
                </a:solidFill>
                <a:latin typeface="+mn-lt"/>
                <a:ea typeface="+mn-ea"/>
                <a:cs typeface="+mn-cs"/>
              </a:rPr>
              <a:t>  factory DBHelper() =&gt; _instance;</a:t>
            </a:r>
          </a:p>
          <a:p>
            <a:pPr rtl="0"/>
            <a:r>
              <a:rPr lang="vi-VN" sz="1200" kern="1200">
                <a:solidFill>
                  <a:schemeClr val="tx1"/>
                </a:solidFill>
                <a:latin typeface="+mn-lt"/>
                <a:ea typeface="+mn-ea"/>
                <a:cs typeface="+mn-cs"/>
              </a:rPr>
              <a:t>  DBHelper._internal();</a:t>
            </a:r>
          </a:p>
          <a:p>
            <a:pPr rtl="0"/>
            <a:r>
              <a:rPr lang="vi-VN" sz="1200" kern="1200">
                <a:solidFill>
                  <a:schemeClr val="tx1"/>
                </a:solidFill>
                <a:latin typeface="+mn-lt"/>
                <a:ea typeface="+mn-ea"/>
                <a:cs typeface="+mn-cs"/>
              </a:rPr>
              <a:t>}</a:t>
            </a:r>
          </a:p>
          <a:p>
            <a:r>
              <a:rPr lang="en-US"/>
              <a:t>🔹 </a:t>
            </a:r>
            <a:r>
              <a:rPr lang="vi-VN" sz="1200" kern="1200">
                <a:solidFill>
                  <a:schemeClr val="tx1"/>
                </a:solidFill>
                <a:latin typeface="+mn-lt"/>
                <a:ea typeface="+mn-ea"/>
                <a:cs typeface="+mn-cs"/>
              </a:rPr>
              <a:t>DBHelper._internal()</a:t>
            </a:r>
            <a:r>
              <a:rPr lang="vi-VN"/>
              <a:t> là </a:t>
            </a:r>
            <a:r>
              <a:rPr lang="vi-VN" b="1"/>
              <a:t>constructor riêng</a:t>
            </a:r>
            <a:r>
              <a:rPr lang="vi-VN"/>
              <a:t> (chỉ dùng nội bộ).</a:t>
            </a:r>
            <a:br>
              <a:rPr lang="vi-VN"/>
            </a:br>
            <a:r>
              <a:rPr lang="en-US"/>
              <a:t>🔹 </a:t>
            </a:r>
            <a:r>
              <a:rPr lang="vi-VN" sz="1200" kern="1200">
                <a:solidFill>
                  <a:schemeClr val="tx1"/>
                </a:solidFill>
                <a:latin typeface="+mn-lt"/>
                <a:ea typeface="+mn-ea"/>
                <a:cs typeface="+mn-cs"/>
              </a:rPr>
              <a:t>factory DBHelper()</a:t>
            </a:r>
            <a:r>
              <a:rPr lang="vi-VN"/>
              <a:t> là </a:t>
            </a:r>
            <a:r>
              <a:rPr lang="vi-VN" b="1"/>
              <a:t>constructor công khai</a:t>
            </a:r>
            <a:r>
              <a:rPr lang="vi-VN"/>
              <a:t> — nhưng </a:t>
            </a:r>
            <a:r>
              <a:rPr lang="vi-VN" b="1"/>
              <a:t>luôn trả về cùng một </a:t>
            </a:r>
            <a:r>
              <a:rPr lang="vi-VN" sz="1200" b="1" kern="1200">
                <a:solidFill>
                  <a:schemeClr val="tx1"/>
                </a:solidFill>
                <a:latin typeface="+mn-lt"/>
                <a:ea typeface="+mn-ea"/>
                <a:cs typeface="+mn-cs"/>
              </a:rPr>
              <a:t>_instance</a:t>
            </a:r>
            <a:r>
              <a:rPr lang="vi-VN"/>
              <a:t>.</a:t>
            </a:r>
          </a:p>
          <a:p>
            <a:r>
              <a:rPr lang="en-US"/>
              <a:t>👉 </a:t>
            </a:r>
            <a:r>
              <a:rPr lang="vi-VN"/>
              <a:t>Nghĩa là: dù bạn gọi </a:t>
            </a:r>
            <a:r>
              <a:rPr lang="vi-VN" sz="1200" kern="1200">
                <a:solidFill>
                  <a:schemeClr val="tx1"/>
                </a:solidFill>
                <a:latin typeface="+mn-lt"/>
                <a:ea typeface="+mn-ea"/>
                <a:cs typeface="+mn-cs"/>
              </a:rPr>
              <a:t>DBHelper()</a:t>
            </a:r>
            <a:r>
              <a:rPr lang="vi-VN"/>
              <a:t> bao nhiêu lần, bạn </a:t>
            </a:r>
            <a:r>
              <a:rPr lang="vi-VN" b="1"/>
              <a:t>luôn nhận lại cùng một đối tượng </a:t>
            </a:r>
            <a:r>
              <a:rPr lang="vi-VN" sz="1200" b="1" kern="1200">
                <a:solidFill>
                  <a:schemeClr val="tx1"/>
                </a:solidFill>
                <a:latin typeface="+mn-lt"/>
                <a:ea typeface="+mn-ea"/>
                <a:cs typeface="+mn-cs"/>
              </a:rPr>
              <a:t>DBHelper</a:t>
            </a:r>
            <a:r>
              <a:rPr lang="vi-VN" b="1"/>
              <a:t> duy nhất</a:t>
            </a:r>
            <a:r>
              <a:rPr lang="vi-VN"/>
              <a:t> trong toàn bộ ứng dụng.</a:t>
            </a:r>
          </a:p>
          <a:p>
            <a:r>
              <a:rPr lang="vi-VN"/>
              <a:t>Ví dụ:</a:t>
            </a:r>
          </a:p>
          <a:p>
            <a:pPr rtl="0"/>
            <a:r>
              <a:rPr lang="vi-VN" sz="1200" kern="1200">
                <a:solidFill>
                  <a:schemeClr val="tx1"/>
                </a:solidFill>
                <a:latin typeface="+mn-lt"/>
                <a:ea typeface="+mn-ea"/>
                <a:cs typeface="+mn-cs"/>
              </a:rPr>
              <a:t>var db1 = DBHelper();</a:t>
            </a:r>
          </a:p>
          <a:p>
            <a:pPr rtl="0"/>
            <a:r>
              <a:rPr lang="vi-VN" sz="1200" kern="1200">
                <a:solidFill>
                  <a:schemeClr val="tx1"/>
                </a:solidFill>
                <a:latin typeface="+mn-lt"/>
                <a:ea typeface="+mn-ea"/>
                <a:cs typeface="+mn-cs"/>
              </a:rPr>
              <a:t>var db2 = DBHelper();</a:t>
            </a:r>
          </a:p>
          <a:p>
            <a:pPr rtl="0"/>
            <a:r>
              <a:rPr lang="vi-VN" sz="1200" kern="1200">
                <a:solidFill>
                  <a:schemeClr val="tx1"/>
                </a:solidFill>
                <a:latin typeface="+mn-lt"/>
                <a:ea typeface="+mn-ea"/>
                <a:cs typeface="+mn-cs"/>
              </a:rPr>
              <a:t>print(identical(db1, db2)); // true </a:t>
            </a:r>
            <a:r>
              <a:rPr lang="en-US" sz="1200" kern="1200">
                <a:solidFill>
                  <a:schemeClr val="tx1"/>
                </a:solidFill>
                <a:latin typeface="+mn-lt"/>
                <a:ea typeface="+mn-ea"/>
                <a:cs typeface="+mn-cs"/>
              </a:rPr>
              <a:t>✅</a:t>
            </a:r>
          </a:p>
          <a:p>
            <a:r>
              <a:rPr lang="vi-VN"/>
              <a:t>Cả </a:t>
            </a:r>
            <a:r>
              <a:rPr lang="vi-VN" sz="1200" kern="1200">
                <a:solidFill>
                  <a:schemeClr val="tx1"/>
                </a:solidFill>
                <a:latin typeface="+mn-lt"/>
                <a:ea typeface="+mn-ea"/>
                <a:cs typeface="+mn-cs"/>
              </a:rPr>
              <a:t>db1</a:t>
            </a:r>
            <a:r>
              <a:rPr lang="vi-VN"/>
              <a:t> và </a:t>
            </a:r>
            <a:r>
              <a:rPr lang="vi-VN" sz="1200" kern="1200">
                <a:solidFill>
                  <a:schemeClr val="tx1"/>
                </a:solidFill>
                <a:latin typeface="+mn-lt"/>
                <a:ea typeface="+mn-ea"/>
                <a:cs typeface="+mn-cs"/>
              </a:rPr>
              <a:t>db2</a:t>
            </a:r>
            <a:r>
              <a:rPr lang="vi-VN"/>
              <a:t> trỏ tới </a:t>
            </a:r>
            <a:r>
              <a:rPr lang="vi-VN" b="1"/>
              <a:t>cùng một vùng nhớ</a:t>
            </a:r>
            <a:r>
              <a:rPr lang="vi-VN"/>
              <a:t>.</a:t>
            </a:r>
          </a:p>
          <a:p>
            <a:r>
              <a:rPr lang="en-US" b="1"/>
              <a:t>🧩 </a:t>
            </a:r>
            <a:r>
              <a:rPr lang="vi-VN" b="1"/>
              <a:t>Vậy “đối tượng duy nhất” ở đây dùng để làm gì?</a:t>
            </a:r>
          </a:p>
          <a:p>
            <a:r>
              <a:rPr lang="vi-VN"/>
              <a:t>Chính là </a:t>
            </a:r>
            <a:r>
              <a:rPr lang="vi-VN" b="1"/>
              <a:t>bộ quản lý cơ sở dữ liệu SQLite</a:t>
            </a:r>
            <a:r>
              <a:rPr lang="vi-VN"/>
              <a:t>.</a:t>
            </a:r>
            <a:br>
              <a:rPr lang="vi-VN"/>
            </a:br>
            <a:r>
              <a:rPr lang="vi-VN"/>
              <a:t>Đối tượng </a:t>
            </a:r>
            <a:r>
              <a:rPr lang="vi-VN" sz="1200" kern="1200">
                <a:solidFill>
                  <a:schemeClr val="tx1"/>
                </a:solidFill>
                <a:latin typeface="+mn-lt"/>
                <a:ea typeface="+mn-ea"/>
                <a:cs typeface="+mn-cs"/>
              </a:rPr>
              <a:t>DBHelper</a:t>
            </a:r>
            <a:r>
              <a:rPr lang="vi-VN"/>
              <a:t> này:</a:t>
            </a:r>
          </a:p>
          <a:p>
            <a:r>
              <a:rPr lang="vi-VN"/>
              <a:t>Giữ kết nối tới SQLite thông qua biến tĩnh </a:t>
            </a:r>
            <a:r>
              <a:rPr lang="vi-VN" sz="1200" kern="1200">
                <a:solidFill>
                  <a:schemeClr val="tx1"/>
                </a:solidFill>
                <a:latin typeface="+mn-lt"/>
                <a:ea typeface="+mn-ea"/>
                <a:cs typeface="+mn-cs"/>
              </a:rPr>
              <a:t>_db</a:t>
            </a:r>
            <a:r>
              <a:rPr lang="vi-VN"/>
              <a:t>.</a:t>
            </a:r>
          </a:p>
          <a:p>
            <a:r>
              <a:rPr lang="vi-VN"/>
              <a:t>Cung cấp các hàm </a:t>
            </a:r>
            <a:r>
              <a:rPr lang="vi-VN" sz="1200" kern="1200">
                <a:solidFill>
                  <a:schemeClr val="tx1"/>
                </a:solidFill>
                <a:latin typeface="+mn-lt"/>
                <a:ea typeface="+mn-ea"/>
                <a:cs typeface="+mn-cs"/>
              </a:rPr>
              <a:t>insertProduct</a:t>
            </a:r>
            <a:r>
              <a:rPr lang="vi-VN"/>
              <a:t>, </a:t>
            </a:r>
            <a:r>
              <a:rPr lang="vi-VN" sz="1200" kern="1200">
                <a:solidFill>
                  <a:schemeClr val="tx1"/>
                </a:solidFill>
                <a:latin typeface="+mn-lt"/>
                <a:ea typeface="+mn-ea"/>
                <a:cs typeface="+mn-cs"/>
              </a:rPr>
              <a:t>getAllProducts</a:t>
            </a:r>
            <a:r>
              <a:rPr lang="vi-VN"/>
              <a:t>, </a:t>
            </a:r>
            <a:r>
              <a:rPr lang="vi-VN" sz="1200" kern="1200">
                <a:solidFill>
                  <a:schemeClr val="tx1"/>
                </a:solidFill>
                <a:latin typeface="+mn-lt"/>
                <a:ea typeface="+mn-ea"/>
                <a:cs typeface="+mn-cs"/>
              </a:rPr>
              <a:t>updateProduct</a:t>
            </a:r>
            <a:r>
              <a:rPr lang="vi-VN"/>
              <a:t>, </a:t>
            </a:r>
            <a:r>
              <a:rPr lang="vi-VN" sz="1200" kern="1200">
                <a:solidFill>
                  <a:schemeClr val="tx1"/>
                </a:solidFill>
                <a:latin typeface="+mn-lt"/>
                <a:ea typeface="+mn-ea"/>
                <a:cs typeface="+mn-cs"/>
              </a:rPr>
              <a:t>deleteProduct</a:t>
            </a:r>
            <a:r>
              <a:rPr lang="vi-VN"/>
              <a:t> dùng chung.</a:t>
            </a:r>
          </a:p>
          <a:p>
            <a:r>
              <a:rPr lang="vi-VN"/>
              <a:t>Đảm bảo mọi nơi trong app (UI, logic, service, ...) </a:t>
            </a:r>
            <a:r>
              <a:rPr lang="vi-VN" b="1"/>
              <a:t>đều thao tác trên cùng một kết nối database</a:t>
            </a:r>
            <a:r>
              <a:rPr lang="vi-VN"/>
              <a:t> → an toàn và hiệu quả.</a:t>
            </a:r>
          </a:p>
          <a:p>
            <a:r>
              <a:rPr lang="en-US" b="1"/>
              <a:t>🔁 </a:t>
            </a:r>
            <a:r>
              <a:rPr lang="vi-VN" b="1"/>
              <a:t>Tóm lại:</a:t>
            </a:r>
          </a:p>
          <a:p>
            <a:r>
              <a:rPr lang="vi-VN"/>
              <a:t>Thành phần</a:t>
            </a:r>
            <a:r>
              <a:rPr lang="en-US"/>
              <a:t>		             </a:t>
            </a:r>
            <a:r>
              <a:rPr lang="vi-VN"/>
              <a:t>Vai trò</a:t>
            </a:r>
            <a:endParaRPr lang="en-US"/>
          </a:p>
          <a:p>
            <a:r>
              <a:rPr lang="vi-VN" sz="1200" kern="1200">
                <a:solidFill>
                  <a:schemeClr val="tx1"/>
                </a:solidFill>
                <a:latin typeface="+mn-lt"/>
                <a:ea typeface="+mn-ea"/>
                <a:cs typeface="+mn-cs"/>
              </a:rPr>
              <a:t>DBHelper</a:t>
            </a:r>
            <a:r>
              <a:rPr lang="en-US" sz="1200" kern="1200">
                <a:solidFill>
                  <a:schemeClr val="tx1"/>
                </a:solidFill>
                <a:latin typeface="+mn-lt"/>
                <a:ea typeface="+mn-ea"/>
                <a:cs typeface="+mn-cs"/>
              </a:rPr>
              <a:t>		</a:t>
            </a:r>
            <a:r>
              <a:rPr lang="vi-VN"/>
              <a:t>Lớp quản lý cơ sở dữ liệu</a:t>
            </a:r>
            <a:endParaRPr lang="en-US"/>
          </a:p>
          <a:p>
            <a:r>
              <a:rPr lang="vi-VN" sz="1200" kern="1200">
                <a:solidFill>
                  <a:schemeClr val="tx1"/>
                </a:solidFill>
                <a:latin typeface="+mn-lt"/>
                <a:ea typeface="+mn-ea"/>
                <a:cs typeface="+mn-cs"/>
              </a:rPr>
              <a:t>_instance</a:t>
            </a:r>
            <a:r>
              <a:rPr lang="en-US" sz="1200" kern="1200">
                <a:solidFill>
                  <a:schemeClr val="tx1"/>
                </a:solidFill>
                <a:latin typeface="+mn-lt"/>
                <a:ea typeface="+mn-ea"/>
                <a:cs typeface="+mn-cs"/>
              </a:rPr>
              <a:t>		</a:t>
            </a:r>
            <a:r>
              <a:rPr lang="vi-VN"/>
              <a:t>Đối tượng duy nhất (Singleton instance)</a:t>
            </a:r>
            <a:endParaRPr lang="en-US"/>
          </a:p>
          <a:p>
            <a:r>
              <a:rPr lang="vi-VN" sz="1200" kern="1200">
                <a:solidFill>
                  <a:schemeClr val="tx1"/>
                </a:solidFill>
                <a:latin typeface="+mn-lt"/>
                <a:ea typeface="+mn-ea"/>
                <a:cs typeface="+mn-cs"/>
              </a:rPr>
              <a:t>_db</a:t>
            </a:r>
            <a:r>
              <a:rPr lang="en-US" sz="1200" kern="1200">
                <a:solidFill>
                  <a:schemeClr val="tx1"/>
                </a:solidFill>
                <a:latin typeface="+mn-lt"/>
                <a:ea typeface="+mn-ea"/>
                <a:cs typeface="+mn-cs"/>
              </a:rPr>
              <a:t>		</a:t>
            </a:r>
            <a:r>
              <a:rPr lang="vi-VN"/>
              <a:t>Kết nối duy nhất tới SQLite database</a:t>
            </a:r>
            <a:endParaRPr lang="en-US"/>
          </a:p>
          <a:p>
            <a:r>
              <a:rPr lang="vi-VN" sz="1200" kern="1200">
                <a:solidFill>
                  <a:schemeClr val="tx1"/>
                </a:solidFill>
                <a:latin typeface="+mn-lt"/>
                <a:ea typeface="+mn-ea"/>
                <a:cs typeface="+mn-cs"/>
              </a:rPr>
              <a:t>factory DBHelper()</a:t>
            </a:r>
            <a:r>
              <a:rPr lang="en-US" sz="1200" kern="1200">
                <a:solidFill>
                  <a:schemeClr val="tx1"/>
                </a:solidFill>
                <a:latin typeface="+mn-lt"/>
                <a:ea typeface="+mn-ea"/>
                <a:cs typeface="+mn-cs"/>
              </a:rPr>
              <a:t>	</a:t>
            </a:r>
            <a:r>
              <a:rPr lang="vi-VN"/>
              <a:t>Đảm bảo chỉ trả về </a:t>
            </a:r>
            <a:r>
              <a:rPr lang="vi-VN" sz="1200" kern="1200">
                <a:solidFill>
                  <a:schemeClr val="tx1"/>
                </a:solidFill>
                <a:latin typeface="+mn-lt"/>
                <a:ea typeface="+mn-ea"/>
                <a:cs typeface="+mn-cs"/>
              </a:rPr>
              <a:t>_instance</a:t>
            </a:r>
            <a:r>
              <a:rPr lang="vi-VN"/>
              <a:t> duy nhất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a:t>
            </a:r>
          </a:p>
          <a:p>
            <a:r>
              <a:rPr lang="en-US"/>
              <a:t>🔹 DBHelper._internal() là constructor riêng (chỉ dùng nội bộ). Nghĩa là sao?</a:t>
            </a:r>
            <a:endParaRPr lang="en-US" b="1"/>
          </a:p>
          <a:p>
            <a:r>
              <a:rPr lang="en-US" b="1"/>
              <a:t>=&gt; </a:t>
            </a:r>
            <a:endParaRPr lang="en-US" b="0"/>
          </a:p>
          <a:p>
            <a:r>
              <a:rPr lang="en-US" b="1"/>
              <a:t>💡 </a:t>
            </a:r>
            <a:r>
              <a:rPr lang="vi-VN" b="1"/>
              <a:t>Còn trong lớp </a:t>
            </a:r>
            <a:r>
              <a:rPr lang="vi-VN" sz="1200" b="1" kern="1200">
                <a:solidFill>
                  <a:schemeClr val="tx1"/>
                </a:solidFill>
                <a:latin typeface="+mn-lt"/>
                <a:ea typeface="+mn-ea"/>
                <a:cs typeface="+mn-cs"/>
              </a:rPr>
              <a:t>DBHelper</a:t>
            </a:r>
            <a:r>
              <a:rPr lang="vi-VN" b="1"/>
              <a:t> thì sao?</a:t>
            </a:r>
          </a:p>
          <a:p>
            <a:r>
              <a:rPr lang="vi-VN"/>
              <a:t>Trong code của bạn có hai loại constructor:</a:t>
            </a:r>
          </a:p>
          <a:p>
            <a:pPr rtl="0"/>
            <a:r>
              <a:rPr lang="vi-VN" sz="1200" kern="1200">
                <a:solidFill>
                  <a:schemeClr val="tx1"/>
                </a:solidFill>
                <a:latin typeface="+mn-lt"/>
                <a:ea typeface="+mn-ea"/>
                <a:cs typeface="+mn-cs"/>
              </a:rPr>
              <a:t>class DBHelper {</a:t>
            </a:r>
          </a:p>
          <a:p>
            <a:pPr rtl="0"/>
            <a:r>
              <a:rPr lang="vi-VN" sz="1200" kern="1200">
                <a:solidFill>
                  <a:schemeClr val="tx1"/>
                </a:solidFill>
                <a:latin typeface="+mn-lt"/>
                <a:ea typeface="+mn-ea"/>
                <a:cs typeface="+mn-cs"/>
              </a:rPr>
              <a:t>  static final DBHelper _instance = DBHelper._internal(); // tạo instance duy nhất</a:t>
            </a:r>
          </a:p>
          <a:p>
            <a:pPr rtl="0"/>
            <a:r>
              <a:rPr lang="vi-VN" sz="1200" kern="1200">
                <a:solidFill>
                  <a:schemeClr val="tx1"/>
                </a:solidFill>
                <a:latin typeface="+mn-lt"/>
                <a:ea typeface="+mn-ea"/>
                <a:cs typeface="+mn-cs"/>
              </a:rPr>
              <a:t>  factory DBHelper() =&gt; _instance;                        // constructor công khai</a:t>
            </a:r>
          </a:p>
          <a:p>
            <a:pPr rtl="0"/>
            <a:r>
              <a:rPr lang="vi-VN" sz="1200" kern="1200">
                <a:solidFill>
                  <a:schemeClr val="tx1"/>
                </a:solidFill>
                <a:latin typeface="+mn-lt"/>
                <a:ea typeface="+mn-ea"/>
                <a:cs typeface="+mn-cs"/>
              </a:rPr>
              <a:t>  DBHelper._internal();                                   // constructor riêng (private-like)</a:t>
            </a:r>
          </a:p>
          <a:p>
            <a:pPr rtl="0"/>
            <a:r>
              <a:rPr lang="vi-VN" sz="1200" kern="1200">
                <a:solidFill>
                  <a:schemeClr val="tx1"/>
                </a:solidFill>
                <a:latin typeface="+mn-lt"/>
                <a:ea typeface="+mn-ea"/>
                <a:cs typeface="+mn-cs"/>
              </a:rPr>
              <a:t>}</a:t>
            </a:r>
          </a:p>
          <a:p>
            <a:r>
              <a:rPr lang="vi-VN" b="1"/>
              <a:t>1️⃣ </a:t>
            </a:r>
            <a:r>
              <a:rPr lang="vi-VN" sz="1200" b="1" kern="1200">
                <a:solidFill>
                  <a:schemeClr val="tx1"/>
                </a:solidFill>
                <a:latin typeface="+mn-lt"/>
                <a:ea typeface="+mn-ea"/>
                <a:cs typeface="+mn-cs"/>
              </a:rPr>
              <a:t>DBHelper._internal()</a:t>
            </a:r>
            <a:endParaRPr lang="vi-VN" b="1"/>
          </a:p>
          <a:p>
            <a:r>
              <a:rPr lang="vi-VN"/>
              <a:t>Đây là </a:t>
            </a:r>
            <a:r>
              <a:rPr lang="vi-VN" b="1"/>
              <a:t>constructor riêng (private constructor)</a:t>
            </a:r>
            <a:r>
              <a:rPr lang="vi-VN"/>
              <a:t> — nó chỉ được dùng </a:t>
            </a:r>
            <a:r>
              <a:rPr lang="vi-VN" b="1"/>
              <a:t>bên trong chính lớp </a:t>
            </a:r>
            <a:r>
              <a:rPr lang="vi-VN" sz="1200" b="1" kern="1200">
                <a:solidFill>
                  <a:schemeClr val="tx1"/>
                </a:solidFill>
                <a:latin typeface="+mn-lt"/>
                <a:ea typeface="+mn-ea"/>
                <a:cs typeface="+mn-cs"/>
              </a:rPr>
              <a:t>DBHelper</a:t>
            </a:r>
            <a:r>
              <a:rPr lang="vi-VN"/>
              <a:t>, không thể gọi từ bên ngoài.</a:t>
            </a:r>
          </a:p>
          <a:p>
            <a:r>
              <a:rPr lang="vi-VN"/>
              <a:t>Dấu </a:t>
            </a:r>
            <a:r>
              <a:rPr lang="vi-VN" b="1"/>
              <a:t>gạch dưới </a:t>
            </a:r>
            <a:r>
              <a:rPr lang="vi-VN" sz="1200" b="1" kern="1200">
                <a:solidFill>
                  <a:schemeClr val="tx1"/>
                </a:solidFill>
                <a:latin typeface="+mn-lt"/>
                <a:ea typeface="+mn-ea"/>
                <a:cs typeface="+mn-cs"/>
              </a:rPr>
              <a:t>_</a:t>
            </a:r>
            <a:r>
              <a:rPr lang="vi-VN" b="1"/>
              <a:t> trước tên</a:t>
            </a:r>
            <a:r>
              <a:rPr lang="vi-VN"/>
              <a:t> trong Dart có nghĩa là:</a:t>
            </a:r>
          </a:p>
          <a:p>
            <a:r>
              <a:rPr lang="vi-VN"/>
              <a:t>"Chỉ được truy cập trong cùng file hoặc cùng thư viện".</a:t>
            </a:r>
          </a:p>
          <a:p>
            <a:r>
              <a:rPr lang="vi-VN"/>
              <a:t>Nói cách khác:</a:t>
            </a:r>
          </a:p>
          <a:p>
            <a:r>
              <a:rPr lang="vi-VN" b="1"/>
              <a:t>Bên trong</a:t>
            </a:r>
            <a:r>
              <a:rPr lang="vi-VN"/>
              <a:t> lớp </a:t>
            </a:r>
            <a:r>
              <a:rPr lang="vi-VN" sz="1200" kern="1200">
                <a:solidFill>
                  <a:schemeClr val="tx1"/>
                </a:solidFill>
                <a:latin typeface="+mn-lt"/>
                <a:ea typeface="+mn-ea"/>
                <a:cs typeface="+mn-cs"/>
              </a:rPr>
              <a:t>DBHelper</a:t>
            </a:r>
            <a:r>
              <a:rPr lang="vi-VN"/>
              <a:t>: được phép gọi </a:t>
            </a:r>
            <a:r>
              <a:rPr lang="vi-VN" sz="1200" kern="1200">
                <a:solidFill>
                  <a:schemeClr val="tx1"/>
                </a:solidFill>
                <a:latin typeface="+mn-lt"/>
                <a:ea typeface="+mn-ea"/>
                <a:cs typeface="+mn-cs"/>
              </a:rPr>
              <a:t>DBHelper._internal()</a:t>
            </a:r>
            <a:r>
              <a:rPr lang="vi-VN"/>
              <a:t>.</a:t>
            </a:r>
          </a:p>
          <a:p>
            <a:r>
              <a:rPr lang="vi-VN" b="1"/>
              <a:t>Bên ngoài</a:t>
            </a:r>
            <a:r>
              <a:rPr lang="vi-VN"/>
              <a:t> lớp </a:t>
            </a:r>
            <a:r>
              <a:rPr lang="vi-VN" sz="1200" kern="1200">
                <a:solidFill>
                  <a:schemeClr val="tx1"/>
                </a:solidFill>
                <a:latin typeface="+mn-lt"/>
                <a:ea typeface="+mn-ea"/>
                <a:cs typeface="+mn-cs"/>
              </a:rPr>
              <a:t>DBHelper</a:t>
            </a:r>
            <a:r>
              <a:rPr lang="vi-VN"/>
              <a:t>: không thể gọi được, ví dụ:</a:t>
            </a:r>
          </a:p>
          <a:p>
            <a:pPr rtl="0"/>
            <a:r>
              <a:rPr lang="vi-VN" sz="1200" kern="1200">
                <a:solidFill>
                  <a:schemeClr val="tx1"/>
                </a:solidFill>
                <a:latin typeface="+mn-lt"/>
                <a:ea typeface="+mn-ea"/>
                <a:cs typeface="+mn-cs"/>
              </a:rPr>
              <a:t>var db = DBHelper._internal(); // </a:t>
            </a:r>
            <a:r>
              <a:rPr lang="en-US" sz="1200" kern="1200">
                <a:solidFill>
                  <a:schemeClr val="tx1"/>
                </a:solidFill>
                <a:latin typeface="+mn-lt"/>
                <a:ea typeface="+mn-ea"/>
                <a:cs typeface="+mn-cs"/>
              </a:rPr>
              <a:t>❌ </a:t>
            </a:r>
            <a:r>
              <a:rPr lang="vi-VN" sz="1200" kern="1200">
                <a:solidFill>
                  <a:schemeClr val="tx1"/>
                </a:solidFill>
                <a:latin typeface="+mn-lt"/>
                <a:ea typeface="+mn-ea"/>
                <a:cs typeface="+mn-cs"/>
              </a:rPr>
              <a:t>lỗi: _internal() không truy cập được</a:t>
            </a:r>
          </a:p>
          <a:p>
            <a:br>
              <a:rPr lang="vi-VN"/>
            </a:br>
            <a:endParaRPr lang="vi-VN"/>
          </a:p>
          <a:p>
            <a:r>
              <a:rPr lang="vi-VN" b="1"/>
              <a:t>2️⃣ Tại sao phải có </a:t>
            </a:r>
            <a:r>
              <a:rPr lang="vi-VN" sz="1200" b="1" kern="1200">
                <a:solidFill>
                  <a:schemeClr val="tx1"/>
                </a:solidFill>
                <a:latin typeface="+mn-lt"/>
                <a:ea typeface="+mn-ea"/>
                <a:cs typeface="+mn-cs"/>
              </a:rPr>
              <a:t>DBHelper._internal()</a:t>
            </a:r>
            <a:r>
              <a:rPr lang="vi-VN" b="1"/>
              <a:t>?</a:t>
            </a:r>
          </a:p>
          <a:p>
            <a:r>
              <a:rPr lang="vi-VN"/>
              <a:t>Vì ta muốn </a:t>
            </a:r>
            <a:r>
              <a:rPr lang="vi-VN" b="1"/>
              <a:t>ngăn người khác tạo thêm đối tượng mới</a:t>
            </a:r>
            <a:r>
              <a:rPr lang="vi-VN"/>
              <a:t> bằng </a:t>
            </a:r>
            <a:r>
              <a:rPr lang="vi-VN" sz="1200" kern="1200">
                <a:solidFill>
                  <a:schemeClr val="tx1"/>
                </a:solidFill>
                <a:latin typeface="+mn-lt"/>
                <a:ea typeface="+mn-ea"/>
                <a:cs typeface="+mn-cs"/>
              </a:rPr>
              <a:t>new DBHelper()</a:t>
            </a:r>
            <a:r>
              <a:rPr lang="vi-VN"/>
              <a:t> hay </a:t>
            </a:r>
            <a:r>
              <a:rPr lang="vi-VN" sz="1200" kern="1200">
                <a:solidFill>
                  <a:schemeClr val="tx1"/>
                </a:solidFill>
                <a:latin typeface="+mn-lt"/>
                <a:ea typeface="+mn-ea"/>
                <a:cs typeface="+mn-cs"/>
              </a:rPr>
              <a:t>DBHelper()</a:t>
            </a:r>
            <a:r>
              <a:rPr lang="vi-VN"/>
              <a:t>.</a:t>
            </a:r>
            <a:br>
              <a:rPr lang="vi-VN"/>
            </a:br>
            <a:r>
              <a:rPr lang="vi-VN"/>
              <a:t>Chỉ lớp </a:t>
            </a:r>
            <a:r>
              <a:rPr lang="vi-VN" sz="1200" kern="1200">
                <a:solidFill>
                  <a:schemeClr val="tx1"/>
                </a:solidFill>
                <a:latin typeface="+mn-lt"/>
                <a:ea typeface="+mn-ea"/>
                <a:cs typeface="+mn-cs"/>
              </a:rPr>
              <a:t>DBHelper</a:t>
            </a:r>
            <a:r>
              <a:rPr lang="vi-VN"/>
              <a:t> mới được phép </a:t>
            </a:r>
            <a:r>
              <a:rPr lang="vi-VN" b="1"/>
              <a:t>tự tạo</a:t>
            </a:r>
            <a:r>
              <a:rPr lang="vi-VN"/>
              <a:t> một thể hiện duy nhất của chính nó, lưu trong biến tĩnh </a:t>
            </a:r>
            <a:r>
              <a:rPr lang="vi-VN" sz="1200" kern="1200">
                <a:solidFill>
                  <a:schemeClr val="tx1"/>
                </a:solidFill>
                <a:latin typeface="+mn-lt"/>
                <a:ea typeface="+mn-ea"/>
                <a:cs typeface="+mn-cs"/>
              </a:rPr>
              <a:t>_instance</a:t>
            </a:r>
            <a:r>
              <a:rPr lang="vi-VN"/>
              <a:t>.</a:t>
            </a:r>
          </a:p>
          <a:p>
            <a:r>
              <a:rPr lang="vi-VN"/>
              <a:t>Câu này trong code:</a:t>
            </a:r>
          </a:p>
          <a:p>
            <a:pPr rtl="0"/>
            <a:r>
              <a:rPr lang="vi-VN" sz="1200" kern="1200">
                <a:solidFill>
                  <a:schemeClr val="tx1"/>
                </a:solidFill>
                <a:latin typeface="+mn-lt"/>
                <a:ea typeface="+mn-ea"/>
                <a:cs typeface="+mn-cs"/>
              </a:rPr>
              <a:t>static final DBHelper _instance = DBHelper._internal();</a:t>
            </a:r>
          </a:p>
          <a:p>
            <a:r>
              <a:rPr lang="vi-VN"/>
              <a:t>→ nghĩa là “Tạo </a:t>
            </a:r>
            <a:r>
              <a:rPr lang="vi-VN" b="1"/>
              <a:t>một đối tượng duy nhất</a:t>
            </a:r>
            <a:r>
              <a:rPr lang="vi-VN"/>
              <a:t> bằng constructor riêng </a:t>
            </a:r>
            <a:r>
              <a:rPr lang="vi-VN" sz="1200" kern="1200">
                <a:solidFill>
                  <a:schemeClr val="tx1"/>
                </a:solidFill>
                <a:latin typeface="+mn-lt"/>
                <a:ea typeface="+mn-ea"/>
                <a:cs typeface="+mn-cs"/>
              </a:rPr>
              <a:t>_internal()</a:t>
            </a:r>
            <a:r>
              <a:rPr lang="vi-VN"/>
              <a:t> và lưu lại”.</a:t>
            </a:r>
          </a:p>
          <a:p>
            <a:br>
              <a:rPr lang="vi-VN"/>
            </a:br>
            <a:endParaRPr lang="vi-VN"/>
          </a:p>
          <a:p>
            <a:r>
              <a:rPr lang="vi-VN" b="1"/>
              <a:t>3️⃣ Còn </a:t>
            </a:r>
            <a:r>
              <a:rPr lang="vi-VN" sz="1200" b="1" kern="1200">
                <a:solidFill>
                  <a:schemeClr val="tx1"/>
                </a:solidFill>
                <a:latin typeface="+mn-lt"/>
                <a:ea typeface="+mn-ea"/>
                <a:cs typeface="+mn-cs"/>
              </a:rPr>
              <a:t>factory DBHelper()</a:t>
            </a:r>
            <a:r>
              <a:rPr lang="vi-VN" b="1"/>
              <a:t> thì sao?</a:t>
            </a:r>
          </a:p>
          <a:p>
            <a:r>
              <a:rPr lang="vi-VN"/>
              <a:t>Đây là </a:t>
            </a:r>
            <a:r>
              <a:rPr lang="vi-VN" b="1"/>
              <a:t>constructor công khai</a:t>
            </a:r>
            <a:r>
              <a:rPr lang="vi-VN"/>
              <a:t>, dùng cho bên ngoài gọi.</a:t>
            </a:r>
            <a:br>
              <a:rPr lang="vi-VN"/>
            </a:br>
            <a:r>
              <a:rPr lang="vi-VN"/>
              <a:t>Nhưng nó </a:t>
            </a:r>
            <a:r>
              <a:rPr lang="vi-VN" b="1"/>
              <a:t>không tạo mới</a:t>
            </a:r>
            <a:r>
              <a:rPr lang="vi-VN"/>
              <a:t> đối tượng, mà chỉ </a:t>
            </a:r>
            <a:r>
              <a:rPr lang="vi-VN" b="1"/>
              <a:t>trả về </a:t>
            </a:r>
            <a:r>
              <a:rPr lang="vi-VN" sz="1200" b="1" kern="1200">
                <a:solidFill>
                  <a:schemeClr val="tx1"/>
                </a:solidFill>
                <a:latin typeface="+mn-lt"/>
                <a:ea typeface="+mn-ea"/>
                <a:cs typeface="+mn-cs"/>
              </a:rPr>
              <a:t>_instance</a:t>
            </a:r>
            <a:r>
              <a:rPr lang="vi-VN" b="1"/>
              <a:t> đã tồn tại</a:t>
            </a:r>
            <a:r>
              <a:rPr lang="vi-VN"/>
              <a:t>:</a:t>
            </a:r>
          </a:p>
          <a:p>
            <a:pPr rtl="0"/>
            <a:r>
              <a:rPr lang="vi-VN" sz="1200" kern="1200">
                <a:solidFill>
                  <a:schemeClr val="tx1"/>
                </a:solidFill>
                <a:latin typeface="+mn-lt"/>
                <a:ea typeface="+mn-ea"/>
                <a:cs typeface="+mn-cs"/>
              </a:rPr>
              <a:t>factory DBHelper() =&gt; _instance;</a:t>
            </a:r>
          </a:p>
          <a:p>
            <a:r>
              <a:rPr lang="vi-VN"/>
              <a:t>Vì vậy:</a:t>
            </a:r>
          </a:p>
          <a:p>
            <a:pPr rtl="0"/>
            <a:r>
              <a:rPr lang="vi-VN" sz="1200" kern="1200">
                <a:solidFill>
                  <a:schemeClr val="tx1"/>
                </a:solidFill>
                <a:latin typeface="+mn-lt"/>
                <a:ea typeface="+mn-ea"/>
                <a:cs typeface="+mn-cs"/>
              </a:rPr>
              <a:t>var db1 = DBHelper();</a:t>
            </a:r>
          </a:p>
          <a:p>
            <a:pPr rtl="0"/>
            <a:r>
              <a:rPr lang="vi-VN" sz="1200" kern="1200">
                <a:solidFill>
                  <a:schemeClr val="tx1"/>
                </a:solidFill>
                <a:latin typeface="+mn-lt"/>
                <a:ea typeface="+mn-ea"/>
                <a:cs typeface="+mn-cs"/>
              </a:rPr>
              <a:t>var db2 = DBHelper();</a:t>
            </a:r>
          </a:p>
          <a:p>
            <a:pPr rtl="0"/>
            <a:r>
              <a:rPr lang="vi-VN" sz="1200" kern="1200">
                <a:solidFill>
                  <a:schemeClr val="tx1"/>
                </a:solidFill>
                <a:latin typeface="+mn-lt"/>
                <a:ea typeface="+mn-ea"/>
                <a:cs typeface="+mn-cs"/>
              </a:rPr>
              <a:t>print(identical(db1, db2)); // true </a:t>
            </a:r>
            <a:r>
              <a:rPr lang="en-US" sz="1200" kern="1200">
                <a:solidFill>
                  <a:schemeClr val="tx1"/>
                </a:solidFill>
                <a:latin typeface="+mn-lt"/>
                <a:ea typeface="+mn-ea"/>
                <a:cs typeface="+mn-cs"/>
              </a:rPr>
              <a:t>✅ </a:t>
            </a:r>
            <a:r>
              <a:rPr lang="vi-VN" sz="1200" kern="1200">
                <a:solidFill>
                  <a:schemeClr val="tx1"/>
                </a:solidFill>
                <a:latin typeface="+mn-lt"/>
                <a:ea typeface="+mn-ea"/>
                <a:cs typeface="+mn-cs"/>
              </a:rPr>
              <a:t>Cùng một đối tượng</a:t>
            </a:r>
          </a:p>
          <a:p>
            <a:endParaRPr lang="vi-VN"/>
          </a:p>
          <a:p>
            <a:r>
              <a:rPr lang="en-US" b="1"/>
              <a:t>✅ </a:t>
            </a:r>
            <a:r>
              <a:rPr lang="vi-VN" b="1"/>
              <a:t>Tóm lại</a:t>
            </a:r>
          </a:p>
          <a:p>
            <a:r>
              <a:rPr lang="vi-VN"/>
              <a:t>Cấu trúc</a:t>
            </a:r>
            <a:r>
              <a:rPr lang="en-US"/>
              <a:t>			</a:t>
            </a:r>
            <a:r>
              <a:rPr lang="vi-VN"/>
              <a:t>Ý nghĩa</a:t>
            </a:r>
            <a:endParaRPr lang="en-US"/>
          </a:p>
          <a:p>
            <a:r>
              <a:rPr lang="vi-VN" sz="1200" kern="1200">
                <a:solidFill>
                  <a:schemeClr val="tx1"/>
                </a:solidFill>
                <a:latin typeface="+mn-lt"/>
                <a:ea typeface="+mn-ea"/>
                <a:cs typeface="+mn-cs"/>
              </a:rPr>
              <a:t>DBHelper._internal()</a:t>
            </a:r>
            <a:r>
              <a:rPr lang="en-US" sz="1200" kern="1200">
                <a:solidFill>
                  <a:schemeClr val="tx1"/>
                </a:solidFill>
                <a:latin typeface="+mn-lt"/>
                <a:ea typeface="+mn-ea"/>
                <a:cs typeface="+mn-cs"/>
              </a:rPr>
              <a:t>	</a:t>
            </a:r>
            <a:r>
              <a:rPr lang="vi-VN"/>
              <a:t>Constructor riêng, chỉ dùng nội bộ để tạo instance duy nhất</a:t>
            </a:r>
            <a:endParaRPr lang="en-US"/>
          </a:p>
          <a:p>
            <a:r>
              <a:rPr lang="vi-VN" sz="1200" kern="1200">
                <a:solidFill>
                  <a:schemeClr val="tx1"/>
                </a:solidFill>
                <a:latin typeface="+mn-lt"/>
                <a:ea typeface="+mn-ea"/>
                <a:cs typeface="+mn-cs"/>
              </a:rPr>
              <a:t>factory DBHelper()</a:t>
            </a:r>
            <a:r>
              <a:rPr lang="en-US" sz="1200" kern="1200">
                <a:solidFill>
                  <a:schemeClr val="tx1"/>
                </a:solidFill>
                <a:latin typeface="+mn-lt"/>
                <a:ea typeface="+mn-ea"/>
                <a:cs typeface="+mn-cs"/>
              </a:rPr>
              <a:t>	</a:t>
            </a:r>
            <a:r>
              <a:rPr lang="vi-VN"/>
              <a:t>Constructor công khai, trả về instance duy nhất</a:t>
            </a:r>
            <a:endParaRPr lang="en-US"/>
          </a:p>
          <a:p>
            <a:r>
              <a:rPr lang="vi-VN" sz="1200" kern="1200">
                <a:solidFill>
                  <a:schemeClr val="tx1"/>
                </a:solidFill>
                <a:latin typeface="+mn-lt"/>
                <a:ea typeface="+mn-ea"/>
                <a:cs typeface="+mn-cs"/>
              </a:rPr>
              <a:t>_instance</a:t>
            </a:r>
            <a:r>
              <a:rPr lang="en-US" sz="1200" kern="1200">
                <a:solidFill>
                  <a:schemeClr val="tx1"/>
                </a:solidFill>
                <a:latin typeface="+mn-lt"/>
                <a:ea typeface="+mn-ea"/>
                <a:cs typeface="+mn-cs"/>
              </a:rPr>
              <a:t>		</a:t>
            </a:r>
            <a:r>
              <a:rPr lang="vi-VN"/>
              <a:t>Biến tĩnh lưu đối tượng duy nhất của </a:t>
            </a:r>
            <a:r>
              <a:rPr lang="vi-VN" sz="1200" kern="1200">
                <a:solidFill>
                  <a:schemeClr val="tx1"/>
                </a:solidFill>
                <a:latin typeface="+mn-lt"/>
                <a:ea typeface="+mn-ea"/>
                <a:cs typeface="+mn-cs"/>
              </a:rPr>
              <a:t>DBHelper</a:t>
            </a:r>
            <a:endParaRPr lang="en-US" sz="1200" kern="1200">
              <a:solidFill>
                <a:schemeClr val="tx1"/>
              </a:solidFill>
              <a:latin typeface="+mn-lt"/>
              <a:ea typeface="+mn-ea"/>
              <a:cs typeface="+mn-cs"/>
            </a:endParaRPr>
          </a:p>
          <a:p>
            <a:r>
              <a:rPr lang="vi-VN"/>
              <a:t>Kết quả</a:t>
            </a:r>
            <a:r>
              <a:rPr lang="en-US"/>
              <a:t>		</a:t>
            </a:r>
            <a:r>
              <a:rPr lang="vi-VN"/>
              <a:t>Cả ứng dụng chỉ có </a:t>
            </a:r>
            <a:r>
              <a:rPr lang="vi-VN" b="1"/>
              <a:t>1 đối tượng DBHelper</a:t>
            </a:r>
            <a:r>
              <a:rPr lang="vi-VN"/>
              <a:t> và </a:t>
            </a:r>
            <a:r>
              <a:rPr lang="vi-VN" b="1"/>
              <a:t>1 kết nối database</a:t>
            </a:r>
            <a:r>
              <a:rPr lang="vi-VN"/>
              <a:t> duy nhất</a:t>
            </a:r>
          </a:p>
          <a:p>
            <a:r>
              <a:rPr lang="en-US"/>
              <a:t>-------------------------------------------------------------------------------------------------------------------------</a:t>
            </a:r>
          </a:p>
          <a:p>
            <a:pPr>
              <a:buNone/>
            </a:pPr>
            <a:r>
              <a:rPr lang="en-US"/>
              <a:t>T</a:t>
            </a:r>
            <a:r>
              <a:rPr lang="vi-VN"/>
              <a:t>ôi thay _internal() bằng _in() được không</a:t>
            </a:r>
            <a:r>
              <a:rPr lang="en-US"/>
              <a:t>?</a:t>
            </a:r>
            <a:endParaRPr lang="vi-VN"/>
          </a:p>
          <a:p>
            <a:pPr>
              <a:buNone/>
            </a:pPr>
            <a:r>
              <a:rPr lang="en-US" b="1"/>
              <a:t>C</a:t>
            </a:r>
            <a:r>
              <a:rPr lang="vi-VN" b="1"/>
              <a:t>âu trả lời là: được</a:t>
            </a:r>
            <a:r>
              <a:rPr lang="vi-VN"/>
              <a:t>, </a:t>
            </a:r>
            <a:r>
              <a:rPr lang="vi-VN" b="1"/>
              <a:t>về mặt kỹ thuật thì hoàn toàn hợp lệ</a:t>
            </a:r>
            <a:r>
              <a:rPr lang="vi-VN"/>
              <a:t>, nhưng có vài điểm bạn nên hiểu thật rõ trước khi thay nhé </a:t>
            </a:r>
            <a:r>
              <a:rPr lang="en-US"/>
              <a:t>👇</a:t>
            </a:r>
          </a:p>
          <a:p>
            <a:pPr>
              <a:buNone/>
            </a:pPr>
            <a:r>
              <a:rPr lang="en-US" b="1"/>
              <a:t>✅ 1️⃣ </a:t>
            </a:r>
            <a:r>
              <a:rPr lang="vi-VN" b="1"/>
              <a:t>Về cú pháp:</a:t>
            </a:r>
          </a:p>
          <a:p>
            <a:pPr>
              <a:buNone/>
            </a:pPr>
            <a:r>
              <a:rPr lang="vi-VN"/>
              <a:t>Trong Dart, bạn </a:t>
            </a:r>
            <a:r>
              <a:rPr lang="vi-VN" b="1"/>
              <a:t>hoàn toàn có thể đặt tên constructor tùy ý</a:t>
            </a:r>
            <a:r>
              <a:rPr lang="vi-VN"/>
              <a:t>, miễn là:</a:t>
            </a:r>
          </a:p>
          <a:p>
            <a:pPr>
              <a:buFont typeface="Arial" panose="020B0604020202020204" pitchFamily="34" charset="0"/>
              <a:buChar char="•"/>
            </a:pPr>
            <a:r>
              <a:rPr lang="vi-VN"/>
              <a:t>Không trùng với constructor khác.</a:t>
            </a:r>
          </a:p>
          <a:p>
            <a:pPr>
              <a:buFont typeface="Arial" panose="020B0604020202020204" pitchFamily="34" charset="0"/>
              <a:buChar char="•"/>
            </a:pPr>
            <a:r>
              <a:rPr lang="vi-VN"/>
              <a:t>Tuân thủ quy tắc đặt tên hợp lệ (chỉ chứa chữ, số, </a:t>
            </a:r>
            <a:r>
              <a:rPr lang="vi-VN">
                <a:latin typeface="Courier New" panose="02070309020205020404" pitchFamily="49" charset="0"/>
              </a:rPr>
              <a:t>_</a:t>
            </a:r>
            <a:r>
              <a:rPr lang="vi-VN"/>
              <a:t>, và không bắt đầu bằng số).</a:t>
            </a:r>
          </a:p>
          <a:p>
            <a:r>
              <a:rPr lang="en-US"/>
              <a:t>-------------------------------------------------------------------------------------------------------------------------</a:t>
            </a:r>
          </a:p>
          <a:p>
            <a:r>
              <a:rPr lang="en-US" b="1"/>
              <a:t>|??| </a:t>
            </a:r>
            <a:r>
              <a:rPr lang="en-US" b="0"/>
              <a:t>_db ở đây là gì?</a:t>
            </a:r>
            <a:br>
              <a:rPr lang="en-US" b="0"/>
            </a:br>
            <a:r>
              <a:rPr lang="en-US" b="0"/>
              <a:t>=&gt; </a:t>
            </a:r>
          </a:p>
          <a:p>
            <a:r>
              <a:rPr lang="en-US" b="1"/>
              <a:t>🧩 1️⃣ </a:t>
            </a:r>
            <a:r>
              <a:rPr lang="vi-VN" b="1"/>
              <a:t>Vị trí của </a:t>
            </a:r>
            <a:r>
              <a:rPr lang="vi-VN" sz="1200" b="1" kern="1200">
                <a:solidFill>
                  <a:schemeClr val="tx1"/>
                </a:solidFill>
                <a:latin typeface="+mn-lt"/>
                <a:ea typeface="+mn-ea"/>
                <a:cs typeface="+mn-cs"/>
              </a:rPr>
              <a:t>_db</a:t>
            </a:r>
            <a:r>
              <a:rPr lang="vi-VN" b="1"/>
              <a:t> trong code</a:t>
            </a:r>
          </a:p>
          <a:p>
            <a:r>
              <a:rPr lang="vi-VN"/>
              <a:t>Trong lớp </a:t>
            </a:r>
            <a:r>
              <a:rPr lang="vi-VN" sz="1200" kern="1200">
                <a:solidFill>
                  <a:schemeClr val="tx1"/>
                </a:solidFill>
                <a:latin typeface="+mn-lt"/>
                <a:ea typeface="+mn-ea"/>
                <a:cs typeface="+mn-cs"/>
              </a:rPr>
              <a:t>DBHelper</a:t>
            </a:r>
            <a:r>
              <a:rPr lang="vi-VN"/>
              <a:t>, ta có dòng:</a:t>
            </a:r>
          </a:p>
          <a:p>
            <a:pPr rtl="0"/>
            <a:r>
              <a:rPr lang="vi-VN" sz="1200" kern="1200">
                <a:solidFill>
                  <a:schemeClr val="tx1"/>
                </a:solidFill>
                <a:latin typeface="+mn-lt"/>
                <a:ea typeface="+mn-ea"/>
                <a:cs typeface="+mn-cs"/>
              </a:rPr>
              <a:t>static Database? _db;</a:t>
            </a:r>
          </a:p>
          <a:p>
            <a:r>
              <a:rPr lang="vi-VN"/>
              <a:t>Nó là </a:t>
            </a:r>
            <a:r>
              <a:rPr lang="vi-VN" b="1"/>
              <a:t>một biến tĩnh (</a:t>
            </a:r>
            <a:r>
              <a:rPr lang="vi-VN" sz="1200" b="1" kern="1200">
                <a:solidFill>
                  <a:schemeClr val="tx1"/>
                </a:solidFill>
                <a:latin typeface="+mn-lt"/>
                <a:ea typeface="+mn-ea"/>
                <a:cs typeface="+mn-cs"/>
              </a:rPr>
              <a:t>static</a:t>
            </a:r>
            <a:r>
              <a:rPr lang="vi-VN" b="1"/>
              <a:t>)</a:t>
            </a:r>
            <a:r>
              <a:rPr lang="vi-VN"/>
              <a:t> kiểu </a:t>
            </a:r>
            <a:r>
              <a:rPr lang="vi-VN" sz="1200" kern="1200">
                <a:solidFill>
                  <a:schemeClr val="tx1"/>
                </a:solidFill>
                <a:latin typeface="+mn-lt"/>
                <a:ea typeface="+mn-ea"/>
                <a:cs typeface="+mn-cs"/>
              </a:rPr>
              <a:t>Database?</a:t>
            </a:r>
            <a:r>
              <a:rPr lang="vi-VN"/>
              <a:t>, có thể null (</a:t>
            </a:r>
            <a:r>
              <a:rPr lang="vi-VN" sz="1200" kern="1200">
                <a:solidFill>
                  <a:schemeClr val="tx1"/>
                </a:solidFill>
                <a:latin typeface="+mn-lt"/>
                <a:ea typeface="+mn-ea"/>
                <a:cs typeface="+mn-cs"/>
              </a:rPr>
              <a:t>?</a:t>
            </a:r>
            <a:r>
              <a:rPr lang="vi-VN"/>
              <a:t>).</a:t>
            </a:r>
            <a:br>
              <a:rPr lang="vi-VN"/>
            </a:br>
            <a:r>
              <a:rPr lang="vi-VN"/>
              <a:t>Được dùng để lưu </a:t>
            </a:r>
            <a:r>
              <a:rPr lang="vi-VN" b="1"/>
              <a:t>đối tượng kết nối đến cơ sở dữ liệu SQLite</a:t>
            </a:r>
            <a:r>
              <a:rPr lang="vi-VN"/>
              <a:t>.</a:t>
            </a:r>
          </a:p>
          <a:p>
            <a:br>
              <a:rPr lang="vi-VN"/>
            </a:br>
            <a:endParaRPr lang="vi-VN"/>
          </a:p>
          <a:p>
            <a:r>
              <a:rPr lang="en-US" b="1"/>
              <a:t>🧠 2️⃣ </a:t>
            </a:r>
            <a:r>
              <a:rPr lang="vi-VN" b="1"/>
              <a:t>Kiểu dữ liệu </a:t>
            </a:r>
            <a:r>
              <a:rPr lang="vi-VN" sz="1200" b="1" kern="1200">
                <a:solidFill>
                  <a:schemeClr val="tx1"/>
                </a:solidFill>
                <a:latin typeface="+mn-lt"/>
                <a:ea typeface="+mn-ea"/>
                <a:cs typeface="+mn-cs"/>
              </a:rPr>
              <a:t>Database</a:t>
            </a:r>
            <a:endParaRPr lang="vi-VN" b="1"/>
          </a:p>
          <a:p>
            <a:r>
              <a:rPr lang="vi-VN" sz="1200" kern="1200">
                <a:solidFill>
                  <a:schemeClr val="tx1"/>
                </a:solidFill>
                <a:latin typeface="+mn-lt"/>
                <a:ea typeface="+mn-ea"/>
                <a:cs typeface="+mn-cs"/>
              </a:rPr>
              <a:t>Database</a:t>
            </a:r>
            <a:r>
              <a:rPr lang="vi-VN"/>
              <a:t> là </a:t>
            </a:r>
            <a:r>
              <a:rPr lang="vi-VN" b="1"/>
              <a:t>kiểu dữ liệu do thư viện </a:t>
            </a:r>
            <a:r>
              <a:rPr lang="vi-VN" sz="1200" b="1" kern="1200">
                <a:solidFill>
                  <a:schemeClr val="tx1"/>
                </a:solidFill>
                <a:latin typeface="+mn-lt"/>
                <a:ea typeface="+mn-ea"/>
                <a:cs typeface="+mn-cs"/>
              </a:rPr>
              <a:t>sqflite_common_ffi</a:t>
            </a:r>
            <a:r>
              <a:rPr lang="vi-VN"/>
              <a:t> (hoặc </a:t>
            </a:r>
            <a:r>
              <a:rPr lang="vi-VN" sz="1200" kern="1200">
                <a:solidFill>
                  <a:schemeClr val="tx1"/>
                </a:solidFill>
                <a:latin typeface="+mn-lt"/>
                <a:ea typeface="+mn-ea"/>
                <a:cs typeface="+mn-cs"/>
              </a:rPr>
              <a:t>sqflite</a:t>
            </a:r>
            <a:r>
              <a:rPr lang="vi-VN"/>
              <a:t>) cung cấp.</a:t>
            </a:r>
            <a:br>
              <a:rPr lang="vi-VN"/>
            </a:br>
            <a:r>
              <a:rPr lang="vi-VN"/>
              <a:t>Nó đại diện cho:</a:t>
            </a:r>
          </a:p>
          <a:p>
            <a:r>
              <a:rPr lang="vi-VN" b="1"/>
              <a:t>Một kết nối đang mở tới một tệp cơ sở dữ liệu SQLite (.db)</a:t>
            </a:r>
            <a:endParaRPr lang="vi-VN"/>
          </a:p>
          <a:p>
            <a:r>
              <a:rPr lang="vi-VN"/>
              <a:t>Ví dụ:</a:t>
            </a:r>
          </a:p>
          <a:p>
            <a:r>
              <a:rPr lang="vi-VN"/>
              <a:t>Khi bạn mở file </a:t>
            </a:r>
            <a:r>
              <a:rPr lang="vi-VN" sz="1200" kern="1200">
                <a:solidFill>
                  <a:schemeClr val="tx1"/>
                </a:solidFill>
                <a:latin typeface="+mn-lt"/>
                <a:ea typeface="+mn-ea"/>
                <a:cs typeface="+mn-cs"/>
              </a:rPr>
              <a:t>products.db</a:t>
            </a:r>
            <a:r>
              <a:rPr lang="vi-VN"/>
              <a:t>,</a:t>
            </a:r>
          </a:p>
          <a:p>
            <a:r>
              <a:rPr lang="vi-VN"/>
              <a:t>Dart tạo ra một đối tượng </a:t>
            </a:r>
            <a:r>
              <a:rPr lang="vi-VN" sz="1200" kern="1200">
                <a:solidFill>
                  <a:schemeClr val="tx1"/>
                </a:solidFill>
                <a:latin typeface="+mn-lt"/>
                <a:ea typeface="+mn-ea"/>
                <a:cs typeface="+mn-cs"/>
              </a:rPr>
              <a:t>Database</a:t>
            </a:r>
            <a:r>
              <a:rPr lang="vi-VN"/>
              <a:t> để bạn có thể </a:t>
            </a:r>
            <a:r>
              <a:rPr lang="vi-VN" b="1"/>
              <a:t>chạy các lệnh SQL</a:t>
            </a:r>
            <a:r>
              <a:rPr lang="vi-VN"/>
              <a:t> trên đó như:</a:t>
            </a:r>
          </a:p>
          <a:p>
            <a:pPr lvl="1"/>
            <a:r>
              <a:rPr lang="vi-VN" sz="1200" kern="1200">
                <a:solidFill>
                  <a:schemeClr val="tx1"/>
                </a:solidFill>
                <a:latin typeface="+mn-lt"/>
                <a:ea typeface="+mn-ea"/>
                <a:cs typeface="+mn-cs"/>
              </a:rPr>
              <a:t>insert()</a:t>
            </a:r>
            <a:endParaRPr lang="vi-VN"/>
          </a:p>
          <a:p>
            <a:pPr lvl="1"/>
            <a:r>
              <a:rPr lang="vi-VN" sz="1200" kern="1200">
                <a:solidFill>
                  <a:schemeClr val="tx1"/>
                </a:solidFill>
                <a:latin typeface="+mn-lt"/>
                <a:ea typeface="+mn-ea"/>
                <a:cs typeface="+mn-cs"/>
              </a:rPr>
              <a:t>query()</a:t>
            </a:r>
            <a:endParaRPr lang="vi-VN"/>
          </a:p>
          <a:p>
            <a:pPr lvl="1"/>
            <a:r>
              <a:rPr lang="vi-VN" sz="1200" kern="1200">
                <a:solidFill>
                  <a:schemeClr val="tx1"/>
                </a:solidFill>
                <a:latin typeface="+mn-lt"/>
                <a:ea typeface="+mn-ea"/>
                <a:cs typeface="+mn-cs"/>
              </a:rPr>
              <a:t>update()</a:t>
            </a:r>
            <a:endParaRPr lang="vi-VN"/>
          </a:p>
          <a:p>
            <a:pPr lvl="1"/>
            <a:r>
              <a:rPr lang="vi-VN" sz="1200" kern="1200">
                <a:solidFill>
                  <a:schemeClr val="tx1"/>
                </a:solidFill>
                <a:latin typeface="+mn-lt"/>
                <a:ea typeface="+mn-ea"/>
                <a:cs typeface="+mn-cs"/>
              </a:rPr>
              <a:t>delete()</a:t>
            </a:r>
            <a:endParaRPr lang="vi-VN"/>
          </a:p>
          <a:p>
            <a:pPr lvl="1"/>
            <a:r>
              <a:rPr lang="vi-VN" sz="1200" kern="1200">
                <a:solidFill>
                  <a:schemeClr val="tx1"/>
                </a:solidFill>
                <a:latin typeface="+mn-lt"/>
                <a:ea typeface="+mn-ea"/>
                <a:cs typeface="+mn-cs"/>
              </a:rPr>
              <a:t>execute()</a:t>
            </a:r>
            <a:r>
              <a:rPr lang="vi-VN"/>
              <a:t> (cho SQL tùy chỉnh)</a:t>
            </a:r>
          </a:p>
          <a:p>
            <a:br>
              <a:rPr lang="vi-VN"/>
            </a:br>
            <a:endParaRPr lang="vi-VN"/>
          </a:p>
          <a:p>
            <a:r>
              <a:rPr lang="vi-VN" b="1"/>
              <a:t>⚙️ 3️⃣ Cách </a:t>
            </a:r>
            <a:r>
              <a:rPr lang="vi-VN" sz="1200" b="1" kern="1200">
                <a:solidFill>
                  <a:schemeClr val="tx1"/>
                </a:solidFill>
                <a:latin typeface="+mn-lt"/>
                <a:ea typeface="+mn-ea"/>
                <a:cs typeface="+mn-cs"/>
              </a:rPr>
              <a:t>_db</a:t>
            </a:r>
            <a:r>
              <a:rPr lang="vi-VN" b="1"/>
              <a:t> được khởi tạo</a:t>
            </a:r>
          </a:p>
          <a:p>
            <a:r>
              <a:rPr lang="vi-VN"/>
              <a:t>Nhìn vào phần code này trong </a:t>
            </a:r>
            <a:r>
              <a:rPr lang="vi-VN" sz="1200" kern="1200">
                <a:solidFill>
                  <a:schemeClr val="tx1"/>
                </a:solidFill>
                <a:latin typeface="+mn-lt"/>
                <a:ea typeface="+mn-ea"/>
                <a:cs typeface="+mn-cs"/>
              </a:rPr>
              <a:t>DBHelper</a:t>
            </a:r>
            <a:r>
              <a:rPr lang="vi-VN"/>
              <a:t>:</a:t>
            </a:r>
          </a:p>
          <a:p>
            <a:pPr rtl="0"/>
            <a:r>
              <a:rPr lang="vi-VN" sz="1200" kern="1200">
                <a:solidFill>
                  <a:schemeClr val="tx1"/>
                </a:solidFill>
                <a:latin typeface="+mn-lt"/>
                <a:ea typeface="+mn-ea"/>
                <a:cs typeface="+mn-cs"/>
              </a:rPr>
              <a:t>Future&lt;Database&gt; get database async {</a:t>
            </a:r>
          </a:p>
          <a:p>
            <a:pPr rtl="0"/>
            <a:r>
              <a:rPr lang="vi-VN" sz="1200" kern="1200">
                <a:solidFill>
                  <a:schemeClr val="tx1"/>
                </a:solidFill>
                <a:latin typeface="+mn-lt"/>
                <a:ea typeface="+mn-ea"/>
                <a:cs typeface="+mn-cs"/>
              </a:rPr>
              <a:t>  _db ??= await _initDb();</a:t>
            </a:r>
          </a:p>
          <a:p>
            <a:pPr rtl="0"/>
            <a:r>
              <a:rPr lang="vi-VN" sz="1200" kern="1200">
                <a:solidFill>
                  <a:schemeClr val="tx1"/>
                </a:solidFill>
                <a:latin typeface="+mn-lt"/>
                <a:ea typeface="+mn-ea"/>
                <a:cs typeface="+mn-cs"/>
              </a:rPr>
              <a:t>  return _db!;</a:t>
            </a:r>
          </a:p>
          <a:p>
            <a:pPr rtl="0"/>
            <a:r>
              <a:rPr lang="vi-VN" sz="1200" kern="1200">
                <a:solidFill>
                  <a:schemeClr val="tx1"/>
                </a:solidFill>
                <a:latin typeface="+mn-lt"/>
                <a:ea typeface="+mn-ea"/>
                <a:cs typeface="+mn-cs"/>
              </a:rPr>
              <a:t>}</a:t>
            </a:r>
          </a:p>
          <a:p>
            <a:r>
              <a:rPr lang="vi-VN"/>
              <a:t>và trong </a:t>
            </a:r>
            <a:r>
              <a:rPr lang="vi-VN" sz="1200" kern="1200">
                <a:solidFill>
                  <a:schemeClr val="tx1"/>
                </a:solidFill>
                <a:latin typeface="+mn-lt"/>
                <a:ea typeface="+mn-ea"/>
                <a:cs typeface="+mn-cs"/>
              </a:rPr>
              <a:t>_initDb()</a:t>
            </a:r>
            <a:r>
              <a:rPr lang="vi-VN"/>
              <a:t>:</a:t>
            </a:r>
          </a:p>
          <a:p>
            <a:pPr rtl="0"/>
            <a:r>
              <a:rPr lang="vi-VN" sz="1200" kern="1200">
                <a:solidFill>
                  <a:schemeClr val="tx1"/>
                </a:solidFill>
                <a:latin typeface="+mn-lt"/>
                <a:ea typeface="+mn-ea"/>
                <a:cs typeface="+mn-cs"/>
              </a:rPr>
              <a:t>_db ??= await databaseFactory.openDatabase(</a:t>
            </a:r>
          </a:p>
          <a:p>
            <a:pPr rtl="0"/>
            <a:r>
              <a:rPr lang="vi-VN" sz="1200" kern="1200">
                <a:solidFill>
                  <a:schemeClr val="tx1"/>
                </a:solidFill>
                <a:latin typeface="+mn-lt"/>
                <a:ea typeface="+mn-ea"/>
                <a:cs typeface="+mn-cs"/>
              </a:rPr>
              <a:t>  path,</a:t>
            </a:r>
          </a:p>
          <a:p>
            <a:pPr rtl="0"/>
            <a:r>
              <a:rPr lang="vi-VN" sz="1200" kern="1200">
                <a:solidFill>
                  <a:schemeClr val="tx1"/>
                </a:solidFill>
                <a:latin typeface="+mn-lt"/>
                <a:ea typeface="+mn-ea"/>
                <a:cs typeface="+mn-cs"/>
              </a:rPr>
              <a:t>  options: OpenDatabaseOptions(</a:t>
            </a:r>
          </a:p>
          <a:p>
            <a:pPr rtl="0"/>
            <a:r>
              <a:rPr lang="vi-VN" sz="1200" kern="1200">
                <a:solidFill>
                  <a:schemeClr val="tx1"/>
                </a:solidFill>
                <a:latin typeface="+mn-lt"/>
                <a:ea typeface="+mn-ea"/>
                <a:cs typeface="+mn-cs"/>
              </a:rPr>
              <a:t>    version: 1,</a:t>
            </a:r>
          </a:p>
          <a:p>
            <a:pPr rtl="0"/>
            <a:r>
              <a:rPr lang="vi-VN" sz="1200" kern="1200">
                <a:solidFill>
                  <a:schemeClr val="tx1"/>
                </a:solidFill>
                <a:latin typeface="+mn-lt"/>
                <a:ea typeface="+mn-ea"/>
                <a:cs typeface="+mn-cs"/>
              </a:rPr>
              <a:t>    onCreate: (db, version) async {</a:t>
            </a:r>
          </a:p>
          <a:p>
            <a:pPr rtl="0"/>
            <a:r>
              <a:rPr lang="vi-VN" sz="1200" kern="1200">
                <a:solidFill>
                  <a:schemeClr val="tx1"/>
                </a:solidFill>
                <a:latin typeface="+mn-lt"/>
                <a:ea typeface="+mn-ea"/>
                <a:cs typeface="+mn-cs"/>
              </a:rPr>
              <a:t>      await db.execute('CREATE TABLE products (...)');</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a:t>
            </a:r>
          </a:p>
          <a:p>
            <a:r>
              <a:rPr lang="vi-VN"/>
              <a:t>➡️ Khi lần đầu tiên bạn gọi </a:t>
            </a:r>
            <a:r>
              <a:rPr lang="vi-VN" sz="1200" kern="1200">
                <a:solidFill>
                  <a:schemeClr val="tx1"/>
                </a:solidFill>
                <a:latin typeface="+mn-lt"/>
                <a:ea typeface="+mn-ea"/>
                <a:cs typeface="+mn-cs"/>
              </a:rPr>
              <a:t>DBHelper().database</a:t>
            </a:r>
            <a:r>
              <a:rPr lang="vi-VN"/>
              <a:t>,</a:t>
            </a:r>
            <a:br>
              <a:rPr lang="vi-VN"/>
            </a:br>
            <a:r>
              <a:rPr lang="vi-VN"/>
              <a:t>nếu </a:t>
            </a:r>
            <a:r>
              <a:rPr lang="vi-VN" sz="1200" kern="1200">
                <a:solidFill>
                  <a:schemeClr val="tx1"/>
                </a:solidFill>
                <a:latin typeface="+mn-lt"/>
                <a:ea typeface="+mn-ea"/>
                <a:cs typeface="+mn-cs"/>
              </a:rPr>
              <a:t>_db</a:t>
            </a:r>
            <a:r>
              <a:rPr lang="vi-VN"/>
              <a:t> </a:t>
            </a:r>
            <a:r>
              <a:rPr lang="vi-VN" b="1"/>
              <a:t>chưa được khởi tạo (null)</a:t>
            </a:r>
            <a:r>
              <a:rPr lang="vi-VN"/>
              <a:t>, chương trình sẽ:</a:t>
            </a:r>
          </a:p>
          <a:p>
            <a:r>
              <a:rPr lang="vi-VN"/>
              <a:t>Gọi </a:t>
            </a:r>
            <a:r>
              <a:rPr lang="vi-VN" sz="1200" kern="1200">
                <a:solidFill>
                  <a:schemeClr val="tx1"/>
                </a:solidFill>
                <a:latin typeface="+mn-lt"/>
                <a:ea typeface="+mn-ea"/>
                <a:cs typeface="+mn-cs"/>
              </a:rPr>
              <a:t>_initDb()</a:t>
            </a:r>
            <a:endParaRPr lang="vi-VN"/>
          </a:p>
          <a:p>
            <a:r>
              <a:rPr lang="vi-VN"/>
              <a:t>Mở (hoặc tạo mới) file </a:t>
            </a:r>
            <a:r>
              <a:rPr lang="vi-VN" sz="1200" kern="1200">
                <a:solidFill>
                  <a:schemeClr val="tx1"/>
                </a:solidFill>
                <a:latin typeface="+mn-lt"/>
                <a:ea typeface="+mn-ea"/>
                <a:cs typeface="+mn-cs"/>
              </a:rPr>
              <a:t>products.db</a:t>
            </a:r>
            <a:endParaRPr lang="vi-VN"/>
          </a:p>
          <a:p>
            <a:r>
              <a:rPr lang="vi-VN"/>
              <a:t>Nhận về một đối tượng </a:t>
            </a:r>
            <a:r>
              <a:rPr lang="vi-VN" sz="1200" kern="1200">
                <a:solidFill>
                  <a:schemeClr val="tx1"/>
                </a:solidFill>
                <a:latin typeface="+mn-lt"/>
                <a:ea typeface="+mn-ea"/>
                <a:cs typeface="+mn-cs"/>
              </a:rPr>
              <a:t>Database</a:t>
            </a:r>
            <a:r>
              <a:rPr lang="vi-VN"/>
              <a:t> (chính là </a:t>
            </a:r>
            <a:r>
              <a:rPr lang="vi-VN" b="1"/>
              <a:t>kết nối SQLite</a:t>
            </a:r>
            <a:r>
              <a:rPr lang="vi-VN"/>
              <a:t>)</a:t>
            </a:r>
          </a:p>
          <a:p>
            <a:r>
              <a:rPr lang="vi-VN"/>
              <a:t>Gán vào </a:t>
            </a:r>
            <a:r>
              <a:rPr lang="vi-VN" sz="1200" kern="1200">
                <a:solidFill>
                  <a:schemeClr val="tx1"/>
                </a:solidFill>
                <a:latin typeface="+mn-lt"/>
                <a:ea typeface="+mn-ea"/>
                <a:cs typeface="+mn-cs"/>
              </a:rPr>
              <a:t>_db</a:t>
            </a:r>
            <a:endParaRPr lang="vi-VN"/>
          </a:p>
          <a:p>
            <a:r>
              <a:rPr lang="vi-VN"/>
              <a:t>Lần sau khi bạn gọi lại </a:t>
            </a:r>
            <a:r>
              <a:rPr lang="vi-VN" sz="1200" kern="1200">
                <a:solidFill>
                  <a:schemeClr val="tx1"/>
                </a:solidFill>
                <a:latin typeface="+mn-lt"/>
                <a:ea typeface="+mn-ea"/>
                <a:cs typeface="+mn-cs"/>
              </a:rPr>
              <a:t>DBHelper().database</a:t>
            </a:r>
            <a:r>
              <a:rPr lang="vi-VN"/>
              <a:t>,</a:t>
            </a:r>
            <a:br>
              <a:rPr lang="vi-VN"/>
            </a:br>
            <a:r>
              <a:rPr lang="vi-VN"/>
              <a:t>vì </a:t>
            </a:r>
            <a:r>
              <a:rPr lang="vi-VN" sz="1200" kern="1200">
                <a:solidFill>
                  <a:schemeClr val="tx1"/>
                </a:solidFill>
                <a:latin typeface="+mn-lt"/>
                <a:ea typeface="+mn-ea"/>
                <a:cs typeface="+mn-cs"/>
              </a:rPr>
              <a:t>_db</a:t>
            </a:r>
            <a:r>
              <a:rPr lang="vi-VN"/>
              <a:t> </a:t>
            </a:r>
            <a:r>
              <a:rPr lang="vi-VN" b="1"/>
              <a:t>đã có rồi</a:t>
            </a:r>
            <a:r>
              <a:rPr lang="vi-VN"/>
              <a:t>, nó </a:t>
            </a:r>
            <a:r>
              <a:rPr lang="vi-VN" b="1"/>
              <a:t>không khởi tạo lại nữa</a:t>
            </a:r>
            <a:r>
              <a:rPr lang="vi-VN"/>
              <a:t>, mà </a:t>
            </a:r>
            <a:r>
              <a:rPr lang="vi-VN" b="1"/>
              <a:t>dùng luôn kết nối cũ</a:t>
            </a:r>
            <a:r>
              <a:rPr lang="vi-VN"/>
              <a:t> </a:t>
            </a:r>
            <a:r>
              <a:rPr lang="en-US"/>
              <a:t>✅</a:t>
            </a:r>
            <a:br>
              <a:rPr lang="en-US"/>
            </a:br>
            <a:endParaRPr lang="en-US"/>
          </a:p>
          <a:p>
            <a:r>
              <a:rPr lang="en-US" b="1"/>
              <a:t>🔁 4️⃣ </a:t>
            </a:r>
            <a:r>
              <a:rPr lang="vi-VN" b="1"/>
              <a:t>Tại sao </a:t>
            </a:r>
            <a:r>
              <a:rPr lang="vi-VN" sz="1200" b="1" kern="1200">
                <a:solidFill>
                  <a:schemeClr val="tx1"/>
                </a:solidFill>
                <a:latin typeface="+mn-lt"/>
                <a:ea typeface="+mn-ea"/>
                <a:cs typeface="+mn-cs"/>
              </a:rPr>
              <a:t>_db</a:t>
            </a:r>
            <a:r>
              <a:rPr lang="vi-VN" b="1"/>
              <a:t> phải là </a:t>
            </a:r>
            <a:r>
              <a:rPr lang="vi-VN" sz="1200" b="1" kern="1200">
                <a:solidFill>
                  <a:schemeClr val="tx1"/>
                </a:solidFill>
                <a:latin typeface="+mn-lt"/>
                <a:ea typeface="+mn-ea"/>
                <a:cs typeface="+mn-cs"/>
              </a:rPr>
              <a:t>static</a:t>
            </a:r>
            <a:r>
              <a:rPr lang="vi-VN" b="1"/>
              <a:t>?</a:t>
            </a:r>
          </a:p>
          <a:p>
            <a:r>
              <a:rPr lang="vi-VN"/>
              <a:t>Vì </a:t>
            </a:r>
            <a:r>
              <a:rPr lang="vi-VN" sz="1200" kern="1200">
                <a:solidFill>
                  <a:schemeClr val="tx1"/>
                </a:solidFill>
                <a:latin typeface="+mn-lt"/>
                <a:ea typeface="+mn-ea"/>
                <a:cs typeface="+mn-cs"/>
              </a:rPr>
              <a:t>DBHelper</a:t>
            </a:r>
            <a:r>
              <a:rPr lang="vi-VN"/>
              <a:t> dùng </a:t>
            </a:r>
            <a:r>
              <a:rPr lang="vi-VN" b="1"/>
              <a:t>Singleton pattern</a:t>
            </a:r>
            <a:r>
              <a:rPr lang="vi-VN"/>
              <a:t> → chỉ muốn </a:t>
            </a:r>
            <a:r>
              <a:rPr lang="vi-VN" b="1"/>
              <a:t>một kết nối duy nhất cho toàn ứng dụng</a:t>
            </a:r>
            <a:r>
              <a:rPr lang="vi-VN"/>
              <a:t>.</a:t>
            </a:r>
          </a:p>
          <a:p>
            <a:r>
              <a:rPr lang="vi-VN"/>
              <a:t>Nếu </a:t>
            </a:r>
            <a:r>
              <a:rPr lang="vi-VN" sz="1200" kern="1200">
                <a:solidFill>
                  <a:schemeClr val="tx1"/>
                </a:solidFill>
                <a:latin typeface="+mn-lt"/>
                <a:ea typeface="+mn-ea"/>
                <a:cs typeface="+mn-cs"/>
              </a:rPr>
              <a:t>_db</a:t>
            </a:r>
            <a:r>
              <a:rPr lang="vi-VN"/>
              <a:t> không phải </a:t>
            </a:r>
            <a:r>
              <a:rPr lang="vi-VN" sz="1200" kern="1200">
                <a:solidFill>
                  <a:schemeClr val="tx1"/>
                </a:solidFill>
                <a:latin typeface="+mn-lt"/>
                <a:ea typeface="+mn-ea"/>
                <a:cs typeface="+mn-cs"/>
              </a:rPr>
              <a:t>static</a:t>
            </a:r>
            <a:r>
              <a:rPr lang="vi-VN"/>
              <a:t>, mỗi khi bạn tạo một </a:t>
            </a:r>
            <a:r>
              <a:rPr lang="vi-VN" sz="1200" kern="1200">
                <a:solidFill>
                  <a:schemeClr val="tx1"/>
                </a:solidFill>
                <a:latin typeface="+mn-lt"/>
                <a:ea typeface="+mn-ea"/>
                <a:cs typeface="+mn-cs"/>
              </a:rPr>
              <a:t>DBHelper</a:t>
            </a:r>
            <a:r>
              <a:rPr lang="vi-VN"/>
              <a:t> mới, nó lại mở một kết nối SQLite mới → gây lỗi </a:t>
            </a:r>
            <a:r>
              <a:rPr lang="vi-VN" i="1"/>
              <a:t>"Database already open"</a:t>
            </a:r>
            <a:r>
              <a:rPr lang="vi-VN"/>
              <a:t> hoặc </a:t>
            </a:r>
            <a:r>
              <a:rPr lang="vi-VN" i="1"/>
              <a:t>"database is locked"</a:t>
            </a:r>
            <a:r>
              <a:rPr lang="vi-VN"/>
              <a:t>.</a:t>
            </a:r>
          </a:p>
          <a:p>
            <a:r>
              <a:rPr lang="en-US"/>
              <a:t>🧠 </a:t>
            </a:r>
            <a:r>
              <a:rPr lang="vi-VN" sz="1200" kern="1200">
                <a:solidFill>
                  <a:schemeClr val="tx1"/>
                </a:solidFill>
                <a:latin typeface="+mn-lt"/>
                <a:ea typeface="+mn-ea"/>
                <a:cs typeface="+mn-cs"/>
              </a:rPr>
              <a:t>static</a:t>
            </a:r>
            <a:r>
              <a:rPr lang="vi-VN"/>
              <a:t> nghĩa là biến này thuộc </a:t>
            </a:r>
            <a:r>
              <a:rPr lang="vi-VN" b="1"/>
              <a:t>toàn lớp</a:t>
            </a:r>
            <a:r>
              <a:rPr lang="vi-VN"/>
              <a:t>, không thuộc riêng một đối tượng.</a:t>
            </a:r>
            <a:br>
              <a:rPr lang="vi-VN"/>
            </a:br>
            <a:endParaRPr lang="vi-VN"/>
          </a:p>
          <a:p>
            <a:r>
              <a:rPr lang="en-US" b="1"/>
              <a:t>🧱 5️⃣ </a:t>
            </a:r>
            <a:r>
              <a:rPr lang="vi-VN" b="1"/>
              <a:t>Tóm tắt vai trò của </a:t>
            </a:r>
            <a:r>
              <a:rPr lang="vi-VN" sz="1200" b="1" kern="1200">
                <a:solidFill>
                  <a:schemeClr val="tx1"/>
                </a:solidFill>
                <a:latin typeface="+mn-lt"/>
                <a:ea typeface="+mn-ea"/>
                <a:cs typeface="+mn-cs"/>
              </a:rPr>
              <a:t>_db</a:t>
            </a:r>
            <a:endParaRPr lang="vi-VN" b="1"/>
          </a:p>
          <a:p>
            <a:r>
              <a:rPr lang="vi-VN"/>
              <a:t>Thuộc tính</a:t>
            </a:r>
            <a:r>
              <a:rPr lang="en-US"/>
              <a:t>			</a:t>
            </a:r>
            <a:r>
              <a:rPr lang="vi-VN"/>
              <a:t>Ý nghĩa</a:t>
            </a:r>
            <a:endParaRPr lang="en-US"/>
          </a:p>
          <a:p>
            <a:r>
              <a:rPr lang="vi-VN" b="1"/>
              <a:t>Kiểu</a:t>
            </a:r>
            <a:r>
              <a:rPr lang="vi-VN" sz="1200" kern="1200">
                <a:solidFill>
                  <a:schemeClr val="tx1"/>
                </a:solidFill>
                <a:latin typeface="+mn-lt"/>
                <a:ea typeface="+mn-ea"/>
                <a:cs typeface="+mn-cs"/>
              </a:rPr>
              <a:t>Database?</a:t>
            </a:r>
            <a:r>
              <a:rPr lang="vi-VN"/>
              <a:t> </a:t>
            </a:r>
            <a:r>
              <a:rPr lang="en-US"/>
              <a:t>	</a:t>
            </a:r>
            <a:r>
              <a:rPr lang="vi-VN"/>
              <a:t>— đại diện cho kết nối SQLite</a:t>
            </a:r>
            <a:endParaRPr lang="en-US"/>
          </a:p>
          <a:p>
            <a:r>
              <a:rPr lang="vi-VN" b="1"/>
              <a:t>Tĩnh (static)</a:t>
            </a:r>
            <a:r>
              <a:rPr lang="en-US" b="1"/>
              <a:t>		</a:t>
            </a:r>
            <a:r>
              <a:rPr lang="vi-VN"/>
              <a:t>Dùng chung cho mọi nơi trong app</a:t>
            </a:r>
            <a:endParaRPr lang="en-US"/>
          </a:p>
          <a:p>
            <a:r>
              <a:rPr lang="vi-VN" b="1"/>
              <a:t>Nullable</a:t>
            </a:r>
            <a:r>
              <a:rPr lang="en-US" b="1"/>
              <a:t>		</a:t>
            </a:r>
            <a:r>
              <a:rPr lang="vi-VN"/>
              <a:t>Ban đầu là </a:t>
            </a:r>
            <a:r>
              <a:rPr lang="vi-VN" sz="1200" kern="1200">
                <a:solidFill>
                  <a:schemeClr val="tx1"/>
                </a:solidFill>
                <a:latin typeface="+mn-lt"/>
                <a:ea typeface="+mn-ea"/>
                <a:cs typeface="+mn-cs"/>
              </a:rPr>
              <a:t>null</a:t>
            </a:r>
            <a:r>
              <a:rPr lang="vi-VN"/>
              <a:t>, chỉ được gán khi </a:t>
            </a:r>
            <a:r>
              <a:rPr lang="vi-VN" sz="1200" kern="1200">
                <a:solidFill>
                  <a:schemeClr val="tx1"/>
                </a:solidFill>
                <a:latin typeface="+mn-lt"/>
                <a:ea typeface="+mn-ea"/>
                <a:cs typeface="+mn-cs"/>
              </a:rPr>
              <a:t>_initDb()</a:t>
            </a:r>
            <a:r>
              <a:rPr lang="vi-VN"/>
              <a:t> chạy</a:t>
            </a:r>
            <a:endParaRPr lang="en-US"/>
          </a:p>
          <a:p>
            <a:r>
              <a:rPr lang="vi-VN" b="1"/>
              <a:t>Mục đích</a:t>
            </a:r>
            <a:r>
              <a:rPr lang="en-US" b="1"/>
              <a:t>		</a:t>
            </a:r>
            <a:r>
              <a:rPr lang="vi-VN"/>
              <a:t>Giữ kết nối tới file </a:t>
            </a:r>
            <a:r>
              <a:rPr lang="vi-VN" sz="1200" kern="1200">
                <a:solidFill>
                  <a:schemeClr val="tx1"/>
                </a:solidFill>
                <a:latin typeface="+mn-lt"/>
                <a:ea typeface="+mn-ea"/>
                <a:cs typeface="+mn-cs"/>
              </a:rPr>
              <a:t>products.db</a:t>
            </a:r>
            <a:endParaRPr lang="en-US" sz="1200" kern="1200">
              <a:solidFill>
                <a:schemeClr val="tx1"/>
              </a:solidFill>
              <a:latin typeface="+mn-lt"/>
              <a:ea typeface="+mn-ea"/>
              <a:cs typeface="+mn-cs"/>
            </a:endParaRPr>
          </a:p>
          <a:p>
            <a:r>
              <a:rPr lang="vi-VN" b="1"/>
              <a:t>Được khởi tạo bởi</a:t>
            </a:r>
            <a:r>
              <a:rPr lang="en-US" b="1"/>
              <a:t>	</a:t>
            </a:r>
            <a:r>
              <a:rPr lang="vi-VN"/>
              <a:t>Hàm </a:t>
            </a:r>
            <a:r>
              <a:rPr lang="vi-VN" sz="1200" kern="1200">
                <a:solidFill>
                  <a:schemeClr val="tx1"/>
                </a:solidFill>
                <a:latin typeface="+mn-lt"/>
                <a:ea typeface="+mn-ea"/>
                <a:cs typeface="+mn-cs"/>
              </a:rPr>
              <a:t>_initDb()</a:t>
            </a:r>
            <a:endParaRPr lang="en-US" sz="1200" kern="1200">
              <a:solidFill>
                <a:schemeClr val="tx1"/>
              </a:solidFill>
              <a:latin typeface="+mn-lt"/>
              <a:ea typeface="+mn-ea"/>
              <a:cs typeface="+mn-cs"/>
            </a:endParaRPr>
          </a:p>
          <a:p>
            <a:r>
              <a:rPr lang="vi-VN" b="1"/>
              <a:t>Được sử dụng bởi</a:t>
            </a:r>
            <a:r>
              <a:rPr lang="en-US" b="1"/>
              <a:t>	</a:t>
            </a:r>
            <a:r>
              <a:rPr lang="vi-VN"/>
              <a:t>Tất cả hàm CRUD (</a:t>
            </a:r>
            <a:r>
              <a:rPr lang="vi-VN" sz="1200" kern="1200">
                <a:solidFill>
                  <a:schemeClr val="tx1"/>
                </a:solidFill>
                <a:latin typeface="+mn-lt"/>
                <a:ea typeface="+mn-ea"/>
                <a:cs typeface="+mn-cs"/>
              </a:rPr>
              <a:t>insertProduct</a:t>
            </a:r>
            <a:r>
              <a:rPr lang="vi-VN"/>
              <a:t>, </a:t>
            </a:r>
            <a:r>
              <a:rPr lang="vi-VN" sz="1200" kern="1200">
                <a:solidFill>
                  <a:schemeClr val="tx1"/>
                </a:solidFill>
                <a:latin typeface="+mn-lt"/>
                <a:ea typeface="+mn-ea"/>
                <a:cs typeface="+mn-cs"/>
              </a:rPr>
              <a:t>getAllProducts</a:t>
            </a:r>
            <a:r>
              <a:rPr lang="vi-VN"/>
              <a:t>, </a:t>
            </a:r>
            <a:r>
              <a:rPr lang="vi-VN" sz="1200" kern="1200">
                <a:solidFill>
                  <a:schemeClr val="tx1"/>
                </a:solidFill>
                <a:latin typeface="+mn-lt"/>
                <a:ea typeface="+mn-ea"/>
                <a:cs typeface="+mn-cs"/>
              </a:rPr>
              <a:t>updateProduct</a:t>
            </a:r>
            <a:r>
              <a:rPr lang="vi-VN"/>
              <a:t>, </a:t>
            </a:r>
            <a:r>
              <a:rPr lang="vi-VN" sz="1200" kern="1200">
                <a:solidFill>
                  <a:schemeClr val="tx1"/>
                </a:solidFill>
                <a:latin typeface="+mn-lt"/>
                <a:ea typeface="+mn-ea"/>
                <a:cs typeface="+mn-cs"/>
              </a:rPr>
              <a:t>deleteProduct</a:t>
            </a:r>
            <a:r>
              <a:rPr lang="vi-VN"/>
              <a:t>)</a:t>
            </a:r>
          </a:p>
          <a:p>
            <a:endParaRPr lang="vi-VN"/>
          </a:p>
          <a:p>
            <a:r>
              <a:rPr lang="vi-VN"/>
              <a:t>Ví dụ minh họa ngắn:</a:t>
            </a:r>
          </a:p>
          <a:p>
            <a:pPr rtl="0"/>
            <a:r>
              <a:rPr lang="vi-VN" sz="1200" kern="1200">
                <a:solidFill>
                  <a:schemeClr val="tx1"/>
                </a:solidFill>
                <a:latin typeface="+mn-lt"/>
                <a:ea typeface="+mn-ea"/>
                <a:cs typeface="+mn-cs"/>
              </a:rPr>
              <a:t>final db1 = await DBHelper().database;</a:t>
            </a:r>
          </a:p>
          <a:p>
            <a:pPr rtl="0"/>
            <a:r>
              <a:rPr lang="vi-VN" sz="1200" kern="1200">
                <a:solidFill>
                  <a:schemeClr val="tx1"/>
                </a:solidFill>
                <a:latin typeface="+mn-lt"/>
                <a:ea typeface="+mn-ea"/>
                <a:cs typeface="+mn-cs"/>
              </a:rPr>
              <a:t>final db2 = await DBHelper().database;</a:t>
            </a:r>
          </a:p>
          <a:p>
            <a:pPr rtl="0"/>
            <a:endParaRPr lang="vi-VN" sz="1200" kern="1200">
              <a:solidFill>
                <a:schemeClr val="tx1"/>
              </a:solidFill>
              <a:latin typeface="+mn-lt"/>
              <a:ea typeface="+mn-ea"/>
              <a:cs typeface="+mn-cs"/>
            </a:endParaRPr>
          </a:p>
          <a:p>
            <a:pPr rtl="0"/>
            <a:r>
              <a:rPr lang="vi-VN" sz="1200" kern="1200">
                <a:solidFill>
                  <a:schemeClr val="tx1"/>
                </a:solidFill>
                <a:latin typeface="+mn-lt"/>
                <a:ea typeface="+mn-ea"/>
                <a:cs typeface="+mn-cs"/>
              </a:rPr>
              <a:t>print(identical(db1, db2)); // true </a:t>
            </a:r>
            <a:r>
              <a:rPr lang="en-US" sz="1200" kern="1200">
                <a:solidFill>
                  <a:schemeClr val="tx1"/>
                </a:solidFill>
                <a:latin typeface="+mn-lt"/>
                <a:ea typeface="+mn-ea"/>
                <a:cs typeface="+mn-cs"/>
              </a:rPr>
              <a:t>✅ </a:t>
            </a:r>
            <a:r>
              <a:rPr lang="vi-VN" sz="1200" kern="1200">
                <a:solidFill>
                  <a:schemeClr val="tx1"/>
                </a:solidFill>
                <a:latin typeface="+mn-lt"/>
                <a:ea typeface="+mn-ea"/>
                <a:cs typeface="+mn-cs"/>
              </a:rPr>
              <a:t>cùng một kết nối</a:t>
            </a:r>
            <a:endParaRPr lang="vi-VN"/>
          </a:p>
          <a:p>
            <a:r>
              <a:rPr lang="en-US" b="1"/>
              <a:t>📘 </a:t>
            </a:r>
            <a:r>
              <a:rPr lang="vi-VN" b="1"/>
              <a:t>Kết luận:</a:t>
            </a:r>
          </a:p>
          <a:p>
            <a:r>
              <a:rPr lang="vi-VN" sz="1200" kern="1200">
                <a:solidFill>
                  <a:schemeClr val="tx1"/>
                </a:solidFill>
                <a:latin typeface="+mn-lt"/>
                <a:ea typeface="+mn-ea"/>
                <a:cs typeface="+mn-cs"/>
              </a:rPr>
              <a:t>_db</a:t>
            </a:r>
            <a:r>
              <a:rPr lang="vi-VN"/>
              <a:t> là </a:t>
            </a:r>
            <a:r>
              <a:rPr lang="vi-VN" b="1"/>
              <a:t>biến tĩnh lưu kết nối SQLite duy nhất</a:t>
            </a:r>
            <a:r>
              <a:rPr lang="vi-VN"/>
              <a:t> của ứng dụng.</a:t>
            </a:r>
            <a:br>
              <a:rPr lang="vi-VN"/>
            </a:br>
            <a:r>
              <a:rPr lang="vi-VN"/>
              <a:t>Nó giúp bạn thao tác dữ liệu (</a:t>
            </a:r>
            <a:r>
              <a:rPr lang="vi-VN" sz="1200" kern="1200">
                <a:solidFill>
                  <a:schemeClr val="tx1"/>
                </a:solidFill>
                <a:latin typeface="+mn-lt"/>
                <a:ea typeface="+mn-ea"/>
                <a:cs typeface="+mn-cs"/>
              </a:rPr>
              <a:t>insert</a:t>
            </a:r>
            <a:r>
              <a:rPr lang="vi-VN"/>
              <a:t>, </a:t>
            </a:r>
            <a:r>
              <a:rPr lang="vi-VN" sz="1200" kern="1200">
                <a:solidFill>
                  <a:schemeClr val="tx1"/>
                </a:solidFill>
                <a:latin typeface="+mn-lt"/>
                <a:ea typeface="+mn-ea"/>
                <a:cs typeface="+mn-cs"/>
              </a:rPr>
              <a:t>query</a:t>
            </a:r>
            <a:r>
              <a:rPr lang="vi-VN"/>
              <a:t>, </a:t>
            </a:r>
            <a:r>
              <a:rPr lang="vi-VN" sz="1200" kern="1200">
                <a:solidFill>
                  <a:schemeClr val="tx1"/>
                </a:solidFill>
                <a:latin typeface="+mn-lt"/>
                <a:ea typeface="+mn-ea"/>
                <a:cs typeface="+mn-cs"/>
              </a:rPr>
              <a:t>update</a:t>
            </a:r>
            <a:r>
              <a:rPr lang="vi-VN"/>
              <a:t>, </a:t>
            </a:r>
            <a:r>
              <a:rPr lang="vi-VN" sz="1200" kern="1200">
                <a:solidFill>
                  <a:schemeClr val="tx1"/>
                </a:solidFill>
                <a:latin typeface="+mn-lt"/>
                <a:ea typeface="+mn-ea"/>
                <a:cs typeface="+mn-cs"/>
              </a:rPr>
              <a:t>delete</a:t>
            </a:r>
            <a:r>
              <a:rPr lang="vi-VN"/>
              <a:t>) trên cùng một cơ sở dữ liệu </a:t>
            </a:r>
            <a:r>
              <a:rPr lang="vi-VN" sz="1200" kern="1200">
                <a:solidFill>
                  <a:schemeClr val="tx1"/>
                </a:solidFill>
                <a:latin typeface="+mn-lt"/>
                <a:ea typeface="+mn-ea"/>
                <a:cs typeface="+mn-cs"/>
              </a:rPr>
              <a:t>products.db</a:t>
            </a:r>
            <a:r>
              <a:rPr lang="vi-VN"/>
              <a:t> mà không phải mở lại nhiều lần.</a:t>
            </a:r>
            <a:endParaRPr lang="en-US"/>
          </a:p>
          <a:p>
            <a:r>
              <a:rPr lang="en-US" b="1"/>
              <a:t>------------------------------------------------------------------------------------------------------------------------------------------------------------------------</a:t>
            </a:r>
          </a:p>
          <a:p>
            <a:pPr>
              <a:buNone/>
            </a:pPr>
            <a:r>
              <a:rPr lang="vi-VN"/>
              <a:t>Rất hay </a:t>
            </a:r>
            <a:r>
              <a:rPr lang="en-US"/>
              <a:t>👏 — </a:t>
            </a:r>
            <a:r>
              <a:rPr lang="vi-VN"/>
              <a:t>đây là một khái niệm </a:t>
            </a:r>
            <a:r>
              <a:rPr lang="vi-VN" b="1"/>
              <a:t>rất quan trọng</a:t>
            </a:r>
            <a:r>
              <a:rPr lang="vi-VN"/>
              <a:t> trong lập trình hướng đối tượng (OOP), đặc biệt là khi bạn học về </a:t>
            </a:r>
            <a:r>
              <a:rPr lang="vi-VN" b="1"/>
              <a:t>Singleton pattern</a:t>
            </a:r>
            <a:r>
              <a:rPr lang="vi-VN"/>
              <a:t> hoặc các lớp “quản lý” như </a:t>
            </a:r>
            <a:r>
              <a:rPr lang="vi-VN">
                <a:latin typeface="Courier New" panose="02070309020205020404" pitchFamily="49" charset="0"/>
              </a:rPr>
              <a:t>DBHelper</a:t>
            </a:r>
            <a:r>
              <a:rPr lang="vi-VN"/>
              <a:t>.</a:t>
            </a:r>
            <a:br>
              <a:rPr lang="vi-VN"/>
            </a:br>
            <a:r>
              <a:rPr lang="vi-VN"/>
              <a:t>Giờ mình sẽ giải thích </a:t>
            </a:r>
            <a:r>
              <a:rPr lang="vi-VN" b="1"/>
              <a:t>biến tĩnh (</a:t>
            </a:r>
            <a:r>
              <a:rPr lang="vi-VN" b="1">
                <a:latin typeface="Courier New" panose="02070309020205020404" pitchFamily="49" charset="0"/>
              </a:rPr>
              <a:t>static</a:t>
            </a:r>
            <a:r>
              <a:rPr lang="vi-VN" b="1"/>
              <a:t>)</a:t>
            </a:r>
            <a:r>
              <a:rPr lang="vi-VN"/>
              <a:t> thật rõ, dễ hiểu và có ví dụ minh họa cụ thể nhé </a:t>
            </a:r>
            <a:r>
              <a:rPr lang="en-US"/>
              <a:t>👇</a:t>
            </a:r>
          </a:p>
          <a:p>
            <a:pPr>
              <a:buNone/>
            </a:pPr>
            <a:br>
              <a:rPr lang="en-US"/>
            </a:br>
            <a:endParaRPr lang="en-US"/>
          </a:p>
          <a:p>
            <a:pPr>
              <a:buNone/>
            </a:pPr>
            <a:r>
              <a:rPr lang="en-US" b="1"/>
              <a:t>🧩 1️⃣ </a:t>
            </a:r>
            <a:r>
              <a:rPr lang="vi-VN" b="1"/>
              <a:t>Khái niệm cơ bản</a:t>
            </a:r>
          </a:p>
          <a:p>
            <a:pPr>
              <a:buNone/>
            </a:pPr>
            <a:r>
              <a:rPr lang="vi-VN"/>
              <a:t>Trong Dart (và nhiều ngôn ngữ khác như C++, Java, C#...), từ khóa </a:t>
            </a:r>
            <a:r>
              <a:rPr lang="vi-VN">
                <a:latin typeface="Courier New" panose="02070309020205020404" pitchFamily="49" charset="0"/>
              </a:rPr>
              <a:t>static</a:t>
            </a:r>
            <a:r>
              <a:rPr lang="vi-VN"/>
              <a:t> có nghĩa là:</a:t>
            </a:r>
          </a:p>
          <a:p>
            <a:pPr>
              <a:buNone/>
            </a:pPr>
            <a:r>
              <a:rPr lang="vi-VN" b="1"/>
              <a:t>Biến hoặc hàm “thuộc về lớp” (class), chứ không thuộc về từng đối tượng (instance).</a:t>
            </a:r>
            <a:endParaRPr lang="vi-VN"/>
          </a:p>
          <a:p>
            <a:pPr>
              <a:buNone/>
            </a:pPr>
            <a:br>
              <a:rPr lang="vi-VN"/>
            </a:br>
            <a:endParaRPr lang="vi-VN"/>
          </a:p>
          <a:p>
            <a:pPr>
              <a:buNone/>
            </a:pPr>
            <a:r>
              <a:rPr lang="en-US" b="1"/>
              <a:t>💡 2️⃣ </a:t>
            </a:r>
            <a:r>
              <a:rPr lang="vi-VN" b="1"/>
              <a:t>Giải thích bằng ví dụ</a:t>
            </a:r>
          </a:p>
          <a:p>
            <a:pPr>
              <a:buNone/>
            </a:pPr>
            <a:r>
              <a:rPr lang="en-US" b="1"/>
              <a:t>🔸 </a:t>
            </a:r>
            <a:r>
              <a:rPr lang="vi-VN" b="1"/>
              <a:t>Không có </a:t>
            </a:r>
            <a:r>
              <a:rPr lang="vi-VN" b="1">
                <a:latin typeface="Courier New" panose="02070309020205020404" pitchFamily="49" charset="0"/>
              </a:rPr>
              <a:t>static</a:t>
            </a:r>
            <a:r>
              <a:rPr lang="vi-VN" b="1"/>
              <a:t>:</a:t>
            </a:r>
          </a:p>
          <a:p>
            <a:pPr rtl="0">
              <a:buNone/>
            </a:pPr>
            <a:r>
              <a:rPr lang="vi-VN">
                <a:latin typeface="Courier New" panose="02070309020205020404" pitchFamily="49" charset="0"/>
              </a:rPr>
              <a:t>class Student {</a:t>
            </a:r>
          </a:p>
          <a:p>
            <a:pPr rtl="0">
              <a:buNone/>
            </a:pPr>
            <a:r>
              <a:rPr lang="vi-VN">
                <a:latin typeface="Courier New" panose="02070309020205020404" pitchFamily="49" charset="0"/>
              </a:rPr>
              <a:t>  String name;</a:t>
            </a:r>
          </a:p>
          <a:p>
            <a:pPr rtl="0">
              <a:buNone/>
            </a:pPr>
            <a:r>
              <a:rPr lang="vi-VN">
                <a:latin typeface="Courier New" panose="02070309020205020404" pitchFamily="49" charset="0"/>
              </a:rPr>
              <a:t>  int score = 0;</a:t>
            </a:r>
          </a:p>
          <a:p>
            <a:pPr rtl="0">
              <a:buNone/>
            </a:pPr>
            <a:endParaRPr lang="vi-VN">
              <a:latin typeface="Courier New" panose="02070309020205020404" pitchFamily="49" charset="0"/>
            </a:endParaRPr>
          </a:p>
          <a:p>
            <a:pPr rtl="0">
              <a:buNone/>
            </a:pPr>
            <a:r>
              <a:rPr lang="vi-VN">
                <a:latin typeface="Courier New" panose="02070309020205020404" pitchFamily="49" charset="0"/>
              </a:rPr>
              <a:t>  Student(this.name);</a:t>
            </a:r>
          </a:p>
          <a:p>
            <a:pPr rtl="0">
              <a:buNone/>
            </a:pPr>
            <a:r>
              <a:rPr lang="vi-VN">
                <a:latin typeface="Courier New" panose="02070309020205020404" pitchFamily="49" charset="0"/>
              </a:rPr>
              <a:t>}</a:t>
            </a:r>
          </a:p>
          <a:p>
            <a:pPr rtl="0">
              <a:buNone/>
            </a:pPr>
            <a:endParaRPr lang="vi-VN">
              <a:latin typeface="Courier New" panose="02070309020205020404" pitchFamily="49" charset="0"/>
            </a:endParaRPr>
          </a:p>
          <a:p>
            <a:pPr rtl="0">
              <a:buNone/>
            </a:pPr>
            <a:r>
              <a:rPr lang="vi-VN">
                <a:latin typeface="Courier New" panose="02070309020205020404" pitchFamily="49" charset="0"/>
              </a:rPr>
              <a:t>void main() {</a:t>
            </a:r>
          </a:p>
          <a:p>
            <a:pPr rtl="0">
              <a:buNone/>
            </a:pPr>
            <a:r>
              <a:rPr lang="vi-VN">
                <a:latin typeface="Courier New" panose="02070309020205020404" pitchFamily="49" charset="0"/>
              </a:rPr>
              <a:t>  var s1 = Student('An');</a:t>
            </a:r>
          </a:p>
          <a:p>
            <a:pPr rtl="0">
              <a:buNone/>
            </a:pPr>
            <a:r>
              <a:rPr lang="vi-VN">
                <a:latin typeface="Courier New" panose="02070309020205020404" pitchFamily="49" charset="0"/>
              </a:rPr>
              <a:t>  var s2 = Student('Bình');</a:t>
            </a:r>
          </a:p>
          <a:p>
            <a:pPr rtl="0">
              <a:buNone/>
            </a:pPr>
            <a:endParaRPr lang="vi-VN">
              <a:latin typeface="Courier New" panose="02070309020205020404" pitchFamily="49" charset="0"/>
            </a:endParaRPr>
          </a:p>
          <a:p>
            <a:pPr rtl="0">
              <a:buNone/>
            </a:pPr>
            <a:r>
              <a:rPr lang="vi-VN">
                <a:latin typeface="Courier New" panose="02070309020205020404" pitchFamily="49" charset="0"/>
              </a:rPr>
              <a:t>  s1.score = 10;</a:t>
            </a:r>
          </a:p>
          <a:p>
            <a:pPr rtl="0">
              <a:buNone/>
            </a:pPr>
            <a:r>
              <a:rPr lang="vi-VN">
                <a:latin typeface="Courier New" panose="02070309020205020404" pitchFamily="49" charset="0"/>
              </a:rPr>
              <a:t>  print(s2.score); // 0 </a:t>
            </a:r>
            <a:r>
              <a:rPr lang="en-US">
                <a:latin typeface="Courier New" panose="02070309020205020404" pitchFamily="49" charset="0"/>
              </a:rPr>
              <a:t>❌ </a:t>
            </a:r>
            <a:r>
              <a:rPr lang="vi-VN">
                <a:latin typeface="Courier New" panose="02070309020205020404" pitchFamily="49" charset="0"/>
              </a:rPr>
              <a:t>mỗi đối tượng có biến riêng</a:t>
            </a:r>
          </a:p>
          <a:p>
            <a:pPr rtl="0">
              <a:buNone/>
            </a:pPr>
            <a:r>
              <a:rPr lang="vi-VN">
                <a:latin typeface="Courier New" panose="02070309020205020404" pitchFamily="49" charset="0"/>
              </a:rPr>
              <a:t>}</a:t>
            </a:r>
          </a:p>
          <a:p>
            <a:pPr>
              <a:buNone/>
            </a:pPr>
            <a:r>
              <a:rPr lang="vi-VN"/>
              <a:t>Ở đây:</a:t>
            </a:r>
          </a:p>
          <a:p>
            <a:pPr>
              <a:buFont typeface="Arial" panose="020B0604020202020204" pitchFamily="34" charset="0"/>
              <a:buChar char="•"/>
            </a:pPr>
            <a:r>
              <a:rPr lang="vi-VN">
                <a:latin typeface="Courier New" panose="02070309020205020404" pitchFamily="49" charset="0"/>
              </a:rPr>
              <a:t>s1</a:t>
            </a:r>
            <a:r>
              <a:rPr lang="vi-VN"/>
              <a:t> và </a:t>
            </a:r>
            <a:r>
              <a:rPr lang="vi-VN">
                <a:latin typeface="Courier New" panose="02070309020205020404" pitchFamily="49" charset="0"/>
              </a:rPr>
              <a:t>s2</a:t>
            </a:r>
            <a:r>
              <a:rPr lang="vi-VN"/>
              <a:t> là </a:t>
            </a:r>
            <a:r>
              <a:rPr lang="vi-VN" b="1"/>
              <a:t>hai đối tượng khác nhau</a:t>
            </a:r>
            <a:r>
              <a:rPr lang="vi-VN"/>
              <a:t>.</a:t>
            </a:r>
          </a:p>
          <a:p>
            <a:pPr>
              <a:buFont typeface="Arial" panose="020B0604020202020204" pitchFamily="34" charset="0"/>
              <a:buChar char="•"/>
            </a:pPr>
            <a:r>
              <a:rPr lang="vi-VN"/>
              <a:t>Mỗi đối tượng có </a:t>
            </a:r>
            <a:r>
              <a:rPr lang="vi-VN" b="1"/>
              <a:t>biến </a:t>
            </a:r>
            <a:r>
              <a:rPr lang="vi-VN" b="1">
                <a:latin typeface="Courier New" panose="02070309020205020404" pitchFamily="49" charset="0"/>
              </a:rPr>
              <a:t>score</a:t>
            </a:r>
            <a:r>
              <a:rPr lang="vi-VN" b="1"/>
              <a:t> riêng biệt</a:t>
            </a:r>
            <a:r>
              <a:rPr lang="vi-VN"/>
              <a:t>.</a:t>
            </a:r>
            <a:br>
              <a:rPr lang="vi-VN"/>
            </a:br>
            <a:r>
              <a:rPr lang="vi-VN"/>
              <a:t>➡️ Thay đổi </a:t>
            </a:r>
            <a:r>
              <a:rPr lang="vi-VN">
                <a:latin typeface="Courier New" panose="02070309020205020404" pitchFamily="49" charset="0"/>
              </a:rPr>
              <a:t>s1.score</a:t>
            </a:r>
            <a:r>
              <a:rPr lang="vi-VN"/>
              <a:t> </a:t>
            </a:r>
            <a:r>
              <a:rPr lang="vi-VN" b="1"/>
              <a:t>không ảnh hưởng</a:t>
            </a:r>
            <a:r>
              <a:rPr lang="vi-VN"/>
              <a:t> tới </a:t>
            </a:r>
            <a:r>
              <a:rPr lang="vi-VN">
                <a:latin typeface="Courier New" panose="02070309020205020404" pitchFamily="49" charset="0"/>
              </a:rPr>
              <a:t>s2.score</a:t>
            </a:r>
            <a:r>
              <a:rPr lang="vi-VN"/>
              <a:t>.</a:t>
            </a:r>
          </a:p>
          <a:p>
            <a:pPr>
              <a:buNone/>
            </a:pPr>
            <a:br>
              <a:rPr lang="vi-VN"/>
            </a:br>
            <a:endParaRPr lang="vi-VN"/>
          </a:p>
          <a:p>
            <a:pPr>
              <a:buNone/>
            </a:pPr>
            <a:r>
              <a:rPr lang="en-US" b="1"/>
              <a:t>🔹 </a:t>
            </a:r>
            <a:r>
              <a:rPr lang="vi-VN" b="1"/>
              <a:t>Có </a:t>
            </a:r>
            <a:r>
              <a:rPr lang="vi-VN" b="1">
                <a:latin typeface="Courier New" panose="02070309020205020404" pitchFamily="49" charset="0"/>
              </a:rPr>
              <a:t>static</a:t>
            </a:r>
            <a:r>
              <a:rPr lang="vi-VN" b="1"/>
              <a:t>:</a:t>
            </a:r>
          </a:p>
          <a:p>
            <a:pPr rtl="0">
              <a:buNone/>
            </a:pPr>
            <a:r>
              <a:rPr lang="vi-VN">
                <a:latin typeface="Courier New" panose="02070309020205020404" pitchFamily="49" charset="0"/>
              </a:rPr>
              <a:t>class Student {</a:t>
            </a:r>
          </a:p>
          <a:p>
            <a:pPr rtl="0">
              <a:buNone/>
            </a:pPr>
            <a:r>
              <a:rPr lang="vi-VN">
                <a:latin typeface="Courier New" panose="02070309020205020404" pitchFamily="49" charset="0"/>
              </a:rPr>
              <a:t>  static int score = 0;</a:t>
            </a:r>
          </a:p>
          <a:p>
            <a:pPr rtl="0">
              <a:buNone/>
            </a:pPr>
            <a:r>
              <a:rPr lang="vi-VN">
                <a:latin typeface="Courier New" panose="02070309020205020404" pitchFamily="49" charset="0"/>
              </a:rPr>
              <a:t>}</a:t>
            </a:r>
          </a:p>
          <a:p>
            <a:pPr rtl="0">
              <a:buNone/>
            </a:pPr>
            <a:endParaRPr lang="vi-VN">
              <a:latin typeface="Courier New" panose="02070309020205020404" pitchFamily="49" charset="0"/>
            </a:endParaRPr>
          </a:p>
          <a:p>
            <a:pPr rtl="0">
              <a:buNone/>
            </a:pPr>
            <a:r>
              <a:rPr lang="vi-VN">
                <a:latin typeface="Courier New" panose="02070309020205020404" pitchFamily="49" charset="0"/>
              </a:rPr>
              <a:t>void main() {</a:t>
            </a:r>
          </a:p>
          <a:p>
            <a:pPr rtl="0">
              <a:buNone/>
            </a:pPr>
            <a:r>
              <a:rPr lang="vi-VN">
                <a:latin typeface="Courier New" panose="02070309020205020404" pitchFamily="49" charset="0"/>
              </a:rPr>
              <a:t>  Student.score = 10;</a:t>
            </a:r>
          </a:p>
          <a:p>
            <a:pPr rtl="0">
              <a:buNone/>
            </a:pPr>
            <a:r>
              <a:rPr lang="vi-VN">
                <a:latin typeface="Courier New" panose="02070309020205020404" pitchFamily="49" charset="0"/>
              </a:rPr>
              <a:t>  print(Student.score); // 10 </a:t>
            </a:r>
            <a:r>
              <a:rPr lang="en-US">
                <a:latin typeface="Courier New" panose="02070309020205020404" pitchFamily="49" charset="0"/>
              </a:rPr>
              <a:t>✅</a:t>
            </a:r>
          </a:p>
          <a:p>
            <a:pPr rtl="0">
              <a:buNone/>
            </a:pPr>
            <a:r>
              <a:rPr lang="en-US">
                <a:latin typeface="Courier New" panose="02070309020205020404" pitchFamily="49" charset="0"/>
              </a:rPr>
              <a:t>}</a:t>
            </a:r>
          </a:p>
          <a:p>
            <a:pPr>
              <a:buNone/>
            </a:pPr>
            <a:r>
              <a:rPr lang="vi-VN"/>
              <a:t>Ở đây:</a:t>
            </a:r>
          </a:p>
          <a:p>
            <a:pPr>
              <a:buFont typeface="Arial" panose="020B0604020202020204" pitchFamily="34" charset="0"/>
              <a:buChar char="•"/>
            </a:pPr>
            <a:r>
              <a:rPr lang="vi-VN">
                <a:latin typeface="Courier New" panose="02070309020205020404" pitchFamily="49" charset="0"/>
              </a:rPr>
              <a:t>score</a:t>
            </a:r>
            <a:r>
              <a:rPr lang="vi-VN"/>
              <a:t> là </a:t>
            </a:r>
            <a:r>
              <a:rPr lang="vi-VN" b="1"/>
              <a:t>biến tĩnh (static)</a:t>
            </a:r>
            <a:r>
              <a:rPr lang="vi-VN"/>
              <a:t> → thuộc về </a:t>
            </a:r>
            <a:r>
              <a:rPr lang="vi-VN" b="1"/>
              <a:t>class Student</a:t>
            </a:r>
            <a:r>
              <a:rPr lang="vi-VN"/>
              <a:t>, không thuộc riêng ai.</a:t>
            </a:r>
          </a:p>
          <a:p>
            <a:pPr>
              <a:buFont typeface="Arial" panose="020B0604020202020204" pitchFamily="34" charset="0"/>
              <a:buChar char="•"/>
            </a:pPr>
            <a:r>
              <a:rPr lang="vi-VN"/>
              <a:t>Dù bạn có tạo 100 sinh viên khác nhau, tất cả </a:t>
            </a:r>
            <a:r>
              <a:rPr lang="vi-VN" b="1"/>
              <a:t>dùng chung một biến </a:t>
            </a:r>
            <a:r>
              <a:rPr lang="vi-VN" b="1">
                <a:latin typeface="Courier New" panose="02070309020205020404" pitchFamily="49" charset="0"/>
              </a:rPr>
              <a:t>score</a:t>
            </a:r>
            <a:r>
              <a:rPr lang="vi-VN"/>
              <a:t>.</a:t>
            </a:r>
          </a:p>
          <a:p>
            <a:pPr>
              <a:buNone/>
            </a:pPr>
            <a:br>
              <a:rPr lang="vi-VN"/>
            </a:br>
            <a:endParaRPr lang="vi-VN"/>
          </a:p>
          <a:p>
            <a:pPr>
              <a:buNone/>
            </a:pPr>
            <a:r>
              <a:rPr lang="vi-VN" b="1"/>
              <a:t>⚙️ 3️⃣ Cách truy cập</a:t>
            </a:r>
          </a:p>
          <a:p>
            <a:pPr>
              <a:buFont typeface="Arial" panose="020B0604020202020204" pitchFamily="34" charset="0"/>
              <a:buChar char="•"/>
            </a:pPr>
            <a:r>
              <a:rPr lang="vi-VN"/>
              <a:t>Biến </a:t>
            </a:r>
            <a:r>
              <a:rPr lang="vi-VN" b="1"/>
              <a:t>thường</a:t>
            </a:r>
            <a:r>
              <a:rPr lang="vi-VN"/>
              <a:t> → truy cập qua </a:t>
            </a:r>
            <a:r>
              <a:rPr lang="vi-VN" b="1"/>
              <a:t>đối tượng</a:t>
            </a:r>
            <a:br>
              <a:rPr lang="vi-VN"/>
            </a:br>
            <a:r>
              <a:rPr lang="en-US"/>
              <a:t>👉 </a:t>
            </a:r>
            <a:r>
              <a:rPr lang="vi-VN">
                <a:latin typeface="Courier New" panose="02070309020205020404" pitchFamily="49" charset="0"/>
              </a:rPr>
              <a:t>objectName.variableName</a:t>
            </a:r>
            <a:endParaRPr lang="vi-VN"/>
          </a:p>
          <a:p>
            <a:pPr>
              <a:buFont typeface="Arial" panose="020B0604020202020204" pitchFamily="34" charset="0"/>
              <a:buChar char="•"/>
            </a:pPr>
            <a:r>
              <a:rPr lang="vi-VN"/>
              <a:t>Biến </a:t>
            </a:r>
            <a:r>
              <a:rPr lang="vi-VN" b="1"/>
              <a:t>tĩnh (static)</a:t>
            </a:r>
            <a:r>
              <a:rPr lang="vi-VN"/>
              <a:t> → truy cập qua </a:t>
            </a:r>
            <a:r>
              <a:rPr lang="vi-VN" b="1"/>
              <a:t>tên lớp</a:t>
            </a:r>
            <a:br>
              <a:rPr lang="vi-VN"/>
            </a:br>
            <a:r>
              <a:rPr lang="en-US"/>
              <a:t>👉 </a:t>
            </a:r>
            <a:r>
              <a:rPr lang="vi-VN">
                <a:latin typeface="Courier New" panose="02070309020205020404" pitchFamily="49" charset="0"/>
              </a:rPr>
              <a:t>ClassName.variableName</a:t>
            </a:r>
            <a:endParaRPr lang="vi-VN"/>
          </a:p>
          <a:p>
            <a:pPr>
              <a:buNone/>
            </a:pPr>
            <a:r>
              <a:rPr lang="vi-VN"/>
              <a:t>Ví dụ:</a:t>
            </a:r>
          </a:p>
          <a:p>
            <a:pPr rtl="0">
              <a:buNone/>
            </a:pPr>
            <a:r>
              <a:rPr lang="vi-VN">
                <a:latin typeface="Courier New" panose="02070309020205020404" pitchFamily="49" charset="0"/>
              </a:rPr>
              <a:t>Student.score = 10; // đúng </a:t>
            </a:r>
            <a:r>
              <a:rPr lang="en-US">
                <a:latin typeface="Courier New" panose="02070309020205020404" pitchFamily="49" charset="0"/>
              </a:rPr>
              <a:t>✅</a:t>
            </a:r>
          </a:p>
          <a:p>
            <a:pPr rtl="0">
              <a:buNone/>
            </a:pPr>
            <a:r>
              <a:rPr lang="vi-VN">
                <a:latin typeface="Courier New" panose="02070309020205020404" pitchFamily="49" charset="0"/>
              </a:rPr>
              <a:t>var s1 = Student('An');</a:t>
            </a:r>
          </a:p>
          <a:p>
            <a:pPr rtl="0">
              <a:buNone/>
            </a:pPr>
            <a:r>
              <a:rPr lang="vi-VN">
                <a:latin typeface="Courier New" panose="02070309020205020404" pitchFamily="49" charset="0"/>
              </a:rPr>
              <a:t>print(s1.score);    // cũng được, nhưng không khuyến khích ⚠️</a:t>
            </a:r>
          </a:p>
          <a:p>
            <a:pPr>
              <a:buNone/>
            </a:pPr>
            <a:br>
              <a:rPr lang="vi-VN"/>
            </a:br>
            <a:endParaRPr lang="vi-VN"/>
          </a:p>
          <a:p>
            <a:pPr>
              <a:buNone/>
            </a:pPr>
            <a:r>
              <a:rPr lang="en-US" b="1"/>
              <a:t>🧠 4️⃣ </a:t>
            </a:r>
            <a:r>
              <a:rPr lang="vi-VN" b="1"/>
              <a:t>Trong </a:t>
            </a:r>
            <a:r>
              <a:rPr lang="vi-VN" b="1">
                <a:latin typeface="Courier New" panose="02070309020205020404" pitchFamily="49" charset="0"/>
              </a:rPr>
              <a:t>DBHelper</a:t>
            </a:r>
            <a:r>
              <a:rPr lang="vi-VN" b="1"/>
              <a:t>, vì sao dùng </a:t>
            </a:r>
            <a:r>
              <a:rPr lang="vi-VN" b="1">
                <a:latin typeface="Courier New" panose="02070309020205020404" pitchFamily="49" charset="0"/>
              </a:rPr>
              <a:t>static</a:t>
            </a:r>
            <a:r>
              <a:rPr lang="vi-VN" b="1"/>
              <a:t>?</a:t>
            </a:r>
          </a:p>
          <a:p>
            <a:pPr rtl="0">
              <a:buNone/>
            </a:pPr>
            <a:r>
              <a:rPr lang="vi-VN">
                <a:latin typeface="Courier New" panose="02070309020205020404" pitchFamily="49" charset="0"/>
              </a:rPr>
              <a:t>static Database? _db;</a:t>
            </a:r>
          </a:p>
          <a:p>
            <a:pPr>
              <a:buNone/>
            </a:pPr>
            <a:r>
              <a:rPr lang="vi-VN"/>
              <a:t>Biến </a:t>
            </a:r>
            <a:r>
              <a:rPr lang="vi-VN">
                <a:latin typeface="Courier New" panose="02070309020205020404" pitchFamily="49" charset="0"/>
              </a:rPr>
              <a:t>_db</a:t>
            </a:r>
            <a:r>
              <a:rPr lang="vi-VN"/>
              <a:t> là </a:t>
            </a:r>
            <a:r>
              <a:rPr lang="vi-VN" b="1"/>
              <a:t>biến tĩnh</a:t>
            </a:r>
            <a:r>
              <a:rPr lang="vi-VN"/>
              <a:t>, vì:</a:t>
            </a:r>
          </a:p>
          <a:p>
            <a:pPr>
              <a:buFont typeface="Arial" panose="020B0604020202020204" pitchFamily="34" charset="0"/>
              <a:buChar char="•"/>
            </a:pPr>
            <a:r>
              <a:rPr lang="vi-VN"/>
              <a:t>Bạn muốn </a:t>
            </a:r>
            <a:r>
              <a:rPr lang="vi-VN" b="1"/>
              <a:t>toàn ứng dụng</a:t>
            </a:r>
            <a:r>
              <a:rPr lang="vi-VN"/>
              <a:t> chỉ có </a:t>
            </a:r>
            <a:r>
              <a:rPr lang="vi-VN" b="1"/>
              <a:t>một kết nối SQLite duy nhất</a:t>
            </a:r>
            <a:r>
              <a:rPr lang="vi-VN"/>
              <a:t>.</a:t>
            </a:r>
          </a:p>
          <a:p>
            <a:pPr>
              <a:buFont typeface="Arial" panose="020B0604020202020204" pitchFamily="34" charset="0"/>
              <a:buChar char="•"/>
            </a:pPr>
            <a:r>
              <a:rPr lang="vi-VN"/>
              <a:t>Mọi nơi gọi </a:t>
            </a:r>
            <a:r>
              <a:rPr lang="vi-VN">
                <a:latin typeface="Courier New" panose="02070309020205020404" pitchFamily="49" charset="0"/>
              </a:rPr>
              <a:t>DBHelper()</a:t>
            </a:r>
            <a:r>
              <a:rPr lang="vi-VN"/>
              <a:t> đều </a:t>
            </a:r>
            <a:r>
              <a:rPr lang="vi-VN" b="1"/>
              <a:t>dùng chung một </a:t>
            </a:r>
            <a:r>
              <a:rPr lang="vi-VN" b="1">
                <a:latin typeface="Courier New" panose="02070309020205020404" pitchFamily="49" charset="0"/>
              </a:rPr>
              <a:t>_db</a:t>
            </a:r>
            <a:r>
              <a:rPr lang="vi-VN"/>
              <a:t>.</a:t>
            </a:r>
          </a:p>
          <a:p>
            <a:pPr>
              <a:buNone/>
            </a:pPr>
            <a:r>
              <a:rPr lang="vi-VN"/>
              <a:t>Nếu </a:t>
            </a:r>
            <a:r>
              <a:rPr lang="vi-VN">
                <a:latin typeface="Courier New" panose="02070309020205020404" pitchFamily="49" charset="0"/>
              </a:rPr>
              <a:t>_db</a:t>
            </a:r>
            <a:r>
              <a:rPr lang="vi-VN"/>
              <a:t> không tĩnh, mỗi </a:t>
            </a:r>
            <a:r>
              <a:rPr lang="vi-VN">
                <a:latin typeface="Courier New" panose="02070309020205020404" pitchFamily="49" charset="0"/>
              </a:rPr>
              <a:t>DBHelper</a:t>
            </a:r>
            <a:r>
              <a:rPr lang="vi-VN"/>
              <a:t> sẽ mở một kết nối khác nhau → dễ lỗi </a:t>
            </a:r>
            <a:r>
              <a:rPr lang="vi-VN" i="1"/>
              <a:t>“database already open”</a:t>
            </a:r>
            <a:r>
              <a:rPr lang="vi-VN"/>
              <a:t>.</a:t>
            </a:r>
          </a:p>
          <a:p>
            <a:pPr>
              <a:buNone/>
            </a:pPr>
            <a:br>
              <a:rPr lang="vi-VN"/>
            </a:br>
            <a:endParaRPr lang="vi-VN"/>
          </a:p>
          <a:p>
            <a:pPr>
              <a:buNone/>
            </a:pPr>
            <a:r>
              <a:rPr lang="en-US" b="1"/>
              <a:t>📘 5️⃣ </a:t>
            </a:r>
            <a:r>
              <a:rPr lang="vi-VN" b="1"/>
              <a:t>Tóm lại:</a:t>
            </a:r>
          </a:p>
          <a:p>
            <a:pPr>
              <a:buNone/>
            </a:pPr>
            <a:r>
              <a:rPr lang="vi-VN"/>
              <a:t>Tính chấtBiến thườngBiến tĩnh (</a:t>
            </a:r>
            <a:r>
              <a:rPr lang="vi-VN">
                <a:latin typeface="Courier New" panose="02070309020205020404" pitchFamily="49" charset="0"/>
              </a:rPr>
              <a:t>static</a:t>
            </a:r>
            <a:r>
              <a:rPr lang="vi-VN"/>
              <a:t>)Thuộc vềMột đối tượng (instance)Cả lớp (class)Bộ nhớMỗi đối tượng có bản sao riêngChỉ một bản duy nhất dùng chungTruy cậpQua đối tượngQua tên lớpKhi dùng trong DBHelperKhông dùng static → nhiều kết nối DB </a:t>
            </a:r>
            <a:r>
              <a:rPr lang="en-US"/>
              <a:t>❌</a:t>
            </a:r>
            <a:r>
              <a:rPr lang="vi-VN"/>
              <a:t>Dùng static → một kết nối duy nhất </a:t>
            </a:r>
            <a:r>
              <a:rPr lang="en-US"/>
              <a:t>✅</a:t>
            </a:r>
            <a:br>
              <a:rPr lang="en-US"/>
            </a:br>
            <a:endParaRPr lang="en-US"/>
          </a:p>
          <a:p>
            <a:pPr>
              <a:buNone/>
            </a:pPr>
            <a:r>
              <a:rPr lang="en-US" b="1"/>
              <a:t>🔍 </a:t>
            </a:r>
            <a:r>
              <a:rPr lang="vi-VN" b="1"/>
              <a:t>Ví dụ trực quan trong </a:t>
            </a:r>
            <a:r>
              <a:rPr lang="vi-VN" b="1">
                <a:latin typeface="Courier New" panose="02070309020205020404" pitchFamily="49" charset="0"/>
              </a:rPr>
              <a:t>DBHelper</a:t>
            </a:r>
            <a:endParaRPr lang="vi-VN" b="1"/>
          </a:p>
          <a:p>
            <a:pPr rtl="0">
              <a:buNone/>
            </a:pPr>
            <a:r>
              <a:rPr lang="vi-VN">
                <a:latin typeface="Courier New" panose="02070309020205020404" pitchFamily="49" charset="0"/>
              </a:rPr>
              <a:t>static Database? _db;</a:t>
            </a:r>
          </a:p>
          <a:p>
            <a:pPr>
              <a:buNone/>
            </a:pPr>
            <a:r>
              <a:rPr lang="vi-VN"/>
              <a:t>→ </a:t>
            </a:r>
            <a:r>
              <a:rPr lang="vi-VN">
                <a:latin typeface="Courier New" panose="02070309020205020404" pitchFamily="49" charset="0"/>
              </a:rPr>
              <a:t>_db</a:t>
            </a:r>
            <a:r>
              <a:rPr lang="vi-VN"/>
              <a:t> chỉ được tạo </a:t>
            </a:r>
            <a:r>
              <a:rPr lang="vi-VN" b="1"/>
              <a:t>một lần duy nhất</a:t>
            </a:r>
            <a:r>
              <a:rPr lang="vi-VN"/>
              <a:t>.</a:t>
            </a:r>
            <a:br>
              <a:rPr lang="vi-VN"/>
            </a:br>
            <a:r>
              <a:rPr lang="vi-VN"/>
              <a:t>Tất cả các hàm như </a:t>
            </a:r>
            <a:r>
              <a:rPr lang="vi-VN">
                <a:latin typeface="Courier New" panose="02070309020205020404" pitchFamily="49" charset="0"/>
              </a:rPr>
              <a:t>insertProduct()</a:t>
            </a:r>
            <a:r>
              <a:rPr lang="vi-VN"/>
              <a:t>, </a:t>
            </a:r>
            <a:r>
              <a:rPr lang="vi-VN">
                <a:latin typeface="Courier New" panose="02070309020205020404" pitchFamily="49" charset="0"/>
              </a:rPr>
              <a:t>getAllProducts()</a:t>
            </a:r>
            <a:r>
              <a:rPr lang="vi-VN"/>
              <a:t>... đều truy cập cùng </a:t>
            </a:r>
            <a:r>
              <a:rPr lang="vi-VN">
                <a:latin typeface="Courier New" panose="02070309020205020404" pitchFamily="49" charset="0"/>
              </a:rPr>
              <a:t>_db</a:t>
            </a:r>
            <a:r>
              <a:rPr lang="vi-VN"/>
              <a:t>.</a:t>
            </a:r>
          </a:p>
          <a:p>
            <a:endParaRPr lang="vi-VN" b="0"/>
          </a:p>
          <a:p>
            <a:endParaRPr lang="en-US" b="1"/>
          </a:p>
          <a:p>
            <a:endParaRPr lang="vi-VN"/>
          </a:p>
          <a:p>
            <a:endParaRPr lang="vi-VN" b="0"/>
          </a:p>
          <a:p>
            <a:pPr marL="0" indent="0">
              <a:buFontTx/>
              <a:buNone/>
            </a:pPr>
            <a:endParaRPr lang="en-US"/>
          </a:p>
        </p:txBody>
      </p:sp>
      <p:sp>
        <p:nvSpPr>
          <p:cNvPr id="4" name="Slide Number Placeholder 3">
            <a:extLst>
              <a:ext uri="{FF2B5EF4-FFF2-40B4-BE49-F238E27FC236}">
                <a16:creationId xmlns:a16="http://schemas.microsoft.com/office/drawing/2014/main" id="{90490FF0-F669-7F8C-C2D2-E9E58B72DA3E}"/>
              </a:ext>
            </a:extLst>
          </p:cNvPr>
          <p:cNvSpPr>
            <a:spLocks noGrp="1"/>
          </p:cNvSpPr>
          <p:nvPr>
            <p:ph type="sldNum" sz="quarter" idx="5"/>
          </p:nvPr>
        </p:nvSpPr>
        <p:spPr/>
        <p:txBody>
          <a:bodyPr/>
          <a:lstStyle/>
          <a:p>
            <a:fld id="{1983A999-5E0E-42CA-8400-604AE921FF7C}" type="slidenum">
              <a:rPr lang="en-US" smtClean="0"/>
              <a:t>10</a:t>
            </a:fld>
            <a:endParaRPr lang="en-US"/>
          </a:p>
        </p:txBody>
      </p:sp>
    </p:spTree>
    <p:extLst>
      <p:ext uri="{BB962C8B-B14F-4D97-AF65-F5344CB8AC3E}">
        <p14:creationId xmlns:p14="http://schemas.microsoft.com/office/powerpoint/2010/main" val="10670261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C45A0-98B1-D07B-46B6-8FAEF5295D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F7E1A7-E6EF-68F2-576C-FB81AA583D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77D44A-0307-4EB4-5997-47617D9114C6}"/>
              </a:ext>
            </a:extLst>
          </p:cNvPr>
          <p:cNvSpPr>
            <a:spLocks noGrp="1"/>
          </p:cNvSpPr>
          <p:nvPr>
            <p:ph type="body" idx="1"/>
          </p:nvPr>
        </p:nvSpPr>
        <p:spPr/>
        <p:txBody>
          <a:bodyPr/>
          <a:lstStyle/>
          <a:p>
            <a:r>
              <a:rPr lang="vi-VN" b="1"/>
              <a:t>db_helper.dart</a:t>
            </a:r>
            <a:r>
              <a:rPr lang="vi-VN"/>
              <a:t>: lớp trợ giúp truy cập SQLite (DB helper). Chịu trách nhiệm khởi tạo DB, tạo bảng, và thực hiện thao tác CRUD (Create, Read, Update, Delete).</a:t>
            </a:r>
          </a:p>
          <a:p>
            <a:r>
              <a:rPr lang="vi-VN" b="1"/>
              <a:t>4️⃣ Hàm </a:t>
            </a:r>
            <a:r>
              <a:rPr lang="vi-VN" sz="1200" b="1" kern="1200">
                <a:solidFill>
                  <a:schemeClr val="tx1"/>
                </a:solidFill>
                <a:latin typeface="+mn-lt"/>
                <a:ea typeface="+mn-ea"/>
                <a:cs typeface="+mn-cs"/>
              </a:rPr>
              <a:t>_initDb()</a:t>
            </a:r>
            <a:r>
              <a:rPr lang="vi-VN" b="1"/>
              <a:t> — khởi tạo cơ sở dữ liệu</a:t>
            </a:r>
          </a:p>
          <a:p>
            <a:pPr rtl="0"/>
            <a:r>
              <a:rPr lang="vi-VN" sz="1200" kern="1200">
                <a:solidFill>
                  <a:schemeClr val="tx1"/>
                </a:solidFill>
                <a:latin typeface="+mn-lt"/>
                <a:ea typeface="+mn-ea"/>
                <a:cs typeface="+mn-cs"/>
              </a:rPr>
              <a:t>Future&lt;Database&gt; _initDb() async {</a:t>
            </a:r>
          </a:p>
          <a:p>
            <a:pPr rtl="0"/>
            <a:r>
              <a:rPr lang="vi-VN" sz="1200" kern="1200">
                <a:solidFill>
                  <a:schemeClr val="tx1"/>
                </a:solidFill>
                <a:latin typeface="+mn-lt"/>
                <a:ea typeface="+mn-ea"/>
                <a:cs typeface="+mn-cs"/>
              </a:rPr>
              <a:t>  sqfliteFfiInit();</a:t>
            </a:r>
          </a:p>
          <a:p>
            <a:pPr rtl="0"/>
            <a:r>
              <a:rPr lang="vi-VN" sz="1200" kern="1200">
                <a:solidFill>
                  <a:schemeClr val="tx1"/>
                </a:solidFill>
                <a:latin typeface="+mn-lt"/>
                <a:ea typeface="+mn-ea"/>
                <a:cs typeface="+mn-cs"/>
              </a:rPr>
              <a:t>  databaseFactory = databaseFactoryFfi;</a:t>
            </a:r>
          </a:p>
          <a:p>
            <a:r>
              <a:rPr lang="vi-VN" sz="1200" kern="1200">
                <a:solidFill>
                  <a:schemeClr val="tx1"/>
                </a:solidFill>
                <a:latin typeface="+mn-lt"/>
                <a:ea typeface="+mn-ea"/>
                <a:cs typeface="+mn-cs"/>
              </a:rPr>
              <a:t>sqfliteFfiInit()</a:t>
            </a:r>
            <a:r>
              <a:rPr lang="vi-VN"/>
              <a:t>: khởi tạo môi trường SQLite FFI (Foreign Function Interface).</a:t>
            </a:r>
          </a:p>
          <a:p>
            <a:r>
              <a:rPr lang="vi-VN" sz="1200" kern="1200">
                <a:solidFill>
                  <a:schemeClr val="tx1"/>
                </a:solidFill>
                <a:latin typeface="+mn-lt"/>
                <a:ea typeface="+mn-ea"/>
                <a:cs typeface="+mn-cs"/>
              </a:rPr>
              <a:t>databaseFactory = databaseFactoryFfi</a:t>
            </a:r>
            <a:r>
              <a:rPr lang="vi-VN"/>
              <a:t>: chọn “factory” để thao tác SQLite theo FFI (cho desktop).</a:t>
            </a:r>
          </a:p>
          <a:p>
            <a:br>
              <a:rPr lang="vi-VN"/>
            </a:br>
            <a:endParaRPr lang="vi-VN"/>
          </a:p>
          <a:p>
            <a:pPr rtl="0"/>
            <a:r>
              <a:rPr lang="vi-VN" sz="1200" kern="1200">
                <a:solidFill>
                  <a:schemeClr val="tx1"/>
                </a:solidFill>
                <a:latin typeface="+mn-lt"/>
                <a:ea typeface="+mn-ea"/>
                <a:cs typeface="+mn-cs"/>
              </a:rPr>
              <a:t>  final dbPath = await databaseFactory.getDatabasesPath();</a:t>
            </a:r>
          </a:p>
          <a:p>
            <a:pPr rtl="0"/>
            <a:r>
              <a:rPr lang="vi-VN" sz="1200" kern="1200">
                <a:solidFill>
                  <a:schemeClr val="tx1"/>
                </a:solidFill>
                <a:latin typeface="+mn-lt"/>
                <a:ea typeface="+mn-ea"/>
                <a:cs typeface="+mn-cs"/>
              </a:rPr>
              <a:t>  final path = p.join(dbPath, 'products.db');</a:t>
            </a:r>
          </a:p>
          <a:p>
            <a:r>
              <a:rPr lang="vi-VN"/>
              <a:t>Lấy </a:t>
            </a:r>
            <a:r>
              <a:rPr lang="vi-VN" b="1"/>
              <a:t>đường dẫn thư mục lưu database</a:t>
            </a:r>
            <a:r>
              <a:rPr lang="vi-VN"/>
              <a:t>.</a:t>
            </a:r>
          </a:p>
          <a:p>
            <a:r>
              <a:rPr lang="vi-VN"/>
              <a:t>Tạo đường dẫn đầy đủ </a:t>
            </a:r>
            <a:r>
              <a:rPr lang="vi-VN" sz="1200" kern="1200">
                <a:solidFill>
                  <a:schemeClr val="tx1"/>
                </a:solidFill>
                <a:latin typeface="+mn-lt"/>
                <a:ea typeface="+mn-ea"/>
                <a:cs typeface="+mn-cs"/>
              </a:rPr>
              <a:t>products.db</a:t>
            </a:r>
            <a:r>
              <a:rPr lang="vi-VN"/>
              <a:t> để lưu file cơ sở dữ liệu.</a:t>
            </a:r>
          </a:p>
          <a:p>
            <a:br>
              <a:rPr lang="vi-VN"/>
            </a:br>
            <a:endParaRPr lang="vi-VN"/>
          </a:p>
          <a:p>
            <a:pPr rtl="0"/>
            <a:r>
              <a:rPr lang="vi-VN" sz="1200" kern="1200">
                <a:solidFill>
                  <a:schemeClr val="tx1"/>
                </a:solidFill>
                <a:latin typeface="+mn-lt"/>
                <a:ea typeface="+mn-ea"/>
                <a:cs typeface="+mn-cs"/>
              </a:rPr>
              <a:t>  _db ??= await databaseFactory.openDatabase(</a:t>
            </a:r>
          </a:p>
          <a:p>
            <a:pPr rtl="0"/>
            <a:r>
              <a:rPr lang="vi-VN" sz="1200" kern="1200">
                <a:solidFill>
                  <a:schemeClr val="tx1"/>
                </a:solidFill>
                <a:latin typeface="+mn-lt"/>
                <a:ea typeface="+mn-ea"/>
                <a:cs typeface="+mn-cs"/>
              </a:rPr>
              <a:t>    path,</a:t>
            </a:r>
          </a:p>
          <a:p>
            <a:pPr rtl="0"/>
            <a:r>
              <a:rPr lang="vi-VN" sz="1200" kern="1200">
                <a:solidFill>
                  <a:schemeClr val="tx1"/>
                </a:solidFill>
                <a:latin typeface="+mn-lt"/>
                <a:ea typeface="+mn-ea"/>
                <a:cs typeface="+mn-cs"/>
              </a:rPr>
              <a:t>    options: OpenDatabaseOptions(</a:t>
            </a:r>
          </a:p>
          <a:p>
            <a:pPr rtl="0"/>
            <a:r>
              <a:rPr lang="vi-VN" sz="1200" kern="1200">
                <a:solidFill>
                  <a:schemeClr val="tx1"/>
                </a:solidFill>
                <a:latin typeface="+mn-lt"/>
                <a:ea typeface="+mn-ea"/>
                <a:cs typeface="+mn-cs"/>
              </a:rPr>
              <a:t>      version: 1,</a:t>
            </a:r>
          </a:p>
          <a:p>
            <a:pPr rtl="0"/>
            <a:r>
              <a:rPr lang="vi-VN" sz="1200" kern="1200">
                <a:solidFill>
                  <a:schemeClr val="tx1"/>
                </a:solidFill>
                <a:latin typeface="+mn-lt"/>
                <a:ea typeface="+mn-ea"/>
                <a:cs typeface="+mn-cs"/>
              </a:rPr>
              <a:t>      onCreate: (db, version) async {</a:t>
            </a:r>
          </a:p>
          <a:p>
            <a:pPr rtl="0"/>
            <a:r>
              <a:rPr lang="vi-VN" sz="1200" kern="1200">
                <a:solidFill>
                  <a:schemeClr val="tx1"/>
                </a:solidFill>
                <a:latin typeface="+mn-lt"/>
                <a:ea typeface="+mn-ea"/>
                <a:cs typeface="+mn-cs"/>
              </a:rPr>
              <a:t>        await db.execute('''</a:t>
            </a:r>
          </a:p>
          <a:p>
            <a:pPr rtl="0"/>
            <a:r>
              <a:rPr lang="vi-VN" sz="1200" kern="1200">
                <a:solidFill>
                  <a:schemeClr val="tx1"/>
                </a:solidFill>
                <a:latin typeface="+mn-lt"/>
                <a:ea typeface="+mn-ea"/>
                <a:cs typeface="+mn-cs"/>
              </a:rPr>
              <a:t>          CREATE TABLE products (</a:t>
            </a:r>
          </a:p>
          <a:p>
            <a:pPr rtl="0"/>
            <a:r>
              <a:rPr lang="vi-VN" sz="1200" kern="1200">
                <a:solidFill>
                  <a:schemeClr val="tx1"/>
                </a:solidFill>
                <a:latin typeface="+mn-lt"/>
                <a:ea typeface="+mn-ea"/>
                <a:cs typeface="+mn-cs"/>
              </a:rPr>
              <a:t>            id INTEGER PRIMARY KEY AUTOINCREMENT,</a:t>
            </a:r>
          </a:p>
          <a:p>
            <a:pPr rtl="0"/>
            <a:r>
              <a:rPr lang="vi-VN" sz="1200" kern="1200">
                <a:solidFill>
                  <a:schemeClr val="tx1"/>
                </a:solidFill>
                <a:latin typeface="+mn-lt"/>
                <a:ea typeface="+mn-ea"/>
                <a:cs typeface="+mn-cs"/>
              </a:rPr>
              <a:t>            name TEXT NOT NULL,</a:t>
            </a:r>
          </a:p>
          <a:p>
            <a:pPr rtl="0"/>
            <a:r>
              <a:rPr lang="vi-VN" sz="1200" kern="1200">
                <a:solidFill>
                  <a:schemeClr val="tx1"/>
                </a:solidFill>
                <a:latin typeface="+mn-lt"/>
                <a:ea typeface="+mn-ea"/>
                <a:cs typeface="+mn-cs"/>
              </a:rPr>
              <a:t>            price REAL NOT NULL,</a:t>
            </a:r>
          </a:p>
          <a:p>
            <a:pPr rtl="0"/>
            <a:r>
              <a:rPr lang="vi-VN" sz="1200" kern="1200">
                <a:solidFill>
                  <a:schemeClr val="tx1"/>
                </a:solidFill>
                <a:latin typeface="+mn-lt"/>
                <a:ea typeface="+mn-ea"/>
                <a:cs typeface="+mn-cs"/>
              </a:rPr>
              <a:t>            quantity INTEGER NOT NULL,</a:t>
            </a:r>
          </a:p>
          <a:p>
            <a:pPr rtl="0"/>
            <a:r>
              <a:rPr lang="vi-VN" sz="1200" kern="1200">
                <a:solidFill>
                  <a:schemeClr val="tx1"/>
                </a:solidFill>
                <a:latin typeface="+mn-lt"/>
                <a:ea typeface="+mn-ea"/>
                <a:cs typeface="+mn-cs"/>
              </a:rPr>
              <a:t>            description TEXT,</a:t>
            </a:r>
          </a:p>
          <a:p>
            <a:pPr rtl="0"/>
            <a:r>
              <a:rPr lang="vi-VN" sz="1200" kern="1200">
                <a:solidFill>
                  <a:schemeClr val="tx1"/>
                </a:solidFill>
                <a:latin typeface="+mn-lt"/>
                <a:ea typeface="+mn-ea"/>
                <a:cs typeface="+mn-cs"/>
              </a:rPr>
              <a:t>            created_at TEXT NOT NULL</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return _db!;</a:t>
            </a:r>
          </a:p>
          <a:p>
            <a:pPr rtl="0"/>
            <a:r>
              <a:rPr lang="vi-VN" sz="1200" kern="1200">
                <a:solidFill>
                  <a:schemeClr val="tx1"/>
                </a:solidFill>
                <a:latin typeface="+mn-lt"/>
                <a:ea typeface="+mn-ea"/>
                <a:cs typeface="+mn-cs"/>
              </a:rPr>
              <a:t>}</a:t>
            </a:r>
          </a:p>
          <a:p>
            <a:r>
              <a:rPr lang="vi-VN"/>
              <a:t>Mở (hoặc tạo mới) database tại </a:t>
            </a:r>
            <a:r>
              <a:rPr lang="vi-VN" sz="1200" kern="1200">
                <a:solidFill>
                  <a:schemeClr val="tx1"/>
                </a:solidFill>
                <a:latin typeface="+mn-lt"/>
                <a:ea typeface="+mn-ea"/>
                <a:cs typeface="+mn-cs"/>
              </a:rPr>
              <a:t>path</a:t>
            </a:r>
            <a:r>
              <a:rPr lang="vi-VN"/>
              <a:t>.</a:t>
            </a:r>
          </a:p>
          <a:p>
            <a:r>
              <a:rPr lang="vi-VN" sz="1200" kern="1200">
                <a:solidFill>
                  <a:schemeClr val="tx1"/>
                </a:solidFill>
                <a:latin typeface="+mn-lt"/>
                <a:ea typeface="+mn-ea"/>
                <a:cs typeface="+mn-cs"/>
              </a:rPr>
              <a:t>onCreate</a:t>
            </a:r>
            <a:r>
              <a:rPr lang="vi-VN"/>
              <a:t>: callback </a:t>
            </a:r>
            <a:r>
              <a:rPr lang="vi-VN" b="1"/>
              <a:t>khi database lần đầu được tạo</a:t>
            </a:r>
            <a:r>
              <a:rPr lang="vi-VN"/>
              <a:t> → tạo bảng </a:t>
            </a:r>
            <a:r>
              <a:rPr lang="vi-VN" sz="1200" kern="1200">
                <a:solidFill>
                  <a:schemeClr val="tx1"/>
                </a:solidFill>
                <a:latin typeface="+mn-lt"/>
                <a:ea typeface="+mn-ea"/>
                <a:cs typeface="+mn-cs"/>
              </a:rPr>
              <a:t>products</a:t>
            </a:r>
            <a:r>
              <a:rPr lang="vi-VN"/>
              <a:t>.</a:t>
            </a:r>
          </a:p>
          <a:p>
            <a:r>
              <a:rPr lang="vi-VN" sz="1200" kern="1200">
                <a:solidFill>
                  <a:schemeClr val="tx1"/>
                </a:solidFill>
                <a:latin typeface="+mn-lt"/>
                <a:ea typeface="+mn-ea"/>
                <a:cs typeface="+mn-cs"/>
              </a:rPr>
              <a:t>version: 1</a:t>
            </a:r>
            <a:r>
              <a:rPr lang="vi-VN"/>
              <a:t>: đánh số phiên bản DB để sau này nâng cấp (thêm cột, đổi cấu trúc...).</a:t>
            </a:r>
          </a:p>
          <a:p>
            <a:pPr marL="0" indent="0">
              <a:buFontTx/>
              <a:buNone/>
            </a:pPr>
            <a:endParaRPr lang="en-US"/>
          </a:p>
        </p:txBody>
      </p:sp>
      <p:sp>
        <p:nvSpPr>
          <p:cNvPr id="4" name="Slide Number Placeholder 3">
            <a:extLst>
              <a:ext uri="{FF2B5EF4-FFF2-40B4-BE49-F238E27FC236}">
                <a16:creationId xmlns:a16="http://schemas.microsoft.com/office/drawing/2014/main" id="{A1086EEE-72AD-B7BB-C8CD-57A0B6CA066C}"/>
              </a:ext>
            </a:extLst>
          </p:cNvPr>
          <p:cNvSpPr>
            <a:spLocks noGrp="1"/>
          </p:cNvSpPr>
          <p:nvPr>
            <p:ph type="sldNum" sz="quarter" idx="5"/>
          </p:nvPr>
        </p:nvSpPr>
        <p:spPr/>
        <p:txBody>
          <a:bodyPr/>
          <a:lstStyle/>
          <a:p>
            <a:fld id="{1983A999-5E0E-42CA-8400-604AE921FF7C}" type="slidenum">
              <a:rPr lang="en-US" smtClean="0"/>
              <a:t>11</a:t>
            </a:fld>
            <a:endParaRPr lang="en-US"/>
          </a:p>
        </p:txBody>
      </p:sp>
    </p:spTree>
    <p:extLst>
      <p:ext uri="{BB962C8B-B14F-4D97-AF65-F5344CB8AC3E}">
        <p14:creationId xmlns:p14="http://schemas.microsoft.com/office/powerpoint/2010/main" val="29622775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31613-021A-D603-70BA-4AA87B9D94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0BA8BC-3756-20DF-F972-8335F3D138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F00AA5-C726-1CD4-CC32-678DA470B1AF}"/>
              </a:ext>
            </a:extLst>
          </p:cNvPr>
          <p:cNvSpPr>
            <a:spLocks noGrp="1"/>
          </p:cNvSpPr>
          <p:nvPr>
            <p:ph type="body" idx="1"/>
          </p:nvPr>
        </p:nvSpPr>
        <p:spPr/>
        <p:txBody>
          <a:bodyPr/>
          <a:lstStyle/>
          <a:p>
            <a:r>
              <a:rPr lang="vi-VN" b="1"/>
              <a:t>db_helper.dart</a:t>
            </a:r>
            <a:r>
              <a:rPr lang="vi-VN"/>
              <a:t>: lớp trợ giúp truy cập SQLite (DB helper). Chịu trách nhiệm khởi tạo DB, tạo bảng, và thực hiện thao tác CRUD (Create, Read, Update, Delete).</a:t>
            </a:r>
          </a:p>
          <a:p>
            <a:r>
              <a:rPr lang="en-US" b="1"/>
              <a:t>- Làm rõ code:</a:t>
            </a:r>
            <a:br>
              <a:rPr lang="en-US" b="1"/>
            </a:br>
            <a:r>
              <a:rPr lang="vi-VN" b="1"/>
              <a:t>⚙️ Các hàm CRUD</a:t>
            </a:r>
          </a:p>
          <a:p>
            <a:r>
              <a:rPr lang="en-US" b="1"/>
              <a:t>➕ </a:t>
            </a:r>
            <a:r>
              <a:rPr lang="vi-VN" sz="1200" b="1" kern="1200">
                <a:solidFill>
                  <a:schemeClr val="tx1"/>
                </a:solidFill>
                <a:latin typeface="+mn-lt"/>
                <a:ea typeface="+mn-ea"/>
                <a:cs typeface="+mn-cs"/>
              </a:rPr>
              <a:t>insertProduct</a:t>
            </a:r>
            <a:endParaRPr lang="vi-VN" b="1"/>
          </a:p>
          <a:p>
            <a:pPr rtl="0"/>
            <a:r>
              <a:rPr lang="vi-VN" sz="1200" kern="1200">
                <a:solidFill>
                  <a:schemeClr val="tx1"/>
                </a:solidFill>
                <a:latin typeface="+mn-lt"/>
                <a:ea typeface="+mn-ea"/>
                <a:cs typeface="+mn-cs"/>
              </a:rPr>
              <a:t>static Future&lt;void&gt; insertProduct(Product product) async {</a:t>
            </a:r>
          </a:p>
          <a:p>
            <a:pPr rtl="0"/>
            <a:r>
              <a:rPr lang="vi-VN" sz="1200" kern="1200">
                <a:solidFill>
                  <a:schemeClr val="tx1"/>
                </a:solidFill>
                <a:latin typeface="+mn-lt"/>
                <a:ea typeface="+mn-ea"/>
                <a:cs typeface="+mn-cs"/>
              </a:rPr>
              <a:t>  final db = await _instance.database;</a:t>
            </a:r>
          </a:p>
          <a:p>
            <a:pPr rtl="0"/>
            <a:r>
              <a:rPr lang="vi-VN" sz="1200" kern="1200">
                <a:solidFill>
                  <a:schemeClr val="tx1"/>
                </a:solidFill>
                <a:latin typeface="+mn-lt"/>
                <a:ea typeface="+mn-ea"/>
                <a:cs typeface="+mn-cs"/>
              </a:rPr>
              <a:t>  await db.insert('products', product.toMap());</a:t>
            </a:r>
          </a:p>
          <a:p>
            <a:pPr rtl="0"/>
            <a:r>
              <a:rPr lang="vi-VN" sz="1200" kern="1200">
                <a:solidFill>
                  <a:schemeClr val="tx1"/>
                </a:solidFill>
                <a:latin typeface="+mn-lt"/>
                <a:ea typeface="+mn-ea"/>
                <a:cs typeface="+mn-cs"/>
              </a:rPr>
              <a:t>}</a:t>
            </a:r>
          </a:p>
          <a:p>
            <a:r>
              <a:rPr lang="vi-VN"/>
              <a:t>Lấy đối tượng </a:t>
            </a:r>
            <a:r>
              <a:rPr lang="vi-VN" sz="1200" kern="1200">
                <a:solidFill>
                  <a:schemeClr val="tx1"/>
                </a:solidFill>
                <a:latin typeface="+mn-lt"/>
                <a:ea typeface="+mn-ea"/>
                <a:cs typeface="+mn-cs"/>
              </a:rPr>
              <a:t>db</a:t>
            </a:r>
            <a:r>
              <a:rPr lang="vi-VN"/>
              <a:t> từ Singleton.</a:t>
            </a:r>
          </a:p>
          <a:p>
            <a:r>
              <a:rPr lang="vi-VN"/>
              <a:t>Gọi </a:t>
            </a:r>
            <a:r>
              <a:rPr lang="vi-VN" sz="1200" kern="1200">
                <a:solidFill>
                  <a:schemeClr val="tx1"/>
                </a:solidFill>
                <a:latin typeface="+mn-lt"/>
                <a:ea typeface="+mn-ea"/>
                <a:cs typeface="+mn-cs"/>
              </a:rPr>
              <a:t>insert</a:t>
            </a:r>
            <a:r>
              <a:rPr lang="vi-VN"/>
              <a:t> vào bảng </a:t>
            </a:r>
            <a:r>
              <a:rPr lang="vi-VN" sz="1200" kern="1200">
                <a:solidFill>
                  <a:schemeClr val="tx1"/>
                </a:solidFill>
                <a:latin typeface="+mn-lt"/>
                <a:ea typeface="+mn-ea"/>
                <a:cs typeface="+mn-cs"/>
              </a:rPr>
              <a:t>products</a:t>
            </a:r>
            <a:r>
              <a:rPr lang="vi-VN"/>
              <a:t>.</a:t>
            </a:r>
          </a:p>
          <a:p>
            <a:r>
              <a:rPr lang="vi-VN" sz="1200" kern="1200">
                <a:solidFill>
                  <a:schemeClr val="tx1"/>
                </a:solidFill>
                <a:latin typeface="+mn-lt"/>
                <a:ea typeface="+mn-ea"/>
                <a:cs typeface="+mn-cs"/>
              </a:rPr>
              <a:t>product.toMap()</a:t>
            </a:r>
            <a:r>
              <a:rPr lang="vi-VN"/>
              <a:t> chuyển đối tượng </a:t>
            </a:r>
            <a:r>
              <a:rPr lang="vi-VN" sz="1200" kern="1200">
                <a:solidFill>
                  <a:schemeClr val="tx1"/>
                </a:solidFill>
                <a:latin typeface="+mn-lt"/>
                <a:ea typeface="+mn-ea"/>
                <a:cs typeface="+mn-cs"/>
              </a:rPr>
              <a:t>Product</a:t>
            </a:r>
            <a:r>
              <a:rPr lang="vi-VN"/>
              <a:t> thành </a:t>
            </a:r>
            <a:r>
              <a:rPr lang="vi-VN" sz="1200" kern="1200">
                <a:solidFill>
                  <a:schemeClr val="tx1"/>
                </a:solidFill>
                <a:latin typeface="+mn-lt"/>
                <a:ea typeface="+mn-ea"/>
                <a:cs typeface="+mn-cs"/>
              </a:rPr>
              <a:t>Map&lt;String, dynamic&gt;</a:t>
            </a:r>
            <a:r>
              <a:rPr lang="vi-VN"/>
              <a:t> (tương tự JSON).</a:t>
            </a:r>
          </a:p>
          <a:p>
            <a:r>
              <a:rPr lang="en-US" b="1"/>
              <a:t>📖 </a:t>
            </a:r>
            <a:r>
              <a:rPr lang="vi-VN" sz="1200" b="1" kern="1200">
                <a:solidFill>
                  <a:schemeClr val="tx1"/>
                </a:solidFill>
                <a:latin typeface="+mn-lt"/>
                <a:ea typeface="+mn-ea"/>
                <a:cs typeface="+mn-cs"/>
              </a:rPr>
              <a:t>getAllProducts</a:t>
            </a:r>
            <a:endParaRPr lang="vi-VN" b="1"/>
          </a:p>
          <a:p>
            <a:pPr rtl="0"/>
            <a:r>
              <a:rPr lang="vi-VN" sz="1200" kern="1200">
                <a:solidFill>
                  <a:schemeClr val="tx1"/>
                </a:solidFill>
                <a:latin typeface="+mn-lt"/>
                <a:ea typeface="+mn-ea"/>
                <a:cs typeface="+mn-cs"/>
              </a:rPr>
              <a:t>static Future&lt;List&lt;Product&gt;&gt; getAllProducts() async {</a:t>
            </a:r>
          </a:p>
          <a:p>
            <a:pPr rtl="0"/>
            <a:r>
              <a:rPr lang="vi-VN" sz="1200" kern="1200">
                <a:solidFill>
                  <a:schemeClr val="tx1"/>
                </a:solidFill>
                <a:latin typeface="+mn-lt"/>
                <a:ea typeface="+mn-ea"/>
                <a:cs typeface="+mn-cs"/>
              </a:rPr>
              <a:t>  final db = await _instance.database;</a:t>
            </a:r>
          </a:p>
          <a:p>
            <a:pPr rtl="0"/>
            <a:r>
              <a:rPr lang="vi-VN" sz="1200" kern="1200">
                <a:solidFill>
                  <a:schemeClr val="tx1"/>
                </a:solidFill>
                <a:latin typeface="+mn-lt"/>
                <a:ea typeface="+mn-ea"/>
                <a:cs typeface="+mn-cs"/>
              </a:rPr>
              <a:t>  final data = await db.query('products', orderBy: 'id DESC');</a:t>
            </a:r>
          </a:p>
          <a:p>
            <a:pPr rtl="0"/>
            <a:r>
              <a:rPr lang="vi-VN" sz="1200" kern="1200">
                <a:solidFill>
                  <a:schemeClr val="tx1"/>
                </a:solidFill>
                <a:latin typeface="+mn-lt"/>
                <a:ea typeface="+mn-ea"/>
                <a:cs typeface="+mn-cs"/>
              </a:rPr>
              <a:t>  return data.map((e) =&gt; Product.fromMap(e)).toList();</a:t>
            </a:r>
          </a:p>
          <a:p>
            <a:pPr rtl="0"/>
            <a:r>
              <a:rPr lang="vi-VN" sz="1200" kern="1200">
                <a:solidFill>
                  <a:schemeClr val="tx1"/>
                </a:solidFill>
                <a:latin typeface="+mn-lt"/>
                <a:ea typeface="+mn-ea"/>
                <a:cs typeface="+mn-cs"/>
              </a:rPr>
              <a:t>}</a:t>
            </a:r>
          </a:p>
          <a:p>
            <a:r>
              <a:rPr lang="vi-VN"/>
              <a:t>Lấy toàn bộ sản phẩm từ bảng </a:t>
            </a:r>
            <a:r>
              <a:rPr lang="vi-VN" sz="1200" kern="1200">
                <a:solidFill>
                  <a:schemeClr val="tx1"/>
                </a:solidFill>
                <a:latin typeface="+mn-lt"/>
                <a:ea typeface="+mn-ea"/>
                <a:cs typeface="+mn-cs"/>
              </a:rPr>
              <a:t>products</a:t>
            </a:r>
            <a:r>
              <a:rPr lang="vi-VN"/>
              <a:t>.</a:t>
            </a:r>
          </a:p>
          <a:p>
            <a:r>
              <a:rPr lang="vi-VN"/>
              <a:t>Sắp xếp theo </a:t>
            </a:r>
            <a:r>
              <a:rPr lang="vi-VN" sz="1200" kern="1200">
                <a:solidFill>
                  <a:schemeClr val="tx1"/>
                </a:solidFill>
                <a:latin typeface="+mn-lt"/>
                <a:ea typeface="+mn-ea"/>
                <a:cs typeface="+mn-cs"/>
              </a:rPr>
              <a:t>id</a:t>
            </a:r>
            <a:r>
              <a:rPr lang="vi-VN"/>
              <a:t> giảm dần (mới nhất trước).</a:t>
            </a:r>
          </a:p>
          <a:p>
            <a:r>
              <a:rPr lang="vi-VN"/>
              <a:t>Mỗi hàng (</a:t>
            </a:r>
            <a:r>
              <a:rPr lang="vi-VN" sz="1200" kern="1200">
                <a:solidFill>
                  <a:schemeClr val="tx1"/>
                </a:solidFill>
                <a:latin typeface="+mn-lt"/>
                <a:ea typeface="+mn-ea"/>
                <a:cs typeface="+mn-cs"/>
              </a:rPr>
              <a:t>Map&lt;String, dynamic&gt;</a:t>
            </a:r>
            <a:r>
              <a:rPr lang="vi-VN"/>
              <a:t>) được chuyển lại thành đối tượng </a:t>
            </a:r>
            <a:r>
              <a:rPr lang="vi-VN" sz="1200" kern="1200">
                <a:solidFill>
                  <a:schemeClr val="tx1"/>
                </a:solidFill>
                <a:latin typeface="+mn-lt"/>
                <a:ea typeface="+mn-ea"/>
                <a:cs typeface="+mn-cs"/>
              </a:rPr>
              <a:t>Product</a:t>
            </a:r>
            <a:r>
              <a:rPr lang="vi-VN"/>
              <a:t> qua </a:t>
            </a:r>
            <a:r>
              <a:rPr lang="vi-VN" sz="1200" kern="1200">
                <a:solidFill>
                  <a:schemeClr val="tx1"/>
                </a:solidFill>
                <a:latin typeface="+mn-lt"/>
                <a:ea typeface="+mn-ea"/>
                <a:cs typeface="+mn-cs"/>
              </a:rPr>
              <a:t>fromMap()</a:t>
            </a:r>
            <a:r>
              <a:rPr lang="vi-VN"/>
              <a:t>.</a:t>
            </a:r>
          </a:p>
          <a:p>
            <a:r>
              <a:rPr lang="vi-VN" b="1"/>
              <a:t>✏️ </a:t>
            </a:r>
            <a:r>
              <a:rPr lang="vi-VN" sz="1200" b="1" kern="1200">
                <a:solidFill>
                  <a:schemeClr val="tx1"/>
                </a:solidFill>
                <a:latin typeface="+mn-lt"/>
                <a:ea typeface="+mn-ea"/>
                <a:cs typeface="+mn-cs"/>
              </a:rPr>
              <a:t>updateProduct</a:t>
            </a:r>
            <a:endParaRPr lang="vi-VN" b="1"/>
          </a:p>
          <a:p>
            <a:pPr rtl="0"/>
            <a:r>
              <a:rPr lang="vi-VN" sz="1200" kern="1200">
                <a:solidFill>
                  <a:schemeClr val="tx1"/>
                </a:solidFill>
                <a:latin typeface="+mn-lt"/>
                <a:ea typeface="+mn-ea"/>
                <a:cs typeface="+mn-cs"/>
              </a:rPr>
              <a:t>static Future&lt;void&gt; updateProduct(Product product) async {</a:t>
            </a:r>
          </a:p>
          <a:p>
            <a:pPr rtl="0"/>
            <a:r>
              <a:rPr lang="vi-VN" sz="1200" kern="1200">
                <a:solidFill>
                  <a:schemeClr val="tx1"/>
                </a:solidFill>
                <a:latin typeface="+mn-lt"/>
                <a:ea typeface="+mn-ea"/>
                <a:cs typeface="+mn-cs"/>
              </a:rPr>
              <a:t>  final db = await _instance.database;</a:t>
            </a:r>
          </a:p>
          <a:p>
            <a:pPr rtl="0"/>
            <a:r>
              <a:rPr lang="vi-VN" sz="1200" kern="1200">
                <a:solidFill>
                  <a:schemeClr val="tx1"/>
                </a:solidFill>
                <a:latin typeface="+mn-lt"/>
                <a:ea typeface="+mn-ea"/>
                <a:cs typeface="+mn-cs"/>
              </a:rPr>
              <a:t>  await db.update('products', product.toMap(),</a:t>
            </a:r>
          </a:p>
          <a:p>
            <a:pPr rtl="0"/>
            <a:r>
              <a:rPr lang="vi-VN" sz="1200" kern="1200">
                <a:solidFill>
                  <a:schemeClr val="tx1"/>
                </a:solidFill>
                <a:latin typeface="+mn-lt"/>
                <a:ea typeface="+mn-ea"/>
                <a:cs typeface="+mn-cs"/>
              </a:rPr>
              <a:t>      where: 'id = ?', whereArgs: [product.id]);</a:t>
            </a:r>
          </a:p>
          <a:p>
            <a:pPr rtl="0"/>
            <a:r>
              <a:rPr lang="vi-VN" sz="1200" kern="1200">
                <a:solidFill>
                  <a:schemeClr val="tx1"/>
                </a:solidFill>
                <a:latin typeface="+mn-lt"/>
                <a:ea typeface="+mn-ea"/>
                <a:cs typeface="+mn-cs"/>
              </a:rPr>
              <a:t>}</a:t>
            </a:r>
          </a:p>
          <a:p>
            <a:r>
              <a:rPr lang="vi-VN"/>
              <a:t>Cập nhật thông tin sản phẩm theo </a:t>
            </a:r>
            <a:r>
              <a:rPr lang="vi-VN" sz="1200" kern="1200">
                <a:solidFill>
                  <a:schemeClr val="tx1"/>
                </a:solidFill>
                <a:latin typeface="+mn-lt"/>
                <a:ea typeface="+mn-ea"/>
                <a:cs typeface="+mn-cs"/>
              </a:rPr>
              <a:t>id</a:t>
            </a:r>
            <a:r>
              <a:rPr lang="vi-VN"/>
              <a:t>.</a:t>
            </a:r>
          </a:p>
          <a:p>
            <a:r>
              <a:rPr lang="vi-VN" sz="1200" kern="1200">
                <a:solidFill>
                  <a:schemeClr val="tx1"/>
                </a:solidFill>
                <a:latin typeface="+mn-lt"/>
                <a:ea typeface="+mn-ea"/>
                <a:cs typeface="+mn-cs"/>
              </a:rPr>
              <a:t>whereArgs</a:t>
            </a:r>
            <a:r>
              <a:rPr lang="vi-VN"/>
              <a:t> giúp tránh lỗi SQL Injection.</a:t>
            </a:r>
          </a:p>
          <a:p>
            <a:r>
              <a:rPr lang="en-US" b="1"/>
              <a:t>❌ </a:t>
            </a:r>
            <a:r>
              <a:rPr lang="vi-VN" sz="1200" b="1" kern="1200">
                <a:solidFill>
                  <a:schemeClr val="tx1"/>
                </a:solidFill>
                <a:latin typeface="+mn-lt"/>
                <a:ea typeface="+mn-ea"/>
                <a:cs typeface="+mn-cs"/>
              </a:rPr>
              <a:t>deleteProduct</a:t>
            </a:r>
            <a:endParaRPr lang="vi-VN" b="1"/>
          </a:p>
          <a:p>
            <a:pPr rtl="0"/>
            <a:r>
              <a:rPr lang="vi-VN" sz="1200" kern="1200">
                <a:solidFill>
                  <a:schemeClr val="tx1"/>
                </a:solidFill>
                <a:latin typeface="+mn-lt"/>
                <a:ea typeface="+mn-ea"/>
                <a:cs typeface="+mn-cs"/>
              </a:rPr>
              <a:t>static Future&lt;void&gt; deleteProduct(int id) async {</a:t>
            </a:r>
          </a:p>
          <a:p>
            <a:pPr rtl="0"/>
            <a:r>
              <a:rPr lang="vi-VN" sz="1200" kern="1200">
                <a:solidFill>
                  <a:schemeClr val="tx1"/>
                </a:solidFill>
                <a:latin typeface="+mn-lt"/>
                <a:ea typeface="+mn-ea"/>
                <a:cs typeface="+mn-cs"/>
              </a:rPr>
              <a:t>  final db = await _instance.database;</a:t>
            </a:r>
          </a:p>
          <a:p>
            <a:pPr rtl="0"/>
            <a:r>
              <a:rPr lang="vi-VN" sz="1200" kern="1200">
                <a:solidFill>
                  <a:schemeClr val="tx1"/>
                </a:solidFill>
                <a:latin typeface="+mn-lt"/>
                <a:ea typeface="+mn-ea"/>
                <a:cs typeface="+mn-cs"/>
              </a:rPr>
              <a:t>  await db.delete('products', where: 'id = ?', whereArgs: [id]);</a:t>
            </a:r>
          </a:p>
          <a:p>
            <a:pPr rtl="0"/>
            <a:r>
              <a:rPr lang="vi-VN" sz="1200" kern="1200">
                <a:solidFill>
                  <a:schemeClr val="tx1"/>
                </a:solidFill>
                <a:latin typeface="+mn-lt"/>
                <a:ea typeface="+mn-ea"/>
                <a:cs typeface="+mn-cs"/>
              </a:rPr>
              <a:t>}</a:t>
            </a:r>
          </a:p>
          <a:p>
            <a:r>
              <a:rPr lang="vi-VN"/>
              <a:t>Xóa sản phẩm theo </a:t>
            </a:r>
            <a:r>
              <a:rPr lang="vi-VN" sz="1200" kern="1200">
                <a:solidFill>
                  <a:schemeClr val="tx1"/>
                </a:solidFill>
                <a:latin typeface="+mn-lt"/>
                <a:ea typeface="+mn-ea"/>
                <a:cs typeface="+mn-cs"/>
              </a:rPr>
              <a:t>id</a:t>
            </a:r>
            <a:r>
              <a:rPr lang="vi-VN"/>
              <a:t>.</a:t>
            </a:r>
          </a:p>
          <a:p>
            <a:pPr>
              <a:buNone/>
            </a:pPr>
            <a:endParaRPr lang="vi-VN" b="1"/>
          </a:p>
          <a:p>
            <a:endParaRPr lang="vi-VN"/>
          </a:p>
          <a:p>
            <a:pPr marL="0" indent="0">
              <a:buFontTx/>
              <a:buNone/>
            </a:pPr>
            <a:endParaRPr lang="en-US"/>
          </a:p>
        </p:txBody>
      </p:sp>
      <p:sp>
        <p:nvSpPr>
          <p:cNvPr id="4" name="Slide Number Placeholder 3">
            <a:extLst>
              <a:ext uri="{FF2B5EF4-FFF2-40B4-BE49-F238E27FC236}">
                <a16:creationId xmlns:a16="http://schemas.microsoft.com/office/drawing/2014/main" id="{B859CE50-20CB-C185-8A1C-2CB398FBC2AC}"/>
              </a:ext>
            </a:extLst>
          </p:cNvPr>
          <p:cNvSpPr>
            <a:spLocks noGrp="1"/>
          </p:cNvSpPr>
          <p:nvPr>
            <p:ph type="sldNum" sz="quarter" idx="5"/>
          </p:nvPr>
        </p:nvSpPr>
        <p:spPr/>
        <p:txBody>
          <a:bodyPr/>
          <a:lstStyle/>
          <a:p>
            <a:fld id="{1983A999-5E0E-42CA-8400-604AE921FF7C}" type="slidenum">
              <a:rPr lang="en-US" smtClean="0"/>
              <a:t>12</a:t>
            </a:fld>
            <a:endParaRPr lang="en-US"/>
          </a:p>
        </p:txBody>
      </p:sp>
    </p:spTree>
    <p:extLst>
      <p:ext uri="{BB962C8B-B14F-4D97-AF65-F5344CB8AC3E}">
        <p14:creationId xmlns:p14="http://schemas.microsoft.com/office/powerpoint/2010/main" val="13746021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CCDC8-A233-8566-269E-B4C9FBDA3C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10146E-B1C2-8CD6-1751-4CBA250F10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D416C9-461D-017E-DFF2-33D584C5A909}"/>
              </a:ext>
            </a:extLst>
          </p:cNvPr>
          <p:cNvSpPr>
            <a:spLocks noGrp="1"/>
          </p:cNvSpPr>
          <p:nvPr>
            <p:ph type="body" idx="1"/>
          </p:nvPr>
        </p:nvSpPr>
        <p:spPr/>
        <p:txBody>
          <a:bodyPr/>
          <a:lstStyle/>
          <a:p>
            <a:r>
              <a:rPr lang="vi-VN" b="1"/>
              <a:t>main.dart</a:t>
            </a:r>
            <a:r>
              <a:rPr lang="vi-VN"/>
              <a:t>: UI + logic app Flutter. Giao diện hiển thị danh sách sản phẩm, form thêm/sửa, và gọi các phương thức trong </a:t>
            </a:r>
            <a:r>
              <a:rPr lang="vi-VN" sz="1200" kern="1200">
                <a:solidFill>
                  <a:schemeClr val="tx1"/>
                </a:solidFill>
                <a:latin typeface="+mn-lt"/>
                <a:ea typeface="+mn-ea"/>
                <a:cs typeface="+mn-cs"/>
              </a:rPr>
              <a:t>DBHelper</a:t>
            </a:r>
            <a:r>
              <a:rPr lang="vi-VN"/>
              <a:t> để thao tác dữ liệu.</a:t>
            </a:r>
            <a:endParaRPr lang="en-US"/>
          </a:p>
          <a:p>
            <a:r>
              <a:rPr lang="en-US"/>
              <a:t>Đoạn code gộp UI + logic. Tôi tách thành các phần: khởi tạo app, stateful widget, form/validation, hiển thị danh sách.</a:t>
            </a:r>
          </a:p>
          <a:p>
            <a:r>
              <a:rPr lang="en-US" b="1"/>
              <a:t>Làm rõ code:</a:t>
            </a:r>
          </a:p>
          <a:p>
            <a:pPr>
              <a:buFont typeface="Arial" panose="020B0604020202020204" pitchFamily="34" charset="0"/>
              <a:buChar char="•"/>
            </a:pPr>
            <a:r>
              <a:rPr lang="vi-VN">
                <a:latin typeface="Courier New" panose="02070309020205020404" pitchFamily="49" charset="0"/>
              </a:rPr>
              <a:t>import 'package:flutter/material.dart';</a:t>
            </a:r>
            <a:r>
              <a:rPr lang="vi-VN"/>
              <a:t> — Flutter UI.</a:t>
            </a:r>
          </a:p>
          <a:p>
            <a:pPr>
              <a:buFont typeface="Arial" panose="020B0604020202020204" pitchFamily="34" charset="0"/>
              <a:buChar char="•"/>
            </a:pPr>
            <a:r>
              <a:rPr lang="vi-VN">
                <a:latin typeface="Courier New" panose="02070309020205020404" pitchFamily="49" charset="0"/>
              </a:rPr>
              <a:t>import 'package:intl/intl.dart';</a:t>
            </a:r>
            <a:r>
              <a:rPr lang="vi-VN"/>
              <a:t> — dùng </a:t>
            </a:r>
            <a:r>
              <a:rPr lang="vi-VN">
                <a:latin typeface="Courier New" panose="02070309020205020404" pitchFamily="49" charset="0"/>
              </a:rPr>
              <a:t>DateFormat</a:t>
            </a:r>
            <a:r>
              <a:rPr lang="vi-VN"/>
              <a:t> để format ngày giờ.</a:t>
            </a:r>
          </a:p>
          <a:p>
            <a:pPr>
              <a:buFont typeface="Arial" panose="020B0604020202020204" pitchFamily="34" charset="0"/>
              <a:buChar char="•"/>
            </a:pPr>
            <a:r>
              <a:rPr lang="vi-VN">
                <a:latin typeface="Courier New" panose="02070309020205020404" pitchFamily="49" charset="0"/>
              </a:rPr>
              <a:t>import 'db_helper.dart';</a:t>
            </a:r>
            <a:r>
              <a:rPr lang="vi-VN"/>
              <a:t> và </a:t>
            </a:r>
            <a:r>
              <a:rPr lang="vi-VN">
                <a:latin typeface="Courier New" panose="02070309020205020404" pitchFamily="49" charset="0"/>
              </a:rPr>
              <a:t>import 'product_model.dart';</a:t>
            </a:r>
            <a:r>
              <a:rPr lang="vi-VN"/>
              <a:t> — dùng DB và model.</a:t>
            </a:r>
          </a:p>
          <a:p>
            <a:pPr>
              <a:buFont typeface="Arial" panose="020B0604020202020204" pitchFamily="34" charset="0"/>
              <a:buChar char="•"/>
            </a:pPr>
            <a:r>
              <a:rPr lang="vi-VN">
                <a:latin typeface="Courier New" panose="02070309020205020404" pitchFamily="49" charset="0"/>
              </a:rPr>
              <a:t>void main() async { WidgetsFlutterBinding.ensureInitialized(); ... }</a:t>
            </a:r>
            <a:endParaRPr lang="vi-VN"/>
          </a:p>
          <a:p>
            <a:pPr marL="742950" lvl="1" indent="-285750">
              <a:buFont typeface="Arial" panose="020B0604020202020204" pitchFamily="34" charset="0"/>
              <a:buChar char="•"/>
            </a:pPr>
            <a:r>
              <a:rPr lang="vi-VN">
                <a:latin typeface="Courier New" panose="02070309020205020404" pitchFamily="49" charset="0"/>
              </a:rPr>
              <a:t>ensureInitialized()</a:t>
            </a:r>
            <a:r>
              <a:rPr lang="vi-VN"/>
              <a:t> cần khi </a:t>
            </a:r>
            <a:r>
              <a:rPr lang="vi-VN">
                <a:latin typeface="Courier New" panose="02070309020205020404" pitchFamily="49" charset="0"/>
              </a:rPr>
              <a:t>main</a:t>
            </a:r>
            <a:r>
              <a:rPr lang="vi-VN"/>
              <a:t> async và bạn làm thao tác nền (như open DB) trước khi </a:t>
            </a:r>
            <a:r>
              <a:rPr lang="vi-VN">
                <a:latin typeface="Courier New" panose="02070309020205020404" pitchFamily="49" charset="0"/>
              </a:rPr>
              <a:t>runApp</a:t>
            </a:r>
            <a:r>
              <a:rPr lang="vi-VN"/>
              <a:t>.</a:t>
            </a:r>
          </a:p>
          <a:p>
            <a:pPr marL="742950" lvl="1" indent="-285750">
              <a:buFont typeface="Arial" panose="020B0604020202020204" pitchFamily="34" charset="0"/>
              <a:buChar char="•"/>
            </a:pPr>
            <a:r>
              <a:rPr lang="vi-VN">
                <a:latin typeface="Courier New" panose="02070309020205020404" pitchFamily="49" charset="0"/>
              </a:rPr>
              <a:t>await DBHelper.initDb();</a:t>
            </a:r>
            <a:r>
              <a:rPr lang="vi-VN"/>
              <a:t> mở DB trước khi UI chạy (tốt để tránh lỗi khi UI gọi DB quá sớm).</a:t>
            </a:r>
          </a:p>
          <a:p>
            <a:pPr marL="742950" lvl="1" indent="-285750">
              <a:buFont typeface="Arial" panose="020B0604020202020204" pitchFamily="34" charset="0"/>
              <a:buChar char="•"/>
            </a:pPr>
            <a:r>
              <a:rPr lang="vi-VN">
                <a:latin typeface="Courier New" panose="02070309020205020404" pitchFamily="49" charset="0"/>
              </a:rPr>
              <a:t>runApp(const MyApp());</a:t>
            </a:r>
            <a:r>
              <a:rPr lang="vi-VN"/>
              <a:t> khởi chạy app.</a:t>
            </a:r>
          </a:p>
          <a:p>
            <a:endParaRPr lang="vi-VN" b="0"/>
          </a:p>
          <a:p>
            <a:pPr marL="0" indent="0">
              <a:buFontTx/>
              <a:buNone/>
            </a:pPr>
            <a:endParaRPr lang="en-US"/>
          </a:p>
        </p:txBody>
      </p:sp>
      <p:sp>
        <p:nvSpPr>
          <p:cNvPr id="4" name="Slide Number Placeholder 3">
            <a:extLst>
              <a:ext uri="{FF2B5EF4-FFF2-40B4-BE49-F238E27FC236}">
                <a16:creationId xmlns:a16="http://schemas.microsoft.com/office/drawing/2014/main" id="{8DE4F5ED-F6B2-68D1-4C83-2C9B2F1BC366}"/>
              </a:ext>
            </a:extLst>
          </p:cNvPr>
          <p:cNvSpPr>
            <a:spLocks noGrp="1"/>
          </p:cNvSpPr>
          <p:nvPr>
            <p:ph type="sldNum" sz="quarter" idx="5"/>
          </p:nvPr>
        </p:nvSpPr>
        <p:spPr/>
        <p:txBody>
          <a:bodyPr/>
          <a:lstStyle/>
          <a:p>
            <a:fld id="{1983A999-5E0E-42CA-8400-604AE921FF7C}" type="slidenum">
              <a:rPr lang="en-US" smtClean="0"/>
              <a:t>13</a:t>
            </a:fld>
            <a:endParaRPr lang="en-US"/>
          </a:p>
        </p:txBody>
      </p:sp>
    </p:spTree>
    <p:extLst>
      <p:ext uri="{BB962C8B-B14F-4D97-AF65-F5344CB8AC3E}">
        <p14:creationId xmlns:p14="http://schemas.microsoft.com/office/powerpoint/2010/main" val="25530365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9C983-89AE-3835-74F2-671881A043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9A2F53-D1CA-1E4A-B790-2E2E9CD966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29E259-101D-C99F-B75D-3300414E369C}"/>
              </a:ext>
            </a:extLst>
          </p:cNvPr>
          <p:cNvSpPr>
            <a:spLocks noGrp="1"/>
          </p:cNvSpPr>
          <p:nvPr>
            <p:ph type="body" idx="1"/>
          </p:nvPr>
        </p:nvSpPr>
        <p:spPr/>
        <p:txBody>
          <a:bodyPr/>
          <a:lstStyle/>
          <a:p>
            <a:r>
              <a:rPr lang="vi-VN" b="1"/>
              <a:t>main.dart</a:t>
            </a:r>
            <a:r>
              <a:rPr lang="vi-VN"/>
              <a:t>: UI + logic app Flutter. Giao diện hiển thị danh sách sản phẩm, form thêm/sửa, và gọi các phương thức trong </a:t>
            </a:r>
            <a:r>
              <a:rPr lang="vi-VN" sz="1200" kern="1200">
                <a:solidFill>
                  <a:schemeClr val="tx1"/>
                </a:solidFill>
                <a:latin typeface="+mn-lt"/>
                <a:ea typeface="+mn-ea"/>
                <a:cs typeface="+mn-cs"/>
              </a:rPr>
              <a:t>DBHelper</a:t>
            </a:r>
            <a:r>
              <a:rPr lang="vi-VN"/>
              <a:t> để thao tác dữ liệu.</a:t>
            </a:r>
            <a:endParaRPr lang="en-US"/>
          </a:p>
          <a:p>
            <a:r>
              <a:rPr lang="en-US"/>
              <a:t>------------------------------------------------------------------------------------------------------------------------------------------------------------------</a:t>
            </a:r>
          </a:p>
          <a:p>
            <a:r>
              <a:rPr lang="en-US" b="1"/>
              <a:t>Làm rõ code:</a:t>
            </a:r>
          </a:p>
          <a:p>
            <a:r>
              <a:rPr lang="vi-VN" b="0"/>
              <a:t>class ProductManager extends StatefulWidget {</a:t>
            </a:r>
          </a:p>
          <a:p>
            <a:r>
              <a:rPr lang="vi-VN" b="0"/>
              <a:t>  const ProductManager({super.key});</a:t>
            </a:r>
          </a:p>
          <a:p>
            <a:endParaRPr lang="vi-VN" b="0"/>
          </a:p>
          <a:p>
            <a:r>
              <a:rPr lang="vi-VN" b="0"/>
              <a:t>  @override</a:t>
            </a:r>
          </a:p>
          <a:p>
            <a:r>
              <a:rPr lang="vi-VN" b="0"/>
              <a:t>  State&lt;ProductManager&gt; createState() =&gt; _ProductManagerState();</a:t>
            </a:r>
          </a:p>
          <a:p>
            <a:r>
              <a:rPr lang="vi-VN" b="0"/>
              <a:t>}</a:t>
            </a:r>
          </a:p>
          <a:p>
            <a:r>
              <a:rPr lang="vi-VN" b="0"/>
              <a:t>Stateful vì cần quản lý state (danh sách sản phẩm, nội dung form,...).</a:t>
            </a:r>
          </a:p>
          <a:p>
            <a:r>
              <a:rPr lang="vi-VN" b="0"/>
              <a:t>class _ProductManagerState extends State&lt;ProductManager&gt; {</a:t>
            </a:r>
          </a:p>
          <a:p>
            <a:r>
              <a:rPr lang="vi-VN" b="0"/>
              <a:t>  final nameController = TextEditingController();</a:t>
            </a:r>
          </a:p>
          <a:p>
            <a:r>
              <a:rPr lang="vi-VN" b="0"/>
              <a:t>  final priceController = TextEditingController();</a:t>
            </a:r>
          </a:p>
          <a:p>
            <a:r>
              <a:rPr lang="vi-VN" b="0"/>
              <a:t>  final quantityController = TextEditingController();</a:t>
            </a:r>
          </a:p>
          <a:p>
            <a:r>
              <a:rPr lang="vi-VN" b="0"/>
              <a:t>  final descriptionController = TextEditingController();</a:t>
            </a:r>
          </a:p>
          <a:p>
            <a:endParaRPr lang="vi-VN" b="0"/>
          </a:p>
          <a:p>
            <a:r>
              <a:rPr lang="vi-VN" b="0"/>
              <a:t>  List&lt;Product&gt; products = [];</a:t>
            </a:r>
          </a:p>
          <a:p>
            <a:r>
              <a:rPr lang="vi-VN" b="0"/>
              <a:t>Tạo 4 TextEditingController để lấy input từ TextField.</a:t>
            </a:r>
          </a:p>
          <a:p>
            <a:r>
              <a:rPr lang="vi-VN" b="0"/>
              <a:t>products lưu danh sách hiện tại hiển thị.</a:t>
            </a:r>
            <a:endParaRPr lang="en-US" b="0"/>
          </a:p>
          <a:p>
            <a:endParaRPr lang="vi-VN" b="0"/>
          </a:p>
          <a:p>
            <a:r>
              <a:rPr lang="vi-VN" b="0"/>
              <a:t>@override</a:t>
            </a:r>
          </a:p>
          <a:p>
            <a:r>
              <a:rPr lang="vi-VN" b="0"/>
              <a:t>  void initState() {</a:t>
            </a:r>
          </a:p>
          <a:p>
            <a:r>
              <a:rPr lang="vi-VN" b="0"/>
              <a:t>    super.initState();</a:t>
            </a:r>
          </a:p>
          <a:p>
            <a:r>
              <a:rPr lang="vi-VN" b="0"/>
              <a:t>    _loadProducts();</a:t>
            </a:r>
          </a:p>
          <a:p>
            <a:r>
              <a:rPr lang="vi-VN" b="0"/>
              <a:t>  }</a:t>
            </a:r>
          </a:p>
          <a:p>
            <a:r>
              <a:rPr lang="vi-VN" b="0"/>
              <a:t>Khi widget khởi tạo, gọi _loadProducts() để đọc products từ DB.</a:t>
            </a:r>
          </a:p>
          <a:p>
            <a:endParaRPr lang="vi-VN" b="0"/>
          </a:p>
          <a:p>
            <a:r>
              <a:rPr lang="vi-VN" b="0"/>
              <a:t>Future&lt;void&gt; _loadProducts() async {</a:t>
            </a:r>
          </a:p>
          <a:p>
            <a:r>
              <a:rPr lang="vi-VN" b="0"/>
              <a:t>    final data = await DBHelper.getAllProducts();</a:t>
            </a:r>
          </a:p>
          <a:p>
            <a:r>
              <a:rPr lang="vi-VN" b="0"/>
              <a:t>    setState(() =&gt; products = data);</a:t>
            </a:r>
          </a:p>
          <a:p>
            <a:r>
              <a:rPr lang="vi-VN" b="0"/>
              <a:t>  }</a:t>
            </a:r>
          </a:p>
          <a:p>
            <a:r>
              <a:rPr lang="vi-VN" b="0"/>
              <a:t>Lấy danh sách từ DB rồi cập nhật state (gọi setState để rebuild giao diện).</a:t>
            </a:r>
          </a:p>
          <a:p>
            <a:r>
              <a:rPr lang="en-US" b="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a:t>DBHelper.getAllProducts(); Cách gọi này nghĩa là gì ?</a:t>
            </a:r>
          </a:p>
          <a:p>
            <a:r>
              <a:rPr lang="en-US" b="1"/>
              <a:t>=&gt; </a:t>
            </a:r>
          </a:p>
          <a:p>
            <a:r>
              <a:rPr lang="vi-VN"/>
              <a:t>Câu lệnh:</a:t>
            </a:r>
          </a:p>
          <a:p>
            <a:pPr rtl="0"/>
            <a:r>
              <a:rPr lang="vi-VN" sz="1200" kern="1200">
                <a:solidFill>
                  <a:schemeClr val="tx1"/>
                </a:solidFill>
                <a:latin typeface="+mn-lt"/>
                <a:ea typeface="+mn-ea"/>
                <a:cs typeface="+mn-cs"/>
              </a:rPr>
              <a:t>DBHelper.getAllProducts();</a:t>
            </a:r>
          </a:p>
          <a:p>
            <a:r>
              <a:rPr lang="vi-VN"/>
              <a:t>nghĩa là bạn </a:t>
            </a:r>
            <a:r>
              <a:rPr lang="vi-VN" b="1"/>
              <a:t>gọi trực tiếp phương thức tĩnh (static method)</a:t>
            </a:r>
            <a:r>
              <a:rPr lang="vi-VN"/>
              <a:t> </a:t>
            </a:r>
            <a:r>
              <a:rPr lang="vi-VN" sz="1200" kern="1200">
                <a:solidFill>
                  <a:schemeClr val="tx1"/>
                </a:solidFill>
                <a:latin typeface="+mn-lt"/>
                <a:ea typeface="+mn-ea"/>
                <a:cs typeface="+mn-cs"/>
              </a:rPr>
              <a:t>getAllProducts()</a:t>
            </a:r>
            <a:r>
              <a:rPr lang="vi-VN"/>
              <a:t> của lớp </a:t>
            </a:r>
            <a:r>
              <a:rPr lang="vi-VN" sz="1200" kern="1200">
                <a:solidFill>
                  <a:schemeClr val="tx1"/>
                </a:solidFill>
                <a:latin typeface="+mn-lt"/>
                <a:ea typeface="+mn-ea"/>
                <a:cs typeface="+mn-cs"/>
              </a:rPr>
              <a:t>DBHelper</a:t>
            </a:r>
            <a:r>
              <a:rPr lang="vi-VN"/>
              <a:t>.</a:t>
            </a:r>
            <a:br>
              <a:rPr lang="vi-VN"/>
            </a:br>
            <a:r>
              <a:rPr lang="vi-VN"/>
              <a:t>Giờ mình giải thích chi tiết nhé </a:t>
            </a:r>
            <a:r>
              <a:rPr lang="en-US"/>
              <a:t>👇</a:t>
            </a:r>
          </a:p>
          <a:p>
            <a:r>
              <a:rPr lang="en-US" b="1"/>
              <a:t>🔹 1. </a:t>
            </a:r>
            <a:r>
              <a:rPr lang="vi-VN" b="1"/>
              <a:t>Static method là gì?</a:t>
            </a:r>
          </a:p>
          <a:p>
            <a:r>
              <a:rPr lang="vi-VN"/>
              <a:t>Trong Dart, khi một phương thức được khai báo với từ khóa </a:t>
            </a:r>
            <a:r>
              <a:rPr lang="vi-VN" sz="1200" kern="1200">
                <a:solidFill>
                  <a:schemeClr val="tx1"/>
                </a:solidFill>
                <a:latin typeface="+mn-lt"/>
                <a:ea typeface="+mn-ea"/>
                <a:cs typeface="+mn-cs"/>
              </a:rPr>
              <a:t>static</a:t>
            </a:r>
            <a:r>
              <a:rPr lang="vi-VN"/>
              <a:t>,</a:t>
            </a:r>
            <a:br>
              <a:rPr lang="vi-VN"/>
            </a:br>
            <a:r>
              <a:rPr lang="vi-VN"/>
              <a:t>thì </a:t>
            </a:r>
            <a:r>
              <a:rPr lang="vi-VN" b="1"/>
              <a:t>nó thuộc về lớp (class)</a:t>
            </a:r>
            <a:r>
              <a:rPr lang="vi-VN"/>
              <a:t> chứ </a:t>
            </a:r>
            <a:r>
              <a:rPr lang="vi-VN" b="1"/>
              <a:t>không thuộc về đối tượng (instance)</a:t>
            </a:r>
            <a:r>
              <a:rPr lang="vi-VN"/>
              <a:t>.</a:t>
            </a:r>
          </a:p>
          <a:p>
            <a:r>
              <a:rPr lang="vi-VN"/>
              <a:t>Ví dụ:</a:t>
            </a:r>
          </a:p>
          <a:p>
            <a:pPr rtl="0"/>
            <a:r>
              <a:rPr lang="vi-VN" sz="1200" kern="1200">
                <a:solidFill>
                  <a:schemeClr val="tx1"/>
                </a:solidFill>
                <a:latin typeface="+mn-lt"/>
                <a:ea typeface="+mn-ea"/>
                <a:cs typeface="+mn-cs"/>
              </a:rPr>
              <a:t>class DBHelper {</a:t>
            </a:r>
          </a:p>
          <a:p>
            <a:pPr rtl="0"/>
            <a:r>
              <a:rPr lang="vi-VN" sz="1200" kern="1200">
                <a:solidFill>
                  <a:schemeClr val="tx1"/>
                </a:solidFill>
                <a:latin typeface="+mn-lt"/>
                <a:ea typeface="+mn-ea"/>
                <a:cs typeface="+mn-cs"/>
              </a:rPr>
              <a:t>  static void hello() {</a:t>
            </a:r>
          </a:p>
          <a:p>
            <a:pPr rtl="0"/>
            <a:r>
              <a:rPr lang="vi-VN" sz="1200" kern="1200">
                <a:solidFill>
                  <a:schemeClr val="tx1"/>
                </a:solidFill>
                <a:latin typeface="+mn-lt"/>
                <a:ea typeface="+mn-ea"/>
                <a:cs typeface="+mn-cs"/>
              </a:rPr>
              <a:t>    print('Hello from DBHelper');</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a:t>
            </a:r>
          </a:p>
          <a:p>
            <a:r>
              <a:rPr lang="vi-VN"/>
              <a:t>Gọi:</a:t>
            </a:r>
          </a:p>
          <a:p>
            <a:pPr rtl="0"/>
            <a:r>
              <a:rPr lang="vi-VN" sz="1200" kern="1200">
                <a:solidFill>
                  <a:schemeClr val="tx1"/>
                </a:solidFill>
                <a:latin typeface="+mn-lt"/>
                <a:ea typeface="+mn-ea"/>
                <a:cs typeface="+mn-cs"/>
              </a:rPr>
              <a:t>DBHelper.hello(); // </a:t>
            </a:r>
            <a:r>
              <a:rPr lang="en-US" sz="1200" kern="1200">
                <a:solidFill>
                  <a:schemeClr val="tx1"/>
                </a:solidFill>
                <a:latin typeface="+mn-lt"/>
                <a:ea typeface="+mn-ea"/>
                <a:cs typeface="+mn-cs"/>
              </a:rPr>
              <a:t>✅ </a:t>
            </a:r>
            <a:r>
              <a:rPr lang="vi-VN" sz="1200" kern="1200">
                <a:solidFill>
                  <a:schemeClr val="tx1"/>
                </a:solidFill>
                <a:latin typeface="+mn-lt"/>
                <a:ea typeface="+mn-ea"/>
                <a:cs typeface="+mn-cs"/>
              </a:rPr>
              <a:t>Đúng</a:t>
            </a:r>
          </a:p>
          <a:p>
            <a:pPr rtl="0"/>
            <a:r>
              <a:rPr lang="vi-VN" sz="1200" kern="1200">
                <a:solidFill>
                  <a:schemeClr val="tx1"/>
                </a:solidFill>
                <a:latin typeface="+mn-lt"/>
                <a:ea typeface="+mn-ea"/>
                <a:cs typeface="+mn-cs"/>
              </a:rPr>
              <a:t>DBHelper().hello(); // </a:t>
            </a:r>
            <a:r>
              <a:rPr lang="en-US" sz="1200" kern="1200">
                <a:solidFill>
                  <a:schemeClr val="tx1"/>
                </a:solidFill>
                <a:latin typeface="+mn-lt"/>
                <a:ea typeface="+mn-ea"/>
                <a:cs typeface="+mn-cs"/>
              </a:rPr>
              <a:t>❌ </a:t>
            </a:r>
            <a:r>
              <a:rPr lang="vi-VN" sz="1200" kern="1200">
                <a:solidFill>
                  <a:schemeClr val="tx1"/>
                </a:solidFill>
                <a:latin typeface="+mn-lt"/>
                <a:ea typeface="+mn-ea"/>
                <a:cs typeface="+mn-cs"/>
              </a:rPr>
              <a:t>Sai (vì hello là static)</a:t>
            </a:r>
          </a:p>
          <a:p>
            <a:r>
              <a:rPr lang="en-US"/>
              <a:t>👉 </a:t>
            </a:r>
            <a:r>
              <a:rPr lang="vi-VN"/>
              <a:t>Nghĩa là bạn không cần (và không thể) tạo object mới để gọi.</a:t>
            </a:r>
          </a:p>
          <a:p>
            <a:r>
              <a:rPr lang="en-US" b="1"/>
              <a:t>🔹 2. </a:t>
            </a:r>
            <a:r>
              <a:rPr lang="vi-VN" b="1"/>
              <a:t>Áp dụng với DBHelper của bạn</a:t>
            </a:r>
          </a:p>
          <a:p>
            <a:r>
              <a:rPr lang="vi-VN"/>
              <a:t>Trong lớp bạn có:</a:t>
            </a:r>
          </a:p>
          <a:p>
            <a:pPr rtl="0"/>
            <a:r>
              <a:rPr lang="vi-VN" sz="1200" kern="1200">
                <a:solidFill>
                  <a:schemeClr val="tx1"/>
                </a:solidFill>
                <a:latin typeface="+mn-lt"/>
                <a:ea typeface="+mn-ea"/>
                <a:cs typeface="+mn-cs"/>
              </a:rPr>
              <a:t>static Future&lt;List&lt;Product&gt;&gt; getAllProducts() async {</a:t>
            </a:r>
          </a:p>
          <a:p>
            <a:pPr rtl="0"/>
            <a:r>
              <a:rPr lang="vi-VN" sz="1200" kern="1200">
                <a:solidFill>
                  <a:schemeClr val="tx1"/>
                </a:solidFill>
                <a:latin typeface="+mn-lt"/>
                <a:ea typeface="+mn-ea"/>
                <a:cs typeface="+mn-cs"/>
              </a:rPr>
              <a:t>  final db = await _instance.database;</a:t>
            </a:r>
          </a:p>
          <a:p>
            <a:pPr rtl="0"/>
            <a:r>
              <a:rPr lang="vi-VN" sz="1200" kern="1200">
                <a:solidFill>
                  <a:schemeClr val="tx1"/>
                </a:solidFill>
                <a:latin typeface="+mn-lt"/>
                <a:ea typeface="+mn-ea"/>
                <a:cs typeface="+mn-cs"/>
              </a:rPr>
              <a:t>  final data = await db.query('products', orderBy: 'id DESC');</a:t>
            </a:r>
          </a:p>
          <a:p>
            <a:pPr rtl="0"/>
            <a:r>
              <a:rPr lang="vi-VN" sz="1200" kern="1200">
                <a:solidFill>
                  <a:schemeClr val="tx1"/>
                </a:solidFill>
                <a:latin typeface="+mn-lt"/>
                <a:ea typeface="+mn-ea"/>
                <a:cs typeface="+mn-cs"/>
              </a:rPr>
              <a:t>  return data.map((e) =&gt; Product.fromMap(e)).toList();</a:t>
            </a:r>
          </a:p>
          <a:p>
            <a:pPr rtl="0"/>
            <a:r>
              <a:rPr lang="vi-VN" sz="1200" kern="1200">
                <a:solidFill>
                  <a:schemeClr val="tx1"/>
                </a:solidFill>
                <a:latin typeface="+mn-lt"/>
                <a:ea typeface="+mn-ea"/>
                <a:cs typeface="+mn-cs"/>
              </a:rPr>
              <a:t>}</a:t>
            </a:r>
          </a:p>
          <a:p>
            <a:r>
              <a:rPr lang="vi-VN"/>
              <a:t>Vì có từ khóa </a:t>
            </a:r>
            <a:r>
              <a:rPr lang="vi-VN" sz="1200" b="1" kern="1200">
                <a:solidFill>
                  <a:schemeClr val="tx1"/>
                </a:solidFill>
                <a:latin typeface="+mn-lt"/>
                <a:ea typeface="+mn-ea"/>
                <a:cs typeface="+mn-cs"/>
              </a:rPr>
              <a:t>static</a:t>
            </a:r>
            <a:r>
              <a:rPr lang="vi-VN"/>
              <a:t>, nên bạn có thể gọi:</a:t>
            </a:r>
          </a:p>
          <a:p>
            <a:pPr rtl="0"/>
            <a:r>
              <a:rPr lang="vi-VN" sz="1200" kern="1200">
                <a:solidFill>
                  <a:schemeClr val="tx1"/>
                </a:solidFill>
                <a:latin typeface="+mn-lt"/>
                <a:ea typeface="+mn-ea"/>
                <a:cs typeface="+mn-cs"/>
              </a:rPr>
              <a:t>final products = await DBHelper.getAllProducts();</a:t>
            </a:r>
          </a:p>
          <a:p>
            <a:r>
              <a:rPr lang="vi-VN"/>
              <a:t>Thay vì phải làm kiểu:</a:t>
            </a:r>
          </a:p>
          <a:p>
            <a:pPr rtl="0"/>
            <a:r>
              <a:rPr lang="vi-VN" sz="1200" kern="1200">
                <a:solidFill>
                  <a:schemeClr val="tx1"/>
                </a:solidFill>
                <a:latin typeface="+mn-lt"/>
                <a:ea typeface="+mn-ea"/>
                <a:cs typeface="+mn-cs"/>
              </a:rPr>
              <a:t>final dbHelper = DBHelper();</a:t>
            </a:r>
          </a:p>
          <a:p>
            <a:pPr rtl="0"/>
            <a:r>
              <a:rPr lang="vi-VN" sz="1200" kern="1200">
                <a:solidFill>
                  <a:schemeClr val="tx1"/>
                </a:solidFill>
                <a:latin typeface="+mn-lt"/>
                <a:ea typeface="+mn-ea"/>
                <a:cs typeface="+mn-cs"/>
              </a:rPr>
              <a:t>final products = await dbHelper.getAllProducts(); // </a:t>
            </a:r>
            <a:r>
              <a:rPr lang="en-US" sz="1200" kern="1200">
                <a:solidFill>
                  <a:schemeClr val="tx1"/>
                </a:solidFill>
                <a:latin typeface="+mn-lt"/>
                <a:ea typeface="+mn-ea"/>
                <a:cs typeface="+mn-cs"/>
              </a:rPr>
              <a:t>❌ </a:t>
            </a:r>
            <a:r>
              <a:rPr lang="vi-VN" sz="1200" kern="1200">
                <a:solidFill>
                  <a:schemeClr val="tx1"/>
                </a:solidFill>
                <a:latin typeface="+mn-lt"/>
                <a:ea typeface="+mn-ea"/>
                <a:cs typeface="+mn-cs"/>
              </a:rPr>
              <a:t>không cần</a:t>
            </a:r>
            <a:endParaRPr lang="vi-VN"/>
          </a:p>
          <a:p>
            <a:r>
              <a:rPr lang="en-US" b="1"/>
              <a:t>🔹 3. </a:t>
            </a:r>
            <a:r>
              <a:rPr lang="vi-VN" b="1"/>
              <a:t>Cách hoạt động bên trong</a:t>
            </a:r>
          </a:p>
          <a:p>
            <a:r>
              <a:rPr lang="vi-VN"/>
              <a:t>Khi bạn gọi </a:t>
            </a:r>
            <a:r>
              <a:rPr lang="vi-VN" sz="1200" kern="1200">
                <a:solidFill>
                  <a:schemeClr val="tx1"/>
                </a:solidFill>
                <a:latin typeface="+mn-lt"/>
                <a:ea typeface="+mn-ea"/>
                <a:cs typeface="+mn-cs"/>
              </a:rPr>
              <a:t>DBHelper.getAllProducts()</a:t>
            </a:r>
            <a:r>
              <a:rPr lang="vi-VN"/>
              <a:t>:</a:t>
            </a:r>
          </a:p>
          <a:p>
            <a:r>
              <a:rPr lang="vi-VN"/>
              <a:t>Code truy cập </a:t>
            </a:r>
            <a:r>
              <a:rPr lang="vi-VN" sz="1200" kern="1200">
                <a:solidFill>
                  <a:schemeClr val="tx1"/>
                </a:solidFill>
                <a:latin typeface="+mn-lt"/>
                <a:ea typeface="+mn-ea"/>
                <a:cs typeface="+mn-cs"/>
              </a:rPr>
              <a:t>_instance.database</a:t>
            </a:r>
            <a:r>
              <a:rPr lang="vi-VN"/>
              <a:t> — chính là instance duy nhất của Singleton.</a:t>
            </a:r>
          </a:p>
          <a:p>
            <a:r>
              <a:rPr lang="vi-VN"/>
              <a:t>Nếu database chưa mở, nó tự mở.</a:t>
            </a:r>
          </a:p>
          <a:p>
            <a:r>
              <a:rPr lang="vi-VN"/>
              <a:t>Gọi truy vấn SQL:</a:t>
            </a:r>
          </a:p>
          <a:p>
            <a:pPr rtl="0"/>
            <a:r>
              <a:rPr lang="vi-VN" sz="1200" kern="1200">
                <a:solidFill>
                  <a:schemeClr val="tx1"/>
                </a:solidFill>
                <a:latin typeface="+mn-lt"/>
                <a:ea typeface="+mn-ea"/>
                <a:cs typeface="+mn-cs"/>
              </a:rPr>
              <a:t>SELECT * FROM products ORDER BY id DESC;</a:t>
            </a:r>
          </a:p>
          <a:p>
            <a:r>
              <a:rPr lang="vi-VN"/>
              <a:t>Mỗi hàng trong kết quả được chuyển thành một </a:t>
            </a:r>
            <a:r>
              <a:rPr lang="vi-VN" sz="1200" kern="1200">
                <a:solidFill>
                  <a:schemeClr val="tx1"/>
                </a:solidFill>
                <a:latin typeface="+mn-lt"/>
                <a:ea typeface="+mn-ea"/>
                <a:cs typeface="+mn-cs"/>
              </a:rPr>
              <a:t>Product</a:t>
            </a:r>
            <a:r>
              <a:rPr lang="vi-VN"/>
              <a:t> bằng </a:t>
            </a:r>
            <a:r>
              <a:rPr lang="vi-VN" sz="1200" kern="1200">
                <a:solidFill>
                  <a:schemeClr val="tx1"/>
                </a:solidFill>
                <a:latin typeface="+mn-lt"/>
                <a:ea typeface="+mn-ea"/>
                <a:cs typeface="+mn-cs"/>
              </a:rPr>
              <a:t>Product.fromMap(e)</a:t>
            </a:r>
            <a:r>
              <a:rPr lang="vi-VN"/>
              <a:t>.</a:t>
            </a:r>
          </a:p>
          <a:p>
            <a:r>
              <a:rPr lang="vi-VN"/>
              <a:t>Trả về danh sách </a:t>
            </a:r>
            <a:r>
              <a:rPr lang="vi-VN" sz="1200" kern="1200">
                <a:solidFill>
                  <a:schemeClr val="tx1"/>
                </a:solidFill>
                <a:latin typeface="+mn-lt"/>
                <a:ea typeface="+mn-ea"/>
                <a:cs typeface="+mn-cs"/>
              </a:rPr>
              <a:t>List&lt;Product&gt;</a:t>
            </a:r>
            <a:endParaRPr lang="vi-VN"/>
          </a:p>
          <a:p>
            <a:endParaRPr lang="vi-VN" b="0"/>
          </a:p>
          <a:p>
            <a:endParaRPr lang="vi-VN" b="0"/>
          </a:p>
        </p:txBody>
      </p:sp>
      <p:sp>
        <p:nvSpPr>
          <p:cNvPr id="4" name="Slide Number Placeholder 3">
            <a:extLst>
              <a:ext uri="{FF2B5EF4-FFF2-40B4-BE49-F238E27FC236}">
                <a16:creationId xmlns:a16="http://schemas.microsoft.com/office/drawing/2014/main" id="{B44323A3-FE84-78DB-A6B5-971A5EDB5948}"/>
              </a:ext>
            </a:extLst>
          </p:cNvPr>
          <p:cNvSpPr>
            <a:spLocks noGrp="1"/>
          </p:cNvSpPr>
          <p:nvPr>
            <p:ph type="sldNum" sz="quarter" idx="5"/>
          </p:nvPr>
        </p:nvSpPr>
        <p:spPr/>
        <p:txBody>
          <a:bodyPr/>
          <a:lstStyle/>
          <a:p>
            <a:fld id="{1983A999-5E0E-42CA-8400-604AE921FF7C}" type="slidenum">
              <a:rPr lang="en-US" smtClean="0"/>
              <a:t>14</a:t>
            </a:fld>
            <a:endParaRPr lang="en-US"/>
          </a:p>
        </p:txBody>
      </p:sp>
    </p:spTree>
    <p:extLst>
      <p:ext uri="{BB962C8B-B14F-4D97-AF65-F5344CB8AC3E}">
        <p14:creationId xmlns:p14="http://schemas.microsoft.com/office/powerpoint/2010/main" val="28809668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EEE1B-7C1F-482D-D03D-EF980C3D73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B0C090-C053-108D-92CC-1B52D25EAF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DA8490-9BF4-12E9-9CF4-F3742DAA1475}"/>
              </a:ext>
            </a:extLst>
          </p:cNvPr>
          <p:cNvSpPr>
            <a:spLocks noGrp="1"/>
          </p:cNvSpPr>
          <p:nvPr>
            <p:ph type="body" idx="1"/>
          </p:nvPr>
        </p:nvSpPr>
        <p:spPr/>
        <p:txBody>
          <a:bodyPr/>
          <a:lstStyle/>
          <a:p>
            <a:r>
              <a:rPr lang="vi-VN" b="1"/>
              <a:t>main.dart</a:t>
            </a:r>
            <a:r>
              <a:rPr lang="vi-VN"/>
              <a:t>: UI + logic app Flutter. Giao diện hiển thị danh sách sản phẩm, form thêm/sửa, và gọi các phương thức trong </a:t>
            </a:r>
            <a:r>
              <a:rPr lang="vi-VN" sz="1200" kern="1200">
                <a:solidFill>
                  <a:schemeClr val="tx1"/>
                </a:solidFill>
                <a:latin typeface="+mn-lt"/>
                <a:ea typeface="+mn-ea"/>
                <a:cs typeface="+mn-cs"/>
              </a:rPr>
              <a:t>DBHelper</a:t>
            </a:r>
            <a:r>
              <a:rPr lang="vi-VN"/>
              <a:t> để thao tác dữ liệu.</a:t>
            </a:r>
            <a:endParaRPr lang="en-US"/>
          </a:p>
          <a:p>
            <a:r>
              <a:rPr lang="en-US"/>
              <a:t>------------------------------------------------------------------------------------------------------------------------------------------------------------------</a:t>
            </a:r>
          </a:p>
          <a:p>
            <a:r>
              <a:rPr lang="en-US" b="1"/>
              <a:t>Làm rõ code:</a:t>
            </a:r>
          </a:p>
          <a:p>
            <a:r>
              <a:rPr lang="en-US"/>
              <a:t>👉 </a:t>
            </a:r>
            <a:r>
              <a:rPr lang="vi-VN" b="1"/>
              <a:t>Hàm </a:t>
            </a:r>
            <a:r>
              <a:rPr lang="vi-VN" sz="1200" b="1" kern="1200">
                <a:solidFill>
                  <a:schemeClr val="tx1"/>
                </a:solidFill>
                <a:latin typeface="+mn-lt"/>
                <a:ea typeface="+mn-ea"/>
                <a:cs typeface="+mn-cs"/>
              </a:rPr>
              <a:t>_addOrUpdateProduct()</a:t>
            </a:r>
            <a:r>
              <a:rPr lang="vi-VN"/>
              <a:t> được viết để </a:t>
            </a:r>
            <a:r>
              <a:rPr lang="vi-VN" b="1"/>
              <a:t>dùng chung cho cả hai chức năng</a:t>
            </a:r>
            <a:r>
              <a:rPr lang="vi-VN"/>
              <a:t>:</a:t>
            </a:r>
          </a:p>
          <a:p>
            <a:r>
              <a:rPr lang="vi-VN" b="1"/>
              <a:t>Thêm sản phẩm mới (Add)</a:t>
            </a:r>
            <a:endParaRPr lang="vi-VN"/>
          </a:p>
          <a:p>
            <a:r>
              <a:rPr lang="vi-VN" b="1"/>
              <a:t>Cập nhật sản phẩm có sẵn (Update)</a:t>
            </a:r>
            <a:endParaRPr lang="vi-VN"/>
          </a:p>
          <a:p>
            <a:r>
              <a:rPr lang="vi-VN"/>
              <a:t>Cụ thể:</a:t>
            </a:r>
          </a:p>
          <a:p>
            <a:r>
              <a:rPr lang="vi-VN"/>
              <a:t>Nếu khi gọi hàm này </a:t>
            </a:r>
            <a:r>
              <a:rPr lang="vi-VN" b="1"/>
              <a:t>không truyền vào đối tượng </a:t>
            </a:r>
            <a:r>
              <a:rPr lang="vi-VN" sz="1200" b="1" kern="1200">
                <a:solidFill>
                  <a:schemeClr val="tx1"/>
                </a:solidFill>
                <a:latin typeface="+mn-lt"/>
                <a:ea typeface="+mn-ea"/>
                <a:cs typeface="+mn-cs"/>
              </a:rPr>
              <a:t>product</a:t>
            </a:r>
            <a:r>
              <a:rPr lang="vi-VN"/>
              <a:t> (tức là </a:t>
            </a:r>
            <a:r>
              <a:rPr lang="vi-VN" sz="1200" kern="1200">
                <a:solidFill>
                  <a:schemeClr val="tx1"/>
                </a:solidFill>
                <a:latin typeface="+mn-lt"/>
                <a:ea typeface="+mn-ea"/>
                <a:cs typeface="+mn-cs"/>
              </a:rPr>
              <a:t>product == null</a:t>
            </a:r>
            <a:r>
              <a:rPr lang="vi-VN"/>
              <a:t>),</a:t>
            </a:r>
            <a:br>
              <a:rPr lang="vi-VN"/>
            </a:br>
            <a:r>
              <a:rPr lang="vi-VN"/>
              <a:t>→ hàm hiểu là </a:t>
            </a:r>
            <a:r>
              <a:rPr lang="vi-VN" b="1"/>
              <a:t>bạn đang thêm sản phẩm mới</a:t>
            </a:r>
            <a:r>
              <a:rPr lang="vi-VN"/>
              <a:t> → nó sẽ </a:t>
            </a:r>
            <a:r>
              <a:rPr lang="vi-VN" b="1"/>
              <a:t>tạo record mới trong database</a:t>
            </a:r>
            <a:r>
              <a:rPr lang="vi-VN"/>
              <a:t>.</a:t>
            </a:r>
          </a:p>
          <a:p>
            <a:r>
              <a:rPr lang="vi-VN"/>
              <a:t>Ngược lại, nếu bạn </a:t>
            </a:r>
            <a:r>
              <a:rPr lang="vi-VN" b="1"/>
              <a:t>truyền vào một </a:t>
            </a:r>
            <a:r>
              <a:rPr lang="vi-VN" sz="1200" b="1" kern="1200">
                <a:solidFill>
                  <a:schemeClr val="tx1"/>
                </a:solidFill>
                <a:latin typeface="+mn-lt"/>
                <a:ea typeface="+mn-ea"/>
                <a:cs typeface="+mn-cs"/>
              </a:rPr>
              <a:t>product</a:t>
            </a:r>
            <a:r>
              <a:rPr lang="vi-VN" b="1"/>
              <a:t> đã tồn tại</a:t>
            </a:r>
            <a:r>
              <a:rPr lang="vi-VN"/>
              <a:t>,</a:t>
            </a:r>
            <a:br>
              <a:rPr lang="vi-VN"/>
            </a:br>
            <a:r>
              <a:rPr lang="vi-VN"/>
              <a:t>→ hàm hiểu là </a:t>
            </a:r>
            <a:r>
              <a:rPr lang="vi-VN" b="1"/>
              <a:t>bạn đang sửa thông tin của sản phẩm đó</a:t>
            </a:r>
            <a:r>
              <a:rPr lang="vi-VN"/>
              <a:t> → nó sẽ </a:t>
            </a:r>
            <a:r>
              <a:rPr lang="vi-VN" b="1"/>
              <a:t>chạy lệnh UPDATE</a:t>
            </a:r>
            <a:r>
              <a:rPr lang="vi-VN"/>
              <a:t> trong database.</a:t>
            </a:r>
            <a:endParaRPr lang="en-US"/>
          </a:p>
          <a:p>
            <a:endParaRPr lang="vi-VN" b="0"/>
          </a:p>
          <a:p>
            <a:r>
              <a:rPr lang="vi-VN"/>
              <a:t>Lấy text từ controllers rồi </a:t>
            </a:r>
            <a:r>
              <a:rPr lang="vi-VN" sz="1200" kern="1200">
                <a:solidFill>
                  <a:schemeClr val="tx1"/>
                </a:solidFill>
                <a:latin typeface="+mn-lt"/>
                <a:ea typeface="+mn-ea"/>
                <a:cs typeface="+mn-cs"/>
              </a:rPr>
              <a:t>trim()</a:t>
            </a:r>
            <a:r>
              <a:rPr lang="vi-VN"/>
              <a:t>.</a:t>
            </a:r>
          </a:p>
          <a:p>
            <a:r>
              <a:rPr lang="vi-VN"/>
              <a:t>Validate:</a:t>
            </a:r>
          </a:p>
          <a:p>
            <a:r>
              <a:rPr lang="vi-VN" sz="1200" kern="1200">
                <a:solidFill>
                  <a:schemeClr val="tx1"/>
                </a:solidFill>
                <a:latin typeface="+mn-lt"/>
                <a:ea typeface="+mn-ea"/>
                <a:cs typeface="+mn-cs"/>
              </a:rPr>
              <a:t>name</a:t>
            </a:r>
            <a:r>
              <a:rPr lang="vi-VN"/>
              <a:t> không được rỗng.</a:t>
            </a:r>
          </a:p>
          <a:p>
            <a:r>
              <a:rPr lang="vi-VN" sz="1200" kern="1200">
                <a:solidFill>
                  <a:schemeClr val="tx1"/>
                </a:solidFill>
                <a:latin typeface="+mn-lt"/>
                <a:ea typeface="+mn-ea"/>
                <a:cs typeface="+mn-cs"/>
              </a:rPr>
              <a:t>double.tryParse(priceText)</a:t>
            </a:r>
            <a:r>
              <a:rPr lang="vi-VN"/>
              <a:t> chuyển chuỗi sang double (trả </a:t>
            </a:r>
            <a:r>
              <a:rPr lang="vi-VN" sz="1200" kern="1200">
                <a:solidFill>
                  <a:schemeClr val="tx1"/>
                </a:solidFill>
                <a:latin typeface="+mn-lt"/>
                <a:ea typeface="+mn-ea"/>
                <a:cs typeface="+mn-cs"/>
              </a:rPr>
              <a:t>null</a:t>
            </a:r>
            <a:r>
              <a:rPr lang="vi-VN"/>
              <a:t> nếu không parse được). Kiểm tra </a:t>
            </a:r>
            <a:r>
              <a:rPr lang="vi-VN" sz="1200" kern="1200">
                <a:solidFill>
                  <a:schemeClr val="tx1"/>
                </a:solidFill>
                <a:latin typeface="+mn-lt"/>
                <a:ea typeface="+mn-ea"/>
                <a:cs typeface="+mn-cs"/>
              </a:rPr>
              <a:t>price &lt;= 0</a:t>
            </a:r>
            <a:r>
              <a:rPr lang="vi-VN"/>
              <a:t> là không hợp lệ.</a:t>
            </a:r>
          </a:p>
          <a:p>
            <a:r>
              <a:rPr lang="vi-VN" sz="1200" kern="1200">
                <a:solidFill>
                  <a:schemeClr val="tx1"/>
                </a:solidFill>
                <a:latin typeface="+mn-lt"/>
                <a:ea typeface="+mn-ea"/>
                <a:cs typeface="+mn-cs"/>
              </a:rPr>
              <a:t>int.tryParse(quantityText)</a:t>
            </a:r>
            <a:r>
              <a:rPr lang="vi-VN"/>
              <a:t> cho số lượng.</a:t>
            </a:r>
          </a:p>
          <a:p>
            <a:r>
              <a:rPr lang="vi-VN"/>
              <a:t>Nếu có lỗi thì </a:t>
            </a:r>
            <a:r>
              <a:rPr lang="vi-VN" sz="1200" kern="1200">
                <a:solidFill>
                  <a:schemeClr val="tx1"/>
                </a:solidFill>
                <a:latin typeface="+mn-lt"/>
                <a:ea typeface="+mn-ea"/>
                <a:cs typeface="+mn-cs"/>
              </a:rPr>
              <a:t>SnackBar</a:t>
            </a:r>
            <a:r>
              <a:rPr lang="vi-VN"/>
              <a:t> hiển thị thông báo (nối nhiều lỗi bằng </a:t>
            </a:r>
            <a:r>
              <a:rPr lang="vi-VN" sz="1200" kern="1200">
                <a:solidFill>
                  <a:schemeClr val="tx1"/>
                </a:solidFill>
                <a:latin typeface="+mn-lt"/>
                <a:ea typeface="+mn-ea"/>
                <a:cs typeface="+mn-cs"/>
              </a:rPr>
              <a:t>\n</a:t>
            </a:r>
            <a:r>
              <a:rPr lang="vi-VN"/>
              <a:t>).</a:t>
            </a:r>
          </a:p>
          <a:p>
            <a:endParaRPr lang="vi-VN" b="0"/>
          </a:p>
        </p:txBody>
      </p:sp>
      <p:sp>
        <p:nvSpPr>
          <p:cNvPr id="4" name="Slide Number Placeholder 3">
            <a:extLst>
              <a:ext uri="{FF2B5EF4-FFF2-40B4-BE49-F238E27FC236}">
                <a16:creationId xmlns:a16="http://schemas.microsoft.com/office/drawing/2014/main" id="{D9A4DE1E-EECC-1881-1B4F-7CB3C72AE51F}"/>
              </a:ext>
            </a:extLst>
          </p:cNvPr>
          <p:cNvSpPr>
            <a:spLocks noGrp="1"/>
          </p:cNvSpPr>
          <p:nvPr>
            <p:ph type="sldNum" sz="quarter" idx="5"/>
          </p:nvPr>
        </p:nvSpPr>
        <p:spPr/>
        <p:txBody>
          <a:bodyPr/>
          <a:lstStyle/>
          <a:p>
            <a:fld id="{1983A999-5E0E-42CA-8400-604AE921FF7C}" type="slidenum">
              <a:rPr lang="en-US" smtClean="0"/>
              <a:t>15</a:t>
            </a:fld>
            <a:endParaRPr lang="en-US"/>
          </a:p>
        </p:txBody>
      </p:sp>
    </p:spTree>
    <p:extLst>
      <p:ext uri="{BB962C8B-B14F-4D97-AF65-F5344CB8AC3E}">
        <p14:creationId xmlns:p14="http://schemas.microsoft.com/office/powerpoint/2010/main" val="14422991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0C55C-5969-59AF-6CEC-6734866251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E7F8A3-FCB6-C4DE-73EB-B566020099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9A6D10-39B7-D459-8C11-0A2F80C0C4DA}"/>
              </a:ext>
            </a:extLst>
          </p:cNvPr>
          <p:cNvSpPr>
            <a:spLocks noGrp="1"/>
          </p:cNvSpPr>
          <p:nvPr>
            <p:ph type="body" idx="1"/>
          </p:nvPr>
        </p:nvSpPr>
        <p:spPr/>
        <p:txBody>
          <a:bodyPr/>
          <a:lstStyle/>
          <a:p>
            <a:r>
              <a:rPr lang="vi-VN" b="1"/>
              <a:t>main.dart</a:t>
            </a:r>
            <a:r>
              <a:rPr lang="vi-VN"/>
              <a:t>: UI + logic app Flutter. Giao diện hiển thị danh sách sản phẩm, form thêm/sửa, và gọi các phương thức trong </a:t>
            </a:r>
            <a:r>
              <a:rPr lang="vi-VN" sz="1200" kern="1200">
                <a:solidFill>
                  <a:schemeClr val="tx1"/>
                </a:solidFill>
                <a:latin typeface="+mn-lt"/>
                <a:ea typeface="+mn-ea"/>
                <a:cs typeface="+mn-cs"/>
              </a:rPr>
              <a:t>DBHelper</a:t>
            </a:r>
            <a:r>
              <a:rPr lang="vi-VN"/>
              <a:t> để thao tác dữ liệu.</a:t>
            </a:r>
            <a:endParaRPr lang="en-US"/>
          </a:p>
          <a:p>
            <a:r>
              <a:rPr lang="en-US"/>
              <a:t>------------------------------------------------------------------------------------------------------------------------------------------------------------------</a:t>
            </a:r>
          </a:p>
          <a:p>
            <a:r>
              <a:rPr lang="en-US" b="1"/>
              <a:t>Làm rõ code:</a:t>
            </a:r>
          </a:p>
          <a:p>
            <a:r>
              <a:rPr lang="vi-VN" b="1"/>
              <a:t>Giải thích chi tiết từng dòng</a:t>
            </a:r>
          </a:p>
          <a:p>
            <a:r>
              <a:rPr lang="vi-VN" sz="1200" kern="1200">
                <a:solidFill>
                  <a:schemeClr val="tx1"/>
                </a:solidFill>
                <a:latin typeface="+mn-lt"/>
                <a:ea typeface="+mn-ea"/>
                <a:cs typeface="+mn-cs"/>
              </a:rPr>
              <a:t>final now = DateFormat('dd/MM/yyyy HH:mm:ss').format(DateTime.now());</a:t>
            </a:r>
            <a:endParaRPr lang="vi-VN"/>
          </a:p>
          <a:p>
            <a:pPr lvl="1"/>
            <a:r>
              <a:rPr lang="vi-VN" sz="1200" kern="1200">
                <a:solidFill>
                  <a:schemeClr val="tx1"/>
                </a:solidFill>
                <a:latin typeface="+mn-lt"/>
                <a:ea typeface="+mn-ea"/>
                <a:cs typeface="+mn-cs"/>
              </a:rPr>
              <a:t>DateTime.now()</a:t>
            </a:r>
            <a:r>
              <a:rPr lang="vi-VN"/>
              <a:t> lấy thời điểm hiện tại (đối tượng </a:t>
            </a:r>
            <a:r>
              <a:rPr lang="vi-VN" sz="1200" kern="1200">
                <a:solidFill>
                  <a:schemeClr val="tx1"/>
                </a:solidFill>
                <a:latin typeface="+mn-lt"/>
                <a:ea typeface="+mn-ea"/>
                <a:cs typeface="+mn-cs"/>
              </a:rPr>
              <a:t>DateTime</a:t>
            </a:r>
            <a:r>
              <a:rPr lang="vi-VN"/>
              <a:t>).</a:t>
            </a:r>
          </a:p>
          <a:p>
            <a:pPr lvl="1"/>
            <a:r>
              <a:rPr lang="vi-VN" sz="1200" kern="1200">
                <a:solidFill>
                  <a:schemeClr val="tx1"/>
                </a:solidFill>
                <a:latin typeface="+mn-lt"/>
                <a:ea typeface="+mn-ea"/>
                <a:cs typeface="+mn-cs"/>
              </a:rPr>
              <a:t>DateFormat('dd/MM/yyyy HH:mm:ss')</a:t>
            </a:r>
            <a:r>
              <a:rPr lang="vi-VN"/>
              <a:t> (đến từ package </a:t>
            </a:r>
            <a:r>
              <a:rPr lang="vi-VN" sz="1200" kern="1200">
                <a:solidFill>
                  <a:schemeClr val="tx1"/>
                </a:solidFill>
                <a:latin typeface="+mn-lt"/>
                <a:ea typeface="+mn-ea"/>
                <a:cs typeface="+mn-cs"/>
              </a:rPr>
              <a:t>intl</a:t>
            </a:r>
            <a:r>
              <a:rPr lang="vi-VN"/>
              <a:t>) tạo một formatter theo mẫu:</a:t>
            </a:r>
          </a:p>
          <a:p>
            <a:pPr lvl="2"/>
            <a:r>
              <a:rPr lang="vi-VN" sz="1200" kern="1200">
                <a:solidFill>
                  <a:schemeClr val="tx1"/>
                </a:solidFill>
                <a:latin typeface="+mn-lt"/>
                <a:ea typeface="+mn-ea"/>
                <a:cs typeface="+mn-cs"/>
              </a:rPr>
              <a:t>dd</a:t>
            </a:r>
            <a:r>
              <a:rPr lang="vi-VN"/>
              <a:t> = ngày (2 chữ số), </a:t>
            </a:r>
            <a:r>
              <a:rPr lang="vi-VN" sz="1200" kern="1200">
                <a:solidFill>
                  <a:schemeClr val="tx1"/>
                </a:solidFill>
                <a:latin typeface="+mn-lt"/>
                <a:ea typeface="+mn-ea"/>
                <a:cs typeface="+mn-cs"/>
              </a:rPr>
              <a:t>MM</a:t>
            </a:r>
            <a:r>
              <a:rPr lang="vi-VN"/>
              <a:t> = tháng (2 chữ số), </a:t>
            </a:r>
            <a:r>
              <a:rPr lang="vi-VN" sz="1200" kern="1200">
                <a:solidFill>
                  <a:schemeClr val="tx1"/>
                </a:solidFill>
                <a:latin typeface="+mn-lt"/>
                <a:ea typeface="+mn-ea"/>
                <a:cs typeface="+mn-cs"/>
              </a:rPr>
              <a:t>yyyy</a:t>
            </a:r>
            <a:r>
              <a:rPr lang="vi-VN"/>
              <a:t> = năm 4 chữ số,</a:t>
            </a:r>
          </a:p>
          <a:p>
            <a:pPr lvl="2"/>
            <a:r>
              <a:rPr lang="vi-VN" sz="1200" kern="1200">
                <a:solidFill>
                  <a:schemeClr val="tx1"/>
                </a:solidFill>
                <a:latin typeface="+mn-lt"/>
                <a:ea typeface="+mn-ea"/>
                <a:cs typeface="+mn-cs"/>
              </a:rPr>
              <a:t>HH</a:t>
            </a:r>
            <a:r>
              <a:rPr lang="vi-VN"/>
              <a:t> = giờ (00–23), </a:t>
            </a:r>
            <a:r>
              <a:rPr lang="vi-VN" sz="1200" kern="1200">
                <a:solidFill>
                  <a:schemeClr val="tx1"/>
                </a:solidFill>
                <a:latin typeface="+mn-lt"/>
                <a:ea typeface="+mn-ea"/>
                <a:cs typeface="+mn-cs"/>
              </a:rPr>
              <a:t>mm</a:t>
            </a:r>
            <a:r>
              <a:rPr lang="vi-VN"/>
              <a:t> = phút, </a:t>
            </a:r>
            <a:r>
              <a:rPr lang="vi-VN" sz="1200" kern="1200">
                <a:solidFill>
                  <a:schemeClr val="tx1"/>
                </a:solidFill>
                <a:latin typeface="+mn-lt"/>
                <a:ea typeface="+mn-ea"/>
                <a:cs typeface="+mn-cs"/>
              </a:rPr>
              <a:t>ss</a:t>
            </a:r>
            <a:r>
              <a:rPr lang="vi-VN"/>
              <a:t> = giây.</a:t>
            </a:r>
          </a:p>
          <a:p>
            <a:pPr lvl="1"/>
            <a:r>
              <a:rPr lang="vi-VN" sz="1200" kern="1200">
                <a:solidFill>
                  <a:schemeClr val="tx1"/>
                </a:solidFill>
                <a:latin typeface="+mn-lt"/>
                <a:ea typeface="+mn-ea"/>
                <a:cs typeface="+mn-cs"/>
              </a:rPr>
              <a:t>.format(...)</a:t>
            </a:r>
            <a:r>
              <a:rPr lang="vi-VN"/>
              <a:t> chuyển </a:t>
            </a:r>
            <a:r>
              <a:rPr lang="vi-VN" sz="1200" kern="1200">
                <a:solidFill>
                  <a:schemeClr val="tx1"/>
                </a:solidFill>
                <a:latin typeface="+mn-lt"/>
                <a:ea typeface="+mn-ea"/>
                <a:cs typeface="+mn-cs"/>
              </a:rPr>
              <a:t>DateTime</a:t>
            </a:r>
            <a:r>
              <a:rPr lang="vi-VN"/>
              <a:t> thành </a:t>
            </a:r>
            <a:r>
              <a:rPr lang="vi-VN" b="1"/>
              <a:t>chuỗi</a:t>
            </a:r>
            <a:r>
              <a:rPr lang="vi-VN"/>
              <a:t> theo mẫu đó, ví dụ: </a:t>
            </a:r>
            <a:r>
              <a:rPr lang="vi-VN" sz="1200" kern="1200">
                <a:solidFill>
                  <a:schemeClr val="tx1"/>
                </a:solidFill>
                <a:latin typeface="+mn-lt"/>
                <a:ea typeface="+mn-ea"/>
                <a:cs typeface="+mn-cs"/>
              </a:rPr>
              <a:t>"21/10/2025 14:35:08"</a:t>
            </a:r>
            <a:r>
              <a:rPr lang="vi-VN"/>
              <a:t>.</a:t>
            </a:r>
          </a:p>
          <a:p>
            <a:pPr lvl="1"/>
            <a:r>
              <a:rPr lang="vi-VN" sz="1200" kern="1200">
                <a:solidFill>
                  <a:schemeClr val="tx1"/>
                </a:solidFill>
                <a:latin typeface="+mn-lt"/>
                <a:ea typeface="+mn-ea"/>
                <a:cs typeface="+mn-cs"/>
              </a:rPr>
              <a:t>final now</a:t>
            </a:r>
            <a:r>
              <a:rPr lang="vi-VN"/>
              <a:t> lưu chuỗi thời gian này — sẽ dùng làm </a:t>
            </a:r>
            <a:r>
              <a:rPr lang="vi-VN" sz="1200" kern="1200">
                <a:solidFill>
                  <a:schemeClr val="tx1"/>
                </a:solidFill>
                <a:latin typeface="+mn-lt"/>
                <a:ea typeface="+mn-ea"/>
                <a:cs typeface="+mn-cs"/>
              </a:rPr>
              <a:t>createdAt</a:t>
            </a:r>
            <a:r>
              <a:rPr lang="vi-VN"/>
              <a:t> cho </a:t>
            </a:r>
            <a:r>
              <a:rPr lang="vi-VN" sz="1200" kern="1200">
                <a:solidFill>
                  <a:schemeClr val="tx1"/>
                </a:solidFill>
                <a:latin typeface="+mn-lt"/>
                <a:ea typeface="+mn-ea"/>
                <a:cs typeface="+mn-cs"/>
              </a:rPr>
              <a:t>Product</a:t>
            </a:r>
            <a:r>
              <a:rPr lang="vi-VN"/>
              <a:t>.</a:t>
            </a:r>
          </a:p>
          <a:p>
            <a:r>
              <a:rPr lang="vi-VN"/>
              <a:t>Tạo object </a:t>
            </a:r>
            <a:r>
              <a:rPr lang="vi-VN" sz="1200" kern="1200">
                <a:solidFill>
                  <a:schemeClr val="tx1"/>
                </a:solidFill>
                <a:latin typeface="+mn-lt"/>
                <a:ea typeface="+mn-ea"/>
                <a:cs typeface="+mn-cs"/>
              </a:rPr>
              <a:t>Product</a:t>
            </a:r>
            <a:r>
              <a:rPr lang="vi-VN"/>
              <a:t> mới:</a:t>
            </a:r>
          </a:p>
          <a:p>
            <a:pPr rtl="0"/>
            <a:r>
              <a:rPr lang="vi-VN" sz="1200" kern="1200">
                <a:solidFill>
                  <a:schemeClr val="tx1"/>
                </a:solidFill>
                <a:latin typeface="+mn-lt"/>
                <a:ea typeface="+mn-ea"/>
                <a:cs typeface="+mn-cs"/>
              </a:rPr>
              <a:t>final newProduct = Product(</a:t>
            </a:r>
          </a:p>
          <a:p>
            <a:pPr rtl="0"/>
            <a:r>
              <a:rPr lang="vi-VN" sz="1200" kern="1200">
                <a:solidFill>
                  <a:schemeClr val="tx1"/>
                </a:solidFill>
                <a:latin typeface="+mn-lt"/>
                <a:ea typeface="+mn-ea"/>
                <a:cs typeface="+mn-cs"/>
              </a:rPr>
              <a:t>  id: product?.id,</a:t>
            </a:r>
          </a:p>
          <a:p>
            <a:pPr rtl="0"/>
            <a:r>
              <a:rPr lang="vi-VN" sz="1200" kern="1200">
                <a:solidFill>
                  <a:schemeClr val="tx1"/>
                </a:solidFill>
                <a:latin typeface="+mn-lt"/>
                <a:ea typeface="+mn-ea"/>
                <a:cs typeface="+mn-cs"/>
              </a:rPr>
              <a:t>  name: name,</a:t>
            </a:r>
          </a:p>
          <a:p>
            <a:pPr rtl="0"/>
            <a:r>
              <a:rPr lang="vi-VN" sz="1200" kern="1200">
                <a:solidFill>
                  <a:schemeClr val="tx1"/>
                </a:solidFill>
                <a:latin typeface="+mn-lt"/>
                <a:ea typeface="+mn-ea"/>
                <a:cs typeface="+mn-cs"/>
              </a:rPr>
              <a:t>  price: price!,</a:t>
            </a:r>
          </a:p>
          <a:p>
            <a:pPr rtl="0"/>
            <a:r>
              <a:rPr lang="vi-VN" sz="1200" kern="1200">
                <a:solidFill>
                  <a:schemeClr val="tx1"/>
                </a:solidFill>
                <a:latin typeface="+mn-lt"/>
                <a:ea typeface="+mn-ea"/>
                <a:cs typeface="+mn-cs"/>
              </a:rPr>
              <a:t>  quantity: quantity!,</a:t>
            </a:r>
          </a:p>
          <a:p>
            <a:pPr rtl="0"/>
            <a:r>
              <a:rPr lang="vi-VN" sz="1200" kern="1200">
                <a:solidFill>
                  <a:schemeClr val="tx1"/>
                </a:solidFill>
                <a:latin typeface="+mn-lt"/>
                <a:ea typeface="+mn-ea"/>
                <a:cs typeface="+mn-cs"/>
              </a:rPr>
              <a:t>  description: desc,</a:t>
            </a:r>
          </a:p>
          <a:p>
            <a:pPr rtl="0"/>
            <a:r>
              <a:rPr lang="vi-VN" sz="1200" kern="1200">
                <a:solidFill>
                  <a:schemeClr val="tx1"/>
                </a:solidFill>
                <a:latin typeface="+mn-lt"/>
                <a:ea typeface="+mn-ea"/>
                <a:cs typeface="+mn-cs"/>
              </a:rPr>
              <a:t>  createdAt: now,</a:t>
            </a:r>
          </a:p>
          <a:p>
            <a:pPr rtl="0"/>
            <a:r>
              <a:rPr lang="vi-VN" sz="1200" kern="1200">
                <a:solidFill>
                  <a:schemeClr val="tx1"/>
                </a:solidFill>
                <a:latin typeface="+mn-lt"/>
                <a:ea typeface="+mn-ea"/>
                <a:cs typeface="+mn-cs"/>
              </a:rPr>
              <a:t>);</a:t>
            </a:r>
          </a:p>
          <a:p>
            <a:pPr lvl="1"/>
            <a:r>
              <a:rPr lang="vi-VN" sz="1200" kern="1200">
                <a:solidFill>
                  <a:schemeClr val="tx1"/>
                </a:solidFill>
                <a:latin typeface="+mn-lt"/>
                <a:ea typeface="+mn-ea"/>
                <a:cs typeface="+mn-cs"/>
              </a:rPr>
              <a:t>Product(...)</a:t>
            </a:r>
            <a:r>
              <a:rPr lang="vi-VN"/>
              <a:t> gọi constructor để tạo một instance mới chứa dữ liệu từ form.</a:t>
            </a:r>
          </a:p>
          <a:p>
            <a:pPr lvl="1"/>
            <a:r>
              <a:rPr lang="vi-VN" sz="1200" kern="1200">
                <a:solidFill>
                  <a:schemeClr val="tx1"/>
                </a:solidFill>
                <a:latin typeface="+mn-lt"/>
                <a:ea typeface="+mn-ea"/>
                <a:cs typeface="+mn-cs"/>
              </a:rPr>
              <a:t>id: product?.id</a:t>
            </a:r>
            <a:r>
              <a:rPr lang="vi-VN"/>
              <a:t>:</a:t>
            </a:r>
          </a:p>
          <a:p>
            <a:pPr lvl="2"/>
            <a:r>
              <a:rPr lang="vi-VN" sz="1200" kern="1200">
                <a:solidFill>
                  <a:schemeClr val="tx1"/>
                </a:solidFill>
                <a:latin typeface="+mn-lt"/>
                <a:ea typeface="+mn-ea"/>
                <a:cs typeface="+mn-cs"/>
              </a:rPr>
              <a:t>product</a:t>
            </a:r>
            <a:r>
              <a:rPr lang="vi-VN"/>
              <a:t> là tham số truyền vào hàm </a:t>
            </a:r>
            <a:r>
              <a:rPr lang="vi-VN" sz="1200" kern="1200">
                <a:solidFill>
                  <a:schemeClr val="tx1"/>
                </a:solidFill>
                <a:latin typeface="+mn-lt"/>
                <a:ea typeface="+mn-ea"/>
                <a:cs typeface="+mn-cs"/>
              </a:rPr>
              <a:t>_addOrUpdateProduct([Product? product])</a:t>
            </a:r>
            <a:r>
              <a:rPr lang="vi-VN"/>
              <a:t>.</a:t>
            </a:r>
          </a:p>
          <a:p>
            <a:pPr lvl="2"/>
            <a:r>
              <a:rPr lang="vi-VN"/>
              <a:t>Nếu bạn gọi hàm </a:t>
            </a:r>
            <a:r>
              <a:rPr lang="vi-VN" b="1"/>
              <a:t>để sửa</a:t>
            </a:r>
            <a:r>
              <a:rPr lang="vi-VN"/>
              <a:t> (edit), bạn truyền </a:t>
            </a:r>
            <a:r>
              <a:rPr lang="vi-VN" sz="1200" kern="1200">
                <a:solidFill>
                  <a:schemeClr val="tx1"/>
                </a:solidFill>
                <a:latin typeface="+mn-lt"/>
                <a:ea typeface="+mn-ea"/>
                <a:cs typeface="+mn-cs"/>
              </a:rPr>
              <a:t>product</a:t>
            </a:r>
            <a:r>
              <a:rPr lang="vi-VN"/>
              <a:t> cũ vào; khi đó </a:t>
            </a:r>
            <a:r>
              <a:rPr lang="vi-VN" sz="1200" kern="1200">
                <a:solidFill>
                  <a:schemeClr val="tx1"/>
                </a:solidFill>
                <a:latin typeface="+mn-lt"/>
                <a:ea typeface="+mn-ea"/>
                <a:cs typeface="+mn-cs"/>
              </a:rPr>
              <a:t>product?.id</a:t>
            </a:r>
            <a:r>
              <a:rPr lang="vi-VN"/>
              <a:t> trả </a:t>
            </a:r>
            <a:r>
              <a:rPr lang="vi-VN" sz="1200" kern="1200">
                <a:solidFill>
                  <a:schemeClr val="tx1"/>
                </a:solidFill>
                <a:latin typeface="+mn-lt"/>
                <a:ea typeface="+mn-ea"/>
                <a:cs typeface="+mn-cs"/>
              </a:rPr>
              <a:t>id</a:t>
            </a:r>
            <a:r>
              <a:rPr lang="vi-VN"/>
              <a:t> cũ — việc này giúp </a:t>
            </a:r>
            <a:r>
              <a:rPr lang="vi-VN" sz="1200" kern="1200">
                <a:solidFill>
                  <a:schemeClr val="tx1"/>
                </a:solidFill>
                <a:latin typeface="+mn-lt"/>
                <a:ea typeface="+mn-ea"/>
                <a:cs typeface="+mn-cs"/>
              </a:rPr>
              <a:t>update</a:t>
            </a:r>
            <a:r>
              <a:rPr lang="vi-VN"/>
              <a:t> biết </a:t>
            </a:r>
            <a:r>
              <a:rPr lang="vi-VN" sz="1200" kern="1200">
                <a:solidFill>
                  <a:schemeClr val="tx1"/>
                </a:solidFill>
                <a:latin typeface="+mn-lt"/>
                <a:ea typeface="+mn-ea"/>
                <a:cs typeface="+mn-cs"/>
              </a:rPr>
              <a:t>id</a:t>
            </a:r>
            <a:r>
              <a:rPr lang="vi-VN"/>
              <a:t> nào cần cập nhật.</a:t>
            </a:r>
          </a:p>
          <a:p>
            <a:pPr lvl="2"/>
            <a:r>
              <a:rPr lang="vi-VN"/>
              <a:t>Nếu bạn gọi hàm </a:t>
            </a:r>
            <a:r>
              <a:rPr lang="vi-VN" b="1"/>
              <a:t>để thêm</a:t>
            </a:r>
            <a:r>
              <a:rPr lang="vi-VN"/>
              <a:t>, </a:t>
            </a:r>
            <a:r>
              <a:rPr lang="vi-VN" sz="1200" kern="1200">
                <a:solidFill>
                  <a:schemeClr val="tx1"/>
                </a:solidFill>
                <a:latin typeface="+mn-lt"/>
                <a:ea typeface="+mn-ea"/>
                <a:cs typeface="+mn-cs"/>
              </a:rPr>
              <a:t>product</a:t>
            </a:r>
            <a:r>
              <a:rPr lang="vi-VN"/>
              <a:t> là </a:t>
            </a:r>
            <a:r>
              <a:rPr lang="vi-VN" sz="1200" kern="1200">
                <a:solidFill>
                  <a:schemeClr val="tx1"/>
                </a:solidFill>
                <a:latin typeface="+mn-lt"/>
                <a:ea typeface="+mn-ea"/>
                <a:cs typeface="+mn-cs"/>
              </a:rPr>
              <a:t>null</a:t>
            </a:r>
            <a:r>
              <a:rPr lang="vi-VN"/>
              <a:t>, nên </a:t>
            </a:r>
            <a:r>
              <a:rPr lang="vi-VN" sz="1200" kern="1200">
                <a:solidFill>
                  <a:schemeClr val="tx1"/>
                </a:solidFill>
                <a:latin typeface="+mn-lt"/>
                <a:ea typeface="+mn-ea"/>
                <a:cs typeface="+mn-cs"/>
              </a:rPr>
              <a:t>product?.id</a:t>
            </a:r>
            <a:r>
              <a:rPr lang="vi-VN"/>
              <a:t> trả </a:t>
            </a:r>
            <a:r>
              <a:rPr lang="vi-VN" sz="1200" kern="1200">
                <a:solidFill>
                  <a:schemeClr val="tx1"/>
                </a:solidFill>
                <a:latin typeface="+mn-lt"/>
                <a:ea typeface="+mn-ea"/>
                <a:cs typeface="+mn-cs"/>
              </a:rPr>
              <a:t>null</a:t>
            </a:r>
            <a:r>
              <a:rPr lang="vi-VN"/>
              <a:t> — khi insert, DB sẽ tự cấp </a:t>
            </a:r>
            <a:r>
              <a:rPr lang="vi-VN" sz="1200" kern="1200">
                <a:solidFill>
                  <a:schemeClr val="tx1"/>
                </a:solidFill>
                <a:latin typeface="+mn-lt"/>
                <a:ea typeface="+mn-ea"/>
                <a:cs typeface="+mn-cs"/>
              </a:rPr>
              <a:t>id</a:t>
            </a:r>
            <a:r>
              <a:rPr lang="vi-VN"/>
              <a:t> (AUTOINCREMENT).</a:t>
            </a:r>
          </a:p>
          <a:p>
            <a:pPr lvl="1"/>
            <a:r>
              <a:rPr lang="vi-VN" sz="1200" kern="1200">
                <a:solidFill>
                  <a:schemeClr val="tx1"/>
                </a:solidFill>
                <a:latin typeface="+mn-lt"/>
                <a:ea typeface="+mn-ea"/>
                <a:cs typeface="+mn-cs"/>
              </a:rPr>
              <a:t>name: name</a:t>
            </a:r>
            <a:r>
              <a:rPr lang="vi-VN"/>
              <a:t> — tên sản phẩm lấy từ </a:t>
            </a:r>
            <a:r>
              <a:rPr lang="vi-VN" sz="1200" kern="1200">
                <a:solidFill>
                  <a:schemeClr val="tx1"/>
                </a:solidFill>
                <a:latin typeface="+mn-lt"/>
                <a:ea typeface="+mn-ea"/>
                <a:cs typeface="+mn-cs"/>
              </a:rPr>
              <a:t>nameController.text</a:t>
            </a:r>
            <a:r>
              <a:rPr lang="vi-VN"/>
              <a:t> (đã validated trước đó).</a:t>
            </a:r>
          </a:p>
          <a:p>
            <a:pPr lvl="1"/>
            <a:r>
              <a:rPr lang="vi-VN" sz="1200" kern="1200">
                <a:solidFill>
                  <a:schemeClr val="tx1"/>
                </a:solidFill>
                <a:latin typeface="+mn-lt"/>
                <a:ea typeface="+mn-ea"/>
                <a:cs typeface="+mn-cs"/>
              </a:rPr>
              <a:t>price: price!</a:t>
            </a:r>
            <a:r>
              <a:rPr lang="vi-VN"/>
              <a:t> — </a:t>
            </a:r>
            <a:r>
              <a:rPr lang="vi-VN" sz="1200" kern="1200">
                <a:solidFill>
                  <a:schemeClr val="tx1"/>
                </a:solidFill>
                <a:latin typeface="+mn-lt"/>
                <a:ea typeface="+mn-ea"/>
                <a:cs typeface="+mn-cs"/>
              </a:rPr>
              <a:t>price</a:t>
            </a:r>
            <a:r>
              <a:rPr lang="vi-VN"/>
              <a:t> là biến kiểu </a:t>
            </a:r>
            <a:r>
              <a:rPr lang="vi-VN" sz="1200" kern="1200">
                <a:solidFill>
                  <a:schemeClr val="tx1"/>
                </a:solidFill>
                <a:latin typeface="+mn-lt"/>
                <a:ea typeface="+mn-ea"/>
                <a:cs typeface="+mn-cs"/>
              </a:rPr>
              <a:t>double?</a:t>
            </a:r>
            <a:r>
              <a:rPr lang="vi-VN"/>
              <a:t> được parse bằng </a:t>
            </a:r>
            <a:r>
              <a:rPr lang="vi-VN" sz="1200" kern="1200">
                <a:solidFill>
                  <a:schemeClr val="tx1"/>
                </a:solidFill>
                <a:latin typeface="+mn-lt"/>
                <a:ea typeface="+mn-ea"/>
                <a:cs typeface="+mn-cs"/>
              </a:rPr>
              <a:t>double.tryParse(...)</a:t>
            </a:r>
            <a:r>
              <a:rPr lang="vi-VN"/>
              <a:t>. Dấu </a:t>
            </a:r>
            <a:r>
              <a:rPr lang="vi-VN" sz="1200" kern="1200">
                <a:solidFill>
                  <a:schemeClr val="tx1"/>
                </a:solidFill>
                <a:latin typeface="+mn-lt"/>
                <a:ea typeface="+mn-ea"/>
                <a:cs typeface="+mn-cs"/>
              </a:rPr>
              <a:t>!</a:t>
            </a:r>
            <a:r>
              <a:rPr lang="vi-VN"/>
              <a:t> ép non-null vì trước đó bạn đã kiểm tra </a:t>
            </a:r>
            <a:r>
              <a:rPr lang="vi-VN" sz="1200" kern="1200">
                <a:solidFill>
                  <a:schemeClr val="tx1"/>
                </a:solidFill>
                <a:latin typeface="+mn-lt"/>
                <a:ea typeface="+mn-ea"/>
                <a:cs typeface="+mn-cs"/>
              </a:rPr>
              <a:t>price == null</a:t>
            </a:r>
            <a:r>
              <a:rPr lang="vi-VN"/>
              <a:t> và trả về nếu lỗi; nên ở đây bạn tin chắc </a:t>
            </a:r>
            <a:r>
              <a:rPr lang="vi-VN" sz="1200" kern="1200">
                <a:solidFill>
                  <a:schemeClr val="tx1"/>
                </a:solidFill>
                <a:latin typeface="+mn-lt"/>
                <a:ea typeface="+mn-ea"/>
                <a:cs typeface="+mn-cs"/>
              </a:rPr>
              <a:t>price</a:t>
            </a:r>
            <a:r>
              <a:rPr lang="vi-VN"/>
              <a:t> không null.</a:t>
            </a:r>
          </a:p>
          <a:p>
            <a:pPr lvl="1"/>
            <a:r>
              <a:rPr lang="vi-VN" sz="1200" kern="1200">
                <a:solidFill>
                  <a:schemeClr val="tx1"/>
                </a:solidFill>
                <a:latin typeface="+mn-lt"/>
                <a:ea typeface="+mn-ea"/>
                <a:cs typeface="+mn-cs"/>
              </a:rPr>
              <a:t>quantity: quantity!</a:t>
            </a:r>
            <a:r>
              <a:rPr lang="vi-VN"/>
              <a:t> — tương tự </a:t>
            </a:r>
            <a:r>
              <a:rPr lang="vi-VN" sz="1200" kern="1200">
                <a:solidFill>
                  <a:schemeClr val="tx1"/>
                </a:solidFill>
                <a:latin typeface="+mn-lt"/>
                <a:ea typeface="+mn-ea"/>
                <a:cs typeface="+mn-cs"/>
              </a:rPr>
              <a:t>price!</a:t>
            </a:r>
            <a:r>
              <a:rPr lang="vi-VN"/>
              <a:t>.</a:t>
            </a:r>
          </a:p>
          <a:p>
            <a:pPr lvl="1"/>
            <a:r>
              <a:rPr lang="vi-VN" sz="1200" kern="1200">
                <a:solidFill>
                  <a:schemeClr val="tx1"/>
                </a:solidFill>
                <a:latin typeface="+mn-lt"/>
                <a:ea typeface="+mn-ea"/>
                <a:cs typeface="+mn-cs"/>
              </a:rPr>
              <a:t>description: desc</a:t>
            </a:r>
            <a:r>
              <a:rPr lang="vi-VN"/>
              <a:t> — mô tả từ </a:t>
            </a:r>
            <a:r>
              <a:rPr lang="vi-VN" sz="1200" kern="1200">
                <a:solidFill>
                  <a:schemeClr val="tx1"/>
                </a:solidFill>
                <a:latin typeface="+mn-lt"/>
                <a:ea typeface="+mn-ea"/>
                <a:cs typeface="+mn-cs"/>
              </a:rPr>
              <a:t>descriptionController</a:t>
            </a:r>
            <a:r>
              <a:rPr lang="vi-VN"/>
              <a:t>.</a:t>
            </a:r>
          </a:p>
          <a:p>
            <a:pPr lvl="1"/>
            <a:r>
              <a:rPr lang="vi-VN" sz="1200" kern="1200">
                <a:solidFill>
                  <a:schemeClr val="tx1"/>
                </a:solidFill>
                <a:latin typeface="+mn-lt"/>
                <a:ea typeface="+mn-ea"/>
                <a:cs typeface="+mn-cs"/>
              </a:rPr>
              <a:t>createdAt: now</a:t>
            </a:r>
            <a:r>
              <a:rPr lang="vi-VN"/>
              <a:t> — lưu thời điểm thao tác hiện tại (dưới dạng chuỗi).</a:t>
            </a:r>
          </a:p>
          <a:p>
            <a:r>
              <a:rPr lang="vi-VN" sz="1200" kern="1200">
                <a:solidFill>
                  <a:schemeClr val="tx1"/>
                </a:solidFill>
                <a:latin typeface="+mn-lt"/>
                <a:ea typeface="+mn-ea"/>
                <a:cs typeface="+mn-cs"/>
              </a:rPr>
              <a:t>if (product == null) { ... } else { ... }</a:t>
            </a:r>
            <a:endParaRPr lang="vi-VN"/>
          </a:p>
          <a:p>
            <a:pPr lvl="1"/>
            <a:r>
              <a:rPr lang="vi-VN"/>
              <a:t>Kiểm tra xem hàm được gọi trong ngữ cảnh </a:t>
            </a:r>
            <a:r>
              <a:rPr lang="vi-VN" b="1"/>
              <a:t>thêm mới</a:t>
            </a:r>
            <a:r>
              <a:rPr lang="vi-VN"/>
              <a:t> hay </a:t>
            </a:r>
            <a:r>
              <a:rPr lang="vi-VN" b="1"/>
              <a:t>cập nhật</a:t>
            </a:r>
            <a:r>
              <a:rPr lang="vi-VN"/>
              <a:t>:</a:t>
            </a:r>
          </a:p>
          <a:p>
            <a:pPr lvl="2"/>
            <a:r>
              <a:rPr lang="vi-VN" sz="1200" kern="1200">
                <a:solidFill>
                  <a:schemeClr val="tx1"/>
                </a:solidFill>
                <a:latin typeface="+mn-lt"/>
                <a:ea typeface="+mn-ea"/>
                <a:cs typeface="+mn-cs"/>
              </a:rPr>
              <a:t>product == null</a:t>
            </a:r>
            <a:r>
              <a:rPr lang="vi-VN"/>
              <a:t> → THÊM MỚI.</a:t>
            </a:r>
          </a:p>
          <a:p>
            <a:pPr lvl="2"/>
            <a:r>
              <a:rPr lang="vi-VN" sz="1200" kern="1200">
                <a:solidFill>
                  <a:schemeClr val="tx1"/>
                </a:solidFill>
                <a:latin typeface="+mn-lt"/>
                <a:ea typeface="+mn-ea"/>
                <a:cs typeface="+mn-cs"/>
              </a:rPr>
              <a:t>product != null</a:t>
            </a:r>
            <a:r>
              <a:rPr lang="vi-VN"/>
              <a:t> → CẬP NHẬT (sửa).</a:t>
            </a:r>
          </a:p>
          <a:p>
            <a:r>
              <a:rPr lang="vi-VN"/>
              <a:t>Nếu thêm mới:</a:t>
            </a:r>
          </a:p>
          <a:p>
            <a:pPr rtl="0"/>
            <a:r>
              <a:rPr lang="vi-VN" sz="1200" kern="1200">
                <a:solidFill>
                  <a:schemeClr val="tx1"/>
                </a:solidFill>
                <a:latin typeface="+mn-lt"/>
                <a:ea typeface="+mn-ea"/>
                <a:cs typeface="+mn-cs"/>
              </a:rPr>
              <a:t>await DBHelper.insertProduct(newProduct);</a:t>
            </a:r>
          </a:p>
          <a:p>
            <a:pPr rtl="0"/>
            <a:r>
              <a:rPr lang="vi-VN" sz="1200" kern="1200">
                <a:solidFill>
                  <a:schemeClr val="tx1"/>
                </a:solidFill>
                <a:latin typeface="+mn-lt"/>
                <a:ea typeface="+mn-ea"/>
                <a:cs typeface="+mn-cs"/>
              </a:rPr>
              <a:t>ScaffoldMessenger.of(context).showSnackBar(</a:t>
            </a:r>
          </a:p>
          <a:p>
            <a:pPr rtl="0"/>
            <a:r>
              <a:rPr lang="vi-VN" sz="1200" kern="1200">
                <a:solidFill>
                  <a:schemeClr val="tx1"/>
                </a:solidFill>
                <a:latin typeface="+mn-lt"/>
                <a:ea typeface="+mn-ea"/>
                <a:cs typeface="+mn-cs"/>
              </a:rPr>
              <a:t>  const SnackBar(content: Text(' Đã thêm sản phẩm mới!')),</a:t>
            </a:r>
          </a:p>
          <a:p>
            <a:pPr rtl="0"/>
            <a:r>
              <a:rPr lang="vi-VN" sz="1200" kern="1200">
                <a:solidFill>
                  <a:schemeClr val="tx1"/>
                </a:solidFill>
                <a:latin typeface="+mn-lt"/>
                <a:ea typeface="+mn-ea"/>
                <a:cs typeface="+mn-cs"/>
              </a:rPr>
              <a:t>);</a:t>
            </a:r>
          </a:p>
          <a:p>
            <a:pPr lvl="1"/>
            <a:r>
              <a:rPr lang="vi-VN" sz="1200" kern="1200">
                <a:solidFill>
                  <a:schemeClr val="tx1"/>
                </a:solidFill>
                <a:latin typeface="+mn-lt"/>
                <a:ea typeface="+mn-ea"/>
                <a:cs typeface="+mn-cs"/>
              </a:rPr>
              <a:t>await DBHelper.insertProduct(newProduct);</a:t>
            </a:r>
            <a:endParaRPr lang="vi-VN"/>
          </a:p>
          <a:p>
            <a:pPr lvl="2"/>
            <a:r>
              <a:rPr lang="vi-VN"/>
              <a:t>Gọi hàm insert trong </a:t>
            </a:r>
            <a:r>
              <a:rPr lang="vi-VN" sz="1200" kern="1200">
                <a:solidFill>
                  <a:schemeClr val="tx1"/>
                </a:solidFill>
                <a:latin typeface="+mn-lt"/>
                <a:ea typeface="+mn-ea"/>
                <a:cs typeface="+mn-cs"/>
              </a:rPr>
              <a:t>DBHelper</a:t>
            </a:r>
            <a:r>
              <a:rPr lang="vi-VN"/>
              <a:t> để chèn </a:t>
            </a:r>
            <a:r>
              <a:rPr lang="vi-VN" sz="1200" kern="1200">
                <a:solidFill>
                  <a:schemeClr val="tx1"/>
                </a:solidFill>
                <a:latin typeface="+mn-lt"/>
                <a:ea typeface="+mn-ea"/>
                <a:cs typeface="+mn-cs"/>
              </a:rPr>
              <a:t>newProduct</a:t>
            </a:r>
            <a:r>
              <a:rPr lang="vi-VN"/>
              <a:t> vào bảng SQLite. Vì </a:t>
            </a:r>
            <a:r>
              <a:rPr lang="vi-VN" sz="1200" kern="1200">
                <a:solidFill>
                  <a:schemeClr val="tx1"/>
                </a:solidFill>
                <a:latin typeface="+mn-lt"/>
                <a:ea typeface="+mn-ea"/>
                <a:cs typeface="+mn-cs"/>
              </a:rPr>
              <a:t>newProduct.id</a:t>
            </a:r>
            <a:r>
              <a:rPr lang="vi-VN"/>
              <a:t> là </a:t>
            </a:r>
            <a:r>
              <a:rPr lang="vi-VN" sz="1200" kern="1200">
                <a:solidFill>
                  <a:schemeClr val="tx1"/>
                </a:solidFill>
                <a:latin typeface="+mn-lt"/>
                <a:ea typeface="+mn-ea"/>
                <a:cs typeface="+mn-cs"/>
              </a:rPr>
              <a:t>null</a:t>
            </a:r>
            <a:r>
              <a:rPr lang="vi-VN"/>
              <a:t>, DB sẽ cấp </a:t>
            </a:r>
            <a:r>
              <a:rPr lang="vi-VN" sz="1200" kern="1200">
                <a:solidFill>
                  <a:schemeClr val="tx1"/>
                </a:solidFill>
                <a:latin typeface="+mn-lt"/>
                <a:ea typeface="+mn-ea"/>
                <a:cs typeface="+mn-cs"/>
              </a:rPr>
              <a:t>id</a:t>
            </a:r>
            <a:r>
              <a:rPr lang="vi-VN"/>
              <a:t> tự động.</a:t>
            </a:r>
          </a:p>
          <a:p>
            <a:pPr lvl="2"/>
            <a:r>
              <a:rPr lang="vi-VN" sz="1200" kern="1200">
                <a:solidFill>
                  <a:schemeClr val="tx1"/>
                </a:solidFill>
                <a:latin typeface="+mn-lt"/>
                <a:ea typeface="+mn-ea"/>
                <a:cs typeface="+mn-cs"/>
              </a:rPr>
              <a:t>await</a:t>
            </a:r>
            <a:r>
              <a:rPr lang="vi-VN"/>
              <a:t> đảm bảo hàm sẽ chờ thao tác chèn hoàn tất trước khi chạy tiếp.</a:t>
            </a:r>
          </a:p>
          <a:p>
            <a:pPr lvl="1"/>
            <a:r>
              <a:rPr lang="vi-VN" sz="1200" kern="1200">
                <a:solidFill>
                  <a:schemeClr val="tx1"/>
                </a:solidFill>
                <a:latin typeface="+mn-lt"/>
                <a:ea typeface="+mn-ea"/>
                <a:cs typeface="+mn-cs"/>
              </a:rPr>
              <a:t>ScaffoldMessenger.of(context).showSnackBar(...)</a:t>
            </a:r>
            <a:r>
              <a:rPr lang="vi-VN"/>
              <a:t> hiển thị một thông báo nhỏ (SnackBar) cho người dùng biết đã thêm thành công.</a:t>
            </a:r>
          </a:p>
          <a:p>
            <a:r>
              <a:rPr lang="vi-VN"/>
              <a:t>Nếu cập nhật:</a:t>
            </a:r>
          </a:p>
          <a:p>
            <a:pPr rtl="0"/>
            <a:r>
              <a:rPr lang="vi-VN" sz="1200" kern="1200">
                <a:solidFill>
                  <a:schemeClr val="tx1"/>
                </a:solidFill>
                <a:latin typeface="+mn-lt"/>
                <a:ea typeface="+mn-ea"/>
                <a:cs typeface="+mn-cs"/>
              </a:rPr>
              <a:t>await DBHelper.updateProduct(newProduct);</a:t>
            </a:r>
          </a:p>
          <a:p>
            <a:pPr rtl="0"/>
            <a:r>
              <a:rPr lang="vi-VN" sz="1200" kern="1200">
                <a:solidFill>
                  <a:schemeClr val="tx1"/>
                </a:solidFill>
                <a:latin typeface="+mn-lt"/>
                <a:ea typeface="+mn-ea"/>
                <a:cs typeface="+mn-cs"/>
              </a:rPr>
              <a:t>ScaffoldMessenger.of(context).showSnackBar(</a:t>
            </a:r>
          </a:p>
          <a:p>
            <a:pPr rtl="0"/>
            <a:r>
              <a:rPr lang="vi-VN" sz="1200" kern="1200">
                <a:solidFill>
                  <a:schemeClr val="tx1"/>
                </a:solidFill>
                <a:latin typeface="+mn-lt"/>
                <a:ea typeface="+mn-ea"/>
                <a:cs typeface="+mn-cs"/>
              </a:rPr>
              <a:t>  const SnackBar(content: Text('️ Đã cập nhật sản phẩm!')),</a:t>
            </a:r>
          </a:p>
          <a:p>
            <a:pPr rtl="0"/>
            <a:r>
              <a:rPr lang="vi-VN" sz="1200" kern="1200">
                <a:solidFill>
                  <a:schemeClr val="tx1"/>
                </a:solidFill>
                <a:latin typeface="+mn-lt"/>
                <a:ea typeface="+mn-ea"/>
                <a:cs typeface="+mn-cs"/>
              </a:rPr>
              <a:t>);</a:t>
            </a:r>
          </a:p>
          <a:p>
            <a:pPr lvl="1"/>
            <a:r>
              <a:rPr lang="vi-VN" sz="1200" kern="1200">
                <a:solidFill>
                  <a:schemeClr val="tx1"/>
                </a:solidFill>
                <a:latin typeface="+mn-lt"/>
                <a:ea typeface="+mn-ea"/>
                <a:cs typeface="+mn-cs"/>
              </a:rPr>
              <a:t>await DBHelper.updateProduct(newProduct);</a:t>
            </a:r>
            <a:endParaRPr lang="vi-VN"/>
          </a:p>
          <a:p>
            <a:pPr lvl="2"/>
            <a:r>
              <a:rPr lang="vi-VN"/>
              <a:t>Gọi hàm update; DBHelper sẽ dùng </a:t>
            </a:r>
            <a:r>
              <a:rPr lang="vi-VN" sz="1200" kern="1200">
                <a:solidFill>
                  <a:schemeClr val="tx1"/>
                </a:solidFill>
                <a:latin typeface="+mn-lt"/>
                <a:ea typeface="+mn-ea"/>
                <a:cs typeface="+mn-cs"/>
              </a:rPr>
              <a:t>newProduct.id</a:t>
            </a:r>
            <a:r>
              <a:rPr lang="vi-VN"/>
              <a:t> làm điều kiện </a:t>
            </a:r>
            <a:r>
              <a:rPr lang="vi-VN" sz="1200" kern="1200">
                <a:solidFill>
                  <a:schemeClr val="tx1"/>
                </a:solidFill>
                <a:latin typeface="+mn-lt"/>
                <a:ea typeface="+mn-ea"/>
                <a:cs typeface="+mn-cs"/>
              </a:rPr>
              <a:t>WHERE id = ?</a:t>
            </a:r>
            <a:r>
              <a:rPr lang="vi-VN"/>
              <a:t> để cập nhật record tương ứng.</a:t>
            </a:r>
          </a:p>
          <a:p>
            <a:pPr lvl="1"/>
            <a:r>
              <a:rPr lang="vi-VN"/>
              <a:t>Hiển thị SnackBar báo đã cập nhật.</a:t>
            </a:r>
          </a:p>
          <a:p>
            <a:r>
              <a:rPr lang="vi-VN"/>
              <a:t>Sau thao tác (cả hai nhánh):</a:t>
            </a:r>
          </a:p>
          <a:p>
            <a:pPr rtl="0"/>
            <a:r>
              <a:rPr lang="vi-VN" sz="1200" kern="1200">
                <a:solidFill>
                  <a:schemeClr val="tx1"/>
                </a:solidFill>
                <a:latin typeface="+mn-lt"/>
                <a:ea typeface="+mn-ea"/>
                <a:cs typeface="+mn-cs"/>
              </a:rPr>
              <a:t>_clearFields();</a:t>
            </a:r>
          </a:p>
          <a:p>
            <a:pPr rtl="0"/>
            <a:r>
              <a:rPr lang="vi-VN" sz="1200" kern="1200">
                <a:solidFill>
                  <a:schemeClr val="tx1"/>
                </a:solidFill>
                <a:latin typeface="+mn-lt"/>
                <a:ea typeface="+mn-ea"/>
                <a:cs typeface="+mn-cs"/>
              </a:rPr>
              <a:t>await _loadProducts();</a:t>
            </a:r>
          </a:p>
          <a:p>
            <a:pPr lvl="1"/>
            <a:r>
              <a:rPr lang="vi-VN" sz="1200" kern="1200">
                <a:solidFill>
                  <a:schemeClr val="tx1"/>
                </a:solidFill>
                <a:latin typeface="+mn-lt"/>
                <a:ea typeface="+mn-ea"/>
                <a:cs typeface="+mn-cs"/>
              </a:rPr>
              <a:t>_clearFields()</a:t>
            </a:r>
            <a:r>
              <a:rPr lang="vi-VN"/>
              <a:t> xóa nội dung các </a:t>
            </a:r>
            <a:r>
              <a:rPr lang="vi-VN" sz="1200" kern="1200">
                <a:solidFill>
                  <a:schemeClr val="tx1"/>
                </a:solidFill>
                <a:latin typeface="+mn-lt"/>
                <a:ea typeface="+mn-ea"/>
                <a:cs typeface="+mn-cs"/>
              </a:rPr>
              <a:t>TextEditingController</a:t>
            </a:r>
            <a:r>
              <a:rPr lang="vi-VN"/>
              <a:t> (reset form).</a:t>
            </a:r>
          </a:p>
          <a:p>
            <a:pPr lvl="1"/>
            <a:r>
              <a:rPr lang="vi-VN" sz="1200" kern="1200">
                <a:solidFill>
                  <a:schemeClr val="tx1"/>
                </a:solidFill>
                <a:latin typeface="+mn-lt"/>
                <a:ea typeface="+mn-ea"/>
                <a:cs typeface="+mn-cs"/>
              </a:rPr>
              <a:t>await _loadProducts();</a:t>
            </a:r>
            <a:r>
              <a:rPr lang="vi-VN"/>
              <a:t> load lại danh sách sản phẩm từ DB (gọi DBHelper.getAllProducts()) và </a:t>
            </a:r>
            <a:r>
              <a:rPr lang="vi-VN" sz="1200" kern="1200">
                <a:solidFill>
                  <a:schemeClr val="tx1"/>
                </a:solidFill>
                <a:latin typeface="+mn-lt"/>
                <a:ea typeface="+mn-ea"/>
                <a:cs typeface="+mn-cs"/>
              </a:rPr>
              <a:t>setState</a:t>
            </a:r>
            <a:r>
              <a:rPr lang="vi-VN"/>
              <a:t> để cập nhật UI, vậy danh sách trên màn hình sẽ hiện ngay dữ liệu mới/cập nhật.</a:t>
            </a:r>
          </a:p>
          <a:p>
            <a:endParaRPr lang="vi-VN" b="0"/>
          </a:p>
        </p:txBody>
      </p:sp>
      <p:sp>
        <p:nvSpPr>
          <p:cNvPr id="4" name="Slide Number Placeholder 3">
            <a:extLst>
              <a:ext uri="{FF2B5EF4-FFF2-40B4-BE49-F238E27FC236}">
                <a16:creationId xmlns:a16="http://schemas.microsoft.com/office/drawing/2014/main" id="{861E6A84-1406-CAA1-77F8-1F2BB89803A0}"/>
              </a:ext>
            </a:extLst>
          </p:cNvPr>
          <p:cNvSpPr>
            <a:spLocks noGrp="1"/>
          </p:cNvSpPr>
          <p:nvPr>
            <p:ph type="sldNum" sz="quarter" idx="5"/>
          </p:nvPr>
        </p:nvSpPr>
        <p:spPr/>
        <p:txBody>
          <a:bodyPr/>
          <a:lstStyle/>
          <a:p>
            <a:fld id="{1983A999-5E0E-42CA-8400-604AE921FF7C}" type="slidenum">
              <a:rPr lang="en-US" smtClean="0"/>
              <a:t>16</a:t>
            </a:fld>
            <a:endParaRPr lang="en-US"/>
          </a:p>
        </p:txBody>
      </p:sp>
    </p:spTree>
    <p:extLst>
      <p:ext uri="{BB962C8B-B14F-4D97-AF65-F5344CB8AC3E}">
        <p14:creationId xmlns:p14="http://schemas.microsoft.com/office/powerpoint/2010/main" val="12989238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0BB27-9856-B96D-533F-4BFDA868B3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5B4E7B-1A25-ECEA-1FAE-EF55A3EF7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D83B9D-A8A1-54F6-191C-6F35AD78334D}"/>
              </a:ext>
            </a:extLst>
          </p:cNvPr>
          <p:cNvSpPr>
            <a:spLocks noGrp="1"/>
          </p:cNvSpPr>
          <p:nvPr>
            <p:ph type="body" idx="1"/>
          </p:nvPr>
        </p:nvSpPr>
        <p:spPr/>
        <p:txBody>
          <a:bodyPr/>
          <a:lstStyle/>
          <a:p>
            <a:r>
              <a:rPr lang="vi-VN" b="1"/>
              <a:t>main.dart</a:t>
            </a:r>
            <a:r>
              <a:rPr lang="vi-VN"/>
              <a:t>: UI + logic app Flutter. Giao diện hiển thị danh sách sản phẩm, form thêm/sửa, và gọi các phương thức trong </a:t>
            </a:r>
            <a:r>
              <a:rPr lang="vi-VN" sz="1200" kern="1200">
                <a:solidFill>
                  <a:schemeClr val="tx1"/>
                </a:solidFill>
                <a:latin typeface="+mn-lt"/>
                <a:ea typeface="+mn-ea"/>
                <a:cs typeface="+mn-cs"/>
              </a:rPr>
              <a:t>DBHelper</a:t>
            </a:r>
            <a:r>
              <a:rPr lang="vi-VN"/>
              <a:t> để thao tác dữ liệu.</a:t>
            </a:r>
            <a:endParaRPr lang="en-US"/>
          </a:p>
          <a:p>
            <a:r>
              <a:rPr lang="en-US"/>
              <a:t>------------------------------------------------------------------------------------------------------------------------------------------------------------------</a:t>
            </a:r>
          </a:p>
          <a:p>
            <a:r>
              <a:rPr lang="en-US" b="1"/>
              <a:t>Làm rõ code:</a:t>
            </a:r>
          </a:p>
          <a:p>
            <a:r>
              <a:rPr lang="en-US"/>
              <a:t>👉 </a:t>
            </a:r>
            <a:r>
              <a:rPr lang="vi-VN" b="1"/>
              <a:t>Hàm </a:t>
            </a:r>
            <a:r>
              <a:rPr lang="vi-VN" sz="1200" b="1" kern="1200">
                <a:solidFill>
                  <a:schemeClr val="tx1"/>
                </a:solidFill>
                <a:latin typeface="+mn-lt"/>
                <a:ea typeface="+mn-ea"/>
                <a:cs typeface="+mn-cs"/>
              </a:rPr>
              <a:t>_addOrUpdateProduct()</a:t>
            </a:r>
            <a:r>
              <a:rPr lang="vi-VN"/>
              <a:t> được viết để </a:t>
            </a:r>
            <a:r>
              <a:rPr lang="vi-VN" b="1"/>
              <a:t>dùng chung cho cả hai chức năng</a:t>
            </a:r>
            <a:r>
              <a:rPr lang="vi-VN"/>
              <a:t>:</a:t>
            </a:r>
          </a:p>
          <a:p>
            <a:r>
              <a:rPr lang="vi-VN" b="1"/>
              <a:t>Thêm sản phẩm mới (Add)</a:t>
            </a:r>
            <a:endParaRPr lang="vi-VN"/>
          </a:p>
          <a:p>
            <a:r>
              <a:rPr lang="vi-VN" b="1"/>
              <a:t>Cập nhật sản phẩm có sẵn (Update)</a:t>
            </a:r>
            <a:endParaRPr lang="vi-VN"/>
          </a:p>
          <a:p>
            <a:r>
              <a:rPr lang="vi-VN"/>
              <a:t>Cụ thể:</a:t>
            </a:r>
          </a:p>
          <a:p>
            <a:r>
              <a:rPr lang="vi-VN"/>
              <a:t>Nếu khi gọi hàm này </a:t>
            </a:r>
            <a:r>
              <a:rPr lang="vi-VN" b="1"/>
              <a:t>không truyền vào đối tượng </a:t>
            </a:r>
            <a:r>
              <a:rPr lang="vi-VN" sz="1200" b="1" kern="1200">
                <a:solidFill>
                  <a:schemeClr val="tx1"/>
                </a:solidFill>
                <a:latin typeface="+mn-lt"/>
                <a:ea typeface="+mn-ea"/>
                <a:cs typeface="+mn-cs"/>
              </a:rPr>
              <a:t>product</a:t>
            </a:r>
            <a:r>
              <a:rPr lang="vi-VN"/>
              <a:t> (tức là </a:t>
            </a:r>
            <a:r>
              <a:rPr lang="vi-VN" sz="1200" kern="1200">
                <a:solidFill>
                  <a:schemeClr val="tx1"/>
                </a:solidFill>
                <a:latin typeface="+mn-lt"/>
                <a:ea typeface="+mn-ea"/>
                <a:cs typeface="+mn-cs"/>
              </a:rPr>
              <a:t>product == null</a:t>
            </a:r>
            <a:r>
              <a:rPr lang="vi-VN"/>
              <a:t>),</a:t>
            </a:r>
            <a:br>
              <a:rPr lang="vi-VN"/>
            </a:br>
            <a:r>
              <a:rPr lang="vi-VN"/>
              <a:t>→ hàm hiểu là </a:t>
            </a:r>
            <a:r>
              <a:rPr lang="vi-VN" b="1"/>
              <a:t>bạn đang thêm sản phẩm mới</a:t>
            </a:r>
            <a:r>
              <a:rPr lang="vi-VN"/>
              <a:t> → nó sẽ </a:t>
            </a:r>
            <a:r>
              <a:rPr lang="vi-VN" b="1"/>
              <a:t>tạo record mới trong database</a:t>
            </a:r>
            <a:r>
              <a:rPr lang="vi-VN"/>
              <a:t>.</a:t>
            </a:r>
          </a:p>
          <a:p>
            <a:r>
              <a:rPr lang="vi-VN"/>
              <a:t>Ngược lại, nếu bạn </a:t>
            </a:r>
            <a:r>
              <a:rPr lang="vi-VN" b="1"/>
              <a:t>truyền vào một </a:t>
            </a:r>
            <a:r>
              <a:rPr lang="vi-VN" sz="1200" b="1" kern="1200">
                <a:solidFill>
                  <a:schemeClr val="tx1"/>
                </a:solidFill>
                <a:latin typeface="+mn-lt"/>
                <a:ea typeface="+mn-ea"/>
                <a:cs typeface="+mn-cs"/>
              </a:rPr>
              <a:t>product</a:t>
            </a:r>
            <a:r>
              <a:rPr lang="vi-VN" b="1"/>
              <a:t> đã tồn tại</a:t>
            </a:r>
            <a:r>
              <a:rPr lang="vi-VN"/>
              <a:t>,</a:t>
            </a:r>
            <a:br>
              <a:rPr lang="vi-VN"/>
            </a:br>
            <a:r>
              <a:rPr lang="vi-VN"/>
              <a:t>→ hàm hiểu là </a:t>
            </a:r>
            <a:r>
              <a:rPr lang="vi-VN" b="1"/>
              <a:t>bạn đang sửa thông tin của sản phẩm đó</a:t>
            </a:r>
            <a:r>
              <a:rPr lang="vi-VN"/>
              <a:t> → nó sẽ </a:t>
            </a:r>
            <a:r>
              <a:rPr lang="vi-VN" b="1"/>
              <a:t>chạy lệnh UPDATE</a:t>
            </a:r>
            <a:r>
              <a:rPr lang="vi-VN"/>
              <a:t> trong database.</a:t>
            </a:r>
            <a:endParaRPr lang="en-US"/>
          </a:p>
          <a:p>
            <a:endParaRPr lang="vi-VN" b="0"/>
          </a:p>
          <a:p>
            <a:r>
              <a:rPr lang="vi-VN"/>
              <a:t>Lấy text từ controllers rồi </a:t>
            </a:r>
            <a:r>
              <a:rPr lang="vi-VN" sz="1200" kern="1200">
                <a:solidFill>
                  <a:schemeClr val="tx1"/>
                </a:solidFill>
                <a:latin typeface="+mn-lt"/>
                <a:ea typeface="+mn-ea"/>
                <a:cs typeface="+mn-cs"/>
              </a:rPr>
              <a:t>trim()</a:t>
            </a:r>
            <a:r>
              <a:rPr lang="vi-VN"/>
              <a:t>.</a:t>
            </a:r>
          </a:p>
          <a:p>
            <a:r>
              <a:rPr lang="vi-VN"/>
              <a:t>Validate:</a:t>
            </a:r>
          </a:p>
          <a:p>
            <a:r>
              <a:rPr lang="vi-VN" sz="1200" kern="1200">
                <a:solidFill>
                  <a:schemeClr val="tx1"/>
                </a:solidFill>
                <a:latin typeface="+mn-lt"/>
                <a:ea typeface="+mn-ea"/>
                <a:cs typeface="+mn-cs"/>
              </a:rPr>
              <a:t>name</a:t>
            </a:r>
            <a:r>
              <a:rPr lang="vi-VN"/>
              <a:t> không được rỗng.</a:t>
            </a:r>
          </a:p>
          <a:p>
            <a:r>
              <a:rPr lang="vi-VN" sz="1200" kern="1200">
                <a:solidFill>
                  <a:schemeClr val="tx1"/>
                </a:solidFill>
                <a:latin typeface="+mn-lt"/>
                <a:ea typeface="+mn-ea"/>
                <a:cs typeface="+mn-cs"/>
              </a:rPr>
              <a:t>double.tryParse(priceText)</a:t>
            </a:r>
            <a:r>
              <a:rPr lang="vi-VN"/>
              <a:t> chuyển chuỗi sang double (trả </a:t>
            </a:r>
            <a:r>
              <a:rPr lang="vi-VN" sz="1200" kern="1200">
                <a:solidFill>
                  <a:schemeClr val="tx1"/>
                </a:solidFill>
                <a:latin typeface="+mn-lt"/>
                <a:ea typeface="+mn-ea"/>
                <a:cs typeface="+mn-cs"/>
              </a:rPr>
              <a:t>null</a:t>
            </a:r>
            <a:r>
              <a:rPr lang="vi-VN"/>
              <a:t> nếu không parse được). Kiểm tra </a:t>
            </a:r>
            <a:r>
              <a:rPr lang="vi-VN" sz="1200" kern="1200">
                <a:solidFill>
                  <a:schemeClr val="tx1"/>
                </a:solidFill>
                <a:latin typeface="+mn-lt"/>
                <a:ea typeface="+mn-ea"/>
                <a:cs typeface="+mn-cs"/>
              </a:rPr>
              <a:t>price &lt;= 0</a:t>
            </a:r>
            <a:r>
              <a:rPr lang="vi-VN"/>
              <a:t> là không hợp lệ.</a:t>
            </a:r>
          </a:p>
          <a:p>
            <a:r>
              <a:rPr lang="vi-VN" sz="1200" kern="1200">
                <a:solidFill>
                  <a:schemeClr val="tx1"/>
                </a:solidFill>
                <a:latin typeface="+mn-lt"/>
                <a:ea typeface="+mn-ea"/>
                <a:cs typeface="+mn-cs"/>
              </a:rPr>
              <a:t>int.tryParse(quantityText)</a:t>
            </a:r>
            <a:r>
              <a:rPr lang="vi-VN"/>
              <a:t> cho số lượng.</a:t>
            </a:r>
          </a:p>
          <a:p>
            <a:r>
              <a:rPr lang="vi-VN"/>
              <a:t>Nếu có lỗi thì </a:t>
            </a:r>
            <a:r>
              <a:rPr lang="vi-VN" sz="1200" kern="1200">
                <a:solidFill>
                  <a:schemeClr val="tx1"/>
                </a:solidFill>
                <a:latin typeface="+mn-lt"/>
                <a:ea typeface="+mn-ea"/>
                <a:cs typeface="+mn-cs"/>
              </a:rPr>
              <a:t>SnackBar</a:t>
            </a:r>
            <a:r>
              <a:rPr lang="vi-VN"/>
              <a:t> hiển thị thông báo (nối nhiều lỗi bằng </a:t>
            </a:r>
            <a:r>
              <a:rPr lang="vi-VN" sz="1200" kern="1200">
                <a:solidFill>
                  <a:schemeClr val="tx1"/>
                </a:solidFill>
                <a:latin typeface="+mn-lt"/>
                <a:ea typeface="+mn-ea"/>
                <a:cs typeface="+mn-cs"/>
              </a:rPr>
              <a:t>\n</a:t>
            </a:r>
            <a:r>
              <a:rPr lang="vi-VN"/>
              <a:t>).</a:t>
            </a:r>
          </a:p>
          <a:p>
            <a:endParaRPr lang="vi-VN" b="0"/>
          </a:p>
        </p:txBody>
      </p:sp>
      <p:sp>
        <p:nvSpPr>
          <p:cNvPr id="4" name="Slide Number Placeholder 3">
            <a:extLst>
              <a:ext uri="{FF2B5EF4-FFF2-40B4-BE49-F238E27FC236}">
                <a16:creationId xmlns:a16="http://schemas.microsoft.com/office/drawing/2014/main" id="{CD70958E-AB4F-A443-86A6-CB04B7A9C539}"/>
              </a:ext>
            </a:extLst>
          </p:cNvPr>
          <p:cNvSpPr>
            <a:spLocks noGrp="1"/>
          </p:cNvSpPr>
          <p:nvPr>
            <p:ph type="sldNum" sz="quarter" idx="5"/>
          </p:nvPr>
        </p:nvSpPr>
        <p:spPr/>
        <p:txBody>
          <a:bodyPr/>
          <a:lstStyle/>
          <a:p>
            <a:fld id="{1983A999-5E0E-42CA-8400-604AE921FF7C}" type="slidenum">
              <a:rPr lang="en-US" smtClean="0"/>
              <a:t>17</a:t>
            </a:fld>
            <a:endParaRPr lang="en-US"/>
          </a:p>
        </p:txBody>
      </p:sp>
    </p:spTree>
    <p:extLst>
      <p:ext uri="{BB962C8B-B14F-4D97-AF65-F5344CB8AC3E}">
        <p14:creationId xmlns:p14="http://schemas.microsoft.com/office/powerpoint/2010/main" val="3925446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F72-397E-FF96-3BE6-F29A1DA06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66C37C-E879-F751-B7A3-703C09F02B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A3F742-348C-AABA-F049-E49945E81D5C}"/>
              </a:ext>
            </a:extLst>
          </p:cNvPr>
          <p:cNvSpPr>
            <a:spLocks noGrp="1"/>
          </p:cNvSpPr>
          <p:nvPr>
            <p:ph type="body" idx="1"/>
          </p:nvPr>
        </p:nvSpPr>
        <p:spPr/>
        <p:txBody>
          <a:bodyPr/>
          <a:lstStyle/>
          <a:p>
            <a:r>
              <a:rPr lang="vi-VN" b="1"/>
              <a:t>main.dart</a:t>
            </a:r>
            <a:r>
              <a:rPr lang="vi-VN"/>
              <a:t>: UI + logic app Flutter. Giao diện hiển thị danh sách sản phẩm, form thêm/sửa, và gọi các phương thức trong </a:t>
            </a:r>
            <a:r>
              <a:rPr lang="vi-VN" sz="1200" kern="1200">
                <a:solidFill>
                  <a:schemeClr val="tx1"/>
                </a:solidFill>
                <a:latin typeface="+mn-lt"/>
                <a:ea typeface="+mn-ea"/>
                <a:cs typeface="+mn-cs"/>
              </a:rPr>
              <a:t>DBHelper</a:t>
            </a:r>
            <a:r>
              <a:rPr lang="vi-VN"/>
              <a:t> để thao tác dữ liệu.</a:t>
            </a:r>
            <a:endParaRPr lang="en-US"/>
          </a:p>
          <a:p>
            <a:r>
              <a:rPr lang="en-US"/>
              <a:t>------------------------------------------------------------------------------------------------------------------------------------------------------------------</a:t>
            </a:r>
          </a:p>
          <a:p>
            <a:r>
              <a:rPr lang="en-US" b="1"/>
              <a:t>Làm rõ code:</a:t>
            </a:r>
          </a:p>
          <a:p>
            <a:r>
              <a:rPr lang="en-US"/>
              <a:t>👉 </a:t>
            </a:r>
            <a:r>
              <a:rPr lang="vi-VN"/>
              <a:t>Hàm </a:t>
            </a:r>
            <a:r>
              <a:rPr lang="vi-VN" sz="1200" kern="1200">
                <a:solidFill>
                  <a:schemeClr val="tx1"/>
                </a:solidFill>
                <a:latin typeface="+mn-lt"/>
                <a:ea typeface="+mn-ea"/>
                <a:cs typeface="+mn-cs"/>
              </a:rPr>
              <a:t>_showForm({Product? product})</a:t>
            </a:r>
            <a:r>
              <a:rPr lang="vi-VN"/>
              <a:t> dùng để hiển thị </a:t>
            </a:r>
            <a:r>
              <a:rPr lang="vi-VN" b="1"/>
              <a:t>một hộp thoại (dialog)</a:t>
            </a:r>
            <a:r>
              <a:rPr lang="vi-VN"/>
              <a:t> cho người dùng nhập hoặc sửa thông tin sản phẩm.</a:t>
            </a:r>
          </a:p>
          <a:p>
            <a:r>
              <a:rPr lang="vi-VN"/>
              <a:t>Nếu </a:t>
            </a:r>
            <a:r>
              <a:rPr lang="vi-VN" sz="1200" kern="1200">
                <a:solidFill>
                  <a:schemeClr val="tx1"/>
                </a:solidFill>
                <a:latin typeface="+mn-lt"/>
                <a:ea typeface="+mn-ea"/>
                <a:cs typeface="+mn-cs"/>
              </a:rPr>
              <a:t>product == null</a:t>
            </a:r>
            <a:r>
              <a:rPr lang="vi-VN"/>
              <a:t> → form rỗng → </a:t>
            </a:r>
            <a:r>
              <a:rPr lang="vi-VN" b="1"/>
              <a:t>thêm sản phẩm mới</a:t>
            </a:r>
            <a:r>
              <a:rPr lang="vi-VN"/>
              <a:t>.</a:t>
            </a:r>
          </a:p>
          <a:p>
            <a:r>
              <a:rPr lang="vi-VN"/>
              <a:t>Nếu </a:t>
            </a:r>
            <a:r>
              <a:rPr lang="vi-VN" sz="1200" kern="1200">
                <a:solidFill>
                  <a:schemeClr val="tx1"/>
                </a:solidFill>
                <a:latin typeface="+mn-lt"/>
                <a:ea typeface="+mn-ea"/>
                <a:cs typeface="+mn-cs"/>
              </a:rPr>
              <a:t>product != null</a:t>
            </a:r>
            <a:r>
              <a:rPr lang="vi-VN"/>
              <a:t> → form điền sẵn thông tin → </a:t>
            </a:r>
            <a:r>
              <a:rPr lang="vi-VN" b="1"/>
              <a:t>cập nhật sản phẩm</a:t>
            </a:r>
            <a:r>
              <a:rPr lang="vi-VN"/>
              <a:t>.</a:t>
            </a:r>
          </a:p>
          <a:p>
            <a:br>
              <a:rPr lang="vi-VN"/>
            </a:br>
            <a:endParaRPr lang="vi-VN"/>
          </a:p>
          <a:p>
            <a:r>
              <a:rPr lang="en-US" b="1"/>
              <a:t>🔍 </a:t>
            </a:r>
            <a:r>
              <a:rPr lang="vi-VN" b="1"/>
              <a:t>Phân tích chi tiết từng phần</a:t>
            </a:r>
          </a:p>
          <a:p>
            <a:r>
              <a:rPr lang="vi-VN" b="1"/>
              <a:t>1️⃣ Khởi tạo dữ liệu trong form</a:t>
            </a:r>
          </a:p>
          <a:p>
            <a:pPr rtl="0"/>
            <a:r>
              <a:rPr lang="vi-VN" sz="1200" kern="1200">
                <a:solidFill>
                  <a:schemeClr val="tx1"/>
                </a:solidFill>
                <a:latin typeface="+mn-lt"/>
                <a:ea typeface="+mn-ea"/>
                <a:cs typeface="+mn-cs"/>
              </a:rPr>
              <a:t>if (product != null) {</a:t>
            </a:r>
          </a:p>
          <a:p>
            <a:pPr rtl="0"/>
            <a:r>
              <a:rPr lang="vi-VN" sz="1200" kern="1200">
                <a:solidFill>
                  <a:schemeClr val="tx1"/>
                </a:solidFill>
                <a:latin typeface="+mn-lt"/>
                <a:ea typeface="+mn-ea"/>
                <a:cs typeface="+mn-cs"/>
              </a:rPr>
              <a:t>  nameController.text = product.name;</a:t>
            </a:r>
          </a:p>
          <a:p>
            <a:pPr rtl="0"/>
            <a:r>
              <a:rPr lang="vi-VN" sz="1200" kern="1200">
                <a:solidFill>
                  <a:schemeClr val="tx1"/>
                </a:solidFill>
                <a:latin typeface="+mn-lt"/>
                <a:ea typeface="+mn-ea"/>
                <a:cs typeface="+mn-cs"/>
              </a:rPr>
              <a:t>  priceController.text = product.price.toString();</a:t>
            </a:r>
          </a:p>
          <a:p>
            <a:pPr rtl="0"/>
            <a:r>
              <a:rPr lang="vi-VN" sz="1200" kern="1200">
                <a:solidFill>
                  <a:schemeClr val="tx1"/>
                </a:solidFill>
                <a:latin typeface="+mn-lt"/>
                <a:ea typeface="+mn-ea"/>
                <a:cs typeface="+mn-cs"/>
              </a:rPr>
              <a:t>  quantityController.text = product.quantity.toString();</a:t>
            </a:r>
          </a:p>
          <a:p>
            <a:pPr rtl="0"/>
            <a:r>
              <a:rPr lang="vi-VN" sz="1200" kern="1200">
                <a:solidFill>
                  <a:schemeClr val="tx1"/>
                </a:solidFill>
                <a:latin typeface="+mn-lt"/>
                <a:ea typeface="+mn-ea"/>
                <a:cs typeface="+mn-cs"/>
              </a:rPr>
              <a:t>  descriptionController.text = product.description;</a:t>
            </a:r>
          </a:p>
          <a:p>
            <a:pPr rtl="0"/>
            <a:r>
              <a:rPr lang="vi-VN" sz="1200" kern="1200">
                <a:solidFill>
                  <a:schemeClr val="tx1"/>
                </a:solidFill>
                <a:latin typeface="+mn-lt"/>
                <a:ea typeface="+mn-ea"/>
                <a:cs typeface="+mn-cs"/>
              </a:rPr>
              <a:t>} else {</a:t>
            </a:r>
          </a:p>
          <a:p>
            <a:pPr rtl="0"/>
            <a:r>
              <a:rPr lang="vi-VN" sz="1200" kern="1200">
                <a:solidFill>
                  <a:schemeClr val="tx1"/>
                </a:solidFill>
                <a:latin typeface="+mn-lt"/>
                <a:ea typeface="+mn-ea"/>
                <a:cs typeface="+mn-cs"/>
              </a:rPr>
              <a:t>  _clearFields();</a:t>
            </a:r>
          </a:p>
          <a:p>
            <a:pPr rtl="0"/>
            <a:r>
              <a:rPr lang="vi-VN" sz="1200" kern="1200">
                <a:solidFill>
                  <a:schemeClr val="tx1"/>
                </a:solidFill>
                <a:latin typeface="+mn-lt"/>
                <a:ea typeface="+mn-ea"/>
                <a:cs typeface="+mn-cs"/>
              </a:rPr>
              <a:t>}</a:t>
            </a:r>
          </a:p>
          <a:p>
            <a:r>
              <a:rPr lang="vi-VN" sz="1200" kern="1200">
                <a:solidFill>
                  <a:schemeClr val="tx1"/>
                </a:solidFill>
                <a:latin typeface="+mn-lt"/>
                <a:ea typeface="+mn-ea"/>
                <a:cs typeface="+mn-cs"/>
              </a:rPr>
              <a:t>product</a:t>
            </a:r>
            <a:r>
              <a:rPr lang="vi-VN"/>
              <a:t> là tham số tùy chọn (</a:t>
            </a:r>
            <a:r>
              <a:rPr lang="vi-VN" sz="1200" kern="1200">
                <a:solidFill>
                  <a:schemeClr val="tx1"/>
                </a:solidFill>
                <a:latin typeface="+mn-lt"/>
                <a:ea typeface="+mn-ea"/>
                <a:cs typeface="+mn-cs"/>
              </a:rPr>
              <a:t>Product?</a:t>
            </a:r>
            <a:r>
              <a:rPr lang="vi-VN"/>
              <a:t>) — có thể </a:t>
            </a:r>
            <a:r>
              <a:rPr lang="vi-VN" b="1"/>
              <a:t>null</a:t>
            </a:r>
            <a:r>
              <a:rPr lang="vi-VN"/>
              <a:t> hoặc có giá trị.</a:t>
            </a:r>
          </a:p>
          <a:p>
            <a:r>
              <a:rPr lang="vi-VN"/>
              <a:t>Nếu </a:t>
            </a:r>
            <a:r>
              <a:rPr lang="vi-VN" sz="1200" kern="1200">
                <a:solidFill>
                  <a:schemeClr val="tx1"/>
                </a:solidFill>
                <a:latin typeface="+mn-lt"/>
                <a:ea typeface="+mn-ea"/>
                <a:cs typeface="+mn-cs"/>
              </a:rPr>
              <a:t>product != null</a:t>
            </a:r>
            <a:r>
              <a:rPr lang="vi-VN"/>
              <a:t>:</a:t>
            </a:r>
            <a:br>
              <a:rPr lang="vi-VN"/>
            </a:br>
            <a:r>
              <a:rPr lang="vi-VN"/>
              <a:t>→ Đây là chế độ “Sửa”.</a:t>
            </a:r>
            <a:br>
              <a:rPr lang="vi-VN"/>
            </a:br>
            <a:r>
              <a:rPr lang="vi-VN"/>
              <a:t>→ Gán giá trị của sản phẩm cũ vào các </a:t>
            </a:r>
            <a:r>
              <a:rPr lang="vi-VN" sz="1200" kern="1200">
                <a:solidFill>
                  <a:schemeClr val="tx1"/>
                </a:solidFill>
                <a:latin typeface="+mn-lt"/>
                <a:ea typeface="+mn-ea"/>
                <a:cs typeface="+mn-cs"/>
              </a:rPr>
              <a:t>TextEditingController</a:t>
            </a:r>
            <a:r>
              <a:rPr lang="vi-VN"/>
              <a:t> tương ứng để hiển thị lên các </a:t>
            </a:r>
            <a:r>
              <a:rPr lang="vi-VN" sz="1200" kern="1200">
                <a:solidFill>
                  <a:schemeClr val="tx1"/>
                </a:solidFill>
                <a:latin typeface="+mn-lt"/>
                <a:ea typeface="+mn-ea"/>
                <a:cs typeface="+mn-cs"/>
              </a:rPr>
              <a:t>TextField</a:t>
            </a:r>
            <a:r>
              <a:rPr lang="vi-VN"/>
              <a:t>.</a:t>
            </a:r>
            <a:br>
              <a:rPr lang="vi-VN"/>
            </a:br>
            <a:r>
              <a:rPr lang="vi-VN"/>
              <a:t>→ Ví dụ: nếu </a:t>
            </a:r>
            <a:r>
              <a:rPr lang="vi-VN" sz="1200" kern="1200">
                <a:solidFill>
                  <a:schemeClr val="tx1"/>
                </a:solidFill>
                <a:latin typeface="+mn-lt"/>
                <a:ea typeface="+mn-ea"/>
                <a:cs typeface="+mn-cs"/>
              </a:rPr>
              <a:t>product.name = "Cà phê"</a:t>
            </a:r>
            <a:r>
              <a:rPr lang="vi-VN"/>
              <a:t>, thì </a:t>
            </a:r>
            <a:r>
              <a:rPr lang="vi-VN" sz="1200" kern="1200">
                <a:solidFill>
                  <a:schemeClr val="tx1"/>
                </a:solidFill>
                <a:latin typeface="+mn-lt"/>
                <a:ea typeface="+mn-ea"/>
                <a:cs typeface="+mn-cs"/>
              </a:rPr>
              <a:t>TextField</a:t>
            </a:r>
            <a:r>
              <a:rPr lang="vi-VN"/>
              <a:t> tên sản phẩm sẽ tự động hiển thị </a:t>
            </a:r>
            <a:r>
              <a:rPr lang="vi-VN" sz="1200" kern="1200">
                <a:solidFill>
                  <a:schemeClr val="tx1"/>
                </a:solidFill>
                <a:latin typeface="+mn-lt"/>
                <a:ea typeface="+mn-ea"/>
                <a:cs typeface="+mn-cs"/>
              </a:rPr>
              <a:t>"Cà phê"</a:t>
            </a:r>
            <a:r>
              <a:rPr lang="vi-VN"/>
              <a:t>.</a:t>
            </a:r>
          </a:p>
          <a:p>
            <a:r>
              <a:rPr lang="vi-VN"/>
              <a:t>Nếu </a:t>
            </a:r>
            <a:r>
              <a:rPr lang="vi-VN" sz="1200" kern="1200">
                <a:solidFill>
                  <a:schemeClr val="tx1"/>
                </a:solidFill>
                <a:latin typeface="+mn-lt"/>
                <a:ea typeface="+mn-ea"/>
                <a:cs typeface="+mn-cs"/>
              </a:rPr>
              <a:t>product == null</a:t>
            </a:r>
            <a:r>
              <a:rPr lang="vi-VN"/>
              <a:t>:</a:t>
            </a:r>
            <a:br>
              <a:rPr lang="vi-VN"/>
            </a:br>
            <a:r>
              <a:rPr lang="vi-VN"/>
              <a:t>→ Đây là chế độ “Thêm mới”.</a:t>
            </a:r>
            <a:br>
              <a:rPr lang="vi-VN"/>
            </a:br>
            <a:r>
              <a:rPr lang="vi-VN"/>
              <a:t>→ Gọi </a:t>
            </a:r>
            <a:r>
              <a:rPr lang="vi-VN" sz="1200" kern="1200">
                <a:solidFill>
                  <a:schemeClr val="tx1"/>
                </a:solidFill>
                <a:latin typeface="+mn-lt"/>
                <a:ea typeface="+mn-ea"/>
                <a:cs typeface="+mn-cs"/>
              </a:rPr>
              <a:t>_clearFields()</a:t>
            </a:r>
            <a:r>
              <a:rPr lang="vi-VN"/>
              <a:t> để xóa trống toàn bộ các </a:t>
            </a:r>
            <a:r>
              <a:rPr lang="vi-VN" sz="1200" kern="1200">
                <a:solidFill>
                  <a:schemeClr val="tx1"/>
                </a:solidFill>
                <a:latin typeface="+mn-lt"/>
                <a:ea typeface="+mn-ea"/>
                <a:cs typeface="+mn-cs"/>
              </a:rPr>
              <a:t>TextField</a:t>
            </a:r>
            <a:r>
              <a:rPr lang="vi-VN"/>
              <a:t>.</a:t>
            </a:r>
          </a:p>
          <a:p>
            <a:r>
              <a:rPr lang="en-US"/>
              <a:t>🧠 </a:t>
            </a:r>
            <a:r>
              <a:rPr lang="vi-VN"/>
              <a:t>Mục đích: đảm bảo form luôn có đúng dữ liệu tương ứng với thao tác người dùng.</a:t>
            </a:r>
          </a:p>
          <a:p>
            <a:endParaRPr lang="vi-VN" b="0"/>
          </a:p>
        </p:txBody>
      </p:sp>
      <p:sp>
        <p:nvSpPr>
          <p:cNvPr id="4" name="Slide Number Placeholder 3">
            <a:extLst>
              <a:ext uri="{FF2B5EF4-FFF2-40B4-BE49-F238E27FC236}">
                <a16:creationId xmlns:a16="http://schemas.microsoft.com/office/drawing/2014/main" id="{0C7B2C26-8DF1-01FD-343A-FE103A29C379}"/>
              </a:ext>
            </a:extLst>
          </p:cNvPr>
          <p:cNvSpPr>
            <a:spLocks noGrp="1"/>
          </p:cNvSpPr>
          <p:nvPr>
            <p:ph type="sldNum" sz="quarter" idx="5"/>
          </p:nvPr>
        </p:nvSpPr>
        <p:spPr/>
        <p:txBody>
          <a:bodyPr/>
          <a:lstStyle/>
          <a:p>
            <a:fld id="{1983A999-5E0E-42CA-8400-604AE921FF7C}" type="slidenum">
              <a:rPr lang="en-US" smtClean="0"/>
              <a:t>18</a:t>
            </a:fld>
            <a:endParaRPr lang="en-US"/>
          </a:p>
        </p:txBody>
      </p:sp>
    </p:spTree>
    <p:extLst>
      <p:ext uri="{BB962C8B-B14F-4D97-AF65-F5344CB8AC3E}">
        <p14:creationId xmlns:p14="http://schemas.microsoft.com/office/powerpoint/2010/main" val="38349339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F8A12-08AD-2920-CDBD-74DBF26B83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7A6C8-0C3C-0E20-0B83-3D062445EF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0CC466-E71F-C886-635C-C2E2276AA9E3}"/>
              </a:ext>
            </a:extLst>
          </p:cNvPr>
          <p:cNvSpPr>
            <a:spLocks noGrp="1"/>
          </p:cNvSpPr>
          <p:nvPr>
            <p:ph type="body" idx="1"/>
          </p:nvPr>
        </p:nvSpPr>
        <p:spPr/>
        <p:txBody>
          <a:bodyPr/>
          <a:lstStyle/>
          <a:p>
            <a:r>
              <a:rPr lang="vi-VN" b="1"/>
              <a:t>main.dart</a:t>
            </a:r>
            <a:r>
              <a:rPr lang="vi-VN"/>
              <a:t>: UI + logic app Flutter. Giao diện hiển thị danh sách sản phẩm, form thêm/sửa, và gọi các phương thức trong </a:t>
            </a:r>
            <a:r>
              <a:rPr lang="vi-VN" sz="1200" kern="1200">
                <a:solidFill>
                  <a:schemeClr val="tx1"/>
                </a:solidFill>
                <a:latin typeface="+mn-lt"/>
                <a:ea typeface="+mn-ea"/>
                <a:cs typeface="+mn-cs"/>
              </a:rPr>
              <a:t>DBHelper</a:t>
            </a:r>
            <a:r>
              <a:rPr lang="vi-VN"/>
              <a:t> để thao tác dữ liệu.</a:t>
            </a:r>
            <a:endParaRPr lang="en-US"/>
          </a:p>
          <a:p>
            <a:r>
              <a:rPr lang="en-US"/>
              <a:t>------------------------------------------------------------------------------------------------------------------------------------------------------------------</a:t>
            </a:r>
          </a:p>
          <a:p>
            <a:r>
              <a:rPr lang="en-US" b="1"/>
              <a:t>Làm rõ code:</a:t>
            </a:r>
          </a:p>
          <a:p>
            <a:r>
              <a:rPr lang="en-US"/>
              <a:t>👉 </a:t>
            </a:r>
            <a:r>
              <a:rPr lang="vi-VN" sz="1200" b="1" kern="1200">
                <a:solidFill>
                  <a:schemeClr val="tx1"/>
                </a:solidFill>
                <a:latin typeface="+mn-lt"/>
                <a:ea typeface="+mn-ea"/>
                <a:cs typeface="+mn-cs"/>
              </a:rPr>
              <a:t>TextField</a:t>
            </a:r>
            <a:r>
              <a:rPr lang="vi-VN"/>
              <a:t> trong Flutter là </a:t>
            </a:r>
            <a:r>
              <a:rPr lang="vi-VN" b="1"/>
              <a:t>widget</a:t>
            </a:r>
            <a:r>
              <a:rPr lang="vi-VN"/>
              <a:t> dùng để </a:t>
            </a:r>
            <a:r>
              <a:rPr lang="vi-VN" b="1"/>
              <a:t>nhập dữ liệu dạng văn bản (text)</a:t>
            </a:r>
            <a:r>
              <a:rPr lang="vi-VN"/>
              <a:t> từ người dùng — ví dụ như nhập tên, email, mật khẩu, số điện thoại, giá tiền, v.v.</a:t>
            </a:r>
          </a:p>
          <a:p>
            <a:r>
              <a:rPr lang="en-US" b="1"/>
              <a:t>🔹 </a:t>
            </a:r>
            <a:r>
              <a:rPr lang="vi-VN" b="1"/>
              <a:t>Cú pháp cơ bản:</a:t>
            </a:r>
          </a:p>
          <a:p>
            <a:pPr rtl="0"/>
            <a:r>
              <a:rPr lang="vi-VN" sz="1200" kern="1200">
                <a:solidFill>
                  <a:schemeClr val="tx1"/>
                </a:solidFill>
                <a:latin typeface="+mn-lt"/>
                <a:ea typeface="+mn-ea"/>
                <a:cs typeface="+mn-cs"/>
              </a:rPr>
              <a:t>TextField(</a:t>
            </a:r>
          </a:p>
          <a:p>
            <a:pPr rtl="0"/>
            <a:r>
              <a:rPr lang="vi-VN" sz="1200" kern="1200">
                <a:solidFill>
                  <a:schemeClr val="tx1"/>
                </a:solidFill>
                <a:latin typeface="+mn-lt"/>
                <a:ea typeface="+mn-ea"/>
                <a:cs typeface="+mn-cs"/>
              </a:rPr>
              <a:t>  controller: nameController,</a:t>
            </a:r>
          </a:p>
          <a:p>
            <a:pPr rtl="0"/>
            <a:r>
              <a:rPr lang="vi-VN" sz="1200" kern="1200">
                <a:solidFill>
                  <a:schemeClr val="tx1"/>
                </a:solidFill>
                <a:latin typeface="+mn-lt"/>
                <a:ea typeface="+mn-ea"/>
                <a:cs typeface="+mn-cs"/>
              </a:rPr>
              <a:t>  decoration: InputDecoration(</a:t>
            </a:r>
          </a:p>
          <a:p>
            <a:pPr rtl="0"/>
            <a:r>
              <a:rPr lang="vi-VN" sz="1200" kern="1200">
                <a:solidFill>
                  <a:schemeClr val="tx1"/>
                </a:solidFill>
                <a:latin typeface="+mn-lt"/>
                <a:ea typeface="+mn-ea"/>
                <a:cs typeface="+mn-cs"/>
              </a:rPr>
              <a:t>    labelText: 'Tên sản phẩm',</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a:t>
            </a:r>
            <a:endParaRPr lang="en-US" sz="1200" kern="1200">
              <a:solidFill>
                <a:schemeClr val="tx1"/>
              </a:solidFill>
              <a:latin typeface="+mn-lt"/>
              <a:ea typeface="+mn-ea"/>
              <a:cs typeface="+mn-cs"/>
            </a:endParaRPr>
          </a:p>
          <a:p>
            <a:r>
              <a:rPr lang="vi-VN" b="1"/>
              <a:t>2️⃣ Hiển thị hộp thoại (Dialog)</a:t>
            </a:r>
          </a:p>
          <a:p>
            <a:pPr rtl="0"/>
            <a:r>
              <a:rPr lang="vi-VN" sz="1200" kern="1200">
                <a:solidFill>
                  <a:schemeClr val="tx1"/>
                </a:solidFill>
                <a:latin typeface="+mn-lt"/>
                <a:ea typeface="+mn-ea"/>
                <a:cs typeface="+mn-cs"/>
              </a:rPr>
              <a:t>showDialog(</a:t>
            </a:r>
          </a:p>
          <a:p>
            <a:pPr rtl="0"/>
            <a:r>
              <a:rPr lang="vi-VN" sz="1200" kern="1200">
                <a:solidFill>
                  <a:schemeClr val="tx1"/>
                </a:solidFill>
                <a:latin typeface="+mn-lt"/>
                <a:ea typeface="+mn-ea"/>
                <a:cs typeface="+mn-cs"/>
              </a:rPr>
              <a:t>  context: context,</a:t>
            </a:r>
          </a:p>
          <a:p>
            <a:pPr rtl="0"/>
            <a:r>
              <a:rPr lang="vi-VN" sz="1200" kern="1200">
                <a:solidFill>
                  <a:schemeClr val="tx1"/>
                </a:solidFill>
                <a:latin typeface="+mn-lt"/>
                <a:ea typeface="+mn-ea"/>
                <a:cs typeface="+mn-cs"/>
              </a:rPr>
              <a:t>  builder: (context) =&gt; AlertDialog(</a:t>
            </a:r>
          </a:p>
          <a:p>
            <a:pPr rtl="0"/>
            <a:r>
              <a:rPr lang="vi-VN" sz="1200" kern="1200">
                <a:solidFill>
                  <a:schemeClr val="tx1"/>
                </a:solidFill>
                <a:latin typeface="+mn-lt"/>
                <a:ea typeface="+mn-ea"/>
                <a:cs typeface="+mn-cs"/>
              </a:rPr>
              <a:t>    title: Text(product == null ? ' Thêm sản phẩm' : ' Sửa sản phẩm'),</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a:t>
            </a:r>
          </a:p>
          <a:p>
            <a:r>
              <a:rPr lang="vi-VN" sz="1200" kern="1200">
                <a:solidFill>
                  <a:schemeClr val="tx1"/>
                </a:solidFill>
                <a:latin typeface="+mn-lt"/>
                <a:ea typeface="+mn-ea"/>
                <a:cs typeface="+mn-cs"/>
              </a:rPr>
              <a:t>showDialog()</a:t>
            </a:r>
            <a:r>
              <a:rPr lang="vi-VN"/>
              <a:t> là hàm Flutter hiển thị một hộp thoại nằm </a:t>
            </a:r>
            <a:r>
              <a:rPr lang="vi-VN" b="1"/>
              <a:t>trên</a:t>
            </a:r>
            <a:r>
              <a:rPr lang="vi-VN"/>
              <a:t> giao diện hiện tại.</a:t>
            </a:r>
          </a:p>
          <a:p>
            <a:r>
              <a:rPr lang="vi-VN" sz="1200" kern="1200">
                <a:solidFill>
                  <a:schemeClr val="tx1"/>
                </a:solidFill>
                <a:latin typeface="+mn-lt"/>
                <a:ea typeface="+mn-ea"/>
                <a:cs typeface="+mn-cs"/>
              </a:rPr>
              <a:t>context</a:t>
            </a:r>
            <a:r>
              <a:rPr lang="vi-VN"/>
              <a:t> cho biết vị trí của widget hiện tại trong cây widget.</a:t>
            </a:r>
          </a:p>
          <a:p>
            <a:r>
              <a:rPr lang="vi-VN" sz="1200" kern="1200">
                <a:solidFill>
                  <a:schemeClr val="tx1"/>
                </a:solidFill>
                <a:latin typeface="+mn-lt"/>
                <a:ea typeface="+mn-ea"/>
                <a:cs typeface="+mn-cs"/>
              </a:rPr>
              <a:t>builder:</a:t>
            </a:r>
            <a:r>
              <a:rPr lang="vi-VN"/>
              <a:t> là hàm dựng giao diện hộp thoại.</a:t>
            </a:r>
          </a:p>
          <a:p>
            <a:r>
              <a:rPr lang="vi-VN" sz="1200" kern="1200">
                <a:solidFill>
                  <a:schemeClr val="tx1"/>
                </a:solidFill>
                <a:latin typeface="+mn-lt"/>
                <a:ea typeface="+mn-ea"/>
                <a:cs typeface="+mn-cs"/>
              </a:rPr>
              <a:t>AlertDialog</a:t>
            </a:r>
            <a:r>
              <a:rPr lang="vi-VN"/>
              <a:t> là kiểu hộp thoại có:</a:t>
            </a:r>
          </a:p>
          <a:p>
            <a:pPr lvl="1"/>
            <a:r>
              <a:rPr lang="vi-VN"/>
              <a:t>Tiêu đề (</a:t>
            </a:r>
            <a:r>
              <a:rPr lang="vi-VN" sz="1200" kern="1200">
                <a:solidFill>
                  <a:schemeClr val="tx1"/>
                </a:solidFill>
                <a:latin typeface="+mn-lt"/>
                <a:ea typeface="+mn-ea"/>
                <a:cs typeface="+mn-cs"/>
              </a:rPr>
              <a:t>title</a:t>
            </a:r>
            <a:r>
              <a:rPr lang="vi-VN"/>
              <a:t>)</a:t>
            </a:r>
          </a:p>
          <a:p>
            <a:pPr lvl="1"/>
            <a:r>
              <a:rPr lang="vi-VN"/>
              <a:t>Nội dung (</a:t>
            </a:r>
            <a:r>
              <a:rPr lang="vi-VN" sz="1200" kern="1200">
                <a:solidFill>
                  <a:schemeClr val="tx1"/>
                </a:solidFill>
                <a:latin typeface="+mn-lt"/>
                <a:ea typeface="+mn-ea"/>
                <a:cs typeface="+mn-cs"/>
              </a:rPr>
              <a:t>content</a:t>
            </a:r>
            <a:r>
              <a:rPr lang="vi-VN"/>
              <a:t>)</a:t>
            </a:r>
          </a:p>
          <a:p>
            <a:pPr lvl="1"/>
            <a:r>
              <a:rPr lang="vi-VN"/>
              <a:t>Các nút hành động (</a:t>
            </a:r>
            <a:r>
              <a:rPr lang="vi-VN" sz="1200" kern="1200">
                <a:solidFill>
                  <a:schemeClr val="tx1"/>
                </a:solidFill>
                <a:latin typeface="+mn-lt"/>
                <a:ea typeface="+mn-ea"/>
                <a:cs typeface="+mn-cs"/>
              </a:rPr>
              <a:t>actions</a:t>
            </a:r>
            <a:r>
              <a:rPr lang="vi-VN"/>
              <a:t>)</a:t>
            </a:r>
          </a:p>
          <a:p>
            <a:r>
              <a:rPr lang="en-US"/>
              <a:t>🔹 </a:t>
            </a:r>
            <a:r>
              <a:rPr lang="vi-VN" sz="1200" kern="1200">
                <a:solidFill>
                  <a:schemeClr val="tx1"/>
                </a:solidFill>
                <a:latin typeface="+mn-lt"/>
                <a:ea typeface="+mn-ea"/>
                <a:cs typeface="+mn-cs"/>
              </a:rPr>
              <a:t>title: Text(product == null ? ' Thêm sản phẩm' : ' Sửa sản phẩm'),</a:t>
            </a:r>
            <a:br>
              <a:rPr lang="vi-VN"/>
            </a:br>
            <a:r>
              <a:rPr lang="vi-VN"/>
              <a:t>→ Nếu không có sản phẩm (tức thêm mới) thì tiêu đề là “Thêm sản phẩm”.</a:t>
            </a:r>
            <a:br>
              <a:rPr lang="vi-VN"/>
            </a:br>
            <a:r>
              <a:rPr lang="vi-VN"/>
              <a:t>→ Nếu có </a:t>
            </a:r>
            <a:r>
              <a:rPr lang="vi-VN" sz="1200" kern="1200">
                <a:solidFill>
                  <a:schemeClr val="tx1"/>
                </a:solidFill>
                <a:latin typeface="+mn-lt"/>
                <a:ea typeface="+mn-ea"/>
                <a:cs typeface="+mn-cs"/>
              </a:rPr>
              <a:t>product</a:t>
            </a:r>
            <a:r>
              <a:rPr lang="vi-VN"/>
              <a:t>, hiển thị “Sửa sản phẩm”.</a:t>
            </a:r>
          </a:p>
          <a:p>
            <a:br>
              <a:rPr lang="vi-VN"/>
            </a:br>
            <a:endParaRPr lang="vi-VN"/>
          </a:p>
          <a:p>
            <a:r>
              <a:rPr lang="vi-VN" b="1"/>
              <a:t>3️⃣ Nội dung hộp thoại (form nhập liệu)</a:t>
            </a:r>
          </a:p>
          <a:p>
            <a:pPr rtl="0"/>
            <a:r>
              <a:rPr lang="vi-VN" sz="1200" kern="1200">
                <a:solidFill>
                  <a:schemeClr val="tx1"/>
                </a:solidFill>
                <a:latin typeface="+mn-lt"/>
                <a:ea typeface="+mn-ea"/>
                <a:cs typeface="+mn-cs"/>
              </a:rPr>
              <a:t>content: SingleChildScrollView(</a:t>
            </a:r>
          </a:p>
          <a:p>
            <a:pPr rtl="0"/>
            <a:r>
              <a:rPr lang="vi-VN" sz="1200" kern="1200">
                <a:solidFill>
                  <a:schemeClr val="tx1"/>
                </a:solidFill>
                <a:latin typeface="+mn-lt"/>
                <a:ea typeface="+mn-ea"/>
                <a:cs typeface="+mn-cs"/>
              </a:rPr>
              <a:t>  child: Column(</a:t>
            </a:r>
          </a:p>
          <a:p>
            <a:pPr rtl="0"/>
            <a:r>
              <a:rPr lang="vi-VN" sz="1200" kern="1200">
                <a:solidFill>
                  <a:schemeClr val="tx1"/>
                </a:solidFill>
                <a:latin typeface="+mn-lt"/>
                <a:ea typeface="+mn-ea"/>
                <a:cs typeface="+mn-cs"/>
              </a:rPr>
              <a:t>    children: [</a:t>
            </a:r>
          </a:p>
          <a:p>
            <a:pPr rtl="0"/>
            <a:r>
              <a:rPr lang="vi-VN" sz="1200" kern="1200">
                <a:solidFill>
                  <a:schemeClr val="tx1"/>
                </a:solidFill>
                <a:latin typeface="+mn-lt"/>
                <a:ea typeface="+mn-ea"/>
                <a:cs typeface="+mn-cs"/>
              </a:rPr>
              <a:t>      TextField(...),</a:t>
            </a:r>
          </a:p>
          <a:p>
            <a:pPr rtl="0"/>
            <a:r>
              <a:rPr lang="vi-VN" sz="1200" kern="1200">
                <a:solidFill>
                  <a:schemeClr val="tx1"/>
                </a:solidFill>
                <a:latin typeface="+mn-lt"/>
                <a:ea typeface="+mn-ea"/>
                <a:cs typeface="+mn-cs"/>
              </a:rPr>
              <a:t>      TextField(...),</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a:t>
            </a:r>
          </a:p>
          <a:p>
            <a:r>
              <a:rPr lang="vi-VN" sz="1200" kern="1200">
                <a:solidFill>
                  <a:schemeClr val="tx1"/>
                </a:solidFill>
                <a:latin typeface="+mn-lt"/>
                <a:ea typeface="+mn-ea"/>
                <a:cs typeface="+mn-cs"/>
              </a:rPr>
              <a:t>SingleChildScrollView</a:t>
            </a:r>
            <a:r>
              <a:rPr lang="vi-VN"/>
              <a:t>: đảm bảo nếu màn hình nhỏ (bị tràn nội dung), hộp thoại vẫn cuộn được.</a:t>
            </a:r>
          </a:p>
          <a:p>
            <a:r>
              <a:rPr lang="vi-VN" sz="1200" kern="1200">
                <a:solidFill>
                  <a:schemeClr val="tx1"/>
                </a:solidFill>
                <a:latin typeface="+mn-lt"/>
                <a:ea typeface="+mn-ea"/>
                <a:cs typeface="+mn-cs"/>
              </a:rPr>
              <a:t>Column</a:t>
            </a:r>
            <a:r>
              <a:rPr lang="vi-VN"/>
              <a:t>: chứa danh sách các </a:t>
            </a:r>
            <a:r>
              <a:rPr lang="vi-VN" sz="1200" kern="1200">
                <a:solidFill>
                  <a:schemeClr val="tx1"/>
                </a:solidFill>
                <a:latin typeface="+mn-lt"/>
                <a:ea typeface="+mn-ea"/>
                <a:cs typeface="+mn-cs"/>
              </a:rPr>
              <a:t>TextField</a:t>
            </a:r>
            <a:r>
              <a:rPr lang="vi-VN"/>
              <a:t> (theo chiều dọc).</a:t>
            </a:r>
          </a:p>
          <a:p>
            <a:r>
              <a:rPr lang="vi-VN"/>
              <a:t>Các </a:t>
            </a:r>
            <a:r>
              <a:rPr lang="vi-VN" sz="1200" kern="1200">
                <a:solidFill>
                  <a:schemeClr val="tx1"/>
                </a:solidFill>
                <a:latin typeface="+mn-lt"/>
                <a:ea typeface="+mn-ea"/>
                <a:cs typeface="+mn-cs"/>
              </a:rPr>
              <a:t>TextField</a:t>
            </a:r>
            <a:r>
              <a:rPr lang="vi-VN"/>
              <a:t> được liên kết với các </a:t>
            </a:r>
            <a:r>
              <a:rPr lang="vi-VN" sz="1200" kern="1200">
                <a:solidFill>
                  <a:schemeClr val="tx1"/>
                </a:solidFill>
                <a:latin typeface="+mn-lt"/>
                <a:ea typeface="+mn-ea"/>
                <a:cs typeface="+mn-cs"/>
              </a:rPr>
              <a:t>controller</a:t>
            </a:r>
            <a:r>
              <a:rPr lang="vi-VN"/>
              <a:t> đã nói ở trên (name, price, quantity, description).</a:t>
            </a:r>
          </a:p>
          <a:p>
            <a:r>
              <a:rPr lang="vi-VN"/>
              <a:t>Ví dụ:</a:t>
            </a:r>
          </a:p>
          <a:p>
            <a:pPr rtl="0"/>
            <a:r>
              <a:rPr lang="vi-VN" sz="1200" kern="1200">
                <a:solidFill>
                  <a:schemeClr val="tx1"/>
                </a:solidFill>
                <a:latin typeface="+mn-lt"/>
                <a:ea typeface="+mn-ea"/>
                <a:cs typeface="+mn-cs"/>
              </a:rPr>
              <a:t>TextField(</a:t>
            </a:r>
          </a:p>
          <a:p>
            <a:pPr rtl="0"/>
            <a:r>
              <a:rPr lang="vi-VN" sz="1200" kern="1200">
                <a:solidFill>
                  <a:schemeClr val="tx1"/>
                </a:solidFill>
                <a:latin typeface="+mn-lt"/>
                <a:ea typeface="+mn-ea"/>
                <a:cs typeface="+mn-cs"/>
              </a:rPr>
              <a:t>  controller: nameController,</a:t>
            </a:r>
          </a:p>
          <a:p>
            <a:pPr rtl="0"/>
            <a:r>
              <a:rPr lang="vi-VN" sz="1200" kern="1200">
                <a:solidFill>
                  <a:schemeClr val="tx1"/>
                </a:solidFill>
                <a:latin typeface="+mn-lt"/>
                <a:ea typeface="+mn-ea"/>
                <a:cs typeface="+mn-cs"/>
              </a:rPr>
              <a:t>  decoration: const InputDecoration(labelText: 'Tên sản phẩm'),</a:t>
            </a:r>
          </a:p>
          <a:p>
            <a:pPr rtl="0"/>
            <a:r>
              <a:rPr lang="vi-VN" sz="1200" kern="1200">
                <a:solidFill>
                  <a:schemeClr val="tx1"/>
                </a:solidFill>
                <a:latin typeface="+mn-lt"/>
                <a:ea typeface="+mn-ea"/>
                <a:cs typeface="+mn-cs"/>
              </a:rPr>
              <a:t>)</a:t>
            </a:r>
          </a:p>
          <a:p>
            <a:r>
              <a:rPr lang="vi-VN"/>
              <a:t>→ Hiển thị ô nhập có nhãn “Tên sản phẩm”, dữ liệu hiển thị trong ô là </a:t>
            </a:r>
            <a:r>
              <a:rPr lang="vi-VN" sz="1200" kern="1200">
                <a:solidFill>
                  <a:schemeClr val="tx1"/>
                </a:solidFill>
                <a:latin typeface="+mn-lt"/>
                <a:ea typeface="+mn-ea"/>
                <a:cs typeface="+mn-cs"/>
              </a:rPr>
              <a:t>nameController.text</a:t>
            </a:r>
            <a:r>
              <a:rPr lang="vi-VN"/>
              <a:t>.</a:t>
            </a:r>
            <a:br>
              <a:rPr lang="vi-VN"/>
            </a:br>
            <a:r>
              <a:rPr lang="vi-VN"/>
              <a:t>→ Khi người dùng nhập, nội dung cũng cập nhật lại trong controller.</a:t>
            </a:r>
          </a:p>
          <a:p>
            <a:br>
              <a:rPr lang="vi-VN"/>
            </a:br>
            <a:endParaRPr lang="vi-VN"/>
          </a:p>
          <a:p>
            <a:r>
              <a:rPr lang="vi-VN" b="1"/>
              <a:t>4️⃣ Các nút hành động (buttons)</a:t>
            </a:r>
          </a:p>
          <a:p>
            <a:pPr rtl="0"/>
            <a:r>
              <a:rPr lang="vi-VN" sz="1200" kern="1200">
                <a:solidFill>
                  <a:schemeClr val="tx1"/>
                </a:solidFill>
                <a:latin typeface="+mn-lt"/>
                <a:ea typeface="+mn-ea"/>
                <a:cs typeface="+mn-cs"/>
              </a:rPr>
              <a:t>actions: [</a:t>
            </a:r>
          </a:p>
          <a:p>
            <a:pPr rtl="0"/>
            <a:r>
              <a:rPr lang="vi-VN" sz="1200" kern="1200">
                <a:solidFill>
                  <a:schemeClr val="tx1"/>
                </a:solidFill>
                <a:latin typeface="+mn-lt"/>
                <a:ea typeface="+mn-ea"/>
                <a:cs typeface="+mn-cs"/>
              </a:rPr>
              <a:t>  TextButton(</a:t>
            </a:r>
          </a:p>
          <a:p>
            <a:pPr rtl="0"/>
            <a:r>
              <a:rPr lang="vi-VN" sz="1200" kern="1200">
                <a:solidFill>
                  <a:schemeClr val="tx1"/>
                </a:solidFill>
                <a:latin typeface="+mn-lt"/>
                <a:ea typeface="+mn-ea"/>
                <a:cs typeface="+mn-cs"/>
              </a:rPr>
              <a:t>    onPressed: () {</a:t>
            </a:r>
          </a:p>
          <a:p>
            <a:pPr rtl="0"/>
            <a:r>
              <a:rPr lang="vi-VN" sz="1200" kern="1200">
                <a:solidFill>
                  <a:schemeClr val="tx1"/>
                </a:solidFill>
                <a:latin typeface="+mn-lt"/>
                <a:ea typeface="+mn-ea"/>
                <a:cs typeface="+mn-cs"/>
              </a:rPr>
              <a:t>      Navigator.pop(context);</a:t>
            </a:r>
          </a:p>
          <a:p>
            <a:pPr rtl="0"/>
            <a:r>
              <a:rPr lang="vi-VN" sz="1200" kern="1200">
                <a:solidFill>
                  <a:schemeClr val="tx1"/>
                </a:solidFill>
                <a:latin typeface="+mn-lt"/>
                <a:ea typeface="+mn-ea"/>
                <a:cs typeface="+mn-cs"/>
              </a:rPr>
              <a:t>      _clearFields();</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child: const Text('Hủy'),</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ElevatedButton(</a:t>
            </a:r>
          </a:p>
          <a:p>
            <a:pPr rtl="0"/>
            <a:r>
              <a:rPr lang="vi-VN" sz="1200" kern="1200">
                <a:solidFill>
                  <a:schemeClr val="tx1"/>
                </a:solidFill>
                <a:latin typeface="+mn-lt"/>
                <a:ea typeface="+mn-ea"/>
                <a:cs typeface="+mn-cs"/>
              </a:rPr>
              <a:t>    onPressed: () {</a:t>
            </a:r>
          </a:p>
          <a:p>
            <a:pPr rtl="0"/>
            <a:r>
              <a:rPr lang="vi-VN" sz="1200" kern="1200">
                <a:solidFill>
                  <a:schemeClr val="tx1"/>
                </a:solidFill>
                <a:latin typeface="+mn-lt"/>
                <a:ea typeface="+mn-ea"/>
                <a:cs typeface="+mn-cs"/>
              </a:rPr>
              <a:t>      Navigator.pop(context);</a:t>
            </a:r>
          </a:p>
          <a:p>
            <a:pPr rtl="0"/>
            <a:r>
              <a:rPr lang="vi-VN" sz="1200" kern="1200">
                <a:solidFill>
                  <a:schemeClr val="tx1"/>
                </a:solidFill>
                <a:latin typeface="+mn-lt"/>
                <a:ea typeface="+mn-ea"/>
                <a:cs typeface="+mn-cs"/>
              </a:rPr>
              <a:t>      _addOrUpdateProduct(product);</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child: Text(product == null ? 'Thêm' : 'Cập nhật'),</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a:t>
            </a:r>
          </a:p>
          <a:p>
            <a:r>
              <a:rPr lang="vi-VN" b="1"/>
              <a:t>Nút “Hủy”</a:t>
            </a:r>
          </a:p>
          <a:p>
            <a:r>
              <a:rPr lang="vi-VN" sz="1200" kern="1200">
                <a:solidFill>
                  <a:schemeClr val="tx1"/>
                </a:solidFill>
                <a:latin typeface="+mn-lt"/>
                <a:ea typeface="+mn-ea"/>
                <a:cs typeface="+mn-cs"/>
              </a:rPr>
              <a:t>Navigator.pop(context);</a:t>
            </a:r>
            <a:r>
              <a:rPr lang="vi-VN"/>
              <a:t> đóng hộp thoại.</a:t>
            </a:r>
          </a:p>
          <a:p>
            <a:r>
              <a:rPr lang="vi-VN" sz="1200" kern="1200">
                <a:solidFill>
                  <a:schemeClr val="tx1"/>
                </a:solidFill>
                <a:latin typeface="+mn-lt"/>
                <a:ea typeface="+mn-ea"/>
                <a:cs typeface="+mn-cs"/>
              </a:rPr>
              <a:t>_clearFields();</a:t>
            </a:r>
            <a:r>
              <a:rPr lang="vi-VN"/>
              <a:t> xóa dữ liệu trên form (đề phòng trường hợp người dùng hủy giữa chừng).</a:t>
            </a:r>
          </a:p>
          <a:p>
            <a:r>
              <a:rPr lang="vi-VN" b="1"/>
              <a:t>Nút “Thêm / Cập nhật”</a:t>
            </a:r>
          </a:p>
          <a:p>
            <a:r>
              <a:rPr lang="vi-VN" sz="1200" kern="1200">
                <a:solidFill>
                  <a:schemeClr val="tx1"/>
                </a:solidFill>
                <a:latin typeface="+mn-lt"/>
                <a:ea typeface="+mn-ea"/>
                <a:cs typeface="+mn-cs"/>
              </a:rPr>
              <a:t>Navigator.pop(context);</a:t>
            </a:r>
            <a:r>
              <a:rPr lang="vi-VN"/>
              <a:t> đóng hộp thoại sau khi nhấn.</a:t>
            </a:r>
          </a:p>
          <a:p>
            <a:r>
              <a:rPr lang="vi-VN" sz="1200" kern="1200">
                <a:solidFill>
                  <a:schemeClr val="tx1"/>
                </a:solidFill>
                <a:latin typeface="+mn-lt"/>
                <a:ea typeface="+mn-ea"/>
                <a:cs typeface="+mn-cs"/>
              </a:rPr>
              <a:t>_addOrUpdateProduct(product);</a:t>
            </a:r>
            <a:r>
              <a:rPr lang="vi-VN"/>
              <a:t> gọi hàm xử lý logic:</a:t>
            </a:r>
          </a:p>
          <a:p>
            <a:pPr lvl="1"/>
            <a:r>
              <a:rPr lang="vi-VN"/>
              <a:t>Nếu </a:t>
            </a:r>
            <a:r>
              <a:rPr lang="vi-VN" sz="1200" kern="1200">
                <a:solidFill>
                  <a:schemeClr val="tx1"/>
                </a:solidFill>
                <a:latin typeface="+mn-lt"/>
                <a:ea typeface="+mn-ea"/>
                <a:cs typeface="+mn-cs"/>
              </a:rPr>
              <a:t>product == null</a:t>
            </a:r>
            <a:r>
              <a:rPr lang="vi-VN"/>
              <a:t> → thêm mới.</a:t>
            </a:r>
          </a:p>
          <a:p>
            <a:pPr lvl="1"/>
            <a:r>
              <a:rPr lang="vi-VN"/>
              <a:t>Nếu </a:t>
            </a:r>
            <a:r>
              <a:rPr lang="vi-VN" sz="1200" kern="1200">
                <a:solidFill>
                  <a:schemeClr val="tx1"/>
                </a:solidFill>
                <a:latin typeface="+mn-lt"/>
                <a:ea typeface="+mn-ea"/>
                <a:cs typeface="+mn-cs"/>
              </a:rPr>
              <a:t>product != null</a:t>
            </a:r>
            <a:r>
              <a:rPr lang="vi-VN"/>
              <a:t> → cập nhật.</a:t>
            </a:r>
          </a:p>
          <a:p>
            <a:r>
              <a:rPr lang="vi-VN"/>
              <a:t>Nhãn nút thay đổi tùy theo ngữ cảnh:</a:t>
            </a:r>
          </a:p>
          <a:p>
            <a:pPr lvl="1"/>
            <a:r>
              <a:rPr lang="vi-VN"/>
              <a:t>“Thêm” nếu thêm mới.</a:t>
            </a:r>
          </a:p>
          <a:p>
            <a:pPr lvl="1"/>
            <a:r>
              <a:rPr lang="vi-VN"/>
              <a:t>“Cập nhật” nếu đang sửa.</a:t>
            </a:r>
          </a:p>
          <a:p>
            <a:pPr rtl="0"/>
            <a:endParaRPr lang="vi-VN" sz="1200" kern="1200">
              <a:solidFill>
                <a:schemeClr val="tx1"/>
              </a:solidFill>
              <a:latin typeface="+mn-lt"/>
              <a:ea typeface="+mn-ea"/>
              <a:cs typeface="+mn-cs"/>
            </a:endParaRPr>
          </a:p>
          <a:p>
            <a:endParaRPr lang="vi-VN" b="0"/>
          </a:p>
        </p:txBody>
      </p:sp>
      <p:sp>
        <p:nvSpPr>
          <p:cNvPr id="4" name="Slide Number Placeholder 3">
            <a:extLst>
              <a:ext uri="{FF2B5EF4-FFF2-40B4-BE49-F238E27FC236}">
                <a16:creationId xmlns:a16="http://schemas.microsoft.com/office/drawing/2014/main" id="{C58CED0C-C892-7EC3-EC4F-512DC39B1C33}"/>
              </a:ext>
            </a:extLst>
          </p:cNvPr>
          <p:cNvSpPr>
            <a:spLocks noGrp="1"/>
          </p:cNvSpPr>
          <p:nvPr>
            <p:ph type="sldNum" sz="quarter" idx="5"/>
          </p:nvPr>
        </p:nvSpPr>
        <p:spPr/>
        <p:txBody>
          <a:bodyPr/>
          <a:lstStyle/>
          <a:p>
            <a:fld id="{1983A999-5E0E-42CA-8400-604AE921FF7C}" type="slidenum">
              <a:rPr lang="en-US" smtClean="0"/>
              <a:t>19</a:t>
            </a:fld>
            <a:endParaRPr lang="en-US"/>
          </a:p>
        </p:txBody>
      </p:sp>
    </p:spTree>
    <p:extLst>
      <p:ext uri="{BB962C8B-B14F-4D97-AF65-F5344CB8AC3E}">
        <p14:creationId xmlns:p14="http://schemas.microsoft.com/office/powerpoint/2010/main" val="24434024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83910-F741-AD27-9BF2-718C3AD442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274B5B-FB81-B81B-A48A-AA51F7136E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199B9C-E47A-0959-0B3E-B8D41CA62E02}"/>
              </a:ext>
            </a:extLst>
          </p:cNvPr>
          <p:cNvSpPr>
            <a:spLocks noGrp="1"/>
          </p:cNvSpPr>
          <p:nvPr>
            <p:ph type="body" idx="1"/>
          </p:nvPr>
        </p:nvSpPr>
        <p:spPr/>
        <p:txBody>
          <a:bodyPr/>
          <a:lstStyle/>
          <a:p>
            <a:r>
              <a:rPr lang="vi-VN" b="1"/>
              <a:t>main.dart</a:t>
            </a:r>
            <a:r>
              <a:rPr lang="vi-VN"/>
              <a:t>: UI + logic app Flutter. Giao diện hiển thị danh sách sản phẩm, form thêm/sửa, và gọi các phương thức trong </a:t>
            </a:r>
            <a:r>
              <a:rPr lang="vi-VN" sz="1200" kern="1200">
                <a:solidFill>
                  <a:schemeClr val="tx1"/>
                </a:solidFill>
                <a:latin typeface="+mn-lt"/>
                <a:ea typeface="+mn-ea"/>
                <a:cs typeface="+mn-cs"/>
              </a:rPr>
              <a:t>DBHelper</a:t>
            </a:r>
            <a:r>
              <a:rPr lang="vi-VN"/>
              <a:t> để thao tác dữ liệu.</a:t>
            </a:r>
            <a:endParaRPr lang="en-US"/>
          </a:p>
          <a:p>
            <a:r>
              <a:rPr lang="en-US"/>
              <a:t>------------------------------------------------------------------------------------------------------------------------------------------------------------------</a:t>
            </a:r>
          </a:p>
          <a:p>
            <a:r>
              <a:rPr lang="en-US" b="1"/>
              <a:t>Làm rõ code:</a:t>
            </a:r>
          </a:p>
          <a:p>
            <a:r>
              <a:rPr lang="en-US"/>
              <a:t>👉 </a:t>
            </a:r>
            <a:r>
              <a:rPr lang="vi-VN" sz="1200" b="1" kern="1200">
                <a:solidFill>
                  <a:schemeClr val="tx1"/>
                </a:solidFill>
                <a:latin typeface="+mn-lt"/>
                <a:ea typeface="+mn-ea"/>
                <a:cs typeface="+mn-cs"/>
              </a:rPr>
              <a:t>TextField</a:t>
            </a:r>
            <a:r>
              <a:rPr lang="vi-VN"/>
              <a:t> trong Flutter là </a:t>
            </a:r>
            <a:r>
              <a:rPr lang="vi-VN" b="1"/>
              <a:t>widget</a:t>
            </a:r>
            <a:r>
              <a:rPr lang="vi-VN"/>
              <a:t> dùng để </a:t>
            </a:r>
            <a:r>
              <a:rPr lang="vi-VN" b="1"/>
              <a:t>nhập dữ liệu dạng văn bản (text)</a:t>
            </a:r>
            <a:r>
              <a:rPr lang="vi-VN"/>
              <a:t> từ người dùng — ví dụ như nhập tên, email, mật khẩu, số điện thoại, giá tiền, v.v.</a:t>
            </a:r>
          </a:p>
          <a:p>
            <a:r>
              <a:rPr lang="en-US" b="1"/>
              <a:t>🔹 </a:t>
            </a:r>
            <a:r>
              <a:rPr lang="vi-VN" b="1"/>
              <a:t>Cú pháp cơ bản:</a:t>
            </a:r>
          </a:p>
          <a:p>
            <a:pPr rtl="0"/>
            <a:r>
              <a:rPr lang="vi-VN" sz="1200" kern="1200">
                <a:solidFill>
                  <a:schemeClr val="tx1"/>
                </a:solidFill>
                <a:latin typeface="+mn-lt"/>
                <a:ea typeface="+mn-ea"/>
                <a:cs typeface="+mn-cs"/>
              </a:rPr>
              <a:t>TextField(</a:t>
            </a:r>
          </a:p>
          <a:p>
            <a:pPr rtl="0"/>
            <a:r>
              <a:rPr lang="vi-VN" sz="1200" kern="1200">
                <a:solidFill>
                  <a:schemeClr val="tx1"/>
                </a:solidFill>
                <a:latin typeface="+mn-lt"/>
                <a:ea typeface="+mn-ea"/>
                <a:cs typeface="+mn-cs"/>
              </a:rPr>
              <a:t>  controller: nameController,</a:t>
            </a:r>
          </a:p>
          <a:p>
            <a:pPr rtl="0"/>
            <a:r>
              <a:rPr lang="vi-VN" sz="1200" kern="1200">
                <a:solidFill>
                  <a:schemeClr val="tx1"/>
                </a:solidFill>
                <a:latin typeface="+mn-lt"/>
                <a:ea typeface="+mn-ea"/>
                <a:cs typeface="+mn-cs"/>
              </a:rPr>
              <a:t>  decoration: InputDecoration(</a:t>
            </a:r>
          </a:p>
          <a:p>
            <a:pPr rtl="0"/>
            <a:r>
              <a:rPr lang="vi-VN" sz="1200" kern="1200">
                <a:solidFill>
                  <a:schemeClr val="tx1"/>
                </a:solidFill>
                <a:latin typeface="+mn-lt"/>
                <a:ea typeface="+mn-ea"/>
                <a:cs typeface="+mn-cs"/>
              </a:rPr>
              <a:t>    labelText: 'Tên sản phẩm',</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a:t>
            </a:r>
          </a:p>
          <a:p>
            <a:r>
              <a:rPr lang="vi-VN" b="1"/>
              <a:t>2️⃣ Hiển thị hộp thoại (Dialog)</a:t>
            </a:r>
          </a:p>
          <a:p>
            <a:pPr rtl="0"/>
            <a:r>
              <a:rPr lang="vi-VN" sz="1200" kern="1200">
                <a:solidFill>
                  <a:schemeClr val="tx1"/>
                </a:solidFill>
                <a:latin typeface="+mn-lt"/>
                <a:ea typeface="+mn-ea"/>
                <a:cs typeface="+mn-cs"/>
              </a:rPr>
              <a:t>showDialog(</a:t>
            </a:r>
          </a:p>
          <a:p>
            <a:pPr rtl="0"/>
            <a:r>
              <a:rPr lang="vi-VN" sz="1200" kern="1200">
                <a:solidFill>
                  <a:schemeClr val="tx1"/>
                </a:solidFill>
                <a:latin typeface="+mn-lt"/>
                <a:ea typeface="+mn-ea"/>
                <a:cs typeface="+mn-cs"/>
              </a:rPr>
              <a:t>  context: context,</a:t>
            </a:r>
          </a:p>
          <a:p>
            <a:pPr rtl="0"/>
            <a:r>
              <a:rPr lang="vi-VN" sz="1200" kern="1200">
                <a:solidFill>
                  <a:schemeClr val="tx1"/>
                </a:solidFill>
                <a:latin typeface="+mn-lt"/>
                <a:ea typeface="+mn-ea"/>
                <a:cs typeface="+mn-cs"/>
              </a:rPr>
              <a:t>  builder: (context) =&gt; AlertDialog(</a:t>
            </a:r>
          </a:p>
          <a:p>
            <a:pPr rtl="0"/>
            <a:r>
              <a:rPr lang="vi-VN" sz="1200" kern="1200">
                <a:solidFill>
                  <a:schemeClr val="tx1"/>
                </a:solidFill>
                <a:latin typeface="+mn-lt"/>
                <a:ea typeface="+mn-ea"/>
                <a:cs typeface="+mn-cs"/>
              </a:rPr>
              <a:t>    title: Text(product == null ? ' Thêm sản phẩm' : ' Sửa sản phẩm'),</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a:t>
            </a:r>
          </a:p>
          <a:p>
            <a:r>
              <a:rPr lang="vi-VN" sz="1200" kern="1200">
                <a:solidFill>
                  <a:schemeClr val="tx1"/>
                </a:solidFill>
                <a:latin typeface="+mn-lt"/>
                <a:ea typeface="+mn-ea"/>
                <a:cs typeface="+mn-cs"/>
              </a:rPr>
              <a:t>showDialog()</a:t>
            </a:r>
            <a:r>
              <a:rPr lang="vi-VN"/>
              <a:t> là hàm Flutter hiển thị một hộp thoại nằm </a:t>
            </a:r>
            <a:r>
              <a:rPr lang="vi-VN" b="1"/>
              <a:t>trên</a:t>
            </a:r>
            <a:r>
              <a:rPr lang="vi-VN"/>
              <a:t> giao diện hiện tại.</a:t>
            </a:r>
          </a:p>
          <a:p>
            <a:r>
              <a:rPr lang="vi-VN" sz="1200" kern="1200">
                <a:solidFill>
                  <a:schemeClr val="tx1"/>
                </a:solidFill>
                <a:latin typeface="+mn-lt"/>
                <a:ea typeface="+mn-ea"/>
                <a:cs typeface="+mn-cs"/>
              </a:rPr>
              <a:t>context</a:t>
            </a:r>
            <a:r>
              <a:rPr lang="vi-VN"/>
              <a:t> cho biết vị trí của widget hiện tại trong cây widget.</a:t>
            </a:r>
          </a:p>
          <a:p>
            <a:r>
              <a:rPr lang="vi-VN" sz="1200" kern="1200">
                <a:solidFill>
                  <a:schemeClr val="tx1"/>
                </a:solidFill>
                <a:latin typeface="+mn-lt"/>
                <a:ea typeface="+mn-ea"/>
                <a:cs typeface="+mn-cs"/>
              </a:rPr>
              <a:t>builder:</a:t>
            </a:r>
            <a:r>
              <a:rPr lang="vi-VN"/>
              <a:t> là hàm dựng giao diện hộp thoại.</a:t>
            </a:r>
          </a:p>
          <a:p>
            <a:r>
              <a:rPr lang="vi-VN" sz="1200" kern="1200">
                <a:solidFill>
                  <a:schemeClr val="tx1"/>
                </a:solidFill>
                <a:latin typeface="+mn-lt"/>
                <a:ea typeface="+mn-ea"/>
                <a:cs typeface="+mn-cs"/>
              </a:rPr>
              <a:t>AlertDialog</a:t>
            </a:r>
            <a:r>
              <a:rPr lang="vi-VN"/>
              <a:t> là kiểu hộp thoại có:</a:t>
            </a:r>
          </a:p>
          <a:p>
            <a:pPr lvl="1"/>
            <a:r>
              <a:rPr lang="vi-VN"/>
              <a:t>Tiêu đề (</a:t>
            </a:r>
            <a:r>
              <a:rPr lang="vi-VN" sz="1200" kern="1200">
                <a:solidFill>
                  <a:schemeClr val="tx1"/>
                </a:solidFill>
                <a:latin typeface="+mn-lt"/>
                <a:ea typeface="+mn-ea"/>
                <a:cs typeface="+mn-cs"/>
              </a:rPr>
              <a:t>title</a:t>
            </a:r>
            <a:r>
              <a:rPr lang="vi-VN"/>
              <a:t>)</a:t>
            </a:r>
          </a:p>
          <a:p>
            <a:pPr lvl="1"/>
            <a:r>
              <a:rPr lang="vi-VN"/>
              <a:t>Nội dung (</a:t>
            </a:r>
            <a:r>
              <a:rPr lang="vi-VN" sz="1200" kern="1200">
                <a:solidFill>
                  <a:schemeClr val="tx1"/>
                </a:solidFill>
                <a:latin typeface="+mn-lt"/>
                <a:ea typeface="+mn-ea"/>
                <a:cs typeface="+mn-cs"/>
              </a:rPr>
              <a:t>content</a:t>
            </a:r>
            <a:r>
              <a:rPr lang="vi-VN"/>
              <a:t>)</a:t>
            </a:r>
          </a:p>
          <a:p>
            <a:pPr lvl="1"/>
            <a:r>
              <a:rPr lang="vi-VN"/>
              <a:t>Các nút hành động (</a:t>
            </a:r>
            <a:r>
              <a:rPr lang="vi-VN" sz="1200" kern="1200">
                <a:solidFill>
                  <a:schemeClr val="tx1"/>
                </a:solidFill>
                <a:latin typeface="+mn-lt"/>
                <a:ea typeface="+mn-ea"/>
                <a:cs typeface="+mn-cs"/>
              </a:rPr>
              <a:t>actions</a:t>
            </a:r>
            <a:r>
              <a:rPr lang="vi-VN"/>
              <a:t>)</a:t>
            </a:r>
          </a:p>
          <a:p>
            <a:r>
              <a:rPr lang="en-US"/>
              <a:t>🔹 </a:t>
            </a:r>
            <a:r>
              <a:rPr lang="vi-VN" sz="1200" kern="1200">
                <a:solidFill>
                  <a:schemeClr val="tx1"/>
                </a:solidFill>
                <a:latin typeface="+mn-lt"/>
                <a:ea typeface="+mn-ea"/>
                <a:cs typeface="+mn-cs"/>
              </a:rPr>
              <a:t>title: Text(product == null ? ' Thêm sản phẩm' : ' Sửa sản phẩm'),</a:t>
            </a:r>
            <a:br>
              <a:rPr lang="vi-VN"/>
            </a:br>
            <a:r>
              <a:rPr lang="vi-VN"/>
              <a:t>→ Nếu không có sản phẩm (tức thêm mới) thì tiêu đề là “Thêm sản phẩm”.</a:t>
            </a:r>
            <a:br>
              <a:rPr lang="vi-VN"/>
            </a:br>
            <a:r>
              <a:rPr lang="vi-VN"/>
              <a:t>→ Nếu có </a:t>
            </a:r>
            <a:r>
              <a:rPr lang="vi-VN" sz="1200" kern="1200">
                <a:solidFill>
                  <a:schemeClr val="tx1"/>
                </a:solidFill>
                <a:latin typeface="+mn-lt"/>
                <a:ea typeface="+mn-ea"/>
                <a:cs typeface="+mn-cs"/>
              </a:rPr>
              <a:t>product</a:t>
            </a:r>
            <a:r>
              <a:rPr lang="vi-VN"/>
              <a:t>, hiển thị “Sửa sản phẩm”.</a:t>
            </a:r>
          </a:p>
          <a:p>
            <a:br>
              <a:rPr lang="vi-VN"/>
            </a:br>
            <a:endParaRPr lang="vi-VN"/>
          </a:p>
          <a:p>
            <a:r>
              <a:rPr lang="vi-VN" b="1"/>
              <a:t>3️⃣ Nội dung hộp thoại (form nhập liệu)</a:t>
            </a:r>
          </a:p>
          <a:p>
            <a:pPr rtl="0"/>
            <a:r>
              <a:rPr lang="vi-VN" sz="1200" kern="1200">
                <a:solidFill>
                  <a:schemeClr val="tx1"/>
                </a:solidFill>
                <a:latin typeface="+mn-lt"/>
                <a:ea typeface="+mn-ea"/>
                <a:cs typeface="+mn-cs"/>
              </a:rPr>
              <a:t>content: SingleChildScrollView(</a:t>
            </a:r>
          </a:p>
          <a:p>
            <a:pPr rtl="0"/>
            <a:r>
              <a:rPr lang="vi-VN" sz="1200" kern="1200">
                <a:solidFill>
                  <a:schemeClr val="tx1"/>
                </a:solidFill>
                <a:latin typeface="+mn-lt"/>
                <a:ea typeface="+mn-ea"/>
                <a:cs typeface="+mn-cs"/>
              </a:rPr>
              <a:t>  child: Column(</a:t>
            </a:r>
          </a:p>
          <a:p>
            <a:pPr rtl="0"/>
            <a:r>
              <a:rPr lang="vi-VN" sz="1200" kern="1200">
                <a:solidFill>
                  <a:schemeClr val="tx1"/>
                </a:solidFill>
                <a:latin typeface="+mn-lt"/>
                <a:ea typeface="+mn-ea"/>
                <a:cs typeface="+mn-cs"/>
              </a:rPr>
              <a:t>    children: [</a:t>
            </a:r>
          </a:p>
          <a:p>
            <a:pPr rtl="0"/>
            <a:r>
              <a:rPr lang="vi-VN" sz="1200" kern="1200">
                <a:solidFill>
                  <a:schemeClr val="tx1"/>
                </a:solidFill>
                <a:latin typeface="+mn-lt"/>
                <a:ea typeface="+mn-ea"/>
                <a:cs typeface="+mn-cs"/>
              </a:rPr>
              <a:t>      TextField(...),</a:t>
            </a:r>
          </a:p>
          <a:p>
            <a:pPr rtl="0"/>
            <a:r>
              <a:rPr lang="vi-VN" sz="1200" kern="1200">
                <a:solidFill>
                  <a:schemeClr val="tx1"/>
                </a:solidFill>
                <a:latin typeface="+mn-lt"/>
                <a:ea typeface="+mn-ea"/>
                <a:cs typeface="+mn-cs"/>
              </a:rPr>
              <a:t>      TextField(...),</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a:t>
            </a:r>
          </a:p>
          <a:p>
            <a:r>
              <a:rPr lang="vi-VN" sz="1200" kern="1200">
                <a:solidFill>
                  <a:schemeClr val="tx1"/>
                </a:solidFill>
                <a:latin typeface="+mn-lt"/>
                <a:ea typeface="+mn-ea"/>
                <a:cs typeface="+mn-cs"/>
              </a:rPr>
              <a:t>SingleChildScrollView</a:t>
            </a:r>
            <a:r>
              <a:rPr lang="vi-VN"/>
              <a:t>: đảm bảo nếu màn hình nhỏ (bị tràn nội dung), hộp thoại vẫn cuộn được.</a:t>
            </a:r>
          </a:p>
          <a:p>
            <a:r>
              <a:rPr lang="vi-VN" sz="1200" kern="1200">
                <a:solidFill>
                  <a:schemeClr val="tx1"/>
                </a:solidFill>
                <a:latin typeface="+mn-lt"/>
                <a:ea typeface="+mn-ea"/>
                <a:cs typeface="+mn-cs"/>
              </a:rPr>
              <a:t>Column</a:t>
            </a:r>
            <a:r>
              <a:rPr lang="vi-VN"/>
              <a:t>: chứa danh sách các </a:t>
            </a:r>
            <a:r>
              <a:rPr lang="vi-VN" sz="1200" kern="1200">
                <a:solidFill>
                  <a:schemeClr val="tx1"/>
                </a:solidFill>
                <a:latin typeface="+mn-lt"/>
                <a:ea typeface="+mn-ea"/>
                <a:cs typeface="+mn-cs"/>
              </a:rPr>
              <a:t>TextField</a:t>
            </a:r>
            <a:r>
              <a:rPr lang="vi-VN"/>
              <a:t> (theo chiều dọc).</a:t>
            </a:r>
          </a:p>
          <a:p>
            <a:r>
              <a:rPr lang="vi-VN"/>
              <a:t>Các </a:t>
            </a:r>
            <a:r>
              <a:rPr lang="vi-VN" sz="1200" kern="1200">
                <a:solidFill>
                  <a:schemeClr val="tx1"/>
                </a:solidFill>
                <a:latin typeface="+mn-lt"/>
                <a:ea typeface="+mn-ea"/>
                <a:cs typeface="+mn-cs"/>
              </a:rPr>
              <a:t>TextField</a:t>
            </a:r>
            <a:r>
              <a:rPr lang="vi-VN"/>
              <a:t> được liên kết với các </a:t>
            </a:r>
            <a:r>
              <a:rPr lang="vi-VN" sz="1200" kern="1200">
                <a:solidFill>
                  <a:schemeClr val="tx1"/>
                </a:solidFill>
                <a:latin typeface="+mn-lt"/>
                <a:ea typeface="+mn-ea"/>
                <a:cs typeface="+mn-cs"/>
              </a:rPr>
              <a:t>controller</a:t>
            </a:r>
            <a:r>
              <a:rPr lang="vi-VN"/>
              <a:t> đã nói ở trên (name, price, quantity, description).</a:t>
            </a:r>
          </a:p>
          <a:p>
            <a:r>
              <a:rPr lang="vi-VN"/>
              <a:t>Ví dụ:</a:t>
            </a:r>
          </a:p>
          <a:p>
            <a:pPr rtl="0"/>
            <a:r>
              <a:rPr lang="vi-VN" sz="1200" kern="1200">
                <a:solidFill>
                  <a:schemeClr val="tx1"/>
                </a:solidFill>
                <a:latin typeface="+mn-lt"/>
                <a:ea typeface="+mn-ea"/>
                <a:cs typeface="+mn-cs"/>
              </a:rPr>
              <a:t>TextField(</a:t>
            </a:r>
          </a:p>
          <a:p>
            <a:pPr rtl="0"/>
            <a:r>
              <a:rPr lang="vi-VN" sz="1200" kern="1200">
                <a:solidFill>
                  <a:schemeClr val="tx1"/>
                </a:solidFill>
                <a:latin typeface="+mn-lt"/>
                <a:ea typeface="+mn-ea"/>
                <a:cs typeface="+mn-cs"/>
              </a:rPr>
              <a:t>  controller: nameController,</a:t>
            </a:r>
          </a:p>
          <a:p>
            <a:pPr rtl="0"/>
            <a:r>
              <a:rPr lang="vi-VN" sz="1200" kern="1200">
                <a:solidFill>
                  <a:schemeClr val="tx1"/>
                </a:solidFill>
                <a:latin typeface="+mn-lt"/>
                <a:ea typeface="+mn-ea"/>
                <a:cs typeface="+mn-cs"/>
              </a:rPr>
              <a:t>  decoration: const InputDecoration(labelText: 'Tên sản phẩm'),</a:t>
            </a:r>
          </a:p>
          <a:p>
            <a:pPr rtl="0"/>
            <a:r>
              <a:rPr lang="vi-VN" sz="1200" kern="1200">
                <a:solidFill>
                  <a:schemeClr val="tx1"/>
                </a:solidFill>
                <a:latin typeface="+mn-lt"/>
                <a:ea typeface="+mn-ea"/>
                <a:cs typeface="+mn-cs"/>
              </a:rPr>
              <a:t>)</a:t>
            </a:r>
          </a:p>
          <a:p>
            <a:r>
              <a:rPr lang="vi-VN"/>
              <a:t>→ Hiển thị ô nhập có nhãn “Tên sản phẩm”, dữ liệu hiển thị trong ô là </a:t>
            </a:r>
            <a:r>
              <a:rPr lang="vi-VN" sz="1200" kern="1200">
                <a:solidFill>
                  <a:schemeClr val="tx1"/>
                </a:solidFill>
                <a:latin typeface="+mn-lt"/>
                <a:ea typeface="+mn-ea"/>
                <a:cs typeface="+mn-cs"/>
              </a:rPr>
              <a:t>nameController.text</a:t>
            </a:r>
            <a:r>
              <a:rPr lang="vi-VN"/>
              <a:t>.</a:t>
            </a:r>
            <a:br>
              <a:rPr lang="vi-VN"/>
            </a:br>
            <a:r>
              <a:rPr lang="vi-VN"/>
              <a:t>→ Khi người dùng nhập, nội dung cũng cập nhật lại trong controller.</a:t>
            </a:r>
          </a:p>
          <a:p>
            <a:br>
              <a:rPr lang="vi-VN"/>
            </a:br>
            <a:endParaRPr lang="vi-VN"/>
          </a:p>
          <a:p>
            <a:r>
              <a:rPr lang="vi-VN" b="1"/>
              <a:t>4️⃣ Các nút hành động (buttons)</a:t>
            </a:r>
          </a:p>
          <a:p>
            <a:pPr rtl="0"/>
            <a:r>
              <a:rPr lang="vi-VN" sz="1200" kern="1200">
                <a:solidFill>
                  <a:schemeClr val="tx1"/>
                </a:solidFill>
                <a:latin typeface="+mn-lt"/>
                <a:ea typeface="+mn-ea"/>
                <a:cs typeface="+mn-cs"/>
              </a:rPr>
              <a:t>actions: [</a:t>
            </a:r>
          </a:p>
          <a:p>
            <a:pPr rtl="0"/>
            <a:r>
              <a:rPr lang="vi-VN" sz="1200" kern="1200">
                <a:solidFill>
                  <a:schemeClr val="tx1"/>
                </a:solidFill>
                <a:latin typeface="+mn-lt"/>
                <a:ea typeface="+mn-ea"/>
                <a:cs typeface="+mn-cs"/>
              </a:rPr>
              <a:t>  TextButton(</a:t>
            </a:r>
          </a:p>
          <a:p>
            <a:pPr rtl="0"/>
            <a:r>
              <a:rPr lang="vi-VN" sz="1200" kern="1200">
                <a:solidFill>
                  <a:schemeClr val="tx1"/>
                </a:solidFill>
                <a:latin typeface="+mn-lt"/>
                <a:ea typeface="+mn-ea"/>
                <a:cs typeface="+mn-cs"/>
              </a:rPr>
              <a:t>    onPressed: () {</a:t>
            </a:r>
          </a:p>
          <a:p>
            <a:pPr rtl="0"/>
            <a:r>
              <a:rPr lang="vi-VN" sz="1200" kern="1200">
                <a:solidFill>
                  <a:schemeClr val="tx1"/>
                </a:solidFill>
                <a:latin typeface="+mn-lt"/>
                <a:ea typeface="+mn-ea"/>
                <a:cs typeface="+mn-cs"/>
              </a:rPr>
              <a:t>      Navigator.pop(context);</a:t>
            </a:r>
          </a:p>
          <a:p>
            <a:pPr rtl="0"/>
            <a:r>
              <a:rPr lang="vi-VN" sz="1200" kern="1200">
                <a:solidFill>
                  <a:schemeClr val="tx1"/>
                </a:solidFill>
                <a:latin typeface="+mn-lt"/>
                <a:ea typeface="+mn-ea"/>
                <a:cs typeface="+mn-cs"/>
              </a:rPr>
              <a:t>      _clearFields();</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child: const Text('Hủy'),</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ElevatedButton(</a:t>
            </a:r>
          </a:p>
          <a:p>
            <a:pPr rtl="0"/>
            <a:r>
              <a:rPr lang="vi-VN" sz="1200" kern="1200">
                <a:solidFill>
                  <a:schemeClr val="tx1"/>
                </a:solidFill>
                <a:latin typeface="+mn-lt"/>
                <a:ea typeface="+mn-ea"/>
                <a:cs typeface="+mn-cs"/>
              </a:rPr>
              <a:t>    onPressed: () {</a:t>
            </a:r>
          </a:p>
          <a:p>
            <a:pPr rtl="0"/>
            <a:r>
              <a:rPr lang="vi-VN" sz="1200" kern="1200">
                <a:solidFill>
                  <a:schemeClr val="tx1"/>
                </a:solidFill>
                <a:latin typeface="+mn-lt"/>
                <a:ea typeface="+mn-ea"/>
                <a:cs typeface="+mn-cs"/>
              </a:rPr>
              <a:t>      Navigator.pop(context);</a:t>
            </a:r>
          </a:p>
          <a:p>
            <a:pPr rtl="0"/>
            <a:r>
              <a:rPr lang="vi-VN" sz="1200" kern="1200">
                <a:solidFill>
                  <a:schemeClr val="tx1"/>
                </a:solidFill>
                <a:latin typeface="+mn-lt"/>
                <a:ea typeface="+mn-ea"/>
                <a:cs typeface="+mn-cs"/>
              </a:rPr>
              <a:t>      _addOrUpdateProduct(product);</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child: Text(product == null ? 'Thêm' : 'Cập nhật'),</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a:t>
            </a:r>
          </a:p>
          <a:p>
            <a:r>
              <a:rPr lang="vi-VN" b="1"/>
              <a:t>Nút “Hủy”</a:t>
            </a:r>
          </a:p>
          <a:p>
            <a:r>
              <a:rPr lang="vi-VN" sz="1200" kern="1200">
                <a:solidFill>
                  <a:schemeClr val="tx1"/>
                </a:solidFill>
                <a:latin typeface="+mn-lt"/>
                <a:ea typeface="+mn-ea"/>
                <a:cs typeface="+mn-cs"/>
              </a:rPr>
              <a:t>Navigator.pop(context);</a:t>
            </a:r>
            <a:r>
              <a:rPr lang="vi-VN"/>
              <a:t> đóng hộp thoại.</a:t>
            </a:r>
          </a:p>
          <a:p>
            <a:r>
              <a:rPr lang="vi-VN" sz="1200" kern="1200">
                <a:solidFill>
                  <a:schemeClr val="tx1"/>
                </a:solidFill>
                <a:latin typeface="+mn-lt"/>
                <a:ea typeface="+mn-ea"/>
                <a:cs typeface="+mn-cs"/>
              </a:rPr>
              <a:t>_clearFields();</a:t>
            </a:r>
            <a:r>
              <a:rPr lang="vi-VN"/>
              <a:t> xóa dữ liệu trên form (đề phòng trường hợp người dùng hủy giữa chừng).</a:t>
            </a:r>
          </a:p>
          <a:p>
            <a:r>
              <a:rPr lang="vi-VN" b="1"/>
              <a:t>Nút “Thêm / Cập nhật”</a:t>
            </a:r>
          </a:p>
          <a:p>
            <a:r>
              <a:rPr lang="vi-VN" sz="1200" kern="1200">
                <a:solidFill>
                  <a:schemeClr val="tx1"/>
                </a:solidFill>
                <a:latin typeface="+mn-lt"/>
                <a:ea typeface="+mn-ea"/>
                <a:cs typeface="+mn-cs"/>
              </a:rPr>
              <a:t>Navigator.pop(context);</a:t>
            </a:r>
            <a:r>
              <a:rPr lang="vi-VN"/>
              <a:t> đóng hộp thoại sau khi nhấn.</a:t>
            </a:r>
          </a:p>
          <a:p>
            <a:r>
              <a:rPr lang="vi-VN" sz="1200" kern="1200">
                <a:solidFill>
                  <a:schemeClr val="tx1"/>
                </a:solidFill>
                <a:latin typeface="+mn-lt"/>
                <a:ea typeface="+mn-ea"/>
                <a:cs typeface="+mn-cs"/>
              </a:rPr>
              <a:t>_addOrUpdateProduct(product);</a:t>
            </a:r>
            <a:r>
              <a:rPr lang="vi-VN"/>
              <a:t> gọi hàm xử lý logic:</a:t>
            </a:r>
          </a:p>
          <a:p>
            <a:pPr lvl="1"/>
            <a:r>
              <a:rPr lang="vi-VN"/>
              <a:t>Nếu </a:t>
            </a:r>
            <a:r>
              <a:rPr lang="vi-VN" sz="1200" kern="1200">
                <a:solidFill>
                  <a:schemeClr val="tx1"/>
                </a:solidFill>
                <a:latin typeface="+mn-lt"/>
                <a:ea typeface="+mn-ea"/>
                <a:cs typeface="+mn-cs"/>
              </a:rPr>
              <a:t>product == null</a:t>
            </a:r>
            <a:r>
              <a:rPr lang="vi-VN"/>
              <a:t> → thêm mới.</a:t>
            </a:r>
          </a:p>
          <a:p>
            <a:pPr lvl="1"/>
            <a:r>
              <a:rPr lang="vi-VN"/>
              <a:t>Nếu </a:t>
            </a:r>
            <a:r>
              <a:rPr lang="vi-VN" sz="1200" kern="1200">
                <a:solidFill>
                  <a:schemeClr val="tx1"/>
                </a:solidFill>
                <a:latin typeface="+mn-lt"/>
                <a:ea typeface="+mn-ea"/>
                <a:cs typeface="+mn-cs"/>
              </a:rPr>
              <a:t>product != null</a:t>
            </a:r>
            <a:r>
              <a:rPr lang="vi-VN"/>
              <a:t> → cập nhật.</a:t>
            </a:r>
          </a:p>
          <a:p>
            <a:r>
              <a:rPr lang="vi-VN"/>
              <a:t>Nhãn nút thay đổi tùy theo ngữ cảnh:</a:t>
            </a:r>
          </a:p>
          <a:p>
            <a:pPr lvl="1"/>
            <a:r>
              <a:rPr lang="vi-VN"/>
              <a:t>“Thêm” nếu thêm mới.</a:t>
            </a:r>
          </a:p>
          <a:p>
            <a:pPr lvl="1"/>
            <a:r>
              <a:rPr lang="vi-VN"/>
              <a:t>“Cập nhật” nếu đang sửa.</a:t>
            </a:r>
          </a:p>
          <a:p>
            <a:endParaRPr lang="vi-VN" b="0"/>
          </a:p>
        </p:txBody>
      </p:sp>
      <p:sp>
        <p:nvSpPr>
          <p:cNvPr id="4" name="Slide Number Placeholder 3">
            <a:extLst>
              <a:ext uri="{FF2B5EF4-FFF2-40B4-BE49-F238E27FC236}">
                <a16:creationId xmlns:a16="http://schemas.microsoft.com/office/drawing/2014/main" id="{17B9950E-0A75-A38F-B6BE-8A4F618325DC}"/>
              </a:ext>
            </a:extLst>
          </p:cNvPr>
          <p:cNvSpPr>
            <a:spLocks noGrp="1"/>
          </p:cNvSpPr>
          <p:nvPr>
            <p:ph type="sldNum" sz="quarter" idx="5"/>
          </p:nvPr>
        </p:nvSpPr>
        <p:spPr/>
        <p:txBody>
          <a:bodyPr/>
          <a:lstStyle/>
          <a:p>
            <a:fld id="{1983A999-5E0E-42CA-8400-604AE921FF7C}" type="slidenum">
              <a:rPr lang="en-US" smtClean="0"/>
              <a:t>20</a:t>
            </a:fld>
            <a:endParaRPr lang="en-US"/>
          </a:p>
        </p:txBody>
      </p:sp>
    </p:spTree>
    <p:extLst>
      <p:ext uri="{BB962C8B-B14F-4D97-AF65-F5344CB8AC3E}">
        <p14:creationId xmlns:p14="http://schemas.microsoft.com/office/powerpoint/2010/main" val="1459258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5B743-7CA3-2409-4DB8-480E0A8135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A2DCC-FE88-064D-C4E9-3A4F5C0E94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774451-E94B-6C5B-E35F-F184F18A90E6}"/>
              </a:ext>
            </a:extLst>
          </p:cNvPr>
          <p:cNvSpPr>
            <a:spLocks noGrp="1"/>
          </p:cNvSpPr>
          <p:nvPr>
            <p:ph type="body" idx="1"/>
          </p:nvPr>
        </p:nvSpPr>
        <p:spPr/>
        <p:txBody>
          <a:bodyPr/>
          <a:lstStyle/>
          <a:p>
            <a:r>
              <a:rPr lang="vi-VN" b="1"/>
              <a:t>main.dart</a:t>
            </a:r>
            <a:r>
              <a:rPr lang="vi-VN"/>
              <a:t>: UI + logic app Flutter. Giao diện hiển thị danh sách sản phẩm, form thêm/sửa, và gọi các phương thức trong </a:t>
            </a:r>
            <a:r>
              <a:rPr lang="vi-VN" sz="1200" kern="1200">
                <a:solidFill>
                  <a:schemeClr val="tx1"/>
                </a:solidFill>
                <a:latin typeface="+mn-lt"/>
                <a:ea typeface="+mn-ea"/>
                <a:cs typeface="+mn-cs"/>
              </a:rPr>
              <a:t>DBHelper</a:t>
            </a:r>
            <a:r>
              <a:rPr lang="vi-VN"/>
              <a:t> để thao tác dữ liệu.</a:t>
            </a:r>
            <a:endParaRPr lang="en-US"/>
          </a:p>
          <a:p>
            <a:r>
              <a:rPr lang="en-US"/>
              <a:t>------------------------------------------------------------------------------------------------------------------------------------------------------------------</a:t>
            </a:r>
          </a:p>
          <a:p>
            <a:r>
              <a:rPr lang="en-US" b="1"/>
              <a:t>Làm rõ code:</a:t>
            </a:r>
          </a:p>
          <a:p>
            <a:endParaRPr lang="en-US"/>
          </a:p>
          <a:p>
            <a:r>
              <a:rPr lang="en-US" b="1"/>
              <a:t>🔹 1. </a:t>
            </a:r>
            <a:r>
              <a:rPr lang="en-US" sz="1200" b="1" kern="1200">
                <a:solidFill>
                  <a:schemeClr val="tx1"/>
                </a:solidFill>
                <a:latin typeface="+mn-lt"/>
                <a:ea typeface="+mn-ea"/>
                <a:cs typeface="+mn-cs"/>
              </a:rPr>
              <a:t>@</a:t>
            </a:r>
            <a:r>
              <a:rPr lang="vi-VN" sz="1200" b="1" kern="1200">
                <a:solidFill>
                  <a:schemeClr val="tx1"/>
                </a:solidFill>
                <a:latin typeface="+mn-lt"/>
                <a:ea typeface="+mn-ea"/>
                <a:cs typeface="+mn-cs"/>
              </a:rPr>
              <a:t>override Widget build(BuildContext context)</a:t>
            </a:r>
            <a:endParaRPr lang="vi-VN" b="1"/>
          </a:p>
          <a:p>
            <a:r>
              <a:rPr lang="vi-VN"/>
              <a:t>Đây là </a:t>
            </a:r>
            <a:r>
              <a:rPr lang="vi-VN" b="1"/>
              <a:t>hàm xây dựng giao diện (build UI)</a:t>
            </a:r>
            <a:r>
              <a:rPr lang="vi-VN"/>
              <a:t> của </a:t>
            </a:r>
            <a:r>
              <a:rPr lang="vi-VN" sz="1200" kern="1200">
                <a:solidFill>
                  <a:schemeClr val="tx1"/>
                </a:solidFill>
                <a:latin typeface="+mn-lt"/>
                <a:ea typeface="+mn-ea"/>
                <a:cs typeface="+mn-cs"/>
              </a:rPr>
              <a:t>StatefulWidget</a:t>
            </a:r>
            <a:r>
              <a:rPr lang="vi-VN"/>
              <a:t>.</a:t>
            </a:r>
            <a:br>
              <a:rPr lang="vi-VN"/>
            </a:br>
            <a:r>
              <a:rPr lang="vi-VN"/>
              <a:t>Nó sẽ chạy lại </a:t>
            </a:r>
            <a:r>
              <a:rPr lang="vi-VN" b="1"/>
              <a:t>mỗi khi có thay đổi trạng thái (state)</a:t>
            </a:r>
            <a:r>
              <a:rPr lang="vi-VN"/>
              <a:t>, ví dụ: thêm, sửa hoặc xóa sản phẩm.</a:t>
            </a:r>
          </a:p>
          <a:p>
            <a:br>
              <a:rPr lang="vi-VN"/>
            </a:br>
            <a:endParaRPr lang="vi-VN"/>
          </a:p>
          <a:p>
            <a:r>
              <a:rPr lang="en-US" b="1"/>
              <a:t>🔹 2. </a:t>
            </a:r>
            <a:r>
              <a:rPr lang="vi-VN" sz="1200" b="1" kern="1200">
                <a:solidFill>
                  <a:schemeClr val="tx1"/>
                </a:solidFill>
                <a:latin typeface="+mn-lt"/>
                <a:ea typeface="+mn-ea"/>
                <a:cs typeface="+mn-cs"/>
              </a:rPr>
              <a:t>return Scaffold(...)</a:t>
            </a:r>
            <a:endParaRPr lang="vi-VN" b="1"/>
          </a:p>
          <a:p>
            <a:r>
              <a:rPr lang="vi-VN" sz="1200" kern="1200">
                <a:solidFill>
                  <a:schemeClr val="tx1"/>
                </a:solidFill>
                <a:latin typeface="+mn-lt"/>
                <a:ea typeface="+mn-ea"/>
                <a:cs typeface="+mn-cs"/>
              </a:rPr>
              <a:t>Scaffold</a:t>
            </a:r>
            <a:r>
              <a:rPr lang="vi-VN"/>
              <a:t> là </a:t>
            </a:r>
            <a:r>
              <a:rPr lang="vi-VN" b="1"/>
              <a:t>bộ khung giao diện tiêu chuẩn</a:t>
            </a:r>
            <a:r>
              <a:rPr lang="vi-VN"/>
              <a:t> trong Flutter (có AppBar, Body, FloatingActionButton, Drawer, v.v...).</a:t>
            </a:r>
          </a:p>
          <a:p>
            <a:br>
              <a:rPr lang="vi-VN"/>
            </a:br>
            <a:endParaRPr lang="vi-VN"/>
          </a:p>
          <a:p>
            <a:r>
              <a:rPr lang="en-US" b="1"/>
              <a:t>🧱 </a:t>
            </a:r>
            <a:r>
              <a:rPr lang="vi-VN" b="1"/>
              <a:t>AppBar:</a:t>
            </a:r>
          </a:p>
          <a:p>
            <a:pPr rtl="0"/>
            <a:r>
              <a:rPr lang="vi-VN" sz="1200" kern="1200">
                <a:solidFill>
                  <a:schemeClr val="tx1"/>
                </a:solidFill>
                <a:latin typeface="+mn-lt"/>
                <a:ea typeface="+mn-ea"/>
                <a:cs typeface="+mn-cs"/>
              </a:rPr>
              <a:t>appBar: AppBar(</a:t>
            </a:r>
          </a:p>
          <a:p>
            <a:pPr rtl="0"/>
            <a:r>
              <a:rPr lang="vi-VN" sz="1200" kern="1200">
                <a:solidFill>
                  <a:schemeClr val="tx1"/>
                </a:solidFill>
                <a:latin typeface="+mn-lt"/>
                <a:ea typeface="+mn-ea"/>
                <a:cs typeface="+mn-cs"/>
              </a:rPr>
              <a:t>  title: const Text('Quản lý sản phẩm (SQLite)'),</a:t>
            </a:r>
          </a:p>
          <a:p>
            <a:pPr rtl="0"/>
            <a:r>
              <a:rPr lang="vi-VN" sz="1200" kern="1200">
                <a:solidFill>
                  <a:schemeClr val="tx1"/>
                </a:solidFill>
                <a:latin typeface="+mn-lt"/>
                <a:ea typeface="+mn-ea"/>
                <a:cs typeface="+mn-cs"/>
              </a:rPr>
              <a:t>  centerTitle: true,</a:t>
            </a:r>
          </a:p>
          <a:p>
            <a:pPr rtl="0"/>
            <a:r>
              <a:rPr lang="vi-VN" sz="1200" kern="1200">
                <a:solidFill>
                  <a:schemeClr val="tx1"/>
                </a:solidFill>
                <a:latin typeface="+mn-lt"/>
                <a:ea typeface="+mn-ea"/>
                <a:cs typeface="+mn-cs"/>
              </a:rPr>
              <a:t>),</a:t>
            </a:r>
          </a:p>
          <a:p>
            <a:r>
              <a:rPr lang="vi-VN"/>
              <a:t>Tạo </a:t>
            </a:r>
            <a:r>
              <a:rPr lang="vi-VN" b="1"/>
              <a:t>thanh tiêu đề</a:t>
            </a:r>
            <a:r>
              <a:rPr lang="vi-VN"/>
              <a:t> trên cùng của app.</a:t>
            </a:r>
          </a:p>
          <a:p>
            <a:r>
              <a:rPr lang="vi-VN" sz="1200" kern="1200">
                <a:solidFill>
                  <a:schemeClr val="tx1"/>
                </a:solidFill>
                <a:latin typeface="+mn-lt"/>
                <a:ea typeface="+mn-ea"/>
                <a:cs typeface="+mn-cs"/>
              </a:rPr>
              <a:t>centerTitle: true</a:t>
            </a:r>
            <a:r>
              <a:rPr lang="vi-VN"/>
              <a:t> → tiêu đề nằm giữa.</a:t>
            </a:r>
          </a:p>
          <a:p>
            <a:r>
              <a:rPr lang="vi-VN" sz="1200" kern="1200">
                <a:solidFill>
                  <a:schemeClr val="tx1"/>
                </a:solidFill>
                <a:latin typeface="+mn-lt"/>
                <a:ea typeface="+mn-ea"/>
                <a:cs typeface="+mn-cs"/>
              </a:rPr>
              <a:t>Text('Quản lý sản phẩm (SQLite)')</a:t>
            </a:r>
            <a:r>
              <a:rPr lang="vi-VN"/>
              <a:t> là </a:t>
            </a:r>
            <a:r>
              <a:rPr lang="vi-VN" b="1"/>
              <a:t>tên màn hình</a:t>
            </a:r>
            <a:r>
              <a:rPr lang="vi-VN"/>
              <a:t>.</a:t>
            </a:r>
          </a:p>
          <a:p>
            <a:br>
              <a:rPr lang="vi-VN"/>
            </a:br>
            <a:endParaRPr lang="vi-VN"/>
          </a:p>
          <a:p>
            <a:r>
              <a:rPr lang="en-US" b="1"/>
              <a:t>➕ </a:t>
            </a:r>
            <a:r>
              <a:rPr lang="vi-VN" b="1"/>
              <a:t>FloatingActionButton:</a:t>
            </a:r>
          </a:p>
          <a:p>
            <a:pPr rtl="0"/>
            <a:r>
              <a:rPr lang="vi-VN" sz="1200" kern="1200">
                <a:solidFill>
                  <a:schemeClr val="tx1"/>
                </a:solidFill>
                <a:latin typeface="+mn-lt"/>
                <a:ea typeface="+mn-ea"/>
                <a:cs typeface="+mn-cs"/>
              </a:rPr>
              <a:t>floatingActionButton: FloatingActionButton(</a:t>
            </a:r>
          </a:p>
          <a:p>
            <a:pPr rtl="0"/>
            <a:r>
              <a:rPr lang="vi-VN" sz="1200" kern="1200">
                <a:solidFill>
                  <a:schemeClr val="tx1"/>
                </a:solidFill>
                <a:latin typeface="+mn-lt"/>
                <a:ea typeface="+mn-ea"/>
                <a:cs typeface="+mn-cs"/>
              </a:rPr>
              <a:t>  onPressed: () =&gt; _showForm(),</a:t>
            </a:r>
          </a:p>
          <a:p>
            <a:pPr rtl="0"/>
            <a:r>
              <a:rPr lang="vi-VN" sz="1200" kern="1200">
                <a:solidFill>
                  <a:schemeClr val="tx1"/>
                </a:solidFill>
                <a:latin typeface="+mn-lt"/>
                <a:ea typeface="+mn-ea"/>
                <a:cs typeface="+mn-cs"/>
              </a:rPr>
              <a:t>  child: const Icon(Icons.add),</a:t>
            </a:r>
          </a:p>
          <a:p>
            <a:pPr rtl="0"/>
            <a:r>
              <a:rPr lang="vi-VN" sz="1200" kern="1200">
                <a:solidFill>
                  <a:schemeClr val="tx1"/>
                </a:solidFill>
                <a:latin typeface="+mn-lt"/>
                <a:ea typeface="+mn-ea"/>
                <a:cs typeface="+mn-cs"/>
              </a:rPr>
              <a:t>),</a:t>
            </a:r>
          </a:p>
          <a:p>
            <a:r>
              <a:rPr lang="vi-VN"/>
              <a:t>Nút </a:t>
            </a:r>
            <a:r>
              <a:rPr lang="vi-VN" b="1"/>
              <a:t>tròn nổi</a:t>
            </a:r>
            <a:r>
              <a:rPr lang="vi-VN"/>
              <a:t> ở góc phải dưới màn hình.</a:t>
            </a:r>
          </a:p>
          <a:p>
            <a:r>
              <a:rPr lang="vi-VN"/>
              <a:t>Khi nhấn → gọi hàm </a:t>
            </a:r>
            <a:r>
              <a:rPr lang="vi-VN" sz="1200" kern="1200">
                <a:solidFill>
                  <a:schemeClr val="tx1"/>
                </a:solidFill>
                <a:latin typeface="+mn-lt"/>
                <a:ea typeface="+mn-ea"/>
                <a:cs typeface="+mn-cs"/>
              </a:rPr>
              <a:t>_showForm()</a:t>
            </a:r>
            <a:r>
              <a:rPr lang="vi-VN"/>
              <a:t> để mở </a:t>
            </a:r>
            <a:r>
              <a:rPr lang="vi-VN" b="1"/>
              <a:t>form thêm sản phẩm mới</a:t>
            </a:r>
            <a:r>
              <a:rPr lang="vi-VN"/>
              <a:t>.</a:t>
            </a:r>
          </a:p>
          <a:p>
            <a:r>
              <a:rPr lang="vi-VN"/>
              <a:t>Icon </a:t>
            </a:r>
            <a:r>
              <a:rPr lang="vi-VN" sz="1200" kern="1200">
                <a:solidFill>
                  <a:schemeClr val="tx1"/>
                </a:solidFill>
                <a:latin typeface="+mn-lt"/>
                <a:ea typeface="+mn-ea"/>
                <a:cs typeface="+mn-cs"/>
              </a:rPr>
              <a:t>Icons.add</a:t>
            </a:r>
            <a:r>
              <a:rPr lang="vi-VN"/>
              <a:t> → dấu cộng </a:t>
            </a:r>
            <a:r>
              <a:rPr lang="en-US"/>
              <a:t>➕</a:t>
            </a:r>
          </a:p>
          <a:p>
            <a:br>
              <a:rPr lang="en-US"/>
            </a:br>
            <a:endParaRPr lang="en-US"/>
          </a:p>
          <a:p>
            <a:r>
              <a:rPr lang="en-US" b="1"/>
              <a:t>🧾 </a:t>
            </a:r>
            <a:r>
              <a:rPr lang="vi-VN" b="1"/>
              <a:t>Phần thân (</a:t>
            </a:r>
            <a:r>
              <a:rPr lang="vi-VN" sz="1200" b="1" kern="1200">
                <a:solidFill>
                  <a:schemeClr val="tx1"/>
                </a:solidFill>
                <a:latin typeface="+mn-lt"/>
                <a:ea typeface="+mn-ea"/>
                <a:cs typeface="+mn-cs"/>
              </a:rPr>
              <a:t>body</a:t>
            </a:r>
            <a:r>
              <a:rPr lang="vi-VN" b="1"/>
              <a:t>)</a:t>
            </a:r>
          </a:p>
          <a:p>
            <a:r>
              <a:rPr lang="vi-VN"/>
              <a:t>Đây là phần chính hiển thị danh sách sản phẩm.</a:t>
            </a:r>
          </a:p>
          <a:p>
            <a:r>
              <a:rPr lang="vi-VN" b="1"/>
              <a:t>Trường hợp chưa có sản phẩm:</a:t>
            </a:r>
          </a:p>
          <a:p>
            <a:pPr rtl="0"/>
            <a:r>
              <a:rPr lang="vi-VN" sz="1200" kern="1200">
                <a:solidFill>
                  <a:schemeClr val="tx1"/>
                </a:solidFill>
                <a:latin typeface="+mn-lt"/>
                <a:ea typeface="+mn-ea"/>
                <a:cs typeface="+mn-cs"/>
              </a:rPr>
              <a:t>products.isEmpty</a:t>
            </a:r>
          </a:p>
          <a:p>
            <a:pPr rtl="0"/>
            <a:r>
              <a:rPr lang="vi-VN" sz="1200" kern="1200">
                <a:solidFill>
                  <a:schemeClr val="tx1"/>
                </a:solidFill>
                <a:latin typeface="+mn-lt"/>
                <a:ea typeface="+mn-ea"/>
                <a:cs typeface="+mn-cs"/>
              </a:rPr>
              <a:t>  ? const Center(child: Text('Chưa có sản phẩm nào'))</a:t>
            </a:r>
          </a:p>
          <a:p>
            <a:r>
              <a:rPr lang="vi-VN"/>
              <a:t>Nếu danh sách </a:t>
            </a:r>
            <a:r>
              <a:rPr lang="vi-VN" sz="1200" kern="1200">
                <a:solidFill>
                  <a:schemeClr val="tx1"/>
                </a:solidFill>
                <a:latin typeface="+mn-lt"/>
                <a:ea typeface="+mn-ea"/>
                <a:cs typeface="+mn-cs"/>
              </a:rPr>
              <a:t>products</a:t>
            </a:r>
            <a:r>
              <a:rPr lang="vi-VN"/>
              <a:t> rỗng → hiện dòng chữ “Chưa có sản phẩm nào”.</a:t>
            </a:r>
          </a:p>
          <a:p>
            <a:pPr>
              <a:buNone/>
            </a:pPr>
            <a:r>
              <a:rPr lang="en-US"/>
              <a:t>.</a:t>
            </a:r>
          </a:p>
          <a:p>
            <a:pPr>
              <a:buNone/>
            </a:pPr>
            <a:br>
              <a:rPr lang="en-US"/>
            </a:br>
            <a:endParaRPr lang="en-US"/>
          </a:p>
          <a:p>
            <a:endParaRPr lang="vi-VN" b="0"/>
          </a:p>
        </p:txBody>
      </p:sp>
      <p:sp>
        <p:nvSpPr>
          <p:cNvPr id="4" name="Slide Number Placeholder 3">
            <a:extLst>
              <a:ext uri="{FF2B5EF4-FFF2-40B4-BE49-F238E27FC236}">
                <a16:creationId xmlns:a16="http://schemas.microsoft.com/office/drawing/2014/main" id="{44211764-5CB8-520B-43C1-B55BF89B6303}"/>
              </a:ext>
            </a:extLst>
          </p:cNvPr>
          <p:cNvSpPr>
            <a:spLocks noGrp="1"/>
          </p:cNvSpPr>
          <p:nvPr>
            <p:ph type="sldNum" sz="quarter" idx="5"/>
          </p:nvPr>
        </p:nvSpPr>
        <p:spPr/>
        <p:txBody>
          <a:bodyPr/>
          <a:lstStyle/>
          <a:p>
            <a:fld id="{1983A999-5E0E-42CA-8400-604AE921FF7C}" type="slidenum">
              <a:rPr lang="en-US" smtClean="0"/>
              <a:t>21</a:t>
            </a:fld>
            <a:endParaRPr lang="en-US"/>
          </a:p>
        </p:txBody>
      </p:sp>
    </p:spTree>
    <p:extLst>
      <p:ext uri="{BB962C8B-B14F-4D97-AF65-F5344CB8AC3E}">
        <p14:creationId xmlns:p14="http://schemas.microsoft.com/office/powerpoint/2010/main" val="15247848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4E896-CCCD-D8F1-A14A-565E0C7797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0C668D-5A14-AD6D-5456-2C21F2E78C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408B2D-4F28-44DF-6CE4-86671E4E4DA7}"/>
              </a:ext>
            </a:extLst>
          </p:cNvPr>
          <p:cNvSpPr>
            <a:spLocks noGrp="1"/>
          </p:cNvSpPr>
          <p:nvPr>
            <p:ph type="body" idx="1"/>
          </p:nvPr>
        </p:nvSpPr>
        <p:spPr/>
        <p:txBody>
          <a:bodyPr/>
          <a:lstStyle/>
          <a:p>
            <a:r>
              <a:rPr lang="vi-VN" b="1"/>
              <a:t>main.dart</a:t>
            </a:r>
            <a:r>
              <a:rPr lang="vi-VN"/>
              <a:t>: UI + logic app Flutter. Giao diện hiển thị danh sách sản phẩm, form thêm/sửa, và gọi các phương thức trong </a:t>
            </a:r>
            <a:r>
              <a:rPr lang="vi-VN" sz="1200" kern="1200">
                <a:solidFill>
                  <a:schemeClr val="tx1"/>
                </a:solidFill>
                <a:latin typeface="+mn-lt"/>
                <a:ea typeface="+mn-ea"/>
                <a:cs typeface="+mn-cs"/>
              </a:rPr>
              <a:t>DBHelper</a:t>
            </a:r>
            <a:r>
              <a:rPr lang="vi-VN"/>
              <a:t> để thao tác dữ liệu.</a:t>
            </a:r>
            <a:endParaRPr lang="en-US"/>
          </a:p>
          <a:p>
            <a:r>
              <a:rPr lang="en-US"/>
              <a:t>------------------------------------------------------------------------------------------------------------------------------------------------------------------</a:t>
            </a:r>
          </a:p>
          <a:p>
            <a:r>
              <a:rPr lang="en-US" b="1"/>
              <a:t>Làm rõ code:</a:t>
            </a:r>
          </a:p>
          <a:p>
            <a:r>
              <a:rPr lang="vi-VN" b="1"/>
              <a:t>Ngược lại, nếu có sản phẩm:</a:t>
            </a:r>
          </a:p>
          <a:p>
            <a:pPr rtl="0"/>
            <a:r>
              <a:rPr lang="vi-VN" sz="1200" kern="1200">
                <a:solidFill>
                  <a:schemeClr val="tx1"/>
                </a:solidFill>
                <a:latin typeface="+mn-lt"/>
                <a:ea typeface="+mn-ea"/>
                <a:cs typeface="+mn-cs"/>
              </a:rPr>
              <a:t>: ListView.builder(</a:t>
            </a:r>
          </a:p>
          <a:p>
            <a:pPr rtl="0"/>
            <a:r>
              <a:rPr lang="vi-VN" sz="1200" kern="1200">
                <a:solidFill>
                  <a:schemeClr val="tx1"/>
                </a:solidFill>
                <a:latin typeface="+mn-lt"/>
                <a:ea typeface="+mn-ea"/>
                <a:cs typeface="+mn-cs"/>
              </a:rPr>
              <a:t>  itemCount: products.length,</a:t>
            </a:r>
          </a:p>
          <a:p>
            <a:pPr rtl="0"/>
            <a:r>
              <a:rPr lang="vi-VN" sz="1200" kern="1200">
                <a:solidFill>
                  <a:schemeClr val="tx1"/>
                </a:solidFill>
                <a:latin typeface="+mn-lt"/>
                <a:ea typeface="+mn-ea"/>
                <a:cs typeface="+mn-cs"/>
              </a:rPr>
              <a:t>  itemBuilder: (context, i) { ... },</a:t>
            </a:r>
          </a:p>
          <a:p>
            <a:pPr rtl="0"/>
            <a:r>
              <a:rPr lang="vi-VN" sz="1200" kern="1200">
                <a:solidFill>
                  <a:schemeClr val="tx1"/>
                </a:solidFill>
                <a:latin typeface="+mn-lt"/>
                <a:ea typeface="+mn-ea"/>
                <a:cs typeface="+mn-cs"/>
              </a:rPr>
              <a:t>),</a:t>
            </a:r>
          </a:p>
          <a:p>
            <a:r>
              <a:rPr lang="vi-VN" sz="1200" kern="1200">
                <a:solidFill>
                  <a:schemeClr val="tx1"/>
                </a:solidFill>
                <a:latin typeface="+mn-lt"/>
                <a:ea typeface="+mn-ea"/>
                <a:cs typeface="+mn-cs"/>
              </a:rPr>
              <a:t>ListView.builder</a:t>
            </a:r>
            <a:r>
              <a:rPr lang="vi-VN"/>
              <a:t> là </a:t>
            </a:r>
            <a:r>
              <a:rPr lang="vi-VN" b="1"/>
              <a:t>danh sách cuộn động</a:t>
            </a:r>
            <a:r>
              <a:rPr lang="vi-VN"/>
              <a:t>.</a:t>
            </a:r>
          </a:p>
          <a:p>
            <a:r>
              <a:rPr lang="vi-VN" sz="1200" kern="1200">
                <a:solidFill>
                  <a:schemeClr val="tx1"/>
                </a:solidFill>
                <a:latin typeface="+mn-lt"/>
                <a:ea typeface="+mn-ea"/>
                <a:cs typeface="+mn-cs"/>
              </a:rPr>
              <a:t>itemCount</a:t>
            </a:r>
            <a:r>
              <a:rPr lang="vi-VN"/>
              <a:t> = số sản phẩm.</a:t>
            </a:r>
          </a:p>
          <a:p>
            <a:r>
              <a:rPr lang="vi-VN" sz="1200" kern="1200">
                <a:solidFill>
                  <a:schemeClr val="tx1"/>
                </a:solidFill>
                <a:latin typeface="+mn-lt"/>
                <a:ea typeface="+mn-ea"/>
                <a:cs typeface="+mn-cs"/>
              </a:rPr>
              <a:t>itemBuilder</a:t>
            </a:r>
            <a:r>
              <a:rPr lang="vi-VN"/>
              <a:t> = hàm xây từng “thẻ sản phẩm”.</a:t>
            </a:r>
            <a:br>
              <a:rPr lang="vi-VN"/>
            </a:br>
            <a:endParaRPr lang="vi-VN"/>
          </a:p>
          <a:p>
            <a:r>
              <a:rPr lang="en-US" b="1"/>
              <a:t>🧩 </a:t>
            </a:r>
            <a:r>
              <a:rPr lang="vi-VN" b="1"/>
              <a:t>Bên trong mỗi sản phẩm (</a:t>
            </a:r>
            <a:r>
              <a:rPr lang="vi-VN" sz="1200" b="1" kern="1200">
                <a:solidFill>
                  <a:schemeClr val="tx1"/>
                </a:solidFill>
                <a:latin typeface="+mn-lt"/>
                <a:ea typeface="+mn-ea"/>
                <a:cs typeface="+mn-cs"/>
              </a:rPr>
              <a:t>Card</a:t>
            </a:r>
            <a:r>
              <a:rPr lang="vi-VN" b="1"/>
              <a:t> + </a:t>
            </a:r>
            <a:r>
              <a:rPr lang="vi-VN" sz="1200" b="1" kern="1200">
                <a:solidFill>
                  <a:schemeClr val="tx1"/>
                </a:solidFill>
                <a:latin typeface="+mn-lt"/>
                <a:ea typeface="+mn-ea"/>
                <a:cs typeface="+mn-cs"/>
              </a:rPr>
              <a:t>ListTile</a:t>
            </a:r>
            <a:r>
              <a:rPr lang="vi-VN" b="1"/>
              <a:t>):</a:t>
            </a:r>
            <a:endParaRPr lang="en-US" b="1"/>
          </a:p>
          <a:p>
            <a:r>
              <a:rPr lang="en-US" sz="1200" kern="1200">
                <a:solidFill>
                  <a:schemeClr val="tx1"/>
                </a:solidFill>
                <a:latin typeface="+mn-lt"/>
                <a:ea typeface="+mn-ea"/>
                <a:cs typeface="+mn-cs"/>
              </a:rPr>
              <a:t>C</a:t>
            </a:r>
            <a:r>
              <a:rPr lang="vi-VN" sz="1200" kern="1200">
                <a:solidFill>
                  <a:schemeClr val="tx1"/>
                </a:solidFill>
                <a:latin typeface="+mn-lt"/>
                <a:ea typeface="+mn-ea"/>
                <a:cs typeface="+mn-cs"/>
              </a:rPr>
              <a:t>ard</a:t>
            </a:r>
            <a:r>
              <a:rPr lang="vi-VN"/>
              <a:t>: khung chứa sản phẩm, có bo góc và đổ bóng nhẹ.</a:t>
            </a:r>
          </a:p>
          <a:p>
            <a:r>
              <a:rPr lang="vi-VN" sz="1200" kern="1200">
                <a:solidFill>
                  <a:schemeClr val="tx1"/>
                </a:solidFill>
                <a:latin typeface="+mn-lt"/>
                <a:ea typeface="+mn-ea"/>
                <a:cs typeface="+mn-cs"/>
              </a:rPr>
              <a:t>ListTile</a:t>
            </a:r>
            <a:r>
              <a:rPr lang="vi-VN"/>
              <a:t>: kiểu hiển thị danh sách phổ biến trong Flutter.</a:t>
            </a:r>
          </a:p>
          <a:p>
            <a:r>
              <a:rPr lang="vi-VN" sz="1200" kern="1200">
                <a:solidFill>
                  <a:schemeClr val="tx1"/>
                </a:solidFill>
                <a:latin typeface="+mn-lt"/>
                <a:ea typeface="+mn-ea"/>
                <a:cs typeface="+mn-cs"/>
              </a:rPr>
              <a:t>title</a:t>
            </a:r>
            <a:r>
              <a:rPr lang="vi-VN"/>
              <a:t>: tên sản phẩm (in đậm).</a:t>
            </a:r>
          </a:p>
          <a:p>
            <a:r>
              <a:rPr lang="vi-VN" sz="1200" kern="1200">
                <a:solidFill>
                  <a:schemeClr val="tx1"/>
                </a:solidFill>
                <a:latin typeface="+mn-lt"/>
                <a:ea typeface="+mn-ea"/>
                <a:cs typeface="+mn-cs"/>
              </a:rPr>
              <a:t>subtitle</a:t>
            </a:r>
            <a:r>
              <a:rPr lang="vi-VN"/>
              <a:t>: các thông tin chi tiết (giá, số lượng, ngày, mô tả).</a:t>
            </a:r>
          </a:p>
          <a:p>
            <a:r>
              <a:rPr lang="vi-VN" sz="1200" kern="1200">
                <a:solidFill>
                  <a:schemeClr val="tx1"/>
                </a:solidFill>
                <a:latin typeface="+mn-lt"/>
                <a:ea typeface="+mn-ea"/>
                <a:cs typeface="+mn-cs"/>
              </a:rPr>
              <a:t>trailing</a:t>
            </a:r>
            <a:r>
              <a:rPr lang="vi-VN"/>
              <a:t>: phần nằm bên phải, gồm 2 nút:</a:t>
            </a:r>
          </a:p>
          <a:p>
            <a:r>
              <a:rPr lang="vi-VN"/>
              <a:t>✏️ </a:t>
            </a:r>
            <a:r>
              <a:rPr lang="vi-VN" b="1"/>
              <a:t>Edit</a:t>
            </a:r>
            <a:r>
              <a:rPr lang="vi-VN"/>
              <a:t>: mở form sửa → </a:t>
            </a:r>
            <a:r>
              <a:rPr lang="vi-VN" sz="1200" kern="1200">
                <a:solidFill>
                  <a:schemeClr val="tx1"/>
                </a:solidFill>
                <a:latin typeface="+mn-lt"/>
                <a:ea typeface="+mn-ea"/>
                <a:cs typeface="+mn-cs"/>
              </a:rPr>
              <a:t>_showForm(product: p)</a:t>
            </a:r>
            <a:endParaRPr lang="vi-VN"/>
          </a:p>
          <a:p>
            <a:r>
              <a:rPr lang="en-US"/>
              <a:t>🗑️ </a:t>
            </a:r>
            <a:r>
              <a:rPr lang="vi-VN" b="1"/>
              <a:t>Delete</a:t>
            </a:r>
            <a:r>
              <a:rPr lang="vi-VN"/>
              <a:t>: xóa sản phẩm → </a:t>
            </a:r>
            <a:r>
              <a:rPr lang="vi-VN" sz="1200" kern="1200">
                <a:solidFill>
                  <a:schemeClr val="tx1"/>
                </a:solidFill>
                <a:latin typeface="+mn-lt"/>
                <a:ea typeface="+mn-ea"/>
                <a:cs typeface="+mn-cs"/>
              </a:rPr>
              <a:t>_deleteProduct(p)</a:t>
            </a:r>
            <a:endParaRPr lang="vi-VN"/>
          </a:p>
          <a:p>
            <a:endParaRPr lang="vi-VN" b="1"/>
          </a:p>
          <a:p>
            <a:endParaRPr lang="vi-VN" b="0"/>
          </a:p>
        </p:txBody>
      </p:sp>
      <p:sp>
        <p:nvSpPr>
          <p:cNvPr id="4" name="Slide Number Placeholder 3">
            <a:extLst>
              <a:ext uri="{FF2B5EF4-FFF2-40B4-BE49-F238E27FC236}">
                <a16:creationId xmlns:a16="http://schemas.microsoft.com/office/drawing/2014/main" id="{B116F99B-FC3F-475F-9CE1-EC37F0864D99}"/>
              </a:ext>
            </a:extLst>
          </p:cNvPr>
          <p:cNvSpPr>
            <a:spLocks noGrp="1"/>
          </p:cNvSpPr>
          <p:nvPr>
            <p:ph type="sldNum" sz="quarter" idx="5"/>
          </p:nvPr>
        </p:nvSpPr>
        <p:spPr/>
        <p:txBody>
          <a:bodyPr/>
          <a:lstStyle/>
          <a:p>
            <a:fld id="{1983A999-5E0E-42CA-8400-604AE921FF7C}" type="slidenum">
              <a:rPr lang="en-US" smtClean="0"/>
              <a:t>22</a:t>
            </a:fld>
            <a:endParaRPr lang="en-US"/>
          </a:p>
        </p:txBody>
      </p:sp>
    </p:spTree>
    <p:extLst>
      <p:ext uri="{BB962C8B-B14F-4D97-AF65-F5344CB8AC3E}">
        <p14:creationId xmlns:p14="http://schemas.microsoft.com/office/powerpoint/2010/main" val="9961471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D099B-B020-4C28-4D5C-C0373875D8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F64C80-8D03-500B-0703-ADBD0C99BE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6C86FB-217F-D2EB-E800-C238D7EECAD9}"/>
              </a:ext>
            </a:extLst>
          </p:cNvPr>
          <p:cNvSpPr>
            <a:spLocks noGrp="1"/>
          </p:cNvSpPr>
          <p:nvPr>
            <p:ph type="body" idx="1"/>
          </p:nvPr>
        </p:nvSpPr>
        <p:spPr/>
        <p:txBody>
          <a:bodyPr/>
          <a:lstStyle/>
          <a:p>
            <a:r>
              <a:rPr lang="vi-VN" b="1"/>
              <a:t>main.dart</a:t>
            </a:r>
            <a:r>
              <a:rPr lang="vi-VN"/>
              <a:t>: UI + logic app Flutter. Giao diện hiển thị danh sách sản phẩm, form thêm/sửa, và gọi các phương thức trong </a:t>
            </a:r>
            <a:r>
              <a:rPr lang="vi-VN" sz="1200" kern="1200">
                <a:solidFill>
                  <a:schemeClr val="tx1"/>
                </a:solidFill>
                <a:latin typeface="+mn-lt"/>
                <a:ea typeface="+mn-ea"/>
                <a:cs typeface="+mn-cs"/>
              </a:rPr>
              <a:t>DBHelper</a:t>
            </a:r>
            <a:r>
              <a:rPr lang="vi-VN"/>
              <a:t> để thao tác dữ liệu.</a:t>
            </a:r>
            <a:endParaRPr lang="en-US"/>
          </a:p>
          <a:p>
            <a:r>
              <a:rPr lang="en-US"/>
              <a:t>------------------------------------------------------------------------------------------------------------------------------------------------------------------</a:t>
            </a:r>
          </a:p>
          <a:p>
            <a:r>
              <a:rPr lang="en-US" b="1"/>
              <a:t>Làm rõ code:</a:t>
            </a:r>
          </a:p>
          <a:p>
            <a:r>
              <a:rPr lang="vi-VN" b="1"/>
              <a:t>Ngược lại, nếu có sản phẩm:</a:t>
            </a:r>
          </a:p>
          <a:p>
            <a:pPr rtl="0"/>
            <a:r>
              <a:rPr lang="vi-VN" sz="1200" kern="1200">
                <a:solidFill>
                  <a:schemeClr val="tx1"/>
                </a:solidFill>
                <a:latin typeface="+mn-lt"/>
                <a:ea typeface="+mn-ea"/>
                <a:cs typeface="+mn-cs"/>
              </a:rPr>
              <a:t>: ListView.builder(</a:t>
            </a:r>
          </a:p>
          <a:p>
            <a:pPr rtl="0"/>
            <a:r>
              <a:rPr lang="vi-VN" sz="1200" kern="1200">
                <a:solidFill>
                  <a:schemeClr val="tx1"/>
                </a:solidFill>
                <a:latin typeface="+mn-lt"/>
                <a:ea typeface="+mn-ea"/>
                <a:cs typeface="+mn-cs"/>
              </a:rPr>
              <a:t>  itemCount: products.length,</a:t>
            </a:r>
          </a:p>
          <a:p>
            <a:pPr rtl="0"/>
            <a:r>
              <a:rPr lang="vi-VN" sz="1200" kern="1200">
                <a:solidFill>
                  <a:schemeClr val="tx1"/>
                </a:solidFill>
                <a:latin typeface="+mn-lt"/>
                <a:ea typeface="+mn-ea"/>
                <a:cs typeface="+mn-cs"/>
              </a:rPr>
              <a:t>  itemBuilder: (context, i) { ... },</a:t>
            </a:r>
          </a:p>
          <a:p>
            <a:pPr rtl="0"/>
            <a:r>
              <a:rPr lang="vi-VN" sz="1200" kern="1200">
                <a:solidFill>
                  <a:schemeClr val="tx1"/>
                </a:solidFill>
                <a:latin typeface="+mn-lt"/>
                <a:ea typeface="+mn-ea"/>
                <a:cs typeface="+mn-cs"/>
              </a:rPr>
              <a:t>),</a:t>
            </a:r>
          </a:p>
          <a:p>
            <a:r>
              <a:rPr lang="vi-VN" sz="1200" kern="1200">
                <a:solidFill>
                  <a:schemeClr val="tx1"/>
                </a:solidFill>
                <a:latin typeface="+mn-lt"/>
                <a:ea typeface="+mn-ea"/>
                <a:cs typeface="+mn-cs"/>
              </a:rPr>
              <a:t>ListView.builder</a:t>
            </a:r>
            <a:r>
              <a:rPr lang="vi-VN"/>
              <a:t> là </a:t>
            </a:r>
            <a:r>
              <a:rPr lang="vi-VN" b="1"/>
              <a:t>danh sách cuộn động</a:t>
            </a:r>
            <a:r>
              <a:rPr lang="vi-VN"/>
              <a:t>.</a:t>
            </a:r>
          </a:p>
          <a:p>
            <a:r>
              <a:rPr lang="vi-VN" sz="1200" kern="1200">
                <a:solidFill>
                  <a:schemeClr val="tx1"/>
                </a:solidFill>
                <a:latin typeface="+mn-lt"/>
                <a:ea typeface="+mn-ea"/>
                <a:cs typeface="+mn-cs"/>
              </a:rPr>
              <a:t>itemCount</a:t>
            </a:r>
            <a:r>
              <a:rPr lang="vi-VN"/>
              <a:t> = số sản phẩm.</a:t>
            </a:r>
          </a:p>
          <a:p>
            <a:r>
              <a:rPr lang="vi-VN" sz="1200" kern="1200">
                <a:solidFill>
                  <a:schemeClr val="tx1"/>
                </a:solidFill>
                <a:latin typeface="+mn-lt"/>
                <a:ea typeface="+mn-ea"/>
                <a:cs typeface="+mn-cs"/>
              </a:rPr>
              <a:t>itemBuilder</a:t>
            </a:r>
            <a:r>
              <a:rPr lang="vi-VN"/>
              <a:t> = hàm xây từng “thẻ sản phẩm”.</a:t>
            </a:r>
            <a:br>
              <a:rPr lang="vi-VN"/>
            </a:br>
            <a:endParaRPr lang="vi-VN"/>
          </a:p>
          <a:p>
            <a:r>
              <a:rPr lang="en-US" b="1"/>
              <a:t>🧩 </a:t>
            </a:r>
            <a:r>
              <a:rPr lang="vi-VN" b="1"/>
              <a:t>Bên trong mỗi sản phẩm (</a:t>
            </a:r>
            <a:r>
              <a:rPr lang="vi-VN" sz="1200" b="1" kern="1200">
                <a:solidFill>
                  <a:schemeClr val="tx1"/>
                </a:solidFill>
                <a:latin typeface="+mn-lt"/>
                <a:ea typeface="+mn-ea"/>
                <a:cs typeface="+mn-cs"/>
              </a:rPr>
              <a:t>Card</a:t>
            </a:r>
            <a:r>
              <a:rPr lang="vi-VN" b="1"/>
              <a:t> + </a:t>
            </a:r>
            <a:r>
              <a:rPr lang="vi-VN" sz="1200" b="1" kern="1200">
                <a:solidFill>
                  <a:schemeClr val="tx1"/>
                </a:solidFill>
                <a:latin typeface="+mn-lt"/>
                <a:ea typeface="+mn-ea"/>
                <a:cs typeface="+mn-cs"/>
              </a:rPr>
              <a:t>ListTile</a:t>
            </a:r>
            <a:r>
              <a:rPr lang="vi-VN" b="1"/>
              <a:t>):</a:t>
            </a:r>
            <a:endParaRPr lang="en-US" b="1"/>
          </a:p>
          <a:p>
            <a:r>
              <a:rPr lang="en-US" sz="1200" kern="1200">
                <a:solidFill>
                  <a:schemeClr val="tx1"/>
                </a:solidFill>
                <a:latin typeface="+mn-lt"/>
                <a:ea typeface="+mn-ea"/>
                <a:cs typeface="+mn-cs"/>
              </a:rPr>
              <a:t>C</a:t>
            </a:r>
            <a:r>
              <a:rPr lang="vi-VN" sz="1200" kern="1200">
                <a:solidFill>
                  <a:schemeClr val="tx1"/>
                </a:solidFill>
                <a:latin typeface="+mn-lt"/>
                <a:ea typeface="+mn-ea"/>
                <a:cs typeface="+mn-cs"/>
              </a:rPr>
              <a:t>ard</a:t>
            </a:r>
            <a:r>
              <a:rPr lang="vi-VN"/>
              <a:t>: khung chứa sản phẩm, có bo góc và đổ bóng nhẹ.</a:t>
            </a:r>
          </a:p>
          <a:p>
            <a:r>
              <a:rPr lang="vi-VN" sz="1200" kern="1200">
                <a:solidFill>
                  <a:schemeClr val="tx1"/>
                </a:solidFill>
                <a:latin typeface="+mn-lt"/>
                <a:ea typeface="+mn-ea"/>
                <a:cs typeface="+mn-cs"/>
              </a:rPr>
              <a:t>ListTile</a:t>
            </a:r>
            <a:r>
              <a:rPr lang="vi-VN"/>
              <a:t>: kiểu hiển thị danh sách phổ biến trong Flutter.</a:t>
            </a:r>
          </a:p>
          <a:p>
            <a:r>
              <a:rPr lang="vi-VN" sz="1200" kern="1200">
                <a:solidFill>
                  <a:schemeClr val="tx1"/>
                </a:solidFill>
                <a:latin typeface="+mn-lt"/>
                <a:ea typeface="+mn-ea"/>
                <a:cs typeface="+mn-cs"/>
              </a:rPr>
              <a:t>title</a:t>
            </a:r>
            <a:r>
              <a:rPr lang="vi-VN"/>
              <a:t>: tên sản phẩm (in đậm).</a:t>
            </a:r>
          </a:p>
          <a:p>
            <a:r>
              <a:rPr lang="vi-VN" sz="1200" kern="1200">
                <a:solidFill>
                  <a:schemeClr val="tx1"/>
                </a:solidFill>
                <a:latin typeface="+mn-lt"/>
                <a:ea typeface="+mn-ea"/>
                <a:cs typeface="+mn-cs"/>
              </a:rPr>
              <a:t>subtitle</a:t>
            </a:r>
            <a:r>
              <a:rPr lang="vi-VN"/>
              <a:t>: các thông tin chi tiết (giá, số lượng, ngày, mô tả).</a:t>
            </a:r>
          </a:p>
          <a:p>
            <a:r>
              <a:rPr lang="vi-VN" sz="1200" kern="1200">
                <a:solidFill>
                  <a:schemeClr val="tx1"/>
                </a:solidFill>
                <a:latin typeface="+mn-lt"/>
                <a:ea typeface="+mn-ea"/>
                <a:cs typeface="+mn-cs"/>
              </a:rPr>
              <a:t>trailing</a:t>
            </a:r>
            <a:r>
              <a:rPr lang="vi-VN"/>
              <a:t>: phần nằm bên phải, gồm 2 nút:</a:t>
            </a:r>
          </a:p>
          <a:p>
            <a:r>
              <a:rPr lang="vi-VN"/>
              <a:t>✏️ </a:t>
            </a:r>
            <a:r>
              <a:rPr lang="vi-VN" b="1"/>
              <a:t>Edit</a:t>
            </a:r>
            <a:r>
              <a:rPr lang="vi-VN"/>
              <a:t>: mở form sửa → </a:t>
            </a:r>
            <a:r>
              <a:rPr lang="vi-VN" sz="1200" kern="1200">
                <a:solidFill>
                  <a:schemeClr val="tx1"/>
                </a:solidFill>
                <a:latin typeface="+mn-lt"/>
                <a:ea typeface="+mn-ea"/>
                <a:cs typeface="+mn-cs"/>
              </a:rPr>
              <a:t>_showForm(product: p)</a:t>
            </a:r>
            <a:endParaRPr lang="vi-VN"/>
          </a:p>
          <a:p>
            <a:r>
              <a:rPr lang="en-US"/>
              <a:t>🗑️ </a:t>
            </a:r>
            <a:r>
              <a:rPr lang="vi-VN" b="1"/>
              <a:t>Delete</a:t>
            </a:r>
            <a:r>
              <a:rPr lang="vi-VN"/>
              <a:t>: xóa sản phẩm → </a:t>
            </a:r>
            <a:r>
              <a:rPr lang="vi-VN" sz="1200" kern="1200">
                <a:solidFill>
                  <a:schemeClr val="tx1"/>
                </a:solidFill>
                <a:latin typeface="+mn-lt"/>
                <a:ea typeface="+mn-ea"/>
                <a:cs typeface="+mn-cs"/>
              </a:rPr>
              <a:t>_deleteProduct(p)</a:t>
            </a:r>
            <a:endParaRPr lang="vi-VN"/>
          </a:p>
          <a:p>
            <a:endParaRPr lang="vi-VN" b="1"/>
          </a:p>
          <a:p>
            <a:endParaRPr lang="vi-VN" b="0"/>
          </a:p>
        </p:txBody>
      </p:sp>
      <p:sp>
        <p:nvSpPr>
          <p:cNvPr id="4" name="Slide Number Placeholder 3">
            <a:extLst>
              <a:ext uri="{FF2B5EF4-FFF2-40B4-BE49-F238E27FC236}">
                <a16:creationId xmlns:a16="http://schemas.microsoft.com/office/drawing/2014/main" id="{D4858C56-BD1B-74DF-6E32-8818C0F75C79}"/>
              </a:ext>
            </a:extLst>
          </p:cNvPr>
          <p:cNvSpPr>
            <a:spLocks noGrp="1"/>
          </p:cNvSpPr>
          <p:nvPr>
            <p:ph type="sldNum" sz="quarter" idx="5"/>
          </p:nvPr>
        </p:nvSpPr>
        <p:spPr/>
        <p:txBody>
          <a:bodyPr/>
          <a:lstStyle/>
          <a:p>
            <a:fld id="{1983A999-5E0E-42CA-8400-604AE921FF7C}" type="slidenum">
              <a:rPr lang="en-US" smtClean="0"/>
              <a:t>23</a:t>
            </a:fld>
            <a:endParaRPr lang="en-US"/>
          </a:p>
        </p:txBody>
      </p:sp>
    </p:spTree>
    <p:extLst>
      <p:ext uri="{BB962C8B-B14F-4D97-AF65-F5344CB8AC3E}">
        <p14:creationId xmlns:p14="http://schemas.microsoft.com/office/powerpoint/2010/main" val="39363459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6C225-7E10-9A99-A344-C9AB3E215C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772244-7557-96D4-69A2-1136439F29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35C1B1-B647-FB12-DAF4-FFF886B42C2B}"/>
              </a:ext>
            </a:extLst>
          </p:cNvPr>
          <p:cNvSpPr>
            <a:spLocks noGrp="1"/>
          </p:cNvSpPr>
          <p:nvPr>
            <p:ph type="body" idx="1"/>
          </p:nvPr>
        </p:nvSpPr>
        <p:spPr/>
        <p:txBody>
          <a:bodyPr/>
          <a:lstStyle/>
          <a:p>
            <a:r>
              <a:rPr lang="vi-VN" b="1"/>
              <a:t>main.dart</a:t>
            </a:r>
            <a:r>
              <a:rPr lang="vi-VN"/>
              <a:t>: UI + logic app Flutter. Giao diện hiển thị danh sách sản phẩm, form thêm/sửa, và gọi các phương thức trong </a:t>
            </a:r>
            <a:r>
              <a:rPr lang="vi-VN" sz="1200" kern="1200">
                <a:solidFill>
                  <a:schemeClr val="tx1"/>
                </a:solidFill>
                <a:latin typeface="+mn-lt"/>
                <a:ea typeface="+mn-ea"/>
                <a:cs typeface="+mn-cs"/>
              </a:rPr>
              <a:t>DBHelper</a:t>
            </a:r>
            <a:r>
              <a:rPr lang="vi-VN"/>
              <a:t> để thao tác dữ liệu.</a:t>
            </a:r>
            <a:endParaRPr lang="en-US"/>
          </a:p>
          <a:p>
            <a:r>
              <a:rPr lang="en-US"/>
              <a:t>------------------------------------------------------------------------------------------------------------------------------------------------------------------</a:t>
            </a:r>
          </a:p>
          <a:p>
            <a:r>
              <a:rPr lang="en-US" b="1"/>
              <a:t>Làm rõ code:</a:t>
            </a:r>
          </a:p>
          <a:p>
            <a:r>
              <a:rPr lang="vi-VN" b="1"/>
              <a:t>Ngược lại, nếu có sản phẩm:</a:t>
            </a:r>
          </a:p>
          <a:p>
            <a:pPr rtl="0"/>
            <a:r>
              <a:rPr lang="vi-VN" sz="1200" kern="1200">
                <a:solidFill>
                  <a:schemeClr val="tx1"/>
                </a:solidFill>
                <a:latin typeface="+mn-lt"/>
                <a:ea typeface="+mn-ea"/>
                <a:cs typeface="+mn-cs"/>
              </a:rPr>
              <a:t>: ListView.builder(</a:t>
            </a:r>
          </a:p>
          <a:p>
            <a:pPr rtl="0"/>
            <a:r>
              <a:rPr lang="vi-VN" sz="1200" kern="1200">
                <a:solidFill>
                  <a:schemeClr val="tx1"/>
                </a:solidFill>
                <a:latin typeface="+mn-lt"/>
                <a:ea typeface="+mn-ea"/>
                <a:cs typeface="+mn-cs"/>
              </a:rPr>
              <a:t>  itemCount: products.length,</a:t>
            </a:r>
          </a:p>
          <a:p>
            <a:pPr rtl="0"/>
            <a:r>
              <a:rPr lang="vi-VN" sz="1200" kern="1200">
                <a:solidFill>
                  <a:schemeClr val="tx1"/>
                </a:solidFill>
                <a:latin typeface="+mn-lt"/>
                <a:ea typeface="+mn-ea"/>
                <a:cs typeface="+mn-cs"/>
              </a:rPr>
              <a:t>  itemBuilder: (context, i) { ... },</a:t>
            </a:r>
          </a:p>
          <a:p>
            <a:pPr rtl="0"/>
            <a:r>
              <a:rPr lang="vi-VN" sz="1200" kern="1200">
                <a:solidFill>
                  <a:schemeClr val="tx1"/>
                </a:solidFill>
                <a:latin typeface="+mn-lt"/>
                <a:ea typeface="+mn-ea"/>
                <a:cs typeface="+mn-cs"/>
              </a:rPr>
              <a:t>),</a:t>
            </a:r>
          </a:p>
          <a:p>
            <a:r>
              <a:rPr lang="vi-VN" sz="1200" kern="1200">
                <a:solidFill>
                  <a:schemeClr val="tx1"/>
                </a:solidFill>
                <a:latin typeface="+mn-lt"/>
                <a:ea typeface="+mn-ea"/>
                <a:cs typeface="+mn-cs"/>
              </a:rPr>
              <a:t>ListView.builder</a:t>
            </a:r>
            <a:r>
              <a:rPr lang="vi-VN"/>
              <a:t> là </a:t>
            </a:r>
            <a:r>
              <a:rPr lang="vi-VN" b="1"/>
              <a:t>danh sách cuộn động</a:t>
            </a:r>
            <a:r>
              <a:rPr lang="vi-VN"/>
              <a:t>.</a:t>
            </a:r>
          </a:p>
          <a:p>
            <a:r>
              <a:rPr lang="vi-VN" sz="1200" kern="1200">
                <a:solidFill>
                  <a:schemeClr val="tx1"/>
                </a:solidFill>
                <a:latin typeface="+mn-lt"/>
                <a:ea typeface="+mn-ea"/>
                <a:cs typeface="+mn-cs"/>
              </a:rPr>
              <a:t>itemCount</a:t>
            </a:r>
            <a:r>
              <a:rPr lang="vi-VN"/>
              <a:t> = số sản phẩm.</a:t>
            </a:r>
          </a:p>
          <a:p>
            <a:r>
              <a:rPr lang="vi-VN" sz="1200" kern="1200">
                <a:solidFill>
                  <a:schemeClr val="tx1"/>
                </a:solidFill>
                <a:latin typeface="+mn-lt"/>
                <a:ea typeface="+mn-ea"/>
                <a:cs typeface="+mn-cs"/>
              </a:rPr>
              <a:t>itemBuilder</a:t>
            </a:r>
            <a:r>
              <a:rPr lang="vi-VN"/>
              <a:t> = hàm xây từng “thẻ sản phẩm”.</a:t>
            </a:r>
            <a:br>
              <a:rPr lang="vi-VN"/>
            </a:br>
            <a:endParaRPr lang="vi-VN"/>
          </a:p>
          <a:p>
            <a:r>
              <a:rPr lang="en-US" b="1"/>
              <a:t>🧩 </a:t>
            </a:r>
            <a:r>
              <a:rPr lang="vi-VN" b="1"/>
              <a:t>Bên trong mỗi sản phẩm (</a:t>
            </a:r>
            <a:r>
              <a:rPr lang="vi-VN" sz="1200" b="1" kern="1200">
                <a:solidFill>
                  <a:schemeClr val="tx1"/>
                </a:solidFill>
                <a:latin typeface="+mn-lt"/>
                <a:ea typeface="+mn-ea"/>
                <a:cs typeface="+mn-cs"/>
              </a:rPr>
              <a:t>Card</a:t>
            </a:r>
            <a:r>
              <a:rPr lang="vi-VN" b="1"/>
              <a:t> + </a:t>
            </a:r>
            <a:r>
              <a:rPr lang="vi-VN" sz="1200" b="1" kern="1200">
                <a:solidFill>
                  <a:schemeClr val="tx1"/>
                </a:solidFill>
                <a:latin typeface="+mn-lt"/>
                <a:ea typeface="+mn-ea"/>
                <a:cs typeface="+mn-cs"/>
              </a:rPr>
              <a:t>ListTile</a:t>
            </a:r>
            <a:r>
              <a:rPr lang="vi-VN" b="1"/>
              <a:t>):</a:t>
            </a:r>
            <a:endParaRPr lang="en-US" b="1"/>
          </a:p>
          <a:p>
            <a:r>
              <a:rPr lang="en-US" sz="1200" kern="1200">
                <a:solidFill>
                  <a:schemeClr val="tx1"/>
                </a:solidFill>
                <a:latin typeface="+mn-lt"/>
                <a:ea typeface="+mn-ea"/>
                <a:cs typeface="+mn-cs"/>
              </a:rPr>
              <a:t>C</a:t>
            </a:r>
            <a:r>
              <a:rPr lang="vi-VN" sz="1200" kern="1200">
                <a:solidFill>
                  <a:schemeClr val="tx1"/>
                </a:solidFill>
                <a:latin typeface="+mn-lt"/>
                <a:ea typeface="+mn-ea"/>
                <a:cs typeface="+mn-cs"/>
              </a:rPr>
              <a:t>ard</a:t>
            </a:r>
            <a:r>
              <a:rPr lang="vi-VN"/>
              <a:t>: khung chứa sản phẩm, có bo góc và đổ bóng nhẹ.</a:t>
            </a:r>
          </a:p>
          <a:p>
            <a:r>
              <a:rPr lang="vi-VN" sz="1200" kern="1200">
                <a:solidFill>
                  <a:schemeClr val="tx1"/>
                </a:solidFill>
                <a:latin typeface="+mn-lt"/>
                <a:ea typeface="+mn-ea"/>
                <a:cs typeface="+mn-cs"/>
              </a:rPr>
              <a:t>ListTile</a:t>
            </a:r>
            <a:r>
              <a:rPr lang="vi-VN"/>
              <a:t>: kiểu hiển thị danh sách phổ biến trong Flutter.</a:t>
            </a:r>
          </a:p>
          <a:p>
            <a:r>
              <a:rPr lang="vi-VN" sz="1200" kern="1200">
                <a:solidFill>
                  <a:schemeClr val="tx1"/>
                </a:solidFill>
                <a:latin typeface="+mn-lt"/>
                <a:ea typeface="+mn-ea"/>
                <a:cs typeface="+mn-cs"/>
              </a:rPr>
              <a:t>title</a:t>
            </a:r>
            <a:r>
              <a:rPr lang="vi-VN"/>
              <a:t>: tên sản phẩm (in đậm).</a:t>
            </a:r>
          </a:p>
          <a:p>
            <a:r>
              <a:rPr lang="vi-VN" sz="1200" kern="1200">
                <a:solidFill>
                  <a:schemeClr val="tx1"/>
                </a:solidFill>
                <a:latin typeface="+mn-lt"/>
                <a:ea typeface="+mn-ea"/>
                <a:cs typeface="+mn-cs"/>
              </a:rPr>
              <a:t>subtitle</a:t>
            </a:r>
            <a:r>
              <a:rPr lang="vi-VN"/>
              <a:t>: các thông tin chi tiết (giá, số lượng, ngày, mô tả).</a:t>
            </a:r>
          </a:p>
          <a:p>
            <a:r>
              <a:rPr lang="vi-VN" sz="1200" kern="1200">
                <a:solidFill>
                  <a:schemeClr val="tx1"/>
                </a:solidFill>
                <a:latin typeface="+mn-lt"/>
                <a:ea typeface="+mn-ea"/>
                <a:cs typeface="+mn-cs"/>
              </a:rPr>
              <a:t>trailing</a:t>
            </a:r>
            <a:r>
              <a:rPr lang="vi-VN"/>
              <a:t>: phần nằm bên phải, gồm 2 nút:</a:t>
            </a:r>
          </a:p>
          <a:p>
            <a:r>
              <a:rPr lang="vi-VN"/>
              <a:t>✏️ </a:t>
            </a:r>
            <a:r>
              <a:rPr lang="vi-VN" b="1"/>
              <a:t>Edit</a:t>
            </a:r>
            <a:r>
              <a:rPr lang="vi-VN"/>
              <a:t>: mở form sửa → </a:t>
            </a:r>
            <a:r>
              <a:rPr lang="vi-VN" sz="1200" kern="1200">
                <a:solidFill>
                  <a:schemeClr val="tx1"/>
                </a:solidFill>
                <a:latin typeface="+mn-lt"/>
                <a:ea typeface="+mn-ea"/>
                <a:cs typeface="+mn-cs"/>
              </a:rPr>
              <a:t>_showForm(product: p)</a:t>
            </a:r>
            <a:endParaRPr lang="vi-VN"/>
          </a:p>
          <a:p>
            <a:r>
              <a:rPr lang="en-US"/>
              <a:t>🗑️ </a:t>
            </a:r>
            <a:r>
              <a:rPr lang="vi-VN" b="1"/>
              <a:t>Delete</a:t>
            </a:r>
            <a:r>
              <a:rPr lang="vi-VN"/>
              <a:t>: xóa sản phẩm → </a:t>
            </a:r>
            <a:r>
              <a:rPr lang="vi-VN" sz="1200" kern="1200">
                <a:solidFill>
                  <a:schemeClr val="tx1"/>
                </a:solidFill>
                <a:latin typeface="+mn-lt"/>
                <a:ea typeface="+mn-ea"/>
                <a:cs typeface="+mn-cs"/>
              </a:rPr>
              <a:t>_deleteProduct(p)</a:t>
            </a:r>
            <a:endParaRPr lang="vi-VN"/>
          </a:p>
          <a:p>
            <a:endParaRPr lang="vi-VN" b="1"/>
          </a:p>
          <a:p>
            <a:endParaRPr lang="vi-VN" b="0"/>
          </a:p>
        </p:txBody>
      </p:sp>
      <p:sp>
        <p:nvSpPr>
          <p:cNvPr id="4" name="Slide Number Placeholder 3">
            <a:extLst>
              <a:ext uri="{FF2B5EF4-FFF2-40B4-BE49-F238E27FC236}">
                <a16:creationId xmlns:a16="http://schemas.microsoft.com/office/drawing/2014/main" id="{4ABB475A-A32E-2159-8500-6F24F1E77A07}"/>
              </a:ext>
            </a:extLst>
          </p:cNvPr>
          <p:cNvSpPr>
            <a:spLocks noGrp="1"/>
          </p:cNvSpPr>
          <p:nvPr>
            <p:ph type="sldNum" sz="quarter" idx="5"/>
          </p:nvPr>
        </p:nvSpPr>
        <p:spPr/>
        <p:txBody>
          <a:bodyPr/>
          <a:lstStyle/>
          <a:p>
            <a:fld id="{1983A999-5E0E-42CA-8400-604AE921FF7C}" type="slidenum">
              <a:rPr lang="en-US" smtClean="0"/>
              <a:t>24</a:t>
            </a:fld>
            <a:endParaRPr lang="en-US"/>
          </a:p>
        </p:txBody>
      </p:sp>
    </p:spTree>
    <p:extLst>
      <p:ext uri="{BB962C8B-B14F-4D97-AF65-F5344CB8AC3E}">
        <p14:creationId xmlns:p14="http://schemas.microsoft.com/office/powerpoint/2010/main" val="2682957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2E9AF-3663-6CCB-D5DB-173938FC3D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E67C8C-BC85-8B1C-34EE-0865EE7467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37A568-ECFA-23A9-15B1-84094363D3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BD50EC3-5058-5A1A-1941-830C647AF9AD}"/>
              </a:ext>
            </a:extLst>
          </p:cNvPr>
          <p:cNvSpPr>
            <a:spLocks noGrp="1"/>
          </p:cNvSpPr>
          <p:nvPr>
            <p:ph type="sldNum" sz="quarter" idx="5"/>
          </p:nvPr>
        </p:nvSpPr>
        <p:spPr/>
        <p:txBody>
          <a:bodyPr/>
          <a:lstStyle/>
          <a:p>
            <a:fld id="{1983A999-5E0E-42CA-8400-604AE921FF7C}" type="slidenum">
              <a:rPr lang="en-US" smtClean="0"/>
              <a:t>25</a:t>
            </a:fld>
            <a:endParaRPr lang="en-US"/>
          </a:p>
        </p:txBody>
      </p:sp>
    </p:spTree>
    <p:extLst>
      <p:ext uri="{BB962C8B-B14F-4D97-AF65-F5344CB8AC3E}">
        <p14:creationId xmlns:p14="http://schemas.microsoft.com/office/powerpoint/2010/main" val="30612673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577B5-DD01-BD62-4A45-A4707D0631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D3FD46-2DA8-D5BA-1B71-30F88BA52A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FE7621-1290-0C88-DFF6-A879A0E168D3}"/>
              </a:ext>
            </a:extLst>
          </p:cNvPr>
          <p:cNvSpPr>
            <a:spLocks noGrp="1"/>
          </p:cNvSpPr>
          <p:nvPr>
            <p:ph type="body" idx="1"/>
          </p:nvPr>
        </p:nvSpPr>
        <p:spPr/>
        <p:txBody>
          <a:bodyPr/>
          <a:lstStyle/>
          <a:p>
            <a:r>
              <a:rPr lang="en-US" b="1"/>
              <a:t>🔹 1. “</a:t>
            </a:r>
            <a:r>
              <a:rPr lang="vi-VN" b="1"/>
              <a:t>Là một thư viện ORM (Object-Relational Mapping) mạnh mẽ xây dựng trên SQLite”</a:t>
            </a:r>
          </a:p>
          <a:p>
            <a:r>
              <a:rPr lang="vi-VN" b="1"/>
              <a:t>ORM</a:t>
            </a:r>
            <a:r>
              <a:rPr lang="vi-VN"/>
              <a:t> là kỹ thuật giúp </a:t>
            </a:r>
            <a:r>
              <a:rPr lang="vi-VN" b="1"/>
              <a:t>biến các bảng dữ liệu trong cơ sở dữ liệu</a:t>
            </a:r>
            <a:r>
              <a:rPr lang="vi-VN"/>
              <a:t> thành </a:t>
            </a:r>
            <a:r>
              <a:rPr lang="vi-VN" b="1"/>
              <a:t>các lớp và đối tượng trong ngôn ngữ lập trình</a:t>
            </a:r>
            <a:r>
              <a:rPr lang="vi-VN"/>
              <a:t> (ở đây là Dart). Nhờ đó, lập trình viên có thể </a:t>
            </a:r>
            <a:r>
              <a:rPr lang="vi-VN" b="1"/>
              <a:t>làm việc với dữ liệu bằng mã Dart</a:t>
            </a:r>
            <a:r>
              <a:rPr lang="vi-VN"/>
              <a:t> thay vì viết SQL.</a:t>
            </a:r>
          </a:p>
          <a:p>
            <a:r>
              <a:rPr lang="vi-VN" b="1"/>
              <a:t>Drift</a:t>
            </a:r>
            <a:r>
              <a:rPr lang="vi-VN"/>
              <a:t> hoạt động </a:t>
            </a:r>
            <a:r>
              <a:rPr lang="vi-VN" b="1"/>
              <a:t>dựa trên SQLite</a:t>
            </a:r>
            <a:r>
              <a:rPr lang="vi-VN"/>
              <a:t>, nghĩa là nó vẫn lưu trữ dữ liệu trong tệp SQLite, nhưng cung cấp </a:t>
            </a:r>
            <a:r>
              <a:rPr lang="vi-VN" b="1"/>
              <a:t>lớp trung gian thông minh</a:t>
            </a:r>
            <a:r>
              <a:rPr lang="vi-VN"/>
              <a:t> giúp thao tác dữ liệu dễ hơn.</a:t>
            </a:r>
          </a:p>
          <a:p>
            <a:r>
              <a:rPr lang="en-US"/>
              <a:t>📖 </a:t>
            </a:r>
            <a:r>
              <a:rPr lang="vi-VN" i="1"/>
              <a:t>Tài liệu tham khảo:</a:t>
            </a:r>
            <a:r>
              <a:rPr lang="vi-VN"/>
              <a:t> Wikipedia – Object–relational mapping, Drift Overview</a:t>
            </a:r>
          </a:p>
          <a:p>
            <a:r>
              <a:rPr lang="en-US" b="1"/>
              <a:t>🔹 2. “</a:t>
            </a:r>
            <a:r>
              <a:rPr lang="vi-VN" b="1"/>
              <a:t>Cung cấp API Dart an toàn kiểu (type-safe) để viết truy vấn, không cần SQL thuần”</a:t>
            </a:r>
          </a:p>
          <a:p>
            <a:r>
              <a:rPr lang="vi-VN"/>
              <a:t>“</a:t>
            </a:r>
            <a:r>
              <a:rPr lang="vi-VN" b="1"/>
              <a:t>An toàn kiểu (type-safe)</a:t>
            </a:r>
            <a:r>
              <a:rPr lang="vi-VN"/>
              <a:t>” nghĩa là trình biên dịch Dart sẽ </a:t>
            </a:r>
            <a:r>
              <a:rPr lang="vi-VN" b="1"/>
              <a:t>kiểm tra kiểu dữ liệu</a:t>
            </a:r>
            <a:r>
              <a:rPr lang="vi-VN"/>
              <a:t> (ví dụ: không cho gán chuỗi vào cột kiểu số), giúp </a:t>
            </a:r>
            <a:r>
              <a:rPr lang="vi-VN" b="1"/>
              <a:t>phát hiện lỗi ngay khi biên dịch</a:t>
            </a:r>
            <a:r>
              <a:rPr lang="vi-VN"/>
              <a:t>.</a:t>
            </a:r>
          </a:p>
          <a:p>
            <a:r>
              <a:rPr lang="vi-VN"/>
              <a:t>Vì Drift có </a:t>
            </a:r>
            <a:r>
              <a:rPr lang="vi-VN" b="1"/>
              <a:t>API viết truy vấn bằng Dart</a:t>
            </a:r>
            <a:r>
              <a:rPr lang="vi-VN"/>
              <a:t>, bạn </a:t>
            </a:r>
            <a:r>
              <a:rPr lang="vi-VN" b="1"/>
              <a:t>không cần viết câu lệnh SQL thủ công</a:t>
            </a:r>
            <a:r>
              <a:rPr lang="vi-VN"/>
              <a:t>.</a:t>
            </a:r>
          </a:p>
          <a:p>
            <a:r>
              <a:rPr lang="en-US"/>
              <a:t>📘 </a:t>
            </a:r>
            <a:r>
              <a:rPr lang="vi-VN" i="1"/>
              <a:t>Ví dụ:</a:t>
            </a:r>
            <a:endParaRPr lang="vi-VN"/>
          </a:p>
          <a:p>
            <a:pPr rtl="0"/>
            <a:r>
              <a:rPr lang="vi-VN" sz="1200" kern="1200">
                <a:solidFill>
                  <a:schemeClr val="tx1"/>
                </a:solidFill>
                <a:latin typeface="+mn-lt"/>
                <a:ea typeface="+mn-ea"/>
                <a:cs typeface="+mn-cs"/>
              </a:rPr>
              <a:t>final query = select(users)..where((u) =&gt; u.age.isBiggerThanValue(18));</a:t>
            </a:r>
          </a:p>
          <a:p>
            <a:r>
              <a:rPr lang="vi-VN"/>
              <a:t>Thay cho:</a:t>
            </a:r>
          </a:p>
          <a:p>
            <a:pPr rtl="0"/>
            <a:r>
              <a:rPr lang="vi-VN" sz="1200" kern="1200">
                <a:solidFill>
                  <a:schemeClr val="tx1"/>
                </a:solidFill>
                <a:latin typeface="+mn-lt"/>
                <a:ea typeface="+mn-ea"/>
                <a:cs typeface="+mn-cs"/>
              </a:rPr>
              <a:t>SELECT * FROM users WHERE age &gt; 18;</a:t>
            </a:r>
          </a:p>
          <a:p>
            <a:r>
              <a:rPr lang="en-US"/>
              <a:t>📖 </a:t>
            </a:r>
            <a:r>
              <a:rPr lang="vi-VN" i="1"/>
              <a:t>Tài liệu tham khảo:</a:t>
            </a:r>
            <a:r>
              <a:rPr lang="vi-VN"/>
              <a:t> Drift Queries Guide</a:t>
            </a:r>
          </a:p>
          <a:p>
            <a:r>
              <a:rPr lang="en-US" b="1"/>
              <a:t>🔹 3. “</a:t>
            </a:r>
            <a:r>
              <a:rPr lang="vi-VN" b="1"/>
              <a:t>Hỗ trợ streams, migrations tự động và các tính năng nâng cao”</a:t>
            </a:r>
          </a:p>
          <a:p>
            <a:r>
              <a:rPr lang="vi-VN" b="1"/>
              <a:t>Streams:</a:t>
            </a:r>
            <a:r>
              <a:rPr lang="vi-VN"/>
              <a:t> cho phép </a:t>
            </a:r>
            <a:r>
              <a:rPr lang="vi-VN" b="1"/>
              <a:t>giao diện tự cập nhật</a:t>
            </a:r>
            <a:r>
              <a:rPr lang="vi-VN"/>
              <a:t> khi dữ liệu trong database thay đổi.</a:t>
            </a:r>
          </a:p>
          <a:p>
            <a:r>
              <a:rPr lang="vi-VN" b="1"/>
              <a:t>Migrations:</a:t>
            </a:r>
            <a:r>
              <a:rPr lang="vi-VN"/>
              <a:t> giúp </a:t>
            </a:r>
            <a:r>
              <a:rPr lang="vi-VN" b="1"/>
              <a:t>cập nhật cấu trúc bảng (thêm cột, đổi tên, v.v.)</a:t>
            </a:r>
            <a:r>
              <a:rPr lang="vi-VN"/>
              <a:t> mà không làm mất dữ liệu cũ.</a:t>
            </a:r>
          </a:p>
          <a:p>
            <a:r>
              <a:rPr lang="vi-VN" b="1"/>
              <a:t>Các tính năng nâng cao khác:</a:t>
            </a:r>
            <a:r>
              <a:rPr lang="vi-VN"/>
              <a:t> như truy vấn phức tạp, truy vấn lồng, hỗ trợ nhiều database cùng lúc.</a:t>
            </a:r>
          </a:p>
          <a:p>
            <a:r>
              <a:rPr lang="en-US"/>
              <a:t>📖 </a:t>
            </a:r>
            <a:r>
              <a:rPr lang="vi-VN" i="1"/>
              <a:t>Tài liệu tham khảo:</a:t>
            </a:r>
            <a:r>
              <a:rPr lang="vi-VN"/>
              <a:t> Drift Advanced Features</a:t>
            </a:r>
          </a:p>
          <a:p>
            <a:r>
              <a:rPr lang="en-US" b="1"/>
              <a:t>🔹 4. “</a:t>
            </a:r>
            <a:r>
              <a:rPr lang="vi-VN" b="1"/>
              <a:t>Yêu cầu thiết lập phức tạp hơn với build_runner”</a:t>
            </a:r>
          </a:p>
          <a:p>
            <a:r>
              <a:rPr lang="vi-VN" b="1"/>
              <a:t>build_runner</a:t>
            </a:r>
            <a:r>
              <a:rPr lang="vi-VN"/>
              <a:t> là công cụ giúp </a:t>
            </a:r>
            <a:r>
              <a:rPr lang="vi-VN" b="1"/>
              <a:t>Drift tự động sinh mã (code generation)</a:t>
            </a:r>
            <a:r>
              <a:rPr lang="vi-VN"/>
              <a:t> cho các bảng, lớp, và truy vấn.</a:t>
            </a:r>
          </a:p>
          <a:p>
            <a:r>
              <a:rPr lang="vi-VN"/>
              <a:t>Vì vậy, khi dùng Drift, bạn cần </a:t>
            </a:r>
            <a:r>
              <a:rPr lang="vi-VN" b="1"/>
              <a:t>chạy thêm lệnh sinh mã</a:t>
            </a:r>
            <a:r>
              <a:rPr lang="vi-VN"/>
              <a:t>:</a:t>
            </a:r>
          </a:p>
          <a:p>
            <a:pPr rtl="0"/>
            <a:r>
              <a:rPr lang="vi-VN" sz="1200" kern="1200">
                <a:solidFill>
                  <a:schemeClr val="tx1"/>
                </a:solidFill>
                <a:latin typeface="+mn-lt"/>
                <a:ea typeface="+mn-ea"/>
                <a:cs typeface="+mn-cs"/>
              </a:rPr>
              <a:t>dart run build_runner build</a:t>
            </a:r>
          </a:p>
          <a:p>
            <a:r>
              <a:rPr lang="vi-VN"/>
              <a:t>Điều này làm </a:t>
            </a:r>
            <a:r>
              <a:rPr lang="vi-VN" b="1"/>
              <a:t>thiết lập ban đầu phức tạp hơn SQLite thuần</a:t>
            </a:r>
            <a:r>
              <a:rPr lang="vi-VN"/>
              <a:t>, nhưng đổi lại giúp </a:t>
            </a:r>
            <a:r>
              <a:rPr lang="vi-VN" b="1"/>
              <a:t>tự động hóa và giảm lỗi lập trình</a:t>
            </a:r>
            <a:r>
              <a:rPr lang="vi-VN"/>
              <a:t>.</a:t>
            </a:r>
          </a:p>
          <a:p>
            <a:r>
              <a:rPr lang="en-US"/>
              <a:t>📖 </a:t>
            </a:r>
            <a:r>
              <a:rPr lang="vi-VN" i="1"/>
              <a:t>Tài liệu tham khảo:</a:t>
            </a:r>
            <a:r>
              <a:rPr lang="vi-VN"/>
              <a:t> Dart build_runner Documentation, Drift Code Generation Guide</a:t>
            </a:r>
            <a:endParaRPr lang="en-US"/>
          </a:p>
          <a:p>
            <a:r>
              <a:rPr lang="en-US"/>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a:t>Làm rõ “</a:t>
            </a:r>
            <a:r>
              <a:rPr lang="vi-VN" b="1"/>
              <a:t>Migrations:</a:t>
            </a:r>
            <a:r>
              <a:rPr lang="vi-VN"/>
              <a:t> giúp </a:t>
            </a:r>
            <a:r>
              <a:rPr lang="vi-VN" b="1"/>
              <a:t>cập nhật cấu trúc bảng (thêm cột, đổi tên, v.v.)</a:t>
            </a:r>
            <a:r>
              <a:rPr lang="vi-VN"/>
              <a:t> mà không làm mất dữ liệu cũ.</a:t>
            </a:r>
            <a:r>
              <a:rPr lang="en-US"/>
              <a:t>”</a:t>
            </a:r>
            <a:endParaRPr lang="en-US" b="1"/>
          </a:p>
          <a:p>
            <a:r>
              <a:rPr lang="en-US" b="1"/>
              <a:t>=&gt;</a:t>
            </a:r>
          </a:p>
          <a:p>
            <a:r>
              <a:rPr lang="en-US" b="1"/>
              <a:t>🔹 </a:t>
            </a:r>
            <a:r>
              <a:rPr lang="vi-VN" b="1"/>
              <a:t>Nghĩa của “Migrations”</a:t>
            </a:r>
          </a:p>
          <a:p>
            <a:r>
              <a:rPr lang="vi-VN" b="1"/>
              <a:t>Migrations</a:t>
            </a:r>
            <a:r>
              <a:rPr lang="vi-VN"/>
              <a:t> (di trú cơ sở dữ liệu) là </a:t>
            </a:r>
            <a:r>
              <a:rPr lang="vi-VN" b="1"/>
              <a:t>quá trình thay đổi cấu trúc của cơ sở dữ liệu</a:t>
            </a:r>
            <a:r>
              <a:rPr lang="vi-VN"/>
              <a:t> — ví dụ như:</a:t>
            </a:r>
          </a:p>
          <a:p>
            <a:r>
              <a:rPr lang="vi-VN"/>
              <a:t>Thêm hoặc xóa </a:t>
            </a:r>
            <a:r>
              <a:rPr lang="vi-VN" b="1"/>
              <a:t>cột</a:t>
            </a:r>
            <a:r>
              <a:rPr lang="vi-VN"/>
              <a:t> trong bảng,</a:t>
            </a:r>
          </a:p>
          <a:p>
            <a:r>
              <a:rPr lang="vi-VN"/>
              <a:t>Đổi </a:t>
            </a:r>
            <a:r>
              <a:rPr lang="vi-VN" b="1"/>
              <a:t>tên bảng hoặc cột</a:t>
            </a:r>
            <a:r>
              <a:rPr lang="vi-VN"/>
              <a:t>,</a:t>
            </a:r>
          </a:p>
          <a:p>
            <a:r>
              <a:rPr lang="vi-VN"/>
              <a:t>Tạo </a:t>
            </a:r>
            <a:r>
              <a:rPr lang="vi-VN" b="1"/>
              <a:t>bảng mới</a:t>
            </a:r>
            <a:r>
              <a:rPr lang="vi-VN"/>
              <a:t>,</a:t>
            </a:r>
          </a:p>
          <a:p>
            <a:r>
              <a:rPr lang="vi-VN"/>
              <a:t>Hoặc thay đổi </a:t>
            </a:r>
            <a:r>
              <a:rPr lang="vi-VN" b="1"/>
              <a:t>kiểu dữ liệu của một cột</a:t>
            </a:r>
            <a:r>
              <a:rPr lang="vi-VN"/>
              <a:t>.</a:t>
            </a:r>
          </a:p>
          <a:p>
            <a:r>
              <a:rPr lang="vi-VN"/>
              <a:t>Điểm quan trọng là: </a:t>
            </a:r>
            <a:r>
              <a:rPr lang="vi-VN" b="1"/>
              <a:t>Drift cho phép thực hiện các thay đổi này mà không làm mất dữ liệu đã có.</a:t>
            </a:r>
            <a:endParaRPr lang="vi-VN"/>
          </a:p>
          <a:p>
            <a:r>
              <a:rPr lang="en-US" b="1"/>
              <a:t>📘 </a:t>
            </a:r>
            <a:r>
              <a:rPr lang="vi-VN" b="1"/>
              <a:t>Ví dụ minh họa</a:t>
            </a:r>
          </a:p>
          <a:p>
            <a:r>
              <a:rPr lang="vi-VN"/>
              <a:t>Giả sử ban đầu bạn có bảng:</a:t>
            </a:r>
          </a:p>
          <a:p>
            <a:pPr rtl="0"/>
            <a:r>
              <a:rPr lang="vi-VN" sz="1200" kern="1200">
                <a:solidFill>
                  <a:schemeClr val="tx1"/>
                </a:solidFill>
                <a:latin typeface="+mn-lt"/>
                <a:ea typeface="+mn-ea"/>
                <a:cs typeface="+mn-cs"/>
              </a:rPr>
              <a:t>CREATE TABLE users (</a:t>
            </a:r>
          </a:p>
          <a:p>
            <a:pPr rtl="0"/>
            <a:r>
              <a:rPr lang="vi-VN" sz="1200" kern="1200">
                <a:solidFill>
                  <a:schemeClr val="tx1"/>
                </a:solidFill>
                <a:latin typeface="+mn-lt"/>
                <a:ea typeface="+mn-ea"/>
                <a:cs typeface="+mn-cs"/>
              </a:rPr>
              <a:t>  id INTEGER PRIMARY KEY,</a:t>
            </a:r>
          </a:p>
          <a:p>
            <a:pPr rtl="0"/>
            <a:r>
              <a:rPr lang="vi-VN" sz="1200" kern="1200">
                <a:solidFill>
                  <a:schemeClr val="tx1"/>
                </a:solidFill>
                <a:latin typeface="+mn-lt"/>
                <a:ea typeface="+mn-ea"/>
                <a:cs typeface="+mn-cs"/>
              </a:rPr>
              <a:t>  name TEXT</a:t>
            </a:r>
          </a:p>
          <a:p>
            <a:pPr rtl="0"/>
            <a:r>
              <a:rPr lang="vi-VN" sz="1200" kern="1200">
                <a:solidFill>
                  <a:schemeClr val="tx1"/>
                </a:solidFill>
                <a:latin typeface="+mn-lt"/>
                <a:ea typeface="+mn-ea"/>
                <a:cs typeface="+mn-cs"/>
              </a:rPr>
              <a:t>);</a:t>
            </a:r>
          </a:p>
          <a:p>
            <a:r>
              <a:rPr lang="vi-VN"/>
              <a:t>Sau một thời gian, bạn muốn thêm cột </a:t>
            </a:r>
            <a:r>
              <a:rPr lang="vi-VN" sz="1200" kern="1200">
                <a:solidFill>
                  <a:schemeClr val="tx1"/>
                </a:solidFill>
                <a:latin typeface="+mn-lt"/>
                <a:ea typeface="+mn-ea"/>
                <a:cs typeface="+mn-cs"/>
              </a:rPr>
              <a:t>age</a:t>
            </a:r>
            <a:r>
              <a:rPr lang="vi-VN"/>
              <a:t> mà </a:t>
            </a:r>
            <a:r>
              <a:rPr lang="vi-VN" b="1"/>
              <a:t>không muốn xóa dữ liệu cũ</a:t>
            </a:r>
            <a:r>
              <a:rPr lang="vi-VN"/>
              <a:t>.</a:t>
            </a:r>
          </a:p>
          <a:p>
            <a:r>
              <a:rPr lang="vi-VN"/>
              <a:t>Bình thường, nếu dùng SQLite thuần, bạn phải viết lệnh SQL như:</a:t>
            </a:r>
          </a:p>
          <a:p>
            <a:pPr rtl="0"/>
            <a:r>
              <a:rPr lang="vi-VN" sz="1200" kern="1200">
                <a:solidFill>
                  <a:schemeClr val="tx1"/>
                </a:solidFill>
                <a:latin typeface="+mn-lt"/>
                <a:ea typeface="+mn-ea"/>
                <a:cs typeface="+mn-cs"/>
              </a:rPr>
              <a:t>ALTER TABLE users ADD COLUMN age INTEGER;</a:t>
            </a:r>
          </a:p>
          <a:p>
            <a:r>
              <a:rPr lang="vi-VN"/>
              <a:t>và tự lo việc đảm bảo dữ liệu không bị mất.</a:t>
            </a:r>
          </a:p>
          <a:p>
            <a:r>
              <a:rPr lang="vi-VN"/>
              <a:t>Nhưng với </a:t>
            </a:r>
            <a:r>
              <a:rPr lang="vi-VN" b="1"/>
              <a:t>Drift</a:t>
            </a:r>
            <a:r>
              <a:rPr lang="vi-VN"/>
              <a:t>, bạn chỉ cần </a:t>
            </a:r>
            <a:r>
              <a:rPr lang="vi-VN" b="1"/>
              <a:t>chỉnh lại định nghĩa bảng trong mã Dart</a:t>
            </a:r>
            <a:r>
              <a:rPr lang="vi-VN"/>
              <a:t>:</a:t>
            </a:r>
          </a:p>
          <a:p>
            <a:pPr rtl="0"/>
            <a:r>
              <a:rPr lang="vi-VN" sz="1200" kern="1200">
                <a:solidFill>
                  <a:schemeClr val="tx1"/>
                </a:solidFill>
                <a:latin typeface="+mn-lt"/>
                <a:ea typeface="+mn-ea"/>
                <a:cs typeface="+mn-cs"/>
              </a:rPr>
              <a:t>class Users extends Table {</a:t>
            </a:r>
          </a:p>
          <a:p>
            <a:pPr rtl="0"/>
            <a:r>
              <a:rPr lang="vi-VN" sz="1200" kern="1200">
                <a:solidFill>
                  <a:schemeClr val="tx1"/>
                </a:solidFill>
                <a:latin typeface="+mn-lt"/>
                <a:ea typeface="+mn-ea"/>
                <a:cs typeface="+mn-cs"/>
              </a:rPr>
              <a:t>  IntColumn get id =&gt; integer().autoIncrement()();</a:t>
            </a:r>
          </a:p>
          <a:p>
            <a:pPr rtl="0"/>
            <a:r>
              <a:rPr lang="vi-VN" sz="1200" kern="1200">
                <a:solidFill>
                  <a:schemeClr val="tx1"/>
                </a:solidFill>
                <a:latin typeface="+mn-lt"/>
                <a:ea typeface="+mn-ea"/>
                <a:cs typeface="+mn-cs"/>
              </a:rPr>
              <a:t>  TextColumn get name =&gt; text()();</a:t>
            </a:r>
          </a:p>
          <a:p>
            <a:pPr rtl="0"/>
            <a:r>
              <a:rPr lang="vi-VN" sz="1200" kern="1200">
                <a:solidFill>
                  <a:schemeClr val="tx1"/>
                </a:solidFill>
                <a:latin typeface="+mn-lt"/>
                <a:ea typeface="+mn-ea"/>
                <a:cs typeface="+mn-cs"/>
              </a:rPr>
              <a:t>  IntColumn get age =&gt; integer().nullable()(); // thêm cột mới</a:t>
            </a:r>
          </a:p>
          <a:p>
            <a:pPr rtl="0"/>
            <a:r>
              <a:rPr lang="vi-VN" sz="1200" kern="1200">
                <a:solidFill>
                  <a:schemeClr val="tx1"/>
                </a:solidFill>
                <a:latin typeface="+mn-lt"/>
                <a:ea typeface="+mn-ea"/>
                <a:cs typeface="+mn-cs"/>
              </a:rPr>
              <a:t>}</a:t>
            </a:r>
          </a:p>
          <a:p>
            <a:r>
              <a:rPr lang="vi-VN"/>
              <a:t>Sau đó, Drift sẽ </a:t>
            </a:r>
            <a:r>
              <a:rPr lang="vi-VN" b="1"/>
              <a:t>tự động tạo và thực hiện “migration”</a:t>
            </a:r>
            <a:r>
              <a:rPr lang="vi-VN"/>
              <a:t>, tức là </a:t>
            </a:r>
            <a:r>
              <a:rPr lang="vi-VN" b="1"/>
              <a:t>cập nhật bảng trong database mà giữ nguyên dữ liệu cũ</a:t>
            </a:r>
            <a:r>
              <a:rPr lang="vi-VN"/>
              <a:t>.</a:t>
            </a:r>
          </a:p>
          <a:p>
            <a:r>
              <a:rPr lang="en-US" b="1"/>
              <a:t>💡 </a:t>
            </a:r>
            <a:r>
              <a:rPr lang="vi-VN" b="1"/>
              <a:t>Hiểu ngắn gọn:</a:t>
            </a:r>
          </a:p>
          <a:p>
            <a:r>
              <a:rPr lang="vi-VN" b="1"/>
              <a:t>Migration</a:t>
            </a:r>
            <a:r>
              <a:rPr lang="vi-VN"/>
              <a:t> giúp “nâng cấp” cấu trúc cơ sở dữ liệu theo thời gian mà </a:t>
            </a:r>
            <a:r>
              <a:rPr lang="vi-VN" b="1"/>
              <a:t>không cần xóa và tạo lại từ đầu</a:t>
            </a:r>
            <a:r>
              <a:rPr lang="vi-VN"/>
              <a:t>, nên dữ liệu cũ vẫn an toàn.</a:t>
            </a:r>
          </a:p>
          <a:p>
            <a:r>
              <a:rPr lang="en-US"/>
              <a:t>📖 </a:t>
            </a:r>
            <a:r>
              <a:rPr lang="vi-VN" i="1"/>
              <a:t>Tài liệu tham khảo:</a:t>
            </a:r>
            <a:endParaRPr lang="vi-VN"/>
          </a:p>
          <a:p>
            <a:r>
              <a:rPr lang="vi-VN"/>
              <a:t>Drift Documentation – Schema Migrations</a:t>
            </a:r>
          </a:p>
          <a:p>
            <a:r>
              <a:rPr lang="vi-VN"/>
              <a:t>SQLite ALTER TABLE command – SQLite ALTER TABLE Docs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a:t>
            </a:r>
          </a:p>
          <a:p>
            <a:r>
              <a:rPr lang="en-US" b="1"/>
              <a:t>Làm rõ ý “🔹 4. “</a:t>
            </a:r>
            <a:r>
              <a:rPr lang="vi-VN" b="1"/>
              <a:t>Yêu cầu thiết lập phức tạp hơn với build_runner”</a:t>
            </a:r>
          </a:p>
          <a:p>
            <a:r>
              <a:rPr lang="vi-VN" b="1"/>
              <a:t>build_runner</a:t>
            </a:r>
            <a:r>
              <a:rPr lang="vi-VN"/>
              <a:t> là công cụ giúp </a:t>
            </a:r>
            <a:r>
              <a:rPr lang="vi-VN" b="1"/>
              <a:t>Drift tự động sinh mã (code generation)</a:t>
            </a:r>
            <a:r>
              <a:rPr lang="vi-VN"/>
              <a:t> cho các bảng, lớp, và truy vấn.</a:t>
            </a:r>
          </a:p>
          <a:p>
            <a:r>
              <a:rPr lang="vi-VN"/>
              <a:t>Vì vậy, khi dùng Drift, bạn cần </a:t>
            </a:r>
            <a:r>
              <a:rPr lang="vi-VN" b="1"/>
              <a:t>chạy thêm lệnh sinh mã</a:t>
            </a:r>
            <a:r>
              <a:rPr lang="vi-VN"/>
              <a:t>:</a:t>
            </a:r>
          </a:p>
          <a:p>
            <a:pPr rtl="0"/>
            <a:r>
              <a:rPr lang="vi-VN" sz="1200" kern="1200">
                <a:solidFill>
                  <a:schemeClr val="tx1"/>
                </a:solidFill>
                <a:latin typeface="+mn-lt"/>
                <a:ea typeface="+mn-ea"/>
                <a:cs typeface="+mn-cs"/>
              </a:rPr>
              <a:t>dart run build_runner build</a:t>
            </a:r>
          </a:p>
          <a:p>
            <a:r>
              <a:rPr lang="vi-VN"/>
              <a:t>Điều này làm </a:t>
            </a:r>
            <a:r>
              <a:rPr lang="vi-VN" b="1"/>
              <a:t>thiết lập ban đầu phức tạp hơn SQLite thuần</a:t>
            </a:r>
            <a:r>
              <a:rPr lang="vi-VN"/>
              <a:t>, nhưng đổi lại giúp </a:t>
            </a:r>
            <a:r>
              <a:rPr lang="vi-VN" b="1"/>
              <a:t>tự động hóa và giảm lỗi lập trình</a:t>
            </a:r>
            <a:r>
              <a:rPr lang="vi-VN"/>
              <a:t>.</a:t>
            </a:r>
            <a:r>
              <a:rPr lang="en-US"/>
              <a:t>”</a:t>
            </a:r>
          </a:p>
          <a:p>
            <a:r>
              <a:rPr lang="en-US"/>
              <a:t>=&gt;</a:t>
            </a:r>
          </a:p>
          <a:p>
            <a:r>
              <a:rPr lang="en-US" b="1"/>
              <a:t>🔹 </a:t>
            </a:r>
            <a:r>
              <a:rPr lang="vi-VN" b="1"/>
              <a:t>build_runner là gì?</a:t>
            </a:r>
          </a:p>
          <a:p>
            <a:r>
              <a:rPr lang="vi-VN" sz="1200" b="1" kern="1200">
                <a:solidFill>
                  <a:schemeClr val="tx1"/>
                </a:solidFill>
                <a:latin typeface="+mn-lt"/>
                <a:ea typeface="+mn-ea"/>
                <a:cs typeface="+mn-cs"/>
              </a:rPr>
              <a:t>build_runner</a:t>
            </a:r>
            <a:r>
              <a:rPr lang="vi-VN"/>
              <a:t> là một </a:t>
            </a:r>
            <a:r>
              <a:rPr lang="vi-VN" b="1"/>
              <a:t>công cụ của Dart</a:t>
            </a:r>
            <a:r>
              <a:rPr lang="vi-VN"/>
              <a:t> dùng để </a:t>
            </a:r>
            <a:r>
              <a:rPr lang="vi-VN" b="1"/>
              <a:t>tự động sinh mã (code generation)</a:t>
            </a:r>
            <a:r>
              <a:rPr lang="vi-VN"/>
              <a:t>.</a:t>
            </a:r>
            <a:br>
              <a:rPr lang="vi-VN"/>
            </a:br>
            <a:r>
              <a:rPr lang="vi-VN"/>
              <a:t>Nó đọc các tệp mã nguồn (ví dụ như định nghĩa bảng trong Drift) và </a:t>
            </a:r>
            <a:r>
              <a:rPr lang="vi-VN" b="1"/>
              <a:t>tự tạo ra những tệp Dart khác</a:t>
            </a:r>
            <a:r>
              <a:rPr lang="vi-VN"/>
              <a:t> chứa phần code cần thiết để chương trình chạy được.</a:t>
            </a:r>
          </a:p>
          <a:p>
            <a:r>
              <a:rPr lang="en-US"/>
              <a:t>👉 </a:t>
            </a:r>
            <a:r>
              <a:rPr lang="vi-VN"/>
              <a:t>Nói đơn giản: bạn </a:t>
            </a:r>
            <a:r>
              <a:rPr lang="vi-VN" b="1"/>
              <a:t>không cần tự viết code SQL hoặc code ánh xạ (mapping)</a:t>
            </a:r>
            <a:r>
              <a:rPr lang="vi-VN"/>
              <a:t> — </a:t>
            </a:r>
            <a:r>
              <a:rPr lang="vi-VN" sz="1200" kern="1200">
                <a:solidFill>
                  <a:schemeClr val="tx1"/>
                </a:solidFill>
                <a:latin typeface="+mn-lt"/>
                <a:ea typeface="+mn-ea"/>
                <a:cs typeface="+mn-cs"/>
              </a:rPr>
              <a:t>build_runner</a:t>
            </a:r>
            <a:r>
              <a:rPr lang="vi-VN"/>
              <a:t> sẽ </a:t>
            </a:r>
            <a:r>
              <a:rPr lang="vi-VN" b="1"/>
              <a:t>viết giúp bạn</a:t>
            </a:r>
            <a:r>
              <a:rPr lang="vi-VN"/>
              <a:t>.</a:t>
            </a:r>
          </a:p>
          <a:p>
            <a:r>
              <a:rPr lang="en-US" b="1"/>
              <a:t>🔹 </a:t>
            </a:r>
            <a:r>
              <a:rPr lang="vi-VN" b="1"/>
              <a:t>Vai trò của build_runner trong Drift</a:t>
            </a:r>
          </a:p>
          <a:p>
            <a:r>
              <a:rPr lang="vi-VN"/>
              <a:t>Khi bạn khai báo bảng bằng Dart như:</a:t>
            </a:r>
          </a:p>
          <a:p>
            <a:pPr rtl="0"/>
            <a:r>
              <a:rPr lang="vi-VN" sz="1200" kern="1200">
                <a:solidFill>
                  <a:schemeClr val="tx1"/>
                </a:solidFill>
                <a:latin typeface="+mn-lt"/>
                <a:ea typeface="+mn-ea"/>
                <a:cs typeface="+mn-cs"/>
              </a:rPr>
              <a:t>class Users extends Table {</a:t>
            </a:r>
          </a:p>
          <a:p>
            <a:pPr rtl="0"/>
            <a:r>
              <a:rPr lang="vi-VN" sz="1200" kern="1200">
                <a:solidFill>
                  <a:schemeClr val="tx1"/>
                </a:solidFill>
                <a:latin typeface="+mn-lt"/>
                <a:ea typeface="+mn-ea"/>
                <a:cs typeface="+mn-cs"/>
              </a:rPr>
              <a:t>  IntColumn get id =&gt; integer().autoIncrement()();</a:t>
            </a:r>
          </a:p>
          <a:p>
            <a:pPr rtl="0"/>
            <a:r>
              <a:rPr lang="vi-VN" sz="1200" kern="1200">
                <a:solidFill>
                  <a:schemeClr val="tx1"/>
                </a:solidFill>
                <a:latin typeface="+mn-lt"/>
                <a:ea typeface="+mn-ea"/>
                <a:cs typeface="+mn-cs"/>
              </a:rPr>
              <a:t>  TextColumn get name =&gt; text()();</a:t>
            </a:r>
          </a:p>
          <a:p>
            <a:pPr rtl="0"/>
            <a:r>
              <a:rPr lang="vi-VN" sz="1200" kern="1200">
                <a:solidFill>
                  <a:schemeClr val="tx1"/>
                </a:solidFill>
                <a:latin typeface="+mn-lt"/>
                <a:ea typeface="+mn-ea"/>
                <a:cs typeface="+mn-cs"/>
              </a:rPr>
              <a:t>}</a:t>
            </a:r>
          </a:p>
          <a:p>
            <a:r>
              <a:rPr lang="vi-VN"/>
              <a:t>Drift </a:t>
            </a:r>
            <a:r>
              <a:rPr lang="vi-VN" b="1"/>
              <a:t>không thể dùng trực tiếp đoạn này để truy cập dữ liệu</a:t>
            </a:r>
            <a:r>
              <a:rPr lang="vi-VN"/>
              <a:t>.</a:t>
            </a:r>
            <a:br>
              <a:rPr lang="vi-VN"/>
            </a:br>
            <a:r>
              <a:rPr lang="vi-VN"/>
              <a:t>Bạn phải </a:t>
            </a:r>
            <a:r>
              <a:rPr lang="vi-VN" b="1"/>
              <a:t>chạy build_runner</a:t>
            </a:r>
            <a:r>
              <a:rPr lang="vi-VN"/>
              <a:t> để nó sinh thêm tệp Dart (thường có đuôi </a:t>
            </a:r>
            <a:r>
              <a:rPr lang="vi-VN" sz="1200" kern="1200">
                <a:solidFill>
                  <a:schemeClr val="tx1"/>
                </a:solidFill>
                <a:latin typeface="+mn-lt"/>
                <a:ea typeface="+mn-ea"/>
                <a:cs typeface="+mn-cs"/>
              </a:rPr>
              <a:t>.g.dart</a:t>
            </a:r>
            <a:r>
              <a:rPr lang="vi-VN"/>
              <a:t>), chứa code ẩn phía sau để:</a:t>
            </a:r>
          </a:p>
          <a:p>
            <a:r>
              <a:rPr lang="vi-VN"/>
              <a:t>Kết nối với SQLite,</a:t>
            </a:r>
          </a:p>
          <a:p>
            <a:r>
              <a:rPr lang="vi-VN"/>
              <a:t>Tạo lệnh SQL tương ứng,</a:t>
            </a:r>
          </a:p>
          <a:p>
            <a:r>
              <a:rPr lang="vi-VN"/>
              <a:t>Quản lý truy vấn và dữ liệu.</a:t>
            </a:r>
          </a:p>
          <a:p>
            <a:r>
              <a:rPr lang="vi-VN"/>
              <a:t>Bạn chạy lệnh:</a:t>
            </a:r>
          </a:p>
          <a:p>
            <a:pPr rtl="0"/>
            <a:r>
              <a:rPr lang="vi-VN" sz="1200" kern="1200">
                <a:solidFill>
                  <a:schemeClr val="tx1"/>
                </a:solidFill>
                <a:latin typeface="+mn-lt"/>
                <a:ea typeface="+mn-ea"/>
                <a:cs typeface="+mn-cs"/>
              </a:rPr>
              <a:t>dart run build_runner build</a:t>
            </a:r>
          </a:p>
          <a:p>
            <a:r>
              <a:rPr lang="vi-VN"/>
              <a:t>Khi đó, Drift sẽ </a:t>
            </a:r>
            <a:r>
              <a:rPr lang="vi-VN" b="1"/>
              <a:t>tự động tạo các tệp hỗ trợ</a:t>
            </a:r>
            <a:r>
              <a:rPr lang="vi-VN"/>
              <a:t>, ví dụ:</a:t>
            </a:r>
          </a:p>
          <a:p>
            <a:pPr rtl="0"/>
            <a:r>
              <a:rPr lang="vi-VN" sz="1200" kern="1200">
                <a:solidFill>
                  <a:schemeClr val="tx1"/>
                </a:solidFill>
                <a:latin typeface="+mn-lt"/>
                <a:ea typeface="+mn-ea"/>
                <a:cs typeface="+mn-cs"/>
              </a:rPr>
              <a:t>users.g.dart</a:t>
            </a:r>
          </a:p>
          <a:p>
            <a:pPr rtl="0"/>
            <a:r>
              <a:rPr lang="vi-VN" sz="1200" kern="1200">
                <a:solidFill>
                  <a:schemeClr val="tx1"/>
                </a:solidFill>
                <a:latin typeface="+mn-lt"/>
                <a:ea typeface="+mn-ea"/>
                <a:cs typeface="+mn-cs"/>
              </a:rPr>
              <a:t>database.g.dart</a:t>
            </a:r>
            <a:endParaRPr lang="vi-VN"/>
          </a:p>
          <a:p>
            <a:r>
              <a:rPr lang="en-US" b="1"/>
              <a:t>🔹 </a:t>
            </a:r>
            <a:r>
              <a:rPr lang="vi-VN" b="1"/>
              <a:t>Tại sao nói “thiết lập phức tạp hơn SQLite thuần”?</a:t>
            </a:r>
          </a:p>
          <a:p>
            <a:r>
              <a:rPr lang="vi-VN"/>
              <a:t>Với </a:t>
            </a:r>
            <a:r>
              <a:rPr lang="vi-VN" b="1"/>
              <a:t>SQLite thuần</a:t>
            </a:r>
            <a:r>
              <a:rPr lang="vi-VN"/>
              <a:t>, bạn chỉ cần mở database và viết SQL là chạy được ngay.</a:t>
            </a:r>
            <a:br>
              <a:rPr lang="vi-VN"/>
            </a:br>
            <a:r>
              <a:rPr lang="vi-VN"/>
              <a:t>Nhưng với </a:t>
            </a:r>
            <a:r>
              <a:rPr lang="vi-VN" b="1"/>
              <a:t>Drift</a:t>
            </a:r>
            <a:r>
              <a:rPr lang="vi-VN"/>
              <a:t>, bạn phải:</a:t>
            </a:r>
          </a:p>
          <a:p>
            <a:r>
              <a:rPr lang="vi-VN"/>
              <a:t>Cài thêm gói </a:t>
            </a:r>
            <a:r>
              <a:rPr lang="vi-VN" sz="1200" kern="1200">
                <a:solidFill>
                  <a:schemeClr val="tx1"/>
                </a:solidFill>
                <a:latin typeface="+mn-lt"/>
                <a:ea typeface="+mn-ea"/>
                <a:cs typeface="+mn-cs"/>
              </a:rPr>
              <a:t>build_runner</a:t>
            </a:r>
            <a:r>
              <a:rPr lang="vi-VN"/>
              <a:t> và </a:t>
            </a:r>
            <a:r>
              <a:rPr lang="vi-VN" sz="1200" kern="1200">
                <a:solidFill>
                  <a:schemeClr val="tx1"/>
                </a:solidFill>
                <a:latin typeface="+mn-lt"/>
                <a:ea typeface="+mn-ea"/>
                <a:cs typeface="+mn-cs"/>
              </a:rPr>
              <a:t>drift_dev</a:t>
            </a:r>
            <a:r>
              <a:rPr lang="vi-VN"/>
              <a:t>.</a:t>
            </a:r>
          </a:p>
          <a:p>
            <a:r>
              <a:rPr lang="vi-VN"/>
              <a:t>Khai báo bảng, DAO.</a:t>
            </a:r>
          </a:p>
          <a:p>
            <a:r>
              <a:rPr lang="vi-VN"/>
              <a:t>Chạy lệnh </a:t>
            </a:r>
            <a:r>
              <a:rPr lang="vi-VN" sz="1200" kern="1200">
                <a:solidFill>
                  <a:schemeClr val="tx1"/>
                </a:solidFill>
                <a:latin typeface="+mn-lt"/>
                <a:ea typeface="+mn-ea"/>
                <a:cs typeface="+mn-cs"/>
              </a:rPr>
              <a:t>dart run build_runner build</a:t>
            </a:r>
            <a:r>
              <a:rPr lang="vi-VN"/>
              <a:t> để sinh code tự động.</a:t>
            </a:r>
          </a:p>
          <a:p>
            <a:r>
              <a:rPr lang="vi-VN"/>
              <a:t>Tuy ban đầu </a:t>
            </a:r>
            <a:r>
              <a:rPr lang="vi-VN" b="1"/>
              <a:t>nhiều bước hơn</a:t>
            </a:r>
            <a:r>
              <a:rPr lang="vi-VN"/>
              <a:t>, nhưng đổi lại:</a:t>
            </a:r>
          </a:p>
          <a:p>
            <a:r>
              <a:rPr lang="vi-VN"/>
              <a:t>Bạn </a:t>
            </a:r>
            <a:r>
              <a:rPr lang="vi-VN" b="1"/>
              <a:t>đỡ phải viết SQL</a:t>
            </a:r>
            <a:r>
              <a:rPr lang="vi-VN"/>
              <a:t>,</a:t>
            </a:r>
          </a:p>
          <a:p>
            <a:r>
              <a:rPr lang="vi-VN" b="1"/>
              <a:t>Giảm lỗi cú pháp</a:t>
            </a:r>
            <a:r>
              <a:rPr lang="vi-VN"/>
              <a:t>,</a:t>
            </a:r>
          </a:p>
          <a:p>
            <a:r>
              <a:rPr lang="vi-VN"/>
              <a:t>Dễ bảo trì và mở rộng về sau.</a:t>
            </a:r>
          </a:p>
          <a:p>
            <a:r>
              <a:rPr lang="en-US" b="1"/>
              <a:t>💡 </a:t>
            </a:r>
            <a:r>
              <a:rPr lang="vi-VN" b="1"/>
              <a:t>Hiểu ngắn gọn:</a:t>
            </a:r>
          </a:p>
          <a:p>
            <a:r>
              <a:rPr lang="vi-VN" b="1"/>
              <a:t>build_runner</a:t>
            </a:r>
            <a:r>
              <a:rPr lang="vi-VN"/>
              <a:t> là công cụ giúp Drift tự động tạo code ẩn phía sau để bạn không cần viết SQL thủ công.</a:t>
            </a:r>
            <a:br>
              <a:rPr lang="vi-VN"/>
            </a:br>
            <a:r>
              <a:rPr lang="vi-VN"/>
              <a:t>Việc cài đặt và chạy build_runner hơi phức tạp lúc đầu, nhưng giúp </a:t>
            </a:r>
            <a:r>
              <a:rPr lang="vi-VN" b="1"/>
              <a:t>tự động hóa và giảm lỗi lập trình</a:t>
            </a:r>
            <a:r>
              <a:rPr lang="vi-VN"/>
              <a:t> về sau.</a:t>
            </a:r>
          </a:p>
          <a:p>
            <a:r>
              <a:rPr lang="en-US"/>
              <a:t>📖 </a:t>
            </a:r>
            <a:r>
              <a:rPr lang="vi-VN" b="1"/>
              <a:t>Tài liệu tham khảo:</a:t>
            </a:r>
            <a:endParaRPr lang="vi-VN"/>
          </a:p>
          <a:p>
            <a:r>
              <a:rPr lang="vi-VN"/>
              <a:t>Dart build_runner Documentation</a:t>
            </a:r>
          </a:p>
          <a:p>
            <a:r>
              <a:rPr lang="vi-VN"/>
              <a:t>Drift Code Generation Guide</a:t>
            </a:r>
          </a:p>
          <a:p>
            <a:r>
              <a:rPr lang="en-US" b="1"/>
              <a:t>-------------------------------------------------------------------------------------------------------------------------</a:t>
            </a:r>
          </a:p>
          <a:p>
            <a:r>
              <a:rPr lang="en-US" b="1"/>
              <a:t>Giair thích về cơ chế “type-safe”:</a:t>
            </a:r>
            <a:br>
              <a:rPr lang="en-US" b="1"/>
            </a:br>
            <a:r>
              <a:rPr lang="vi-VN" b="1"/>
              <a:t>⚙️ 1. Khi dùng SQLite thuần</a:t>
            </a:r>
          </a:p>
          <a:p>
            <a:r>
              <a:rPr lang="vi-VN"/>
              <a:t>Bạn phải viết </a:t>
            </a:r>
            <a:r>
              <a:rPr lang="vi-VN" b="1"/>
              <a:t>chuỗi SQL thủ công</a:t>
            </a:r>
            <a:r>
              <a:rPr lang="vi-VN"/>
              <a:t>.</a:t>
            </a:r>
            <a:br>
              <a:rPr lang="vi-VN"/>
            </a:br>
            <a:r>
              <a:rPr lang="vi-VN"/>
              <a:t>Ví dụ muốn lấy tất cả sản phẩm có giá &gt; 10000:</a:t>
            </a:r>
          </a:p>
          <a:p>
            <a:pPr rtl="0"/>
            <a:r>
              <a:rPr lang="vi-VN" sz="1200" kern="1200">
                <a:solidFill>
                  <a:schemeClr val="tx1"/>
                </a:solidFill>
                <a:latin typeface="+mn-lt"/>
                <a:ea typeface="+mn-ea"/>
                <a:cs typeface="+mn-cs"/>
              </a:rPr>
              <a:t>final result = await db.rawQuery(</a:t>
            </a:r>
          </a:p>
          <a:p>
            <a:pPr rtl="0"/>
            <a:r>
              <a:rPr lang="vi-VN" sz="1200" kern="1200">
                <a:solidFill>
                  <a:schemeClr val="tx1"/>
                </a:solidFill>
                <a:latin typeface="+mn-lt"/>
                <a:ea typeface="+mn-ea"/>
                <a:cs typeface="+mn-cs"/>
              </a:rPr>
              <a:t>  'SELECT * FROM products WHERE price &gt; ?',</a:t>
            </a:r>
          </a:p>
          <a:p>
            <a:pPr rtl="0"/>
            <a:r>
              <a:rPr lang="vi-VN" sz="1200" kern="1200">
                <a:solidFill>
                  <a:schemeClr val="tx1"/>
                </a:solidFill>
                <a:latin typeface="+mn-lt"/>
                <a:ea typeface="+mn-ea"/>
                <a:cs typeface="+mn-cs"/>
              </a:rPr>
              <a:t>  [10000],</a:t>
            </a:r>
          </a:p>
          <a:p>
            <a:pPr rtl="0"/>
            <a:r>
              <a:rPr lang="vi-VN" sz="1200" kern="1200">
                <a:solidFill>
                  <a:schemeClr val="tx1"/>
                </a:solidFill>
                <a:latin typeface="+mn-lt"/>
                <a:ea typeface="+mn-ea"/>
                <a:cs typeface="+mn-cs"/>
              </a:rPr>
              <a:t>);</a:t>
            </a:r>
          </a:p>
          <a:p>
            <a:r>
              <a:rPr lang="vi-VN" b="1"/>
              <a:t>🚫 Nhược điểm:</a:t>
            </a:r>
          </a:p>
          <a:p>
            <a:r>
              <a:rPr lang="vi-VN"/>
              <a:t>Bạn đang làm việc với </a:t>
            </a:r>
            <a:r>
              <a:rPr lang="vi-VN" b="1"/>
              <a:t>chuỗi văn bản</a:t>
            </a:r>
            <a:r>
              <a:rPr lang="vi-VN"/>
              <a:t> → sai chính tả SQL cũng </a:t>
            </a:r>
            <a:r>
              <a:rPr lang="vi-VN" b="1"/>
              <a:t>không báo lỗi lúc biên dịch</a:t>
            </a:r>
            <a:r>
              <a:rPr lang="vi-VN"/>
              <a:t>.</a:t>
            </a:r>
          </a:p>
          <a:p>
            <a:r>
              <a:rPr lang="vi-VN"/>
              <a:t>Nếu bạn viết nhầm tên cột (</a:t>
            </a:r>
            <a:r>
              <a:rPr lang="vi-VN" sz="1200" kern="1200">
                <a:solidFill>
                  <a:schemeClr val="tx1"/>
                </a:solidFill>
                <a:latin typeface="+mn-lt"/>
                <a:ea typeface="+mn-ea"/>
                <a:cs typeface="+mn-cs"/>
              </a:rPr>
              <a:t>prcie</a:t>
            </a:r>
            <a:r>
              <a:rPr lang="vi-VN"/>
              <a:t> thay vì </a:t>
            </a:r>
            <a:r>
              <a:rPr lang="vi-VN" sz="1200" kern="1200">
                <a:solidFill>
                  <a:schemeClr val="tx1"/>
                </a:solidFill>
                <a:latin typeface="+mn-lt"/>
                <a:ea typeface="+mn-ea"/>
                <a:cs typeface="+mn-cs"/>
              </a:rPr>
              <a:t>price</a:t>
            </a:r>
            <a:r>
              <a:rPr lang="vi-VN"/>
              <a:t>) → chỉ khi </a:t>
            </a:r>
            <a:r>
              <a:rPr lang="vi-VN" b="1"/>
              <a:t>chạy ứng dụng</a:t>
            </a:r>
            <a:r>
              <a:rPr lang="vi-VN"/>
              <a:t> mới biết lỗi.</a:t>
            </a:r>
          </a:p>
          <a:p>
            <a:r>
              <a:rPr lang="vi-VN"/>
              <a:t>Không có kiểm tra kiểu dữ liệu → có thể gán sai kiểu (ví dụ </a:t>
            </a:r>
            <a:r>
              <a:rPr lang="vi-VN" sz="1200" kern="1200">
                <a:solidFill>
                  <a:schemeClr val="tx1"/>
                </a:solidFill>
                <a:latin typeface="+mn-lt"/>
                <a:ea typeface="+mn-ea"/>
                <a:cs typeface="+mn-cs"/>
              </a:rPr>
              <a:t>WHERE price = 'abc'</a:t>
            </a:r>
            <a:r>
              <a:rPr lang="vi-VN"/>
              <a:t> vẫn compile được, nhưng runtime sẽ lỗi).</a:t>
            </a:r>
          </a:p>
          <a:p>
            <a:br>
              <a:rPr lang="vi-VN"/>
            </a:br>
            <a:endParaRPr lang="vi-VN"/>
          </a:p>
          <a:p>
            <a:r>
              <a:rPr lang="vi-VN" b="1"/>
              <a:t>✅ 2. Khi dùng Drift (type-safe ORM)</a:t>
            </a:r>
          </a:p>
          <a:p>
            <a:r>
              <a:rPr lang="vi-VN"/>
              <a:t>Bạn </a:t>
            </a:r>
            <a:r>
              <a:rPr lang="vi-VN" b="1"/>
              <a:t>không viết chuỗi SQL</a:t>
            </a:r>
            <a:r>
              <a:rPr lang="vi-VN"/>
              <a:t>, mà viết bằng </a:t>
            </a:r>
            <a:r>
              <a:rPr lang="vi-VN" b="1"/>
              <a:t>API Dart có kiểm tra kiểu</a:t>
            </a:r>
            <a:r>
              <a:rPr lang="vi-VN"/>
              <a:t>:</a:t>
            </a:r>
          </a:p>
          <a:p>
            <a:pPr rtl="0"/>
            <a:r>
              <a:rPr lang="vi-VN" sz="1200" kern="1200">
                <a:solidFill>
                  <a:schemeClr val="tx1"/>
                </a:solidFill>
                <a:latin typeface="+mn-lt"/>
                <a:ea typeface="+mn-ea"/>
                <a:cs typeface="+mn-cs"/>
              </a:rPr>
              <a:t>final query = select(products)..where((p) =&gt; p.price.isBiggerThanValue(10000));</a:t>
            </a:r>
          </a:p>
          <a:p>
            <a:pPr rtl="0"/>
            <a:r>
              <a:rPr lang="vi-VN" sz="1200" kern="1200">
                <a:solidFill>
                  <a:schemeClr val="tx1"/>
                </a:solidFill>
                <a:latin typeface="+mn-lt"/>
                <a:ea typeface="+mn-ea"/>
                <a:cs typeface="+mn-cs"/>
              </a:rPr>
              <a:t>final result = await query.get();</a:t>
            </a:r>
          </a:p>
          <a:p>
            <a:r>
              <a:rPr lang="vi-VN" b="1"/>
              <a:t>✅ Ưu điểm:</a:t>
            </a:r>
          </a:p>
          <a:p>
            <a:r>
              <a:rPr lang="vi-VN" b="1"/>
              <a:t>Type-safe</a:t>
            </a:r>
            <a:r>
              <a:rPr lang="vi-VN"/>
              <a:t>:</a:t>
            </a:r>
          </a:p>
          <a:p>
            <a:pPr lvl="1"/>
            <a:r>
              <a:rPr lang="vi-VN" sz="1200" kern="1200">
                <a:solidFill>
                  <a:schemeClr val="tx1"/>
                </a:solidFill>
                <a:latin typeface="+mn-lt"/>
                <a:ea typeface="+mn-ea"/>
                <a:cs typeface="+mn-cs"/>
              </a:rPr>
              <a:t>p.price</a:t>
            </a:r>
            <a:r>
              <a:rPr lang="vi-VN"/>
              <a:t> là </a:t>
            </a:r>
            <a:r>
              <a:rPr lang="vi-VN" sz="1200" kern="1200">
                <a:solidFill>
                  <a:schemeClr val="tx1"/>
                </a:solidFill>
                <a:latin typeface="+mn-lt"/>
                <a:ea typeface="+mn-ea"/>
                <a:cs typeface="+mn-cs"/>
              </a:rPr>
              <a:t>RealColumn</a:t>
            </a:r>
            <a:r>
              <a:rPr lang="vi-VN"/>
              <a:t> (kiểu double) → chỉ so sánh được với số,</a:t>
            </a:r>
            <a:br>
              <a:rPr lang="vi-VN"/>
            </a:br>
            <a:r>
              <a:rPr lang="vi-VN"/>
              <a:t>nếu bạn viết </a:t>
            </a:r>
            <a:r>
              <a:rPr lang="vi-VN" sz="1200" kern="1200">
                <a:solidFill>
                  <a:schemeClr val="tx1"/>
                </a:solidFill>
                <a:latin typeface="+mn-lt"/>
                <a:ea typeface="+mn-ea"/>
                <a:cs typeface="+mn-cs"/>
              </a:rPr>
              <a:t>p.price.isBiggerThanValue('abc')</a:t>
            </a:r>
            <a:r>
              <a:rPr lang="vi-VN"/>
              <a:t> → </a:t>
            </a:r>
            <a:r>
              <a:rPr lang="vi-VN" b="1"/>
              <a:t>lỗi biên dịch ngay</a:t>
            </a:r>
            <a:r>
              <a:rPr lang="vi-VN"/>
              <a:t> ⚠️.</a:t>
            </a:r>
          </a:p>
          <a:p>
            <a:r>
              <a:rPr lang="vi-VN" b="1"/>
              <a:t>Kiểm tra cú pháp</a:t>
            </a:r>
            <a:r>
              <a:rPr lang="vi-VN"/>
              <a:t> ngay trong Dart → không lo sai chính tả SQL.</a:t>
            </a:r>
          </a:p>
          <a:p>
            <a:r>
              <a:rPr lang="vi-VN" b="1"/>
              <a:t>Tự động ánh xạ (mapping)</a:t>
            </a:r>
            <a:r>
              <a:rPr lang="vi-VN"/>
              <a:t> kết quả sang đối tượng </a:t>
            </a:r>
            <a:r>
              <a:rPr lang="vi-VN" sz="1200" kern="1200">
                <a:solidFill>
                  <a:schemeClr val="tx1"/>
                </a:solidFill>
                <a:latin typeface="+mn-lt"/>
                <a:ea typeface="+mn-ea"/>
                <a:cs typeface="+mn-cs"/>
              </a:rPr>
              <a:t>Product</a:t>
            </a:r>
            <a:r>
              <a:rPr lang="vi-VN"/>
              <a:t> — không cần tự parse.</a:t>
            </a:r>
          </a:p>
          <a:p>
            <a:endParaRPr lang="vi-VN" b="0"/>
          </a:p>
          <a:p>
            <a:endParaRPr lang="vi-VN" b="1"/>
          </a:p>
          <a:p>
            <a:endParaRPr lang="en-US"/>
          </a:p>
        </p:txBody>
      </p:sp>
      <p:sp>
        <p:nvSpPr>
          <p:cNvPr id="4" name="Slide Number Placeholder 3">
            <a:extLst>
              <a:ext uri="{FF2B5EF4-FFF2-40B4-BE49-F238E27FC236}">
                <a16:creationId xmlns:a16="http://schemas.microsoft.com/office/drawing/2014/main" id="{91ACBB44-0D36-163E-4059-A600FECE5B96}"/>
              </a:ext>
            </a:extLst>
          </p:cNvPr>
          <p:cNvSpPr>
            <a:spLocks noGrp="1"/>
          </p:cNvSpPr>
          <p:nvPr>
            <p:ph type="sldNum" sz="quarter" idx="5"/>
          </p:nvPr>
        </p:nvSpPr>
        <p:spPr/>
        <p:txBody>
          <a:bodyPr/>
          <a:lstStyle/>
          <a:p>
            <a:fld id="{1983A999-5E0E-42CA-8400-604AE921FF7C}" type="slidenum">
              <a:rPr lang="en-US" smtClean="0"/>
              <a:t>26</a:t>
            </a:fld>
            <a:endParaRPr lang="en-US"/>
          </a:p>
        </p:txBody>
      </p:sp>
    </p:spTree>
    <p:extLst>
      <p:ext uri="{BB962C8B-B14F-4D97-AF65-F5344CB8AC3E}">
        <p14:creationId xmlns:p14="http://schemas.microsoft.com/office/powerpoint/2010/main" val="35231408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042FC-4B24-4277-E1A0-B104E9B050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6768DA-1663-46D8-1C1B-0A590BCF05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4DA72E-CE62-9E12-81BC-230B939D1D1C}"/>
              </a:ext>
            </a:extLst>
          </p:cNvPr>
          <p:cNvSpPr>
            <a:spLocks noGrp="1"/>
          </p:cNvSpPr>
          <p:nvPr>
            <p:ph type="body" idx="1"/>
          </p:nvPr>
        </p:nvSpPr>
        <p:spPr/>
        <p:txBody>
          <a:bodyPr/>
          <a:lstStyle/>
          <a:p>
            <a:r>
              <a:rPr lang="vi-VN" b="1"/>
              <a:t>Giải thích từng dòng / từng phần</a:t>
            </a:r>
            <a:endParaRPr lang="vi-VN"/>
          </a:p>
          <a:p>
            <a:r>
              <a:rPr lang="vi-VN" sz="1200" kern="1200">
                <a:solidFill>
                  <a:schemeClr val="tx1"/>
                </a:solidFill>
                <a:latin typeface="+mn-lt"/>
                <a:ea typeface="+mn-ea"/>
                <a:cs typeface="+mn-cs"/>
              </a:rPr>
              <a:t>import 'package:drift/drift.dart';</a:t>
            </a:r>
            <a:br>
              <a:rPr lang="vi-VN"/>
            </a:br>
            <a:r>
              <a:rPr lang="vi-VN"/>
              <a:t>Nhập thư viện Drift — chứa các định nghĩa để khai báo bảng, cột, kiểu dữ liệu, v.v.</a:t>
            </a:r>
          </a:p>
          <a:p>
            <a:r>
              <a:rPr lang="vi-VN" sz="1200" kern="1200">
                <a:solidFill>
                  <a:schemeClr val="tx1"/>
                </a:solidFill>
                <a:latin typeface="+mn-lt"/>
                <a:ea typeface="+mn-ea"/>
                <a:cs typeface="+mn-cs"/>
              </a:rPr>
              <a:t>class Products extends Table { ... }</a:t>
            </a:r>
            <a:br>
              <a:rPr lang="vi-VN"/>
            </a:br>
            <a:r>
              <a:rPr lang="vi-VN"/>
              <a:t>Khai báo một bảng Drift tên </a:t>
            </a:r>
            <a:r>
              <a:rPr lang="vi-VN" sz="1200" kern="1200">
                <a:solidFill>
                  <a:schemeClr val="tx1"/>
                </a:solidFill>
                <a:latin typeface="+mn-lt"/>
                <a:ea typeface="+mn-ea"/>
                <a:cs typeface="+mn-cs"/>
              </a:rPr>
              <a:t>Products</a:t>
            </a:r>
            <a:r>
              <a:rPr lang="vi-VN"/>
              <a:t>. Drift sẽ dùng class này để sinh code tương ứng (các lớp model, companion, ...). Tên class thường ở dạng số nhiều (convention), và Drift map class này thành bảng trong SQLite.</a:t>
            </a:r>
          </a:p>
          <a:p>
            <a:r>
              <a:rPr lang="vi-VN" sz="1200" kern="1200">
                <a:solidFill>
                  <a:schemeClr val="tx1"/>
                </a:solidFill>
                <a:latin typeface="+mn-lt"/>
                <a:ea typeface="+mn-ea"/>
                <a:cs typeface="+mn-cs"/>
              </a:rPr>
              <a:t>IntColumn get id =&gt; integer().autoIncrement()();</a:t>
            </a:r>
            <a:endParaRPr lang="vi-VN"/>
          </a:p>
          <a:p>
            <a:pPr lvl="1"/>
            <a:r>
              <a:rPr lang="vi-VN" sz="1200" kern="1200">
                <a:solidFill>
                  <a:schemeClr val="tx1"/>
                </a:solidFill>
                <a:latin typeface="+mn-lt"/>
                <a:ea typeface="+mn-ea"/>
                <a:cs typeface="+mn-cs"/>
              </a:rPr>
              <a:t>IntColumn get id</a:t>
            </a:r>
            <a:r>
              <a:rPr lang="vi-VN"/>
              <a:t> định nghĩa cột </a:t>
            </a:r>
            <a:r>
              <a:rPr lang="vi-VN" sz="1200" kern="1200">
                <a:solidFill>
                  <a:schemeClr val="tx1"/>
                </a:solidFill>
                <a:latin typeface="+mn-lt"/>
                <a:ea typeface="+mn-ea"/>
                <a:cs typeface="+mn-cs"/>
              </a:rPr>
              <a:t>id</a:t>
            </a:r>
            <a:r>
              <a:rPr lang="vi-VN"/>
              <a:t> kiểu integer.</a:t>
            </a:r>
          </a:p>
          <a:p>
            <a:pPr lvl="1"/>
            <a:r>
              <a:rPr lang="vi-VN" sz="1200" kern="1200">
                <a:solidFill>
                  <a:schemeClr val="tx1"/>
                </a:solidFill>
                <a:latin typeface="+mn-lt"/>
                <a:ea typeface="+mn-ea"/>
                <a:cs typeface="+mn-cs"/>
              </a:rPr>
              <a:t>integer()</a:t>
            </a:r>
            <a:r>
              <a:rPr lang="vi-VN"/>
              <a:t> là builder cho cột integer.</a:t>
            </a:r>
          </a:p>
          <a:p>
            <a:pPr lvl="1"/>
            <a:r>
              <a:rPr lang="vi-VN" sz="1200" kern="1200">
                <a:solidFill>
                  <a:schemeClr val="tx1"/>
                </a:solidFill>
                <a:latin typeface="+mn-lt"/>
                <a:ea typeface="+mn-ea"/>
                <a:cs typeface="+mn-cs"/>
              </a:rPr>
              <a:t>.autoIncrement()</a:t>
            </a:r>
            <a:r>
              <a:rPr lang="vi-VN"/>
              <a:t> cho phép cột là AUTOINCREMENT (khi insert không truyền id, SQLite tự cấp).</a:t>
            </a:r>
          </a:p>
          <a:p>
            <a:pPr lvl="1"/>
            <a:r>
              <a:rPr lang="vi-VN" sz="1200" kern="1200">
                <a:solidFill>
                  <a:schemeClr val="tx1"/>
                </a:solidFill>
                <a:latin typeface="+mn-lt"/>
                <a:ea typeface="+mn-ea"/>
                <a:cs typeface="+mn-cs"/>
              </a:rPr>
              <a:t>()</a:t>
            </a:r>
            <a:r>
              <a:rPr lang="vi-VN"/>
              <a:t> cuối cùng thực thi builder (kí hiệu của Drift DSL).</a:t>
            </a:r>
            <a:br>
              <a:rPr lang="vi-VN"/>
            </a:br>
            <a:r>
              <a:rPr lang="vi-VN"/>
              <a:t>Kết quả: cột khóa chính tự tăng.</a:t>
            </a:r>
          </a:p>
          <a:p>
            <a:r>
              <a:rPr lang="vi-VN" sz="1200" kern="1200">
                <a:solidFill>
                  <a:schemeClr val="tx1"/>
                </a:solidFill>
                <a:latin typeface="+mn-lt"/>
                <a:ea typeface="+mn-ea"/>
                <a:cs typeface="+mn-cs"/>
              </a:rPr>
              <a:t>TextColumn get name =&gt; text().withLength(min: 1, max: 50)();</a:t>
            </a:r>
            <a:endParaRPr lang="vi-VN"/>
          </a:p>
          <a:p>
            <a:pPr lvl="1"/>
            <a:r>
              <a:rPr lang="vi-VN" sz="1200" kern="1200">
                <a:solidFill>
                  <a:schemeClr val="tx1"/>
                </a:solidFill>
                <a:latin typeface="+mn-lt"/>
                <a:ea typeface="+mn-ea"/>
                <a:cs typeface="+mn-cs"/>
              </a:rPr>
              <a:t>text()</a:t>
            </a:r>
            <a:r>
              <a:rPr lang="vi-VN"/>
              <a:t> tạo cột chuỗi.</a:t>
            </a:r>
          </a:p>
          <a:p>
            <a:pPr lvl="1"/>
            <a:r>
              <a:rPr lang="vi-VN" sz="1200" kern="1200">
                <a:solidFill>
                  <a:schemeClr val="tx1"/>
                </a:solidFill>
                <a:latin typeface="+mn-lt"/>
                <a:ea typeface="+mn-ea"/>
                <a:cs typeface="+mn-cs"/>
              </a:rPr>
              <a:t>.withLength(min:1, max:50)</a:t>
            </a:r>
            <a:r>
              <a:rPr lang="vi-VN"/>
              <a:t> giới hạn độ dài text (drift sẽ áp constraint).</a:t>
            </a:r>
          </a:p>
          <a:p>
            <a:pPr lvl="1"/>
            <a:r>
              <a:rPr lang="vi-VN"/>
              <a:t>Ràng buộc: tên ít nhất 1 ký tự, tối đa 50.</a:t>
            </a:r>
          </a:p>
          <a:p>
            <a:r>
              <a:rPr lang="vi-VN" sz="1200" kern="1200">
                <a:solidFill>
                  <a:schemeClr val="tx1"/>
                </a:solidFill>
                <a:latin typeface="+mn-lt"/>
                <a:ea typeface="+mn-ea"/>
                <a:cs typeface="+mn-cs"/>
              </a:rPr>
              <a:t>RealColumn get price =&gt; real()();</a:t>
            </a:r>
            <a:br>
              <a:rPr lang="vi-VN"/>
            </a:br>
            <a:r>
              <a:rPr lang="vi-VN"/>
              <a:t>Cột số thực (double) để lưu giá.</a:t>
            </a:r>
          </a:p>
          <a:p>
            <a:r>
              <a:rPr lang="vi-VN" sz="1200" kern="1200">
                <a:solidFill>
                  <a:schemeClr val="tx1"/>
                </a:solidFill>
                <a:latin typeface="+mn-lt"/>
                <a:ea typeface="+mn-ea"/>
                <a:cs typeface="+mn-cs"/>
              </a:rPr>
              <a:t>IntColumn get quantity =&gt; integer()();</a:t>
            </a:r>
            <a:br>
              <a:rPr lang="vi-VN"/>
            </a:br>
            <a:r>
              <a:rPr lang="vi-VN"/>
              <a:t>Cột số nguyên lưu số lượng sản phẩm.</a:t>
            </a:r>
          </a:p>
          <a:p>
            <a:r>
              <a:rPr lang="vi-VN" sz="1200" kern="1200">
                <a:solidFill>
                  <a:schemeClr val="tx1"/>
                </a:solidFill>
                <a:latin typeface="+mn-lt"/>
                <a:ea typeface="+mn-ea"/>
                <a:cs typeface="+mn-cs"/>
              </a:rPr>
              <a:t>TextColumn get description =&gt; text().nullable()();</a:t>
            </a:r>
            <a:br>
              <a:rPr lang="vi-VN"/>
            </a:br>
            <a:r>
              <a:rPr lang="vi-VN"/>
              <a:t>Cột mô tả, có thể </a:t>
            </a:r>
            <a:r>
              <a:rPr lang="vi-VN" sz="1200" kern="1200">
                <a:solidFill>
                  <a:schemeClr val="tx1"/>
                </a:solidFill>
                <a:latin typeface="+mn-lt"/>
                <a:ea typeface="+mn-ea"/>
                <a:cs typeface="+mn-cs"/>
              </a:rPr>
              <a:t>NULL</a:t>
            </a:r>
            <a:r>
              <a:rPr lang="vi-VN"/>
              <a:t> (nullable).</a:t>
            </a:r>
          </a:p>
          <a:p>
            <a:r>
              <a:rPr lang="vi-VN" sz="1200" kern="1200">
                <a:solidFill>
                  <a:schemeClr val="tx1"/>
                </a:solidFill>
                <a:latin typeface="+mn-lt"/>
                <a:ea typeface="+mn-ea"/>
                <a:cs typeface="+mn-cs"/>
              </a:rPr>
              <a:t>DateTimeColumn get dateAdded =&gt; dateTime()();</a:t>
            </a:r>
            <a:br>
              <a:rPr lang="vi-VN"/>
            </a:br>
            <a:r>
              <a:rPr lang="vi-VN"/>
              <a:t>Cột kiểu DateTime lưu ngày giờ thêm sản phẩm. Drift map kiểu này sang integer (timestamp) trong SQLite hoặc dạng tương ứng.</a:t>
            </a:r>
          </a:p>
          <a:p>
            <a:r>
              <a:rPr lang="vi-VN" b="1"/>
              <a:t>Ghi chú</a:t>
            </a:r>
            <a:r>
              <a:rPr lang="vi-VN"/>
              <a:t>: sau khi thay đổi file này, bạn cần chạy </a:t>
            </a:r>
            <a:r>
              <a:rPr lang="vi-VN" sz="1200" kern="1200">
                <a:solidFill>
                  <a:schemeClr val="tx1"/>
                </a:solidFill>
                <a:latin typeface="+mn-lt"/>
                <a:ea typeface="+mn-ea"/>
                <a:cs typeface="+mn-cs"/>
              </a:rPr>
              <a:t>flutter pub run build_runner build</a:t>
            </a:r>
            <a:r>
              <a:rPr lang="vi-VN"/>
              <a:t> (hoặc </a:t>
            </a:r>
            <a:r>
              <a:rPr lang="vi-VN" sz="1200" kern="1200">
                <a:solidFill>
                  <a:schemeClr val="tx1"/>
                </a:solidFill>
                <a:latin typeface="+mn-lt"/>
                <a:ea typeface="+mn-ea"/>
                <a:cs typeface="+mn-cs"/>
              </a:rPr>
              <a:t>watch</a:t>
            </a:r>
            <a:r>
              <a:rPr lang="vi-VN"/>
              <a:t>) để sinh lại file </a:t>
            </a:r>
            <a:r>
              <a:rPr lang="vi-VN" sz="1200" kern="1200">
                <a:solidFill>
                  <a:schemeClr val="tx1"/>
                </a:solidFill>
                <a:latin typeface="+mn-lt"/>
                <a:ea typeface="+mn-ea"/>
                <a:cs typeface="+mn-cs"/>
              </a:rPr>
              <a:t>.g.dart</a:t>
            </a:r>
            <a:r>
              <a:rPr lang="vi-VN"/>
              <a:t> nếu dùng code generation.</a:t>
            </a:r>
          </a:p>
          <a:p>
            <a:endParaRPr lang="en-US"/>
          </a:p>
        </p:txBody>
      </p:sp>
      <p:sp>
        <p:nvSpPr>
          <p:cNvPr id="4" name="Slide Number Placeholder 3">
            <a:extLst>
              <a:ext uri="{FF2B5EF4-FFF2-40B4-BE49-F238E27FC236}">
                <a16:creationId xmlns:a16="http://schemas.microsoft.com/office/drawing/2014/main" id="{FB3D07D1-3DFB-A4B4-2A0A-A05521E95BA1}"/>
              </a:ext>
            </a:extLst>
          </p:cNvPr>
          <p:cNvSpPr>
            <a:spLocks noGrp="1"/>
          </p:cNvSpPr>
          <p:nvPr>
            <p:ph type="sldNum" sz="quarter" idx="5"/>
          </p:nvPr>
        </p:nvSpPr>
        <p:spPr/>
        <p:txBody>
          <a:bodyPr/>
          <a:lstStyle/>
          <a:p>
            <a:fld id="{1983A999-5E0E-42CA-8400-604AE921FF7C}" type="slidenum">
              <a:rPr lang="en-US" smtClean="0"/>
              <a:t>27</a:t>
            </a:fld>
            <a:endParaRPr lang="en-US"/>
          </a:p>
        </p:txBody>
      </p:sp>
    </p:spTree>
    <p:extLst>
      <p:ext uri="{BB962C8B-B14F-4D97-AF65-F5344CB8AC3E}">
        <p14:creationId xmlns:p14="http://schemas.microsoft.com/office/powerpoint/2010/main" val="33127411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E1CF0-A617-0D75-CABA-574ED42A2C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FA8883-333C-D431-62FA-5AE1FEE270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73E23D-11DB-42FA-53CD-50E50797D57D}"/>
              </a:ext>
            </a:extLst>
          </p:cNvPr>
          <p:cNvSpPr>
            <a:spLocks noGrp="1"/>
          </p:cNvSpPr>
          <p:nvPr>
            <p:ph type="body" idx="1"/>
          </p:nvPr>
        </p:nvSpPr>
        <p:spPr/>
        <p:txBody>
          <a:bodyPr/>
          <a:lstStyle/>
          <a:p>
            <a:pPr>
              <a:buNone/>
            </a:pPr>
            <a:r>
              <a:rPr lang="vi-VN" b="1"/>
              <a:t>Giải thích từng phần</a:t>
            </a:r>
            <a:endParaRPr lang="vi-VN"/>
          </a:p>
          <a:p>
            <a:pPr>
              <a:buFont typeface="Arial" panose="020B0604020202020204" pitchFamily="34" charset="0"/>
              <a:buChar char="•"/>
            </a:pPr>
            <a:r>
              <a:rPr lang="vi-VN">
                <a:latin typeface="Courier New" panose="02070309020205020404" pitchFamily="49" charset="0"/>
              </a:rPr>
              <a:t>import 'package:drift/drift.dart';</a:t>
            </a:r>
            <a:br>
              <a:rPr lang="vi-VN"/>
            </a:br>
            <a:r>
              <a:rPr lang="vi-VN"/>
              <a:t>Nhập API chính của Drift (select, insert, update, Table, v.v).</a:t>
            </a:r>
          </a:p>
          <a:p>
            <a:pPr>
              <a:buFont typeface="Arial" panose="020B0604020202020204" pitchFamily="34" charset="0"/>
              <a:buChar char="•"/>
            </a:pPr>
            <a:r>
              <a:rPr lang="vi-VN">
                <a:latin typeface="Courier New" panose="02070309020205020404" pitchFamily="49" charset="0"/>
              </a:rPr>
              <a:t>import 'package:drift/native.dart';</a:t>
            </a:r>
            <a:br>
              <a:rPr lang="vi-VN"/>
            </a:br>
            <a:r>
              <a:rPr lang="vi-VN"/>
              <a:t>Cung cấp </a:t>
            </a:r>
            <a:r>
              <a:rPr lang="vi-VN">
                <a:latin typeface="Courier New" panose="02070309020205020404" pitchFamily="49" charset="0"/>
              </a:rPr>
              <a:t>NativeDatabase</a:t>
            </a:r>
            <a:r>
              <a:rPr lang="vi-VN"/>
              <a:t> để dùng SQLite native (dùng tốt trên desktop/mobile cho phát triển).</a:t>
            </a:r>
          </a:p>
          <a:p>
            <a:pPr>
              <a:buFont typeface="Arial" panose="020B0604020202020204" pitchFamily="34" charset="0"/>
              <a:buChar char="•"/>
            </a:pPr>
            <a:r>
              <a:rPr lang="vi-VN">
                <a:latin typeface="Courier New" panose="02070309020205020404" pitchFamily="49" charset="0"/>
              </a:rPr>
              <a:t>import 'package:path_provider/path_provider.dart';</a:t>
            </a:r>
            <a:br>
              <a:rPr lang="vi-VN"/>
            </a:br>
            <a:r>
              <a:rPr lang="vi-VN"/>
              <a:t>Dùng để lấy thư mục lưu dữ liệu ứng dụng (application documents directory) trên thiết bị.</a:t>
            </a:r>
          </a:p>
          <a:p>
            <a:pPr>
              <a:buFont typeface="Arial" panose="020B0604020202020204" pitchFamily="34" charset="0"/>
              <a:buChar char="•"/>
            </a:pPr>
            <a:r>
              <a:rPr lang="vi-VN">
                <a:latin typeface="Courier New" panose="02070309020205020404" pitchFamily="49" charset="0"/>
              </a:rPr>
              <a:t>import 'package:path/path.dart' as p;</a:t>
            </a:r>
            <a:br>
              <a:rPr lang="vi-VN"/>
            </a:br>
            <a:r>
              <a:rPr lang="vi-VN"/>
              <a:t>Giúp ghép đường dẫn (cross-platform) — </a:t>
            </a:r>
            <a:r>
              <a:rPr lang="vi-VN">
                <a:latin typeface="Courier New" panose="02070309020205020404" pitchFamily="49" charset="0"/>
              </a:rPr>
              <a:t>p.join(...)</a:t>
            </a:r>
            <a:r>
              <a:rPr lang="vi-VN"/>
              <a:t>.</a:t>
            </a:r>
          </a:p>
          <a:p>
            <a:pPr>
              <a:buFont typeface="Arial" panose="020B0604020202020204" pitchFamily="34" charset="0"/>
              <a:buChar char="•"/>
            </a:pPr>
            <a:r>
              <a:rPr lang="vi-VN">
                <a:latin typeface="Courier New" panose="02070309020205020404" pitchFamily="49" charset="0"/>
              </a:rPr>
              <a:t>import 'dart:io';</a:t>
            </a:r>
            <a:br>
              <a:rPr lang="vi-VN"/>
            </a:br>
            <a:r>
              <a:rPr lang="vi-VN"/>
              <a:t>Dùng </a:t>
            </a:r>
            <a:r>
              <a:rPr lang="vi-VN">
                <a:latin typeface="Courier New" panose="02070309020205020404" pitchFamily="49" charset="0"/>
              </a:rPr>
              <a:t>File</a:t>
            </a:r>
            <a:r>
              <a:rPr lang="vi-VN"/>
              <a:t> để tạo/đi tới file SQLite.</a:t>
            </a:r>
          </a:p>
          <a:p>
            <a:pPr>
              <a:buFont typeface="Arial" panose="020B0604020202020204" pitchFamily="34" charset="0"/>
              <a:buChar char="•"/>
            </a:pPr>
            <a:r>
              <a:rPr lang="vi-VN">
                <a:latin typeface="Courier New" panose="02070309020205020404" pitchFamily="49" charset="0"/>
              </a:rPr>
              <a:t>import 'product_table.dart';</a:t>
            </a:r>
            <a:br>
              <a:rPr lang="vi-VN"/>
            </a:br>
            <a:r>
              <a:rPr lang="vi-VN"/>
              <a:t>Đưa định nghĩa bảng </a:t>
            </a:r>
            <a:r>
              <a:rPr lang="vi-VN">
                <a:latin typeface="Courier New" panose="02070309020205020404" pitchFamily="49" charset="0"/>
              </a:rPr>
              <a:t>Products</a:t>
            </a:r>
            <a:r>
              <a:rPr lang="vi-VN"/>
              <a:t> vào scope để Drift biết schema.</a:t>
            </a:r>
          </a:p>
          <a:p>
            <a:pPr>
              <a:buFont typeface="Arial" panose="020B0604020202020204" pitchFamily="34" charset="0"/>
              <a:buChar char="•"/>
            </a:pPr>
            <a:r>
              <a:rPr lang="vi-VN">
                <a:latin typeface="Courier New" panose="02070309020205020404" pitchFamily="49" charset="0"/>
              </a:rPr>
              <a:t>part 'app_database.g.dart';</a:t>
            </a:r>
            <a:br>
              <a:rPr lang="vi-VN"/>
            </a:br>
            <a:r>
              <a:rPr lang="vi-VN"/>
              <a:t>File generated (bởi build_runner) chứa code sinh tự động ( lớp </a:t>
            </a:r>
            <a:r>
              <a:rPr lang="vi-VN">
                <a:latin typeface="Courier New" panose="02070309020205020404" pitchFamily="49" charset="0"/>
              </a:rPr>
              <a:t>_$AppDatabase</a:t>
            </a:r>
            <a:r>
              <a:rPr lang="vi-VN"/>
              <a:t>, model class </a:t>
            </a:r>
            <a:r>
              <a:rPr lang="vi-VN">
                <a:latin typeface="Courier New" panose="02070309020205020404" pitchFamily="49" charset="0"/>
              </a:rPr>
              <a:t>Product</a:t>
            </a:r>
            <a:r>
              <a:rPr lang="vi-VN"/>
              <a:t>, </a:t>
            </a:r>
            <a:r>
              <a:rPr lang="vi-VN">
                <a:latin typeface="Courier New" panose="02070309020205020404" pitchFamily="49" charset="0"/>
              </a:rPr>
              <a:t>ProductsCompanion</a:t>
            </a:r>
            <a:r>
              <a:rPr lang="vi-VN"/>
              <a:t>, v.v). </a:t>
            </a:r>
            <a:r>
              <a:rPr lang="vi-VN">
                <a:latin typeface="Courier New" panose="02070309020205020404" pitchFamily="49" charset="0"/>
              </a:rPr>
              <a:t>part</a:t>
            </a:r>
            <a:r>
              <a:rPr lang="vi-VN"/>
              <a:t> cho phép compiler ghép file sinh vào thư mục cùng library.</a:t>
            </a:r>
          </a:p>
          <a:p>
            <a:pPr>
              <a:buFont typeface="Arial" panose="020B0604020202020204" pitchFamily="34" charset="0"/>
              <a:buChar char="•"/>
            </a:pPr>
            <a:r>
              <a:rPr lang="vi-VN">
                <a:latin typeface="Courier New" panose="02070309020205020404" pitchFamily="49" charset="0"/>
              </a:rPr>
              <a:t>@DriftDatabase(tables: [Products])</a:t>
            </a:r>
            <a:br>
              <a:rPr lang="vi-VN"/>
            </a:br>
            <a:r>
              <a:rPr lang="vi-VN"/>
              <a:t>Annotation cho Drift biết: database này chứa bảng </a:t>
            </a:r>
            <a:r>
              <a:rPr lang="vi-VN">
                <a:latin typeface="Courier New" panose="02070309020205020404" pitchFamily="49" charset="0"/>
              </a:rPr>
              <a:t>Products</a:t>
            </a:r>
            <a:r>
              <a:rPr lang="vi-VN"/>
              <a:t>. Build runner sẽ sinh class </a:t>
            </a:r>
            <a:r>
              <a:rPr lang="vi-VN">
                <a:latin typeface="Courier New" panose="02070309020205020404" pitchFamily="49" charset="0"/>
              </a:rPr>
              <a:t>_AppDatabase</a:t>
            </a:r>
            <a:r>
              <a:rPr lang="vi-VN"/>
              <a:t> dựa trên đó.</a:t>
            </a:r>
          </a:p>
          <a:p>
            <a:pPr>
              <a:buFont typeface="Arial" panose="020B0604020202020204" pitchFamily="34" charset="0"/>
              <a:buChar char="•"/>
            </a:pPr>
            <a:r>
              <a:rPr lang="vi-VN">
                <a:latin typeface="Courier New" panose="02070309020205020404" pitchFamily="49" charset="0"/>
              </a:rPr>
              <a:t>class AppDatabase extends _$AppDatabase { ... }</a:t>
            </a:r>
            <a:br>
              <a:rPr lang="vi-VN"/>
            </a:br>
            <a:r>
              <a:rPr lang="vi-VN">
                <a:latin typeface="Courier New" panose="02070309020205020404" pitchFamily="49" charset="0"/>
              </a:rPr>
              <a:t>_$AppDatabase</a:t>
            </a:r>
            <a:r>
              <a:rPr lang="vi-VN"/>
              <a:t> là lớp được sinh (generated) trong </a:t>
            </a:r>
            <a:r>
              <a:rPr lang="vi-VN">
                <a:latin typeface="Courier New" panose="02070309020205020404" pitchFamily="49" charset="0"/>
              </a:rPr>
              <a:t>app_database.g.dart</a:t>
            </a:r>
            <a:r>
              <a:rPr lang="vi-VN"/>
              <a:t>. Bạn extend để thêm method tùy chỉnh.</a:t>
            </a:r>
          </a:p>
          <a:p>
            <a:pPr>
              <a:buFont typeface="Arial" panose="020B0604020202020204" pitchFamily="34" charset="0"/>
              <a:buChar char="•"/>
            </a:pPr>
            <a:r>
              <a:rPr lang="vi-VN">
                <a:latin typeface="Courier New" panose="02070309020205020404" pitchFamily="49" charset="0"/>
              </a:rPr>
              <a:t>AppDatabase() : super(_openConnection());</a:t>
            </a:r>
            <a:br>
              <a:rPr lang="vi-VN"/>
            </a:br>
            <a:r>
              <a:rPr lang="vi-VN"/>
              <a:t>Constructor gọi super với một </a:t>
            </a:r>
            <a:r>
              <a:rPr lang="vi-VN">
                <a:latin typeface="Courier New" panose="02070309020205020404" pitchFamily="49" charset="0"/>
              </a:rPr>
              <a:t>QueryExecutor</a:t>
            </a:r>
            <a:r>
              <a:rPr lang="vi-VN"/>
              <a:t> (ở đây là </a:t>
            </a:r>
            <a:r>
              <a:rPr lang="vi-VN">
                <a:latin typeface="Courier New" panose="02070309020205020404" pitchFamily="49" charset="0"/>
              </a:rPr>
              <a:t>LazyDatabase</a:t>
            </a:r>
            <a:r>
              <a:rPr lang="vi-VN"/>
              <a:t> trả về </a:t>
            </a:r>
            <a:r>
              <a:rPr lang="vi-VN">
                <a:latin typeface="Courier New" panose="02070309020205020404" pitchFamily="49" charset="0"/>
              </a:rPr>
              <a:t>NativeDatabase</a:t>
            </a:r>
            <a:r>
              <a:rPr lang="vi-VN"/>
              <a:t>). </a:t>
            </a:r>
            <a:r>
              <a:rPr lang="vi-VN">
                <a:latin typeface="Courier New" panose="02070309020205020404" pitchFamily="49" charset="0"/>
              </a:rPr>
              <a:t>QueryExecutor</a:t>
            </a:r>
            <a:r>
              <a:rPr lang="vi-VN"/>
              <a:t> là đối tượng Drift dùng để đọc/ghi DB.</a:t>
            </a:r>
          </a:p>
          <a:p>
            <a:pPr>
              <a:buFont typeface="Arial" panose="020B0604020202020204" pitchFamily="34" charset="0"/>
              <a:buChar char="•"/>
            </a:pPr>
            <a:r>
              <a:rPr lang="vi-VN">
                <a:latin typeface="Courier New" panose="02070309020205020404" pitchFamily="49" charset="0"/>
              </a:rPr>
              <a:t>@override int get schemaVersion =&gt; 1;</a:t>
            </a:r>
            <a:br>
              <a:rPr lang="vi-VN"/>
            </a:br>
            <a:r>
              <a:rPr lang="vi-VN"/>
              <a:t>Phiên bản schema — nếu thay đổi bảng/cột, tăng số này để Drift biết cần migration.</a:t>
            </a:r>
          </a:p>
          <a:p>
            <a:pPr>
              <a:buFont typeface="Arial" panose="020B0604020202020204" pitchFamily="34" charset="0"/>
              <a:buChar char="•"/>
            </a:pPr>
            <a:r>
              <a:rPr lang="vi-VN">
                <a:latin typeface="Courier New" panose="02070309020205020404" pitchFamily="49" charset="0"/>
              </a:rPr>
              <a:t>Future&lt;List&lt;Product&gt;&gt; getAllProducts() =&gt; select(products).get();</a:t>
            </a:r>
            <a:endParaRPr lang="vi-VN"/>
          </a:p>
          <a:p>
            <a:pPr marL="742950" lvl="1" indent="-285750">
              <a:buFont typeface="Arial" panose="020B0604020202020204" pitchFamily="34" charset="0"/>
              <a:buChar char="•"/>
            </a:pPr>
            <a:r>
              <a:rPr lang="vi-VN">
                <a:latin typeface="Courier New" panose="02070309020205020404" pitchFamily="49" charset="0"/>
              </a:rPr>
              <a:t>select(products)</a:t>
            </a:r>
            <a:r>
              <a:rPr lang="vi-VN"/>
              <a:t> tạo query chọn tất cả cột từ bảng </a:t>
            </a:r>
            <a:r>
              <a:rPr lang="vi-VN">
                <a:latin typeface="Courier New" panose="02070309020205020404" pitchFamily="49" charset="0"/>
              </a:rPr>
              <a:t>products</a:t>
            </a:r>
            <a:r>
              <a:rPr lang="vi-VN"/>
              <a:t>.</a:t>
            </a:r>
          </a:p>
          <a:p>
            <a:pPr marL="742950" lvl="1" indent="-285750">
              <a:buFont typeface="Arial" panose="020B0604020202020204" pitchFamily="34" charset="0"/>
              <a:buChar char="•"/>
            </a:pPr>
            <a:r>
              <a:rPr lang="vi-VN">
                <a:latin typeface="Courier New" panose="02070309020205020404" pitchFamily="49" charset="0"/>
              </a:rPr>
              <a:t>.get()</a:t>
            </a:r>
            <a:r>
              <a:rPr lang="vi-VN"/>
              <a:t> chạy query và trả về </a:t>
            </a:r>
            <a:r>
              <a:rPr lang="vi-VN">
                <a:latin typeface="Courier New" panose="02070309020205020404" pitchFamily="49" charset="0"/>
              </a:rPr>
              <a:t>Future&lt;List&lt;Product&gt;&gt;</a:t>
            </a:r>
            <a:r>
              <a:rPr lang="vi-VN"/>
              <a:t>. </a:t>
            </a:r>
            <a:r>
              <a:rPr lang="vi-VN">
                <a:latin typeface="Courier New" panose="02070309020205020404" pitchFamily="49" charset="0"/>
              </a:rPr>
              <a:t>Product</a:t>
            </a:r>
            <a:r>
              <a:rPr lang="vi-VN"/>
              <a:t> là lớp model do Drift sinh, mapping cột -&gt; field.</a:t>
            </a:r>
          </a:p>
          <a:p>
            <a:pPr>
              <a:buFont typeface="Arial" panose="020B0604020202020204" pitchFamily="34" charset="0"/>
              <a:buChar char="•"/>
            </a:pPr>
            <a:r>
              <a:rPr lang="vi-VN">
                <a:latin typeface="Courier New" panose="02070309020205020404" pitchFamily="49" charset="0"/>
              </a:rPr>
              <a:t>Future&lt;int&gt; insertProduct(ProductsCompanion product) =&gt; into(products).insert(product);</a:t>
            </a:r>
            <a:endParaRPr lang="vi-VN"/>
          </a:p>
          <a:p>
            <a:pPr marL="742950" lvl="1" indent="-285750">
              <a:buFont typeface="Arial" panose="020B0604020202020204" pitchFamily="34" charset="0"/>
              <a:buChar char="•"/>
            </a:pPr>
            <a:r>
              <a:rPr lang="vi-VN">
                <a:latin typeface="Courier New" panose="02070309020205020404" pitchFamily="49" charset="0"/>
              </a:rPr>
              <a:t>ProductsCompanion</a:t>
            </a:r>
            <a:r>
              <a:rPr lang="vi-VN"/>
              <a:t> là lớp “companion” dùng để insert/update, cho phép chỉ định các cột muốn gán (hoặc dùng </a:t>
            </a:r>
            <a:r>
              <a:rPr lang="vi-VN">
                <a:latin typeface="Courier New" panose="02070309020205020404" pitchFamily="49" charset="0"/>
              </a:rPr>
              <a:t>Value(...)</a:t>
            </a:r>
            <a:r>
              <a:rPr lang="vi-VN"/>
              <a:t>/</a:t>
            </a:r>
            <a:r>
              <a:rPr lang="vi-VN">
                <a:latin typeface="Courier New" panose="02070309020205020404" pitchFamily="49" charset="0"/>
              </a:rPr>
              <a:t>Value.absent()</a:t>
            </a:r>
            <a:r>
              <a:rPr lang="vi-VN"/>
              <a:t>).</a:t>
            </a:r>
          </a:p>
          <a:p>
            <a:pPr marL="742950" lvl="1" indent="-285750">
              <a:buFont typeface="Arial" panose="020B0604020202020204" pitchFamily="34" charset="0"/>
              <a:buChar char="•"/>
            </a:pPr>
            <a:r>
              <a:rPr lang="vi-VN">
                <a:latin typeface="Courier New" panose="02070309020205020404" pitchFamily="49" charset="0"/>
              </a:rPr>
              <a:t>into(products).insert(product)</a:t>
            </a:r>
            <a:r>
              <a:rPr lang="vi-VN"/>
              <a:t> chèn bản ghi; trả về </a:t>
            </a:r>
            <a:r>
              <a:rPr lang="vi-VN">
                <a:latin typeface="Courier New" panose="02070309020205020404" pitchFamily="49" charset="0"/>
              </a:rPr>
              <a:t>Future&lt;int&gt;</a:t>
            </a:r>
            <a:r>
              <a:rPr lang="vi-VN"/>
              <a:t> là id của bản ghi (nếu cột id autoIncrement).</a:t>
            </a:r>
          </a:p>
          <a:p>
            <a:pPr>
              <a:buFont typeface="Arial" panose="020B0604020202020204" pitchFamily="34" charset="0"/>
              <a:buChar char="•"/>
            </a:pPr>
            <a:r>
              <a:rPr lang="vi-VN">
                <a:latin typeface="Courier New" panose="02070309020205020404" pitchFamily="49" charset="0"/>
              </a:rPr>
              <a:t>Future&lt;int&gt; deleteProduct(int id) =&gt; (delete(products)..where((tbl) =&gt; tbl.id.equals(id))).go();</a:t>
            </a:r>
            <a:endParaRPr lang="vi-VN"/>
          </a:p>
          <a:p>
            <a:pPr marL="742950" lvl="1" indent="-285750">
              <a:buFont typeface="Arial" panose="020B0604020202020204" pitchFamily="34" charset="0"/>
              <a:buChar char="•"/>
            </a:pPr>
            <a:r>
              <a:rPr lang="vi-VN">
                <a:latin typeface="Courier New" panose="02070309020205020404" pitchFamily="49" charset="0"/>
              </a:rPr>
              <a:t>delete(products)</a:t>
            </a:r>
            <a:r>
              <a:rPr lang="vi-VN"/>
              <a:t> tạo query delete trên bảng.</a:t>
            </a:r>
          </a:p>
          <a:p>
            <a:pPr marL="742950" lvl="1" indent="-285750">
              <a:buFont typeface="Arial" panose="020B0604020202020204" pitchFamily="34" charset="0"/>
              <a:buChar char="•"/>
            </a:pPr>
            <a:r>
              <a:rPr lang="vi-VN">
                <a:latin typeface="Courier New" panose="02070309020205020404" pitchFamily="49" charset="0"/>
              </a:rPr>
              <a:t>..where(...)</a:t>
            </a:r>
            <a:r>
              <a:rPr lang="vi-VN"/>
              <a:t> thêm điều kiện where (ở đây id bằng tham số).</a:t>
            </a:r>
          </a:p>
          <a:p>
            <a:pPr marL="742950" lvl="1" indent="-285750">
              <a:buFont typeface="Arial" panose="020B0604020202020204" pitchFamily="34" charset="0"/>
              <a:buChar char="•"/>
            </a:pPr>
            <a:r>
              <a:rPr lang="vi-VN">
                <a:latin typeface="Courier New" panose="02070309020205020404" pitchFamily="49" charset="0"/>
              </a:rPr>
              <a:t>.go()</a:t>
            </a:r>
            <a:r>
              <a:rPr lang="vi-VN"/>
              <a:t> thực thi delete, trả về số dòng bị xóa (int).</a:t>
            </a:r>
          </a:p>
          <a:p>
            <a:pPr>
              <a:buFont typeface="Arial" panose="020B0604020202020204" pitchFamily="34" charset="0"/>
              <a:buChar char="•"/>
            </a:pPr>
            <a:r>
              <a:rPr lang="vi-VN">
                <a:latin typeface="Courier New" panose="02070309020205020404" pitchFamily="49" charset="0"/>
              </a:rPr>
              <a:t>Future&lt;bool&gt; updateProduct(Product product) =&gt; update(products).replace(product);</a:t>
            </a:r>
            <a:endParaRPr lang="vi-VN"/>
          </a:p>
          <a:p>
            <a:pPr marL="742950" lvl="1" indent="-285750">
              <a:buFont typeface="Arial" panose="020B0604020202020204" pitchFamily="34" charset="0"/>
              <a:buChar char="•"/>
            </a:pPr>
            <a:r>
              <a:rPr lang="vi-VN">
                <a:latin typeface="Courier New" panose="02070309020205020404" pitchFamily="49" charset="0"/>
              </a:rPr>
              <a:t>update(products)</a:t>
            </a:r>
            <a:r>
              <a:rPr lang="vi-VN"/>
              <a:t> tạo update builder.</a:t>
            </a:r>
          </a:p>
          <a:p>
            <a:pPr marL="742950" lvl="1" indent="-285750">
              <a:buFont typeface="Arial" panose="020B0604020202020204" pitchFamily="34" charset="0"/>
              <a:buChar char="•"/>
            </a:pPr>
            <a:r>
              <a:rPr lang="vi-VN">
                <a:latin typeface="Courier New" panose="02070309020205020404" pitchFamily="49" charset="0"/>
              </a:rPr>
              <a:t>.replace(product)</a:t>
            </a:r>
            <a:r>
              <a:rPr lang="vi-VN"/>
              <a:t> cập nhật dòng có cùng primary key với </a:t>
            </a:r>
            <a:r>
              <a:rPr lang="vi-VN">
                <a:latin typeface="Courier New" panose="02070309020205020404" pitchFamily="49" charset="0"/>
              </a:rPr>
              <a:t>product</a:t>
            </a:r>
            <a:r>
              <a:rPr lang="vi-VN"/>
              <a:t>. Trả về </a:t>
            </a:r>
            <a:r>
              <a:rPr lang="vi-VN">
                <a:latin typeface="Courier New" panose="02070309020205020404" pitchFamily="49" charset="0"/>
              </a:rPr>
              <a:t>Future&lt;bool&gt;</a:t>
            </a:r>
            <a:r>
              <a:rPr lang="vi-VN"/>
              <a:t>: </a:t>
            </a:r>
            <a:r>
              <a:rPr lang="vi-VN">
                <a:latin typeface="Courier New" panose="02070309020205020404" pitchFamily="49" charset="0"/>
              </a:rPr>
              <a:t>true</a:t>
            </a:r>
            <a:r>
              <a:rPr lang="vi-VN"/>
              <a:t> nếu thành công (một dòng được cập nhật). (Lưu ý: </a:t>
            </a:r>
            <a:r>
              <a:rPr lang="vi-VN">
                <a:latin typeface="Courier New" panose="02070309020205020404" pitchFamily="49" charset="0"/>
              </a:rPr>
              <a:t>replace</a:t>
            </a:r>
            <a:r>
              <a:rPr lang="vi-VN"/>
              <a:t> dựa trên khóa chính; </a:t>
            </a:r>
            <a:r>
              <a:rPr lang="vi-VN">
                <a:latin typeface="Courier New" panose="02070309020205020404" pitchFamily="49" charset="0"/>
              </a:rPr>
              <a:t>product</a:t>
            </a:r>
            <a:r>
              <a:rPr lang="vi-VN"/>
              <a:t> phải chứa </a:t>
            </a:r>
            <a:r>
              <a:rPr lang="vi-VN">
                <a:latin typeface="Courier New" panose="02070309020205020404" pitchFamily="49" charset="0"/>
              </a:rPr>
              <a:t>id</a:t>
            </a:r>
            <a:r>
              <a:rPr lang="vi-VN"/>
              <a:t> hợp lệ.)</a:t>
            </a:r>
          </a:p>
          <a:p>
            <a:pPr>
              <a:buFont typeface="Arial" panose="020B0604020202020204" pitchFamily="34" charset="0"/>
              <a:buChar char="•"/>
            </a:pPr>
            <a:r>
              <a:rPr lang="vi-VN">
                <a:latin typeface="Courier New" panose="02070309020205020404" pitchFamily="49" charset="0"/>
              </a:rPr>
              <a:t>LazyDatabase _openConnection() { ... }</a:t>
            </a:r>
            <a:endParaRPr lang="vi-VN"/>
          </a:p>
          <a:p>
            <a:pPr marL="742950" lvl="1" indent="-285750">
              <a:buFont typeface="Arial" panose="020B0604020202020204" pitchFamily="34" charset="0"/>
              <a:buChar char="•"/>
            </a:pPr>
            <a:r>
              <a:rPr lang="vi-VN">
                <a:latin typeface="Courier New" panose="02070309020205020404" pitchFamily="49" charset="0"/>
              </a:rPr>
              <a:t>LazyDatabase</a:t>
            </a:r>
            <a:r>
              <a:rPr lang="vi-VN"/>
              <a:t> là wrapper cho phép khởi tạo kết nối bất đồng bộ (chỉ khi cần). Hàm truyền 1 callback </a:t>
            </a:r>
            <a:r>
              <a:rPr lang="vi-VN">
                <a:latin typeface="Courier New" panose="02070309020205020404" pitchFamily="49" charset="0"/>
              </a:rPr>
              <a:t>() async { ... }</a:t>
            </a:r>
            <a:r>
              <a:rPr lang="vi-VN"/>
              <a:t> trả về một </a:t>
            </a:r>
            <a:r>
              <a:rPr lang="vi-VN">
                <a:latin typeface="Courier New" panose="02070309020205020404" pitchFamily="49" charset="0"/>
              </a:rPr>
              <a:t>QueryExecutor</a:t>
            </a:r>
            <a:r>
              <a:rPr lang="vi-VN"/>
              <a:t> (ở đây </a:t>
            </a:r>
            <a:r>
              <a:rPr lang="vi-VN">
                <a:latin typeface="Courier New" panose="02070309020205020404" pitchFamily="49" charset="0"/>
              </a:rPr>
              <a:t>NativeDatabase.createInBackground(file)</a:t>
            </a:r>
            <a:r>
              <a:rPr lang="vi-VN"/>
              <a:t>).</a:t>
            </a:r>
          </a:p>
          <a:p>
            <a:pPr marL="742950" lvl="1" indent="-285750">
              <a:buFont typeface="Arial" panose="020B0604020202020204" pitchFamily="34" charset="0"/>
              <a:buChar char="•"/>
            </a:pPr>
            <a:r>
              <a:rPr lang="vi-VN">
                <a:latin typeface="Courier New" panose="02070309020205020404" pitchFamily="49" charset="0"/>
              </a:rPr>
              <a:t>final dir = await getApplicationDocumentsDirectory();</a:t>
            </a:r>
            <a:r>
              <a:rPr lang="vi-VN"/>
              <a:t> lấy thư mục lưu file app (Android/iOS/desktop tương ứng).</a:t>
            </a:r>
          </a:p>
          <a:p>
            <a:pPr marL="742950" lvl="1" indent="-285750">
              <a:buFont typeface="Arial" panose="020B0604020202020204" pitchFamily="34" charset="0"/>
              <a:buChar char="•"/>
            </a:pPr>
            <a:r>
              <a:rPr lang="vi-VN">
                <a:latin typeface="Courier New" panose="02070309020205020404" pitchFamily="49" charset="0"/>
              </a:rPr>
              <a:t>final file = File(p.join(dir.path, 'products.sqlite'));</a:t>
            </a:r>
            <a:r>
              <a:rPr lang="vi-VN"/>
              <a:t> tạo tham chiếu file DB.</a:t>
            </a:r>
          </a:p>
          <a:p>
            <a:pPr marL="742950" lvl="1" indent="-285750">
              <a:buFont typeface="Arial" panose="020B0604020202020204" pitchFamily="34" charset="0"/>
              <a:buChar char="•"/>
            </a:pPr>
            <a:r>
              <a:rPr lang="vi-VN">
                <a:latin typeface="Courier New" panose="02070309020205020404" pitchFamily="49" charset="0"/>
              </a:rPr>
              <a:t>return NativeDatabase.createInBackground(file);</a:t>
            </a:r>
            <a:r>
              <a:rPr lang="vi-VN"/>
              <a:t> tạo database native và thực thi trong background (không chặn UI).</a:t>
            </a:r>
          </a:p>
          <a:p>
            <a:pPr>
              <a:buNone/>
            </a:pPr>
            <a:r>
              <a:rPr lang="vi-VN" b="1"/>
              <a:t>Ghi chú &amp; best practices</a:t>
            </a:r>
            <a:endParaRPr lang="vi-VN"/>
          </a:p>
          <a:p>
            <a:pPr>
              <a:buFont typeface="Arial" panose="020B0604020202020204" pitchFamily="34" charset="0"/>
              <a:buChar char="•"/>
            </a:pPr>
            <a:r>
              <a:rPr lang="vi-VN"/>
              <a:t>Trên mobile (Android/iOS) bạn có thể dùng </a:t>
            </a:r>
            <a:r>
              <a:rPr lang="vi-VN">
                <a:latin typeface="Courier New" panose="02070309020205020404" pitchFamily="49" charset="0"/>
              </a:rPr>
              <a:t>NativeDatabase(file)</a:t>
            </a:r>
            <a:r>
              <a:rPr lang="vi-VN"/>
              <a:t> hoặc </a:t>
            </a:r>
            <a:r>
              <a:rPr lang="vi-VN">
                <a:latin typeface="Courier New" panose="02070309020205020404" pitchFamily="49" charset="0"/>
              </a:rPr>
              <a:t>NativeDatabase.createInBackground(file)</a:t>
            </a:r>
            <a:r>
              <a:rPr lang="vi-VN"/>
              <a:t> — tạo background giúp không block main isolate.</a:t>
            </a:r>
          </a:p>
          <a:p>
            <a:pPr>
              <a:buFont typeface="Arial" panose="020B0604020202020204" pitchFamily="34" charset="0"/>
              <a:buChar char="•"/>
            </a:pPr>
            <a:r>
              <a:rPr lang="vi-VN"/>
              <a:t>Khi thay đổi schema, tăng </a:t>
            </a:r>
            <a:r>
              <a:rPr lang="vi-VN">
                <a:latin typeface="Courier New" panose="02070309020205020404" pitchFamily="49" charset="0"/>
              </a:rPr>
              <a:t>schemaVersion</a:t>
            </a:r>
            <a:r>
              <a:rPr lang="vi-VN"/>
              <a:t> và cung cấp migration nếu cần (override </a:t>
            </a:r>
            <a:r>
              <a:rPr lang="vi-VN">
                <a:latin typeface="Courier New" panose="02070309020205020404" pitchFamily="49" charset="0"/>
              </a:rPr>
              <a:t>MigrationStrategy</a:t>
            </a:r>
            <a:r>
              <a:rPr lang="vi-VN"/>
              <a:t> hoặc </a:t>
            </a:r>
            <a:r>
              <a:rPr lang="vi-VN">
                <a:latin typeface="Courier New" panose="02070309020205020404" pitchFamily="49" charset="0"/>
              </a:rPr>
              <a:t>onUpgrade</a:t>
            </a:r>
            <a:r>
              <a:rPr lang="vi-VN"/>
              <a:t>).</a:t>
            </a:r>
          </a:p>
          <a:p>
            <a:pPr>
              <a:buFont typeface="Arial" panose="020B0604020202020204" pitchFamily="34" charset="0"/>
              <a:buChar char="•"/>
            </a:pPr>
            <a:r>
              <a:rPr lang="vi-VN"/>
              <a:t>Đừng quên chạy build_runner để sinh file </a:t>
            </a:r>
            <a:r>
              <a:rPr lang="vi-VN">
                <a:latin typeface="Courier New" panose="02070309020205020404" pitchFamily="49" charset="0"/>
              </a:rPr>
              <a:t>app_database.g.dart</a:t>
            </a:r>
            <a:r>
              <a:rPr lang="vi-VN"/>
              <a:t>.</a:t>
            </a:r>
          </a:p>
          <a:p>
            <a:r>
              <a:rPr lang="en-US"/>
              <a:t>-------------------------------------------------------------------------------------------------------------------------------------------------------</a:t>
            </a:r>
          </a:p>
          <a:p>
            <a:r>
              <a:rPr lang="vi-VN"/>
              <a:t>Từ </a:t>
            </a:r>
            <a:r>
              <a:rPr lang="vi-VN" b="1"/>
              <a:t>“schema”</a:t>
            </a:r>
            <a:r>
              <a:rPr lang="vi-VN"/>
              <a:t> (phát âm: /ˈskiː.mə/) trong lĩnh vực </a:t>
            </a:r>
            <a:r>
              <a:rPr lang="vi-VN" b="1"/>
              <a:t>cơ sở dữ liệu</a:t>
            </a:r>
            <a:r>
              <a:rPr lang="vi-VN"/>
              <a:t> có nghĩa là </a:t>
            </a:r>
            <a:r>
              <a:rPr lang="vi-VN" b="1"/>
              <a:t>“lược đồ”</a:t>
            </a:r>
            <a:r>
              <a:rPr lang="vi-VN"/>
              <a:t>, hay nói dễ hiểu là </a:t>
            </a:r>
            <a:r>
              <a:rPr lang="vi-VN" b="1"/>
              <a:t>“bản thiết kế cấu trúc của cơ sở dữ liệu”</a:t>
            </a:r>
            <a:r>
              <a:rPr lang="vi-VN"/>
              <a:t>.</a:t>
            </a:r>
          </a:p>
          <a:p>
            <a:br>
              <a:rPr lang="vi-VN"/>
            </a:br>
            <a:endParaRPr lang="vi-VN"/>
          </a:p>
          <a:p>
            <a:r>
              <a:rPr lang="en-US" b="1"/>
              <a:t>🎯 </a:t>
            </a:r>
            <a:r>
              <a:rPr lang="vi-VN" b="1"/>
              <a:t>Nói ngắn gọn:</a:t>
            </a:r>
          </a:p>
          <a:p>
            <a:r>
              <a:rPr lang="vi-VN" b="1"/>
              <a:t>Schema là bản mô tả cách dữ liệu được tổ chức trong cơ sở dữ liệu</a:t>
            </a:r>
            <a:r>
              <a:rPr lang="vi-VN"/>
              <a:t> — bao gồm tên các bảng, tên và kiểu dữ liệu của từng cột, cùng với các ràng buộc (constraints) giữa chúng.</a:t>
            </a:r>
          </a:p>
          <a:p>
            <a:br>
              <a:rPr lang="vi-VN"/>
            </a:br>
            <a:endParaRPr lang="vi-VN"/>
          </a:p>
          <a:p>
            <a:r>
              <a:rPr lang="en-US" b="1"/>
              <a:t>🔍 </a:t>
            </a:r>
            <a:r>
              <a:rPr lang="vi-VN" b="1"/>
              <a:t>Cụ thể hơn:</a:t>
            </a:r>
          </a:p>
          <a:p>
            <a:r>
              <a:rPr lang="vi-VN"/>
              <a:t>Trong </a:t>
            </a:r>
            <a:r>
              <a:rPr lang="vi-VN" b="1"/>
              <a:t>SQLite</a:t>
            </a:r>
            <a:r>
              <a:rPr lang="vi-VN"/>
              <a:t> (và Drift), </a:t>
            </a:r>
            <a:r>
              <a:rPr lang="vi-VN" b="1"/>
              <a:t>schema</a:t>
            </a:r>
            <a:r>
              <a:rPr lang="vi-VN"/>
              <a:t> cho biết:</a:t>
            </a:r>
          </a:p>
          <a:p>
            <a:r>
              <a:rPr lang="vi-VN"/>
              <a:t>Cơ sở dữ liệu có </a:t>
            </a:r>
            <a:r>
              <a:rPr lang="vi-VN" b="1"/>
              <a:t>bao nhiêu bảng</a:t>
            </a:r>
            <a:r>
              <a:rPr lang="vi-VN"/>
              <a:t>.</a:t>
            </a:r>
          </a:p>
          <a:p>
            <a:r>
              <a:rPr lang="vi-VN"/>
              <a:t>Mỗi bảng có </a:t>
            </a:r>
            <a:r>
              <a:rPr lang="vi-VN" b="1"/>
              <a:t>tên là gì</a:t>
            </a:r>
            <a:r>
              <a:rPr lang="vi-VN"/>
              <a:t>.</a:t>
            </a:r>
          </a:p>
          <a:p>
            <a:r>
              <a:rPr lang="vi-VN"/>
              <a:t>Mỗi bảng có </a:t>
            </a:r>
            <a:r>
              <a:rPr lang="vi-VN" b="1"/>
              <a:t>những cột nào</a:t>
            </a:r>
            <a:r>
              <a:rPr lang="vi-VN"/>
              <a:t>, kiểu dữ liệu của chúng là gì (</a:t>
            </a:r>
            <a:r>
              <a:rPr lang="vi-VN" sz="1200" kern="1200">
                <a:solidFill>
                  <a:schemeClr val="tx1"/>
                </a:solidFill>
                <a:latin typeface="+mn-lt"/>
                <a:ea typeface="+mn-ea"/>
                <a:cs typeface="+mn-cs"/>
              </a:rPr>
              <a:t>INTEGER</a:t>
            </a:r>
            <a:r>
              <a:rPr lang="vi-VN"/>
              <a:t>, </a:t>
            </a:r>
            <a:r>
              <a:rPr lang="vi-VN" sz="1200" kern="1200">
                <a:solidFill>
                  <a:schemeClr val="tx1"/>
                </a:solidFill>
                <a:latin typeface="+mn-lt"/>
                <a:ea typeface="+mn-ea"/>
                <a:cs typeface="+mn-cs"/>
              </a:rPr>
              <a:t>TEXT</a:t>
            </a:r>
            <a:r>
              <a:rPr lang="vi-VN"/>
              <a:t>, </a:t>
            </a:r>
            <a:r>
              <a:rPr lang="vi-VN" sz="1200" kern="1200">
                <a:solidFill>
                  <a:schemeClr val="tx1"/>
                </a:solidFill>
                <a:latin typeface="+mn-lt"/>
                <a:ea typeface="+mn-ea"/>
                <a:cs typeface="+mn-cs"/>
              </a:rPr>
              <a:t>REAL</a:t>
            </a:r>
            <a:r>
              <a:rPr lang="vi-VN"/>
              <a:t>, </a:t>
            </a:r>
            <a:r>
              <a:rPr lang="vi-VN" sz="1200" kern="1200">
                <a:solidFill>
                  <a:schemeClr val="tx1"/>
                </a:solidFill>
                <a:latin typeface="+mn-lt"/>
                <a:ea typeface="+mn-ea"/>
                <a:cs typeface="+mn-cs"/>
              </a:rPr>
              <a:t>DATE</a:t>
            </a:r>
            <a:r>
              <a:rPr lang="vi-VN"/>
              <a:t>, v.v.).</a:t>
            </a:r>
          </a:p>
          <a:p>
            <a:r>
              <a:rPr lang="vi-VN" b="1"/>
              <a:t>Ràng buộc</a:t>
            </a:r>
            <a:r>
              <a:rPr lang="vi-VN"/>
              <a:t> giữa các cột (ví dụ: </a:t>
            </a:r>
            <a:r>
              <a:rPr lang="vi-VN" sz="1200" kern="1200">
                <a:solidFill>
                  <a:schemeClr val="tx1"/>
                </a:solidFill>
                <a:latin typeface="+mn-lt"/>
                <a:ea typeface="+mn-ea"/>
                <a:cs typeface="+mn-cs"/>
              </a:rPr>
              <a:t>PRIMARY KEY</a:t>
            </a:r>
            <a:r>
              <a:rPr lang="vi-VN"/>
              <a:t>, </a:t>
            </a:r>
            <a:r>
              <a:rPr lang="vi-VN" sz="1200" kern="1200">
                <a:solidFill>
                  <a:schemeClr val="tx1"/>
                </a:solidFill>
                <a:latin typeface="+mn-lt"/>
                <a:ea typeface="+mn-ea"/>
                <a:cs typeface="+mn-cs"/>
              </a:rPr>
              <a:t>NOT NULL</a:t>
            </a:r>
            <a:r>
              <a:rPr lang="vi-VN"/>
              <a:t>, </a:t>
            </a:r>
            <a:r>
              <a:rPr lang="vi-VN" sz="1200" kern="1200">
                <a:solidFill>
                  <a:schemeClr val="tx1"/>
                </a:solidFill>
                <a:latin typeface="+mn-lt"/>
                <a:ea typeface="+mn-ea"/>
                <a:cs typeface="+mn-cs"/>
              </a:rPr>
              <a:t>UNIQUE</a:t>
            </a:r>
            <a:r>
              <a:rPr lang="vi-VN"/>
              <a:t>, </a:t>
            </a:r>
            <a:r>
              <a:rPr lang="vi-VN" sz="1200" kern="1200">
                <a:solidFill>
                  <a:schemeClr val="tx1"/>
                </a:solidFill>
                <a:latin typeface="+mn-lt"/>
                <a:ea typeface="+mn-ea"/>
                <a:cs typeface="+mn-cs"/>
              </a:rPr>
              <a:t>FOREIGN KEY</a:t>
            </a:r>
            <a:r>
              <a:rPr lang="vi-VN"/>
              <a:t>, v.v.).</a:t>
            </a:r>
          </a:p>
          <a:p>
            <a:r>
              <a:rPr lang="vi-VN"/>
              <a:t>Nếu có </a:t>
            </a:r>
            <a:r>
              <a:rPr lang="vi-VN" b="1"/>
              <a:t>mối quan hệ</a:t>
            </a:r>
            <a:r>
              <a:rPr lang="vi-VN"/>
              <a:t> giữa các bảng (ví dụ bảng </a:t>
            </a:r>
            <a:r>
              <a:rPr lang="vi-VN" sz="1200" kern="1200">
                <a:solidFill>
                  <a:schemeClr val="tx1"/>
                </a:solidFill>
                <a:latin typeface="+mn-lt"/>
                <a:ea typeface="+mn-ea"/>
                <a:cs typeface="+mn-cs"/>
              </a:rPr>
              <a:t>Products</a:t>
            </a:r>
            <a:r>
              <a:rPr lang="vi-VN"/>
              <a:t> có thể liên kết với bảng </a:t>
            </a:r>
            <a:r>
              <a:rPr lang="vi-VN" sz="1200" kern="1200">
                <a:solidFill>
                  <a:schemeClr val="tx1"/>
                </a:solidFill>
                <a:latin typeface="+mn-lt"/>
                <a:ea typeface="+mn-ea"/>
                <a:cs typeface="+mn-cs"/>
              </a:rPr>
              <a:t>Categories</a:t>
            </a:r>
            <a:r>
              <a:rPr lang="vi-VN"/>
              <a:t> qua </a:t>
            </a:r>
            <a:r>
              <a:rPr lang="vi-VN" sz="1200" kern="1200">
                <a:solidFill>
                  <a:schemeClr val="tx1"/>
                </a:solidFill>
                <a:latin typeface="+mn-lt"/>
                <a:ea typeface="+mn-ea"/>
                <a:cs typeface="+mn-cs"/>
              </a:rPr>
              <a:t>categoryId</a:t>
            </a:r>
            <a:r>
              <a:rPr lang="vi-VN"/>
              <a:t>).</a:t>
            </a:r>
          </a:p>
          <a:p>
            <a:br>
              <a:rPr lang="vi-VN"/>
            </a:br>
            <a:endParaRPr lang="vi-VN"/>
          </a:p>
          <a:p>
            <a:r>
              <a:rPr lang="en-US" b="1"/>
              <a:t>💡 </a:t>
            </a:r>
            <a:r>
              <a:rPr lang="vi-VN" b="1"/>
              <a:t>Ví dụ:</a:t>
            </a:r>
          </a:p>
          <a:p>
            <a:r>
              <a:rPr lang="vi-VN"/>
              <a:t>Giả sử bạn có bảng </a:t>
            </a:r>
            <a:r>
              <a:rPr lang="vi-VN" b="1"/>
              <a:t>Products</a:t>
            </a:r>
            <a:r>
              <a:rPr lang="vi-VN"/>
              <a:t> như sau:</a:t>
            </a:r>
          </a:p>
          <a:p>
            <a:r>
              <a:rPr lang="vi-VN"/>
              <a:t>idnamepricequantitydateAdded1Pen5.0202025-10-24</a:t>
            </a:r>
          </a:p>
          <a:p>
            <a:r>
              <a:rPr lang="vi-VN"/>
              <a:t>Thì </a:t>
            </a:r>
            <a:r>
              <a:rPr lang="vi-VN" b="1"/>
              <a:t>schema</a:t>
            </a:r>
            <a:r>
              <a:rPr lang="vi-VN"/>
              <a:t> của bảng </a:t>
            </a:r>
            <a:r>
              <a:rPr lang="vi-VN" sz="1200" kern="1200">
                <a:solidFill>
                  <a:schemeClr val="tx1"/>
                </a:solidFill>
                <a:latin typeface="+mn-lt"/>
                <a:ea typeface="+mn-ea"/>
                <a:cs typeface="+mn-cs"/>
              </a:rPr>
              <a:t>Products</a:t>
            </a:r>
            <a:r>
              <a:rPr lang="vi-VN"/>
              <a:t> có thể được mô tả bằng SQL như sau:</a:t>
            </a:r>
          </a:p>
          <a:p>
            <a:pPr rtl="0"/>
            <a:r>
              <a:rPr lang="vi-VN" sz="1200" kern="1200">
                <a:solidFill>
                  <a:schemeClr val="tx1"/>
                </a:solidFill>
                <a:latin typeface="+mn-lt"/>
                <a:ea typeface="+mn-ea"/>
                <a:cs typeface="+mn-cs"/>
              </a:rPr>
              <a:t>CREATE TABLE Products (</a:t>
            </a:r>
          </a:p>
          <a:p>
            <a:pPr rtl="0"/>
            <a:r>
              <a:rPr lang="vi-VN" sz="1200" kern="1200">
                <a:solidFill>
                  <a:schemeClr val="tx1"/>
                </a:solidFill>
                <a:latin typeface="+mn-lt"/>
                <a:ea typeface="+mn-ea"/>
                <a:cs typeface="+mn-cs"/>
              </a:rPr>
              <a:t>  id INTEGER PRIMARY KEY AUTOINCREMENT,</a:t>
            </a:r>
          </a:p>
          <a:p>
            <a:pPr rtl="0"/>
            <a:r>
              <a:rPr lang="vi-VN" sz="1200" kern="1200">
                <a:solidFill>
                  <a:schemeClr val="tx1"/>
                </a:solidFill>
                <a:latin typeface="+mn-lt"/>
                <a:ea typeface="+mn-ea"/>
                <a:cs typeface="+mn-cs"/>
              </a:rPr>
              <a:t>  name TEXT NOT NULL,</a:t>
            </a:r>
          </a:p>
          <a:p>
            <a:pPr rtl="0"/>
            <a:r>
              <a:rPr lang="vi-VN" sz="1200" kern="1200">
                <a:solidFill>
                  <a:schemeClr val="tx1"/>
                </a:solidFill>
                <a:latin typeface="+mn-lt"/>
                <a:ea typeface="+mn-ea"/>
                <a:cs typeface="+mn-cs"/>
              </a:rPr>
              <a:t>  price REAL NOT NULL,</a:t>
            </a:r>
          </a:p>
          <a:p>
            <a:pPr rtl="0"/>
            <a:r>
              <a:rPr lang="vi-VN" sz="1200" kern="1200">
                <a:solidFill>
                  <a:schemeClr val="tx1"/>
                </a:solidFill>
                <a:latin typeface="+mn-lt"/>
                <a:ea typeface="+mn-ea"/>
                <a:cs typeface="+mn-cs"/>
              </a:rPr>
              <a:t>  quantity INTEGER NOT NULL,</a:t>
            </a:r>
          </a:p>
          <a:p>
            <a:pPr rtl="0"/>
            <a:r>
              <a:rPr lang="vi-VN" sz="1200" kern="1200">
                <a:solidFill>
                  <a:schemeClr val="tx1"/>
                </a:solidFill>
                <a:latin typeface="+mn-lt"/>
                <a:ea typeface="+mn-ea"/>
                <a:cs typeface="+mn-cs"/>
              </a:rPr>
              <a:t>  description TEXT,</a:t>
            </a:r>
          </a:p>
          <a:p>
            <a:pPr rtl="0"/>
            <a:r>
              <a:rPr lang="vi-VN" sz="1200" kern="1200">
                <a:solidFill>
                  <a:schemeClr val="tx1"/>
                </a:solidFill>
                <a:latin typeface="+mn-lt"/>
                <a:ea typeface="+mn-ea"/>
                <a:cs typeface="+mn-cs"/>
              </a:rPr>
              <a:t>  dateAdded DATETIME NOT NULL</a:t>
            </a:r>
          </a:p>
          <a:p>
            <a:pPr rtl="0"/>
            <a:r>
              <a:rPr lang="vi-VN" sz="1200" kern="1200">
                <a:solidFill>
                  <a:schemeClr val="tx1"/>
                </a:solidFill>
                <a:latin typeface="+mn-lt"/>
                <a:ea typeface="+mn-ea"/>
                <a:cs typeface="+mn-cs"/>
              </a:rPr>
              <a:t>);</a:t>
            </a:r>
          </a:p>
          <a:p>
            <a:r>
              <a:rPr lang="vi-VN"/>
              <a:t>Và trong </a:t>
            </a:r>
            <a:r>
              <a:rPr lang="vi-VN" b="1"/>
              <a:t>Drift (Dart)</a:t>
            </a:r>
            <a:r>
              <a:rPr lang="vi-VN"/>
              <a:t>, bạn mô tả schema này bằng code:</a:t>
            </a:r>
          </a:p>
          <a:p>
            <a:pPr rtl="0"/>
            <a:r>
              <a:rPr lang="vi-VN" sz="1200" kern="1200">
                <a:solidFill>
                  <a:schemeClr val="tx1"/>
                </a:solidFill>
                <a:latin typeface="+mn-lt"/>
                <a:ea typeface="+mn-ea"/>
                <a:cs typeface="+mn-cs"/>
              </a:rPr>
              <a:t>class Products extends Table {</a:t>
            </a:r>
          </a:p>
          <a:p>
            <a:pPr rtl="0"/>
            <a:r>
              <a:rPr lang="vi-VN" sz="1200" kern="1200">
                <a:solidFill>
                  <a:schemeClr val="tx1"/>
                </a:solidFill>
                <a:latin typeface="+mn-lt"/>
                <a:ea typeface="+mn-ea"/>
                <a:cs typeface="+mn-cs"/>
              </a:rPr>
              <a:t>  IntColumn get id =&gt; integer().autoIncrement()();</a:t>
            </a:r>
          </a:p>
          <a:p>
            <a:pPr rtl="0"/>
            <a:r>
              <a:rPr lang="vi-VN" sz="1200" kern="1200">
                <a:solidFill>
                  <a:schemeClr val="tx1"/>
                </a:solidFill>
                <a:latin typeface="+mn-lt"/>
                <a:ea typeface="+mn-ea"/>
                <a:cs typeface="+mn-cs"/>
              </a:rPr>
              <a:t>  TextColumn get name =&gt; text().withLength(min: 1, max: 50)();</a:t>
            </a:r>
          </a:p>
          <a:p>
            <a:pPr rtl="0"/>
            <a:r>
              <a:rPr lang="vi-VN" sz="1200" kern="1200">
                <a:solidFill>
                  <a:schemeClr val="tx1"/>
                </a:solidFill>
                <a:latin typeface="+mn-lt"/>
                <a:ea typeface="+mn-ea"/>
                <a:cs typeface="+mn-cs"/>
              </a:rPr>
              <a:t>  RealColumn get price =&gt; real()();</a:t>
            </a:r>
          </a:p>
          <a:p>
            <a:pPr rtl="0"/>
            <a:r>
              <a:rPr lang="vi-VN" sz="1200" kern="1200">
                <a:solidFill>
                  <a:schemeClr val="tx1"/>
                </a:solidFill>
                <a:latin typeface="+mn-lt"/>
                <a:ea typeface="+mn-ea"/>
                <a:cs typeface="+mn-cs"/>
              </a:rPr>
              <a:t>  IntColumn get quantity =&gt; integer()();</a:t>
            </a:r>
          </a:p>
          <a:p>
            <a:pPr rtl="0"/>
            <a:r>
              <a:rPr lang="vi-VN" sz="1200" kern="1200">
                <a:solidFill>
                  <a:schemeClr val="tx1"/>
                </a:solidFill>
                <a:latin typeface="+mn-lt"/>
                <a:ea typeface="+mn-ea"/>
                <a:cs typeface="+mn-cs"/>
              </a:rPr>
              <a:t>  TextColumn get description =&gt; text().nullable()();</a:t>
            </a:r>
          </a:p>
          <a:p>
            <a:pPr rtl="0"/>
            <a:r>
              <a:rPr lang="vi-VN" sz="1200" kern="1200">
                <a:solidFill>
                  <a:schemeClr val="tx1"/>
                </a:solidFill>
                <a:latin typeface="+mn-lt"/>
                <a:ea typeface="+mn-ea"/>
                <a:cs typeface="+mn-cs"/>
              </a:rPr>
              <a:t>  DateTimeColumn get dateAdded =&gt; dateTime()();</a:t>
            </a:r>
          </a:p>
          <a:p>
            <a:pPr rtl="0"/>
            <a:r>
              <a:rPr lang="vi-VN" sz="1200" kern="1200">
                <a:solidFill>
                  <a:schemeClr val="tx1"/>
                </a:solidFill>
                <a:latin typeface="+mn-lt"/>
                <a:ea typeface="+mn-ea"/>
                <a:cs typeface="+mn-cs"/>
              </a:rPr>
              <a:t>}</a:t>
            </a:r>
          </a:p>
          <a:p>
            <a:r>
              <a:rPr lang="en-US"/>
              <a:t>👉 </a:t>
            </a:r>
            <a:r>
              <a:rPr lang="vi-VN"/>
              <a:t>Như vậy, đoạn code trên </a:t>
            </a:r>
            <a:r>
              <a:rPr lang="vi-VN" b="1"/>
              <a:t>chính là schema (lược đồ)</a:t>
            </a:r>
            <a:r>
              <a:rPr lang="vi-VN"/>
              <a:t> của bảng </a:t>
            </a:r>
            <a:r>
              <a:rPr lang="vi-VN" sz="1200" kern="1200">
                <a:solidFill>
                  <a:schemeClr val="tx1"/>
                </a:solidFill>
                <a:latin typeface="+mn-lt"/>
                <a:ea typeface="+mn-ea"/>
                <a:cs typeface="+mn-cs"/>
              </a:rPr>
              <a:t>Products</a:t>
            </a:r>
            <a:r>
              <a:rPr lang="vi-VN"/>
              <a:t> trong ứng dụng Dart/Drift.</a:t>
            </a:r>
            <a:br>
              <a:rPr lang="vi-VN"/>
            </a:br>
            <a:r>
              <a:rPr lang="vi-VN"/>
              <a:t>Khi bạn chạy lệnh </a:t>
            </a:r>
            <a:r>
              <a:rPr lang="vi-VN" sz="1200" kern="1200">
                <a:solidFill>
                  <a:schemeClr val="tx1"/>
                </a:solidFill>
                <a:latin typeface="+mn-lt"/>
                <a:ea typeface="+mn-ea"/>
                <a:cs typeface="+mn-cs"/>
              </a:rPr>
              <a:t>build_runner</a:t>
            </a:r>
            <a:r>
              <a:rPr lang="vi-VN"/>
              <a:t>, Drift sẽ đọc schema này để </a:t>
            </a:r>
            <a:r>
              <a:rPr lang="vi-VN" b="1"/>
              <a:t>tự động sinh ra mã truy vấn và lớp mô hình dữ liệu (DataClass)</a:t>
            </a:r>
            <a:r>
              <a:rPr lang="vi-VN"/>
              <a:t> tương ứng.</a:t>
            </a:r>
          </a:p>
          <a:p>
            <a:r>
              <a:rPr lang="en-US"/>
              <a:t>------------------------------------------------------------------------------------------------------------------------------------------------------</a:t>
            </a:r>
          </a:p>
          <a:p>
            <a:endParaRPr lang="en-US"/>
          </a:p>
        </p:txBody>
      </p:sp>
      <p:sp>
        <p:nvSpPr>
          <p:cNvPr id="4" name="Slide Number Placeholder 3">
            <a:extLst>
              <a:ext uri="{FF2B5EF4-FFF2-40B4-BE49-F238E27FC236}">
                <a16:creationId xmlns:a16="http://schemas.microsoft.com/office/drawing/2014/main" id="{3960A68E-CE69-80CE-9DE3-6728C4D901A4}"/>
              </a:ext>
            </a:extLst>
          </p:cNvPr>
          <p:cNvSpPr>
            <a:spLocks noGrp="1"/>
          </p:cNvSpPr>
          <p:nvPr>
            <p:ph type="sldNum" sz="quarter" idx="5"/>
          </p:nvPr>
        </p:nvSpPr>
        <p:spPr/>
        <p:txBody>
          <a:bodyPr/>
          <a:lstStyle/>
          <a:p>
            <a:fld id="{1983A999-5E0E-42CA-8400-604AE921FF7C}" type="slidenum">
              <a:rPr lang="en-US" smtClean="0"/>
              <a:t>28</a:t>
            </a:fld>
            <a:endParaRPr lang="en-US"/>
          </a:p>
        </p:txBody>
      </p:sp>
    </p:spTree>
    <p:extLst>
      <p:ext uri="{BB962C8B-B14F-4D97-AF65-F5344CB8AC3E}">
        <p14:creationId xmlns:p14="http://schemas.microsoft.com/office/powerpoint/2010/main" val="27483277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78805-5F09-8DDC-F45F-A770E090B7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E57170-A0F6-5944-EC4E-E4CCDEB378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44591-069D-5DB2-B32D-6910AB260CE3}"/>
              </a:ext>
            </a:extLst>
          </p:cNvPr>
          <p:cNvSpPr>
            <a:spLocks noGrp="1"/>
          </p:cNvSpPr>
          <p:nvPr>
            <p:ph type="body" idx="1"/>
          </p:nvPr>
        </p:nvSpPr>
        <p:spPr/>
        <p:txBody>
          <a:bodyPr/>
          <a:lstStyle/>
          <a:p>
            <a:r>
              <a:rPr lang="en-US"/>
              <a:t>👉 </a:t>
            </a:r>
            <a:r>
              <a:rPr lang="vi-VN" b="1"/>
              <a:t>Ý nghĩa tổng thể của đoạn code trên:</a:t>
            </a:r>
            <a:endParaRPr lang="vi-VN"/>
          </a:p>
          <a:p>
            <a:r>
              <a:rPr lang="vi-VN"/>
              <a:t>Đây là </a:t>
            </a:r>
            <a:r>
              <a:rPr lang="vi-VN" b="1"/>
              <a:t>lớp </a:t>
            </a:r>
            <a:r>
              <a:rPr lang="vi-VN" sz="1200" b="1" kern="1200">
                <a:solidFill>
                  <a:schemeClr val="tx1"/>
                </a:solidFill>
                <a:latin typeface="+mn-lt"/>
                <a:ea typeface="+mn-ea"/>
                <a:cs typeface="+mn-cs"/>
              </a:rPr>
              <a:t>AppDatabase</a:t>
            </a:r>
            <a:r>
              <a:rPr lang="vi-VN"/>
              <a:t> dùng thư viện </a:t>
            </a:r>
            <a:r>
              <a:rPr lang="vi-VN" b="1"/>
              <a:t>Drift</a:t>
            </a:r>
            <a:r>
              <a:rPr lang="vi-VN"/>
              <a:t> để </a:t>
            </a:r>
            <a:r>
              <a:rPr lang="vi-VN" b="1"/>
              <a:t>tạo, quản lý và thao tác với cơ sở dữ liệu SQLite</a:t>
            </a:r>
            <a:r>
              <a:rPr lang="vi-VN"/>
              <a:t> trong ứng dụng Flutter.</a:t>
            </a:r>
          </a:p>
          <a:p>
            <a:r>
              <a:rPr lang="en-US" b="1"/>
              <a:t>🔹 </a:t>
            </a:r>
            <a:r>
              <a:rPr lang="vi-VN" b="1"/>
              <a:t>Cấu trúc và chức năng chính:</a:t>
            </a:r>
          </a:p>
          <a:p>
            <a:r>
              <a:rPr lang="vi-VN" b="1"/>
              <a:t>Khai báo phần sinh mã tự động</a:t>
            </a:r>
            <a:endParaRPr lang="vi-VN"/>
          </a:p>
          <a:p>
            <a:pPr rtl="0"/>
            <a:r>
              <a:rPr lang="vi-VN" sz="1200" kern="1200">
                <a:solidFill>
                  <a:schemeClr val="tx1"/>
                </a:solidFill>
                <a:latin typeface="+mn-lt"/>
                <a:ea typeface="+mn-ea"/>
                <a:cs typeface="+mn-cs"/>
              </a:rPr>
              <a:t>part 'app_database.g.dart';</a:t>
            </a:r>
          </a:p>
          <a:p>
            <a:r>
              <a:rPr lang="vi-VN"/>
              <a:t>→ Cho phép Drift tự động sinh file </a:t>
            </a:r>
            <a:r>
              <a:rPr lang="vi-VN" sz="1200" kern="1200">
                <a:solidFill>
                  <a:schemeClr val="tx1"/>
                </a:solidFill>
                <a:latin typeface="+mn-lt"/>
                <a:ea typeface="+mn-ea"/>
                <a:cs typeface="+mn-cs"/>
              </a:rPr>
              <a:t>app_database.g.dart</a:t>
            </a:r>
            <a:r>
              <a:rPr lang="vi-VN"/>
              <a:t> chứa code truy vấn, model dữ liệu,...</a:t>
            </a:r>
          </a:p>
          <a:p>
            <a:r>
              <a:rPr lang="vi-VN" b="1"/>
              <a:t>Khai báo database với bảng</a:t>
            </a:r>
            <a:endParaRPr lang="vi-VN"/>
          </a:p>
          <a:p>
            <a:pPr rtl="0"/>
            <a:r>
              <a:rPr lang="vi-VN" sz="1200" kern="1200">
                <a:solidFill>
                  <a:schemeClr val="tx1"/>
                </a:solidFill>
                <a:latin typeface="+mn-lt"/>
                <a:ea typeface="+mn-ea"/>
                <a:cs typeface="+mn-cs"/>
              </a:rPr>
              <a:t>@DriftDatabase(tables: [Products])</a:t>
            </a:r>
          </a:p>
          <a:p>
            <a:r>
              <a:rPr lang="vi-VN"/>
              <a:t>→ Cho Drift biết cơ sở dữ liệu này chứa bảng </a:t>
            </a:r>
            <a:r>
              <a:rPr lang="vi-VN" sz="1200" kern="1200">
                <a:solidFill>
                  <a:schemeClr val="tx1"/>
                </a:solidFill>
                <a:latin typeface="+mn-lt"/>
                <a:ea typeface="+mn-ea"/>
                <a:cs typeface="+mn-cs"/>
              </a:rPr>
              <a:t>Products</a:t>
            </a:r>
            <a:r>
              <a:rPr lang="vi-VN"/>
              <a:t>.</a:t>
            </a:r>
          </a:p>
          <a:p>
            <a:r>
              <a:rPr lang="vi-VN" b="1"/>
              <a:t>Định nghĩa lớp chính</a:t>
            </a:r>
            <a:endParaRPr lang="vi-VN"/>
          </a:p>
          <a:p>
            <a:pPr rtl="0"/>
            <a:r>
              <a:rPr lang="vi-VN" sz="1200" kern="1200">
                <a:solidFill>
                  <a:schemeClr val="tx1"/>
                </a:solidFill>
                <a:latin typeface="+mn-lt"/>
                <a:ea typeface="+mn-ea"/>
                <a:cs typeface="+mn-cs"/>
              </a:rPr>
              <a:t>class AppDatabase extends _$AppDatabase</a:t>
            </a:r>
          </a:p>
          <a:p>
            <a:r>
              <a:rPr lang="vi-VN"/>
              <a:t>→ </a:t>
            </a:r>
            <a:r>
              <a:rPr lang="vi-VN" sz="1200" kern="1200">
                <a:solidFill>
                  <a:schemeClr val="tx1"/>
                </a:solidFill>
                <a:latin typeface="+mn-lt"/>
                <a:ea typeface="+mn-ea"/>
                <a:cs typeface="+mn-cs"/>
              </a:rPr>
              <a:t>_$AppDatabase</a:t>
            </a:r>
            <a:r>
              <a:rPr lang="vi-VN"/>
              <a:t> là lớp do Drift sinh ra tự động, còn </a:t>
            </a:r>
            <a:r>
              <a:rPr lang="vi-VN" sz="1200" kern="1200">
                <a:solidFill>
                  <a:schemeClr val="tx1"/>
                </a:solidFill>
                <a:latin typeface="+mn-lt"/>
                <a:ea typeface="+mn-ea"/>
                <a:cs typeface="+mn-cs"/>
              </a:rPr>
              <a:t>AppDatabase</a:t>
            </a:r>
            <a:r>
              <a:rPr lang="vi-VN"/>
              <a:t> là lớp ta mở rộng để thêm hàm tùy chỉnh.</a:t>
            </a:r>
          </a:p>
          <a:p>
            <a:r>
              <a:rPr lang="vi-VN" b="1"/>
              <a:t>Constructor</a:t>
            </a:r>
            <a:endParaRPr lang="vi-VN"/>
          </a:p>
          <a:p>
            <a:pPr rtl="0"/>
            <a:r>
              <a:rPr lang="vi-VN" sz="1200" kern="1200">
                <a:solidFill>
                  <a:schemeClr val="tx1"/>
                </a:solidFill>
                <a:latin typeface="+mn-lt"/>
                <a:ea typeface="+mn-ea"/>
                <a:cs typeface="+mn-cs"/>
              </a:rPr>
              <a:t>AppDatabase() : super(_openConnection());</a:t>
            </a:r>
          </a:p>
          <a:p>
            <a:r>
              <a:rPr lang="vi-VN"/>
              <a:t>→ Khi tạo đối tượng </a:t>
            </a:r>
            <a:r>
              <a:rPr lang="vi-VN" sz="1200" kern="1200">
                <a:solidFill>
                  <a:schemeClr val="tx1"/>
                </a:solidFill>
                <a:latin typeface="+mn-lt"/>
                <a:ea typeface="+mn-ea"/>
                <a:cs typeface="+mn-cs"/>
              </a:rPr>
              <a:t>AppDatabase</a:t>
            </a:r>
            <a:r>
              <a:rPr lang="vi-VN"/>
              <a:t>, nó sẽ mở (hoặc tạo) kết nối đến file SQLite thông qua </a:t>
            </a:r>
            <a:r>
              <a:rPr lang="vi-VN" sz="1200" kern="1200">
                <a:solidFill>
                  <a:schemeClr val="tx1"/>
                </a:solidFill>
                <a:latin typeface="+mn-lt"/>
                <a:ea typeface="+mn-ea"/>
                <a:cs typeface="+mn-cs"/>
              </a:rPr>
              <a:t>_openConnection()</a:t>
            </a:r>
            <a:r>
              <a:rPr lang="vi-VN"/>
              <a:t>.</a:t>
            </a:r>
          </a:p>
          <a:p>
            <a:r>
              <a:rPr lang="vi-VN" b="1"/>
              <a:t>Phiên bản schema</a:t>
            </a:r>
            <a:endParaRPr lang="vi-VN"/>
          </a:p>
          <a:p>
            <a:pPr rtl="0"/>
            <a:r>
              <a:rPr lang="vi-VN" sz="1200" kern="1200">
                <a:solidFill>
                  <a:schemeClr val="tx1"/>
                </a:solidFill>
                <a:latin typeface="+mn-lt"/>
                <a:ea typeface="+mn-ea"/>
                <a:cs typeface="+mn-cs"/>
              </a:rPr>
              <a:t>int get schemaVersion =&gt; 1;</a:t>
            </a:r>
          </a:p>
          <a:p>
            <a:r>
              <a:rPr lang="vi-VN"/>
              <a:t>→ Đặt phiên bản cấu trúc database là </a:t>
            </a:r>
            <a:r>
              <a:rPr lang="vi-VN" b="1"/>
              <a:t>1</a:t>
            </a:r>
            <a:r>
              <a:rPr lang="vi-VN"/>
              <a:t>. Khi thay đổi bảng, cần tăng số này để Drift biết có cập nhật schema.</a:t>
            </a:r>
          </a:p>
          <a:p>
            <a:r>
              <a:rPr lang="vi-VN" b="1"/>
              <a:t>Các hàm CRUD (Create – Read – Update – Delete):</a:t>
            </a:r>
            <a:endParaRPr lang="vi-VN"/>
          </a:p>
          <a:p>
            <a:pPr lvl="1"/>
            <a:r>
              <a:rPr lang="vi-VN" b="1"/>
              <a:t>Đọc toàn bộ sản phẩm:</a:t>
            </a:r>
            <a:endParaRPr lang="vi-VN"/>
          </a:p>
          <a:p>
            <a:pPr lvl="1" rtl="0"/>
            <a:r>
              <a:rPr lang="vi-VN" sz="1200" kern="1200">
                <a:solidFill>
                  <a:schemeClr val="tx1"/>
                </a:solidFill>
                <a:latin typeface="+mn-lt"/>
                <a:ea typeface="+mn-ea"/>
                <a:cs typeface="+mn-cs"/>
              </a:rPr>
              <a:t>getAllProducts() =&gt; select(products).get();</a:t>
            </a:r>
          </a:p>
          <a:p>
            <a:pPr lvl="1"/>
            <a:r>
              <a:rPr lang="vi-VN"/>
              <a:t>→ Trả về danh sách tất cả sản phẩm.</a:t>
            </a:r>
          </a:p>
          <a:p>
            <a:pPr lvl="1"/>
            <a:r>
              <a:rPr lang="vi-VN" b="1"/>
              <a:t>Thêm sản phẩm:</a:t>
            </a:r>
            <a:endParaRPr lang="vi-VN"/>
          </a:p>
          <a:p>
            <a:pPr lvl="1" rtl="0"/>
            <a:r>
              <a:rPr lang="vi-VN" sz="1200" kern="1200">
                <a:solidFill>
                  <a:schemeClr val="tx1"/>
                </a:solidFill>
                <a:latin typeface="+mn-lt"/>
                <a:ea typeface="+mn-ea"/>
                <a:cs typeface="+mn-cs"/>
              </a:rPr>
              <a:t>insertProduct(product) =&gt; into(products).insert(product);</a:t>
            </a:r>
          </a:p>
          <a:p>
            <a:pPr lvl="1"/>
            <a:r>
              <a:rPr lang="vi-VN"/>
              <a:t>→ Thêm một dòng mới vào bảng.</a:t>
            </a:r>
          </a:p>
          <a:p>
            <a:pPr lvl="1"/>
            <a:r>
              <a:rPr lang="vi-VN" b="1"/>
              <a:t>Xóa sản phẩm theo id:</a:t>
            </a:r>
            <a:endParaRPr lang="vi-VN"/>
          </a:p>
          <a:p>
            <a:pPr lvl="1" rtl="0"/>
            <a:r>
              <a:rPr lang="vi-VN" sz="1200" kern="1200">
                <a:solidFill>
                  <a:schemeClr val="tx1"/>
                </a:solidFill>
                <a:latin typeface="+mn-lt"/>
                <a:ea typeface="+mn-ea"/>
                <a:cs typeface="+mn-cs"/>
              </a:rPr>
              <a:t>deleteProduct(id) =&gt; (delete(products)..where((tbl) =&gt; tbl.id.equals(id))).go();</a:t>
            </a:r>
          </a:p>
          <a:p>
            <a:pPr lvl="1"/>
            <a:r>
              <a:rPr lang="vi-VN"/>
              <a:t>→ Xóa bản ghi có </a:t>
            </a:r>
            <a:r>
              <a:rPr lang="vi-VN" sz="1200" kern="1200">
                <a:solidFill>
                  <a:schemeClr val="tx1"/>
                </a:solidFill>
                <a:latin typeface="+mn-lt"/>
                <a:ea typeface="+mn-ea"/>
                <a:cs typeface="+mn-cs"/>
              </a:rPr>
              <a:t>id</a:t>
            </a:r>
            <a:r>
              <a:rPr lang="vi-VN"/>
              <a:t> trùng với tham số.</a:t>
            </a:r>
          </a:p>
          <a:p>
            <a:pPr lvl="1"/>
            <a:r>
              <a:rPr lang="vi-VN" b="1"/>
              <a:t>Cập nhật sản phẩm:</a:t>
            </a:r>
            <a:endParaRPr lang="vi-VN"/>
          </a:p>
          <a:p>
            <a:pPr lvl="1" rtl="0"/>
            <a:r>
              <a:rPr lang="vi-VN" sz="1200" kern="1200">
                <a:solidFill>
                  <a:schemeClr val="tx1"/>
                </a:solidFill>
                <a:latin typeface="+mn-lt"/>
                <a:ea typeface="+mn-ea"/>
                <a:cs typeface="+mn-cs"/>
              </a:rPr>
              <a:t>updateProduct(product) =&gt; update(products).replace(product);</a:t>
            </a:r>
          </a:p>
          <a:p>
            <a:pPr lvl="1"/>
            <a:r>
              <a:rPr lang="vi-VN"/>
              <a:t>→ Cập nhật bản ghi dựa trên khóa chính.</a:t>
            </a:r>
          </a:p>
          <a:p>
            <a:r>
              <a:rPr lang="vi-VN" b="1"/>
              <a:t>Mở kết nối cơ sở dữ liệu</a:t>
            </a:r>
            <a:endParaRPr lang="vi-VN"/>
          </a:p>
          <a:p>
            <a:pPr rtl="0"/>
            <a:r>
              <a:rPr lang="vi-VN" sz="1200" kern="1200">
                <a:solidFill>
                  <a:schemeClr val="tx1"/>
                </a:solidFill>
                <a:latin typeface="+mn-lt"/>
                <a:ea typeface="+mn-ea"/>
                <a:cs typeface="+mn-cs"/>
              </a:rPr>
              <a:t>LazyDatabase _openConnection() {</a:t>
            </a:r>
          </a:p>
          <a:p>
            <a:pPr rtl="0"/>
            <a:r>
              <a:rPr lang="vi-VN" sz="1200" kern="1200">
                <a:solidFill>
                  <a:schemeClr val="tx1"/>
                </a:solidFill>
                <a:latin typeface="+mn-lt"/>
                <a:ea typeface="+mn-ea"/>
                <a:cs typeface="+mn-cs"/>
              </a:rPr>
              <a:t>  return LazyDatabase(() async {</a:t>
            </a:r>
          </a:p>
          <a:p>
            <a:pPr rtl="0"/>
            <a:r>
              <a:rPr lang="vi-VN" sz="1200" kern="1200">
                <a:solidFill>
                  <a:schemeClr val="tx1"/>
                </a:solidFill>
                <a:latin typeface="+mn-lt"/>
                <a:ea typeface="+mn-ea"/>
                <a:cs typeface="+mn-cs"/>
              </a:rPr>
              <a:t>    final dir = await getApplicationDocumentsDirectory();</a:t>
            </a:r>
          </a:p>
          <a:p>
            <a:pPr rtl="0"/>
            <a:r>
              <a:rPr lang="vi-VN" sz="1200" kern="1200">
                <a:solidFill>
                  <a:schemeClr val="tx1"/>
                </a:solidFill>
                <a:latin typeface="+mn-lt"/>
                <a:ea typeface="+mn-ea"/>
                <a:cs typeface="+mn-cs"/>
              </a:rPr>
              <a:t>    final file = File(p.join(dir.path, 'products.sqlite'));</a:t>
            </a:r>
          </a:p>
          <a:p>
            <a:pPr rtl="0"/>
            <a:r>
              <a:rPr lang="vi-VN" sz="1200" kern="1200">
                <a:solidFill>
                  <a:schemeClr val="tx1"/>
                </a:solidFill>
                <a:latin typeface="+mn-lt"/>
                <a:ea typeface="+mn-ea"/>
                <a:cs typeface="+mn-cs"/>
              </a:rPr>
              <a:t>    return NativeDatabase.createInBackground(file);</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a:t>
            </a:r>
          </a:p>
          <a:p>
            <a:r>
              <a:rPr lang="vi-VN"/>
              <a:t>→ </a:t>
            </a:r>
            <a:r>
              <a:rPr lang="vi-VN" b="1"/>
              <a:t>Tạo hoặc mở file database </a:t>
            </a:r>
            <a:r>
              <a:rPr lang="vi-VN" sz="1200" b="1" kern="1200">
                <a:solidFill>
                  <a:schemeClr val="tx1"/>
                </a:solidFill>
                <a:latin typeface="+mn-lt"/>
                <a:ea typeface="+mn-ea"/>
                <a:cs typeface="+mn-cs"/>
              </a:rPr>
              <a:t>products.sqlite</a:t>
            </a:r>
            <a:r>
              <a:rPr lang="vi-VN" b="1"/>
              <a:t> trong thư mục của ứng dụng</a:t>
            </a:r>
            <a:r>
              <a:rPr lang="vi-VN"/>
              <a:t>.</a:t>
            </a:r>
            <a:br>
              <a:rPr lang="vi-VN"/>
            </a:br>
            <a:r>
              <a:rPr lang="vi-VN"/>
              <a:t>Dùng </a:t>
            </a:r>
            <a:r>
              <a:rPr lang="vi-VN" sz="1200" kern="1200">
                <a:solidFill>
                  <a:schemeClr val="tx1"/>
                </a:solidFill>
                <a:latin typeface="+mn-lt"/>
                <a:ea typeface="+mn-ea"/>
                <a:cs typeface="+mn-cs"/>
              </a:rPr>
              <a:t>LazyDatabase</a:t>
            </a:r>
            <a:r>
              <a:rPr lang="vi-VN"/>
              <a:t> để chỉ khởi tạo khi thật sự cần, và </a:t>
            </a:r>
            <a:r>
              <a:rPr lang="vi-VN" sz="1200" kern="1200">
                <a:solidFill>
                  <a:schemeClr val="tx1"/>
                </a:solidFill>
                <a:latin typeface="+mn-lt"/>
                <a:ea typeface="+mn-ea"/>
                <a:cs typeface="+mn-cs"/>
              </a:rPr>
              <a:t>createInBackground</a:t>
            </a:r>
            <a:r>
              <a:rPr lang="vi-VN"/>
              <a:t> để không chặn giao diện.</a:t>
            </a:r>
          </a:p>
          <a:p>
            <a:br>
              <a:rPr lang="vi-VN"/>
            </a:br>
            <a:endParaRPr lang="vi-VN"/>
          </a:p>
          <a:p>
            <a:r>
              <a:rPr lang="en-US" b="1"/>
              <a:t>💡 </a:t>
            </a:r>
            <a:r>
              <a:rPr lang="vi-VN" b="1"/>
              <a:t>Tóm tắt ngắn gọn:</a:t>
            </a:r>
          </a:p>
          <a:p>
            <a:r>
              <a:rPr lang="vi-VN"/>
              <a:t>Lớp </a:t>
            </a:r>
            <a:r>
              <a:rPr lang="vi-VN" sz="1200" kern="1200">
                <a:solidFill>
                  <a:schemeClr val="tx1"/>
                </a:solidFill>
                <a:latin typeface="+mn-lt"/>
                <a:ea typeface="+mn-ea"/>
                <a:cs typeface="+mn-cs"/>
              </a:rPr>
              <a:t>AppDatabase</a:t>
            </a:r>
            <a:r>
              <a:rPr lang="vi-VN"/>
              <a:t> là </a:t>
            </a:r>
            <a:r>
              <a:rPr lang="vi-VN" b="1"/>
              <a:t>trung tâm quản lý cơ sở dữ liệu SQLite</a:t>
            </a:r>
            <a:r>
              <a:rPr lang="vi-VN"/>
              <a:t>, giúp ứng dụng </a:t>
            </a:r>
            <a:r>
              <a:rPr lang="vi-VN" b="1"/>
              <a:t>thêm, xóa, sửa, đọc sản phẩm</a:t>
            </a:r>
            <a:r>
              <a:rPr lang="vi-VN"/>
              <a:t> một cách dễ dàng, an toàn và không làm chậm UI.</a:t>
            </a:r>
          </a:p>
          <a:p>
            <a:endParaRPr lang="en-US"/>
          </a:p>
        </p:txBody>
      </p:sp>
      <p:sp>
        <p:nvSpPr>
          <p:cNvPr id="4" name="Slide Number Placeholder 3">
            <a:extLst>
              <a:ext uri="{FF2B5EF4-FFF2-40B4-BE49-F238E27FC236}">
                <a16:creationId xmlns:a16="http://schemas.microsoft.com/office/drawing/2014/main" id="{AB7F29A0-DAD5-0E36-B40A-0C17BDBDC8A7}"/>
              </a:ext>
            </a:extLst>
          </p:cNvPr>
          <p:cNvSpPr>
            <a:spLocks noGrp="1"/>
          </p:cNvSpPr>
          <p:nvPr>
            <p:ph type="sldNum" sz="quarter" idx="5"/>
          </p:nvPr>
        </p:nvSpPr>
        <p:spPr/>
        <p:txBody>
          <a:bodyPr/>
          <a:lstStyle/>
          <a:p>
            <a:fld id="{1983A999-5E0E-42CA-8400-604AE921FF7C}" type="slidenum">
              <a:rPr lang="en-US" smtClean="0"/>
              <a:t>29</a:t>
            </a:fld>
            <a:endParaRPr lang="en-US"/>
          </a:p>
        </p:txBody>
      </p:sp>
    </p:spTree>
    <p:extLst>
      <p:ext uri="{BB962C8B-B14F-4D97-AF65-F5344CB8AC3E}">
        <p14:creationId xmlns:p14="http://schemas.microsoft.com/office/powerpoint/2010/main" val="30883497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5EE05-6B97-F24E-81F3-49F15C5805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3DA3FB-7212-514A-D07D-FA8FEBC0DA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FA9AE5-BCA2-6EB4-6815-3ED759C92FC7}"/>
              </a:ext>
            </a:extLst>
          </p:cNvPr>
          <p:cNvSpPr>
            <a:spLocks noGrp="1"/>
          </p:cNvSpPr>
          <p:nvPr>
            <p:ph type="body" idx="1"/>
          </p:nvPr>
        </p:nvSpPr>
        <p:spPr/>
        <p:txBody>
          <a:bodyPr/>
          <a:lstStyle/>
          <a:p>
            <a:r>
              <a:rPr lang="vi-VN" sz="1200" b="1" kern="1200">
                <a:solidFill>
                  <a:schemeClr val="tx1"/>
                </a:solidFill>
                <a:latin typeface="+mn-lt"/>
                <a:ea typeface="+mn-ea"/>
                <a:cs typeface="+mn-cs"/>
              </a:rPr>
              <a:t>TextField</a:t>
            </a:r>
            <a:r>
              <a:rPr lang="vi-VN"/>
              <a:t> là </a:t>
            </a:r>
            <a:r>
              <a:rPr lang="vi-VN" b="1"/>
              <a:t>widget nhập văn bản (text input)</a:t>
            </a:r>
            <a:r>
              <a:rPr lang="vi-VN"/>
              <a:t> trong Flutter.</a:t>
            </a:r>
          </a:p>
          <a:p>
            <a:r>
              <a:rPr lang="vi-VN"/>
              <a:t>Nó cho phép người dùng </a:t>
            </a:r>
            <a:r>
              <a:rPr lang="vi-VN" b="1"/>
              <a:t>gõ chữ, số, email, mật khẩu, v.v.</a:t>
            </a:r>
            <a:r>
              <a:rPr lang="vi-VN"/>
              <a:t> — tương tự như ô nhập liệu trong các ứng dụng.</a:t>
            </a:r>
          </a:p>
          <a:p>
            <a:r>
              <a:rPr lang="en-US" b="1"/>
              <a:t>🔹 </a:t>
            </a:r>
            <a:r>
              <a:rPr lang="vi-VN" b="1"/>
              <a:t>Chức năng chính:</a:t>
            </a:r>
          </a:p>
          <a:p>
            <a:r>
              <a:rPr lang="vi-VN"/>
              <a:t>Dùng để </a:t>
            </a:r>
            <a:r>
              <a:rPr lang="vi-VN" b="1"/>
              <a:t>nhập dữ liệu từ bàn phím</a:t>
            </a:r>
            <a:r>
              <a:rPr lang="vi-VN"/>
              <a:t> (tên, mô tả, giá, v.v.).</a:t>
            </a:r>
          </a:p>
          <a:p>
            <a:r>
              <a:rPr lang="vi-VN"/>
              <a:t>Có thể </a:t>
            </a:r>
            <a:r>
              <a:rPr lang="vi-VN" b="1"/>
              <a:t>gắn </a:t>
            </a:r>
            <a:r>
              <a:rPr lang="vi-VN" sz="1200" b="1" kern="1200">
                <a:solidFill>
                  <a:schemeClr val="tx1"/>
                </a:solidFill>
                <a:latin typeface="+mn-lt"/>
                <a:ea typeface="+mn-ea"/>
                <a:cs typeface="+mn-cs"/>
              </a:rPr>
              <a:t>controller</a:t>
            </a:r>
            <a:r>
              <a:rPr lang="vi-VN"/>
              <a:t> để lấy hoặc đặt giá trị.</a:t>
            </a:r>
          </a:p>
          <a:p>
            <a:r>
              <a:rPr lang="vi-VN"/>
              <a:t>Có nhiều </a:t>
            </a:r>
            <a:r>
              <a:rPr lang="vi-VN" b="1"/>
              <a:t>thuộc tính tùy chỉnh giao diện</a:t>
            </a:r>
            <a:r>
              <a:rPr lang="vi-VN"/>
              <a:t>: nhãn, viền, màu, kiểu chữ,...</a:t>
            </a:r>
          </a:p>
          <a:p>
            <a:r>
              <a:rPr lang="en-US" b="1"/>
              <a:t>🔹 </a:t>
            </a:r>
            <a:r>
              <a:rPr lang="vi-VN" b="1"/>
              <a:t>Ví dụ:</a:t>
            </a:r>
          </a:p>
          <a:p>
            <a:pPr rtl="0"/>
            <a:r>
              <a:rPr lang="vi-VN" sz="1200" kern="1200">
                <a:solidFill>
                  <a:schemeClr val="tx1"/>
                </a:solidFill>
                <a:latin typeface="+mn-lt"/>
                <a:ea typeface="+mn-ea"/>
                <a:cs typeface="+mn-cs"/>
              </a:rPr>
              <a:t>TextField(</a:t>
            </a:r>
          </a:p>
          <a:p>
            <a:pPr rtl="0"/>
            <a:r>
              <a:rPr lang="vi-VN" sz="1200" kern="1200">
                <a:solidFill>
                  <a:schemeClr val="tx1"/>
                </a:solidFill>
                <a:latin typeface="+mn-lt"/>
                <a:ea typeface="+mn-ea"/>
                <a:cs typeface="+mn-cs"/>
              </a:rPr>
              <a:t>  decoration: InputDecoration(</a:t>
            </a:r>
          </a:p>
          <a:p>
            <a:pPr rtl="0"/>
            <a:r>
              <a:rPr lang="vi-VN" sz="1200" kern="1200">
                <a:solidFill>
                  <a:schemeClr val="tx1"/>
                </a:solidFill>
                <a:latin typeface="+mn-lt"/>
                <a:ea typeface="+mn-ea"/>
                <a:cs typeface="+mn-cs"/>
              </a:rPr>
              <a:t>    labelText: 'Tên sản phẩm',</a:t>
            </a:r>
          </a:p>
          <a:p>
            <a:pPr rtl="0"/>
            <a:r>
              <a:rPr lang="vi-VN" sz="1200" kern="1200">
                <a:solidFill>
                  <a:schemeClr val="tx1"/>
                </a:solidFill>
                <a:latin typeface="+mn-lt"/>
                <a:ea typeface="+mn-ea"/>
                <a:cs typeface="+mn-cs"/>
              </a:rPr>
              <a:t>    border: OutlineInputBorder(),</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onChanged: (value) {</a:t>
            </a:r>
          </a:p>
          <a:p>
            <a:pPr rtl="0"/>
            <a:r>
              <a:rPr lang="vi-VN" sz="1200" kern="1200">
                <a:solidFill>
                  <a:schemeClr val="tx1"/>
                </a:solidFill>
                <a:latin typeface="+mn-lt"/>
                <a:ea typeface="+mn-ea"/>
                <a:cs typeface="+mn-cs"/>
              </a:rPr>
              <a:t>    print('Người dùng nhập: $value');</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a:t>
            </a:r>
            <a:endParaRPr lang="vi-VN"/>
          </a:p>
          <a:p>
            <a:r>
              <a:rPr lang="en-US" b="1"/>
              <a:t>🔹 </a:t>
            </a:r>
            <a:r>
              <a:rPr lang="vi-VN" b="1"/>
              <a:t>Giải thích:</a:t>
            </a:r>
          </a:p>
          <a:p>
            <a:r>
              <a:rPr lang="vi-VN" sz="1200" kern="1200">
                <a:solidFill>
                  <a:schemeClr val="tx1"/>
                </a:solidFill>
                <a:latin typeface="+mn-lt"/>
                <a:ea typeface="+mn-ea"/>
                <a:cs typeface="+mn-cs"/>
              </a:rPr>
              <a:t>decoration</a:t>
            </a:r>
            <a:r>
              <a:rPr lang="vi-VN"/>
              <a:t> → trang trí ô nhập (hiển thị label, viền,...).</a:t>
            </a:r>
          </a:p>
          <a:p>
            <a:r>
              <a:rPr lang="vi-VN" sz="1200" kern="1200">
                <a:solidFill>
                  <a:schemeClr val="tx1"/>
                </a:solidFill>
                <a:latin typeface="+mn-lt"/>
                <a:ea typeface="+mn-ea"/>
                <a:cs typeface="+mn-cs"/>
              </a:rPr>
              <a:t>onChanged</a:t>
            </a:r>
            <a:r>
              <a:rPr lang="vi-VN"/>
              <a:t> → lắng nghe khi người dùng gõ.</a:t>
            </a:r>
          </a:p>
          <a:p>
            <a:r>
              <a:rPr lang="vi-VN" sz="1200" kern="1200">
                <a:solidFill>
                  <a:schemeClr val="tx1"/>
                </a:solidFill>
                <a:latin typeface="+mn-lt"/>
                <a:ea typeface="+mn-ea"/>
                <a:cs typeface="+mn-cs"/>
              </a:rPr>
              <a:t>controller</a:t>
            </a:r>
            <a:r>
              <a:rPr lang="vi-VN"/>
              <a:t> → quản lý nội dung ô nhập (đọc/gán giá trị dễ dàng).</a:t>
            </a:r>
          </a:p>
          <a:p>
            <a:r>
              <a:rPr lang="en-US" b="1"/>
              <a:t>💡 </a:t>
            </a:r>
            <a:r>
              <a:rPr lang="vi-VN" b="1"/>
              <a:t>Tóm tắt:</a:t>
            </a:r>
          </a:p>
          <a:p>
            <a:r>
              <a:rPr lang="vi-VN" sz="1200" kern="1200">
                <a:solidFill>
                  <a:schemeClr val="tx1"/>
                </a:solidFill>
                <a:latin typeface="+mn-lt"/>
                <a:ea typeface="+mn-ea"/>
                <a:cs typeface="+mn-cs"/>
              </a:rPr>
              <a:t>TextField</a:t>
            </a:r>
            <a:r>
              <a:rPr lang="vi-VN"/>
              <a:t> là ô nhập văn bản trong Flutter, giúp người dùng nhập dữ liệu và tương tác với ứng dụng.</a:t>
            </a:r>
          </a:p>
          <a:p>
            <a:endParaRPr lang="en-US"/>
          </a:p>
        </p:txBody>
      </p:sp>
      <p:sp>
        <p:nvSpPr>
          <p:cNvPr id="4" name="Slide Number Placeholder 3">
            <a:extLst>
              <a:ext uri="{FF2B5EF4-FFF2-40B4-BE49-F238E27FC236}">
                <a16:creationId xmlns:a16="http://schemas.microsoft.com/office/drawing/2014/main" id="{FA14D822-1B26-CDFD-E97D-11EFC6548438}"/>
              </a:ext>
            </a:extLst>
          </p:cNvPr>
          <p:cNvSpPr>
            <a:spLocks noGrp="1"/>
          </p:cNvSpPr>
          <p:nvPr>
            <p:ph type="sldNum" sz="quarter" idx="5"/>
          </p:nvPr>
        </p:nvSpPr>
        <p:spPr/>
        <p:txBody>
          <a:bodyPr/>
          <a:lstStyle/>
          <a:p>
            <a:fld id="{1983A999-5E0E-42CA-8400-604AE921FF7C}" type="slidenum">
              <a:rPr lang="en-US" smtClean="0"/>
              <a:t>30</a:t>
            </a:fld>
            <a:endParaRPr lang="en-US"/>
          </a:p>
        </p:txBody>
      </p:sp>
    </p:spTree>
    <p:extLst>
      <p:ext uri="{BB962C8B-B14F-4D97-AF65-F5344CB8AC3E}">
        <p14:creationId xmlns:p14="http://schemas.microsoft.com/office/powerpoint/2010/main" val="12248715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69121-3CD7-DC88-003B-0A75DB5008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BD6914-9D2F-E999-EF15-579A04BF87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65B001-8D2B-CD1A-AA3F-64270B69B09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F1970B8-347C-A6B8-81ED-B5F5C38D3981}"/>
              </a:ext>
            </a:extLst>
          </p:cNvPr>
          <p:cNvSpPr>
            <a:spLocks noGrp="1"/>
          </p:cNvSpPr>
          <p:nvPr>
            <p:ph type="sldNum" sz="quarter" idx="5"/>
          </p:nvPr>
        </p:nvSpPr>
        <p:spPr/>
        <p:txBody>
          <a:bodyPr/>
          <a:lstStyle/>
          <a:p>
            <a:fld id="{1983A999-5E0E-42CA-8400-604AE921FF7C}" type="slidenum">
              <a:rPr lang="en-US" smtClean="0"/>
              <a:t>31</a:t>
            </a:fld>
            <a:endParaRPr lang="en-US"/>
          </a:p>
        </p:txBody>
      </p:sp>
    </p:spTree>
    <p:extLst>
      <p:ext uri="{BB962C8B-B14F-4D97-AF65-F5344CB8AC3E}">
        <p14:creationId xmlns:p14="http://schemas.microsoft.com/office/powerpoint/2010/main" val="9175542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DB835-50FB-A285-CCE0-3FE89D2BBE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F03517-7587-0BED-586D-2F9C72D47B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3CE11D-A21C-3D81-9A53-C620D144F61C}"/>
              </a:ext>
            </a:extLst>
          </p:cNvPr>
          <p:cNvSpPr>
            <a:spLocks noGrp="1"/>
          </p:cNvSpPr>
          <p:nvPr>
            <p:ph type="body" idx="1"/>
          </p:nvPr>
        </p:nvSpPr>
        <p:spPr/>
        <p:txBody>
          <a:bodyPr/>
          <a:lstStyle/>
          <a:p>
            <a:r>
              <a:rPr lang="vi-VN"/>
              <a:t>Trong đoạn code bạn gửi, biến </a:t>
            </a:r>
            <a:r>
              <a:rPr lang="vi-VN" sz="1200" kern="1200">
                <a:solidFill>
                  <a:schemeClr val="tx1"/>
                </a:solidFill>
                <a:latin typeface="+mn-lt"/>
                <a:ea typeface="+mn-ea"/>
                <a:cs typeface="+mn-cs"/>
              </a:rPr>
              <a:t>products</a:t>
            </a:r>
            <a:r>
              <a:rPr lang="vi-VN"/>
              <a:t> xuất hiện ở đây </a:t>
            </a:r>
            <a:r>
              <a:rPr lang="en-US"/>
              <a:t>👇</a:t>
            </a:r>
          </a:p>
          <a:p>
            <a:pPr rtl="0"/>
            <a:r>
              <a:rPr lang="vi-VN" sz="1200" kern="1200">
                <a:solidFill>
                  <a:schemeClr val="tx1"/>
                </a:solidFill>
                <a:latin typeface="+mn-lt"/>
                <a:ea typeface="+mn-ea"/>
                <a:cs typeface="+mn-cs"/>
              </a:rPr>
              <a:t>final products = snapshot.data!;</a:t>
            </a:r>
          </a:p>
          <a:p>
            <a:r>
              <a:rPr lang="en-US" b="1"/>
              <a:t>👉 </a:t>
            </a:r>
            <a:r>
              <a:rPr lang="vi-VN" b="1"/>
              <a:t>Giải thích nguồn gốc của </a:t>
            </a:r>
            <a:r>
              <a:rPr lang="vi-VN" sz="1200" b="1" kern="1200">
                <a:solidFill>
                  <a:schemeClr val="tx1"/>
                </a:solidFill>
                <a:latin typeface="+mn-lt"/>
                <a:ea typeface="+mn-ea"/>
                <a:cs typeface="+mn-cs"/>
              </a:rPr>
              <a:t>products</a:t>
            </a:r>
            <a:r>
              <a:rPr lang="vi-VN" b="1"/>
              <a:t>:</a:t>
            </a:r>
          </a:p>
          <a:p>
            <a:r>
              <a:rPr lang="vi-VN" b="1"/>
              <a:t>Nó đến từ </a:t>
            </a:r>
            <a:r>
              <a:rPr lang="vi-VN" sz="1200" b="1" kern="1200">
                <a:solidFill>
                  <a:schemeClr val="tx1"/>
                </a:solidFill>
                <a:latin typeface="+mn-lt"/>
                <a:ea typeface="+mn-ea"/>
                <a:cs typeface="+mn-cs"/>
              </a:rPr>
              <a:t>FutureBuilder</a:t>
            </a:r>
            <a:endParaRPr lang="vi-VN"/>
          </a:p>
          <a:p>
            <a:pPr rtl="0"/>
            <a:r>
              <a:rPr lang="vi-VN" sz="1200" kern="1200">
                <a:solidFill>
                  <a:schemeClr val="tx1"/>
                </a:solidFill>
                <a:latin typeface="+mn-lt"/>
                <a:ea typeface="+mn-ea"/>
                <a:cs typeface="+mn-cs"/>
              </a:rPr>
              <a:t>body: FutureBuilder&lt;List&lt;Product&gt;&gt;(</a:t>
            </a:r>
          </a:p>
          <a:p>
            <a:pPr rtl="0"/>
            <a:r>
              <a:rPr lang="vi-VN" sz="1200" kern="1200">
                <a:solidFill>
                  <a:schemeClr val="tx1"/>
                </a:solidFill>
                <a:latin typeface="+mn-lt"/>
                <a:ea typeface="+mn-ea"/>
                <a:cs typeface="+mn-cs"/>
              </a:rPr>
              <a:t>  future: _productList,</a:t>
            </a:r>
          </a:p>
          <a:p>
            <a:pPr rtl="0"/>
            <a:r>
              <a:rPr lang="vi-VN" sz="1200" kern="1200">
                <a:solidFill>
                  <a:schemeClr val="tx1"/>
                </a:solidFill>
                <a:latin typeface="+mn-lt"/>
                <a:ea typeface="+mn-ea"/>
                <a:cs typeface="+mn-cs"/>
              </a:rPr>
              <a:t>  builder: (context, snapshot) {</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final products = snapshot.data!;</a:t>
            </a:r>
          </a:p>
          <a:p>
            <a:r>
              <a:rPr lang="vi-VN"/>
              <a:t>Ở dòng này,</a:t>
            </a:r>
            <a:r>
              <a:rPr lang="vi-VN" sz="1200" kern="1200">
                <a:solidFill>
                  <a:schemeClr val="tx1"/>
                </a:solidFill>
                <a:latin typeface="+mn-lt"/>
                <a:ea typeface="+mn-ea"/>
                <a:cs typeface="+mn-cs"/>
              </a:rPr>
              <a:t> FutureBuilder&lt;List&lt;Product&gt;&gt;</a:t>
            </a:r>
            <a:r>
              <a:rPr lang="vi-VN"/>
              <a:t> là một widget Flutter dùng để </a:t>
            </a:r>
            <a:r>
              <a:rPr lang="vi-VN" b="1"/>
              <a:t>xử lý dữ liệu bất đồng bộ</a:t>
            </a:r>
            <a:r>
              <a:rPr lang="vi-VN"/>
              <a:t> — tức là dữ liệu lấy từ CSDL Drift (SQLite) thông qua Future.</a:t>
            </a:r>
          </a:p>
          <a:p>
            <a:r>
              <a:rPr lang="vi-VN" sz="1200" b="1" kern="1200">
                <a:solidFill>
                  <a:schemeClr val="tx1"/>
                </a:solidFill>
                <a:latin typeface="+mn-lt"/>
                <a:ea typeface="+mn-ea"/>
                <a:cs typeface="+mn-cs"/>
              </a:rPr>
              <a:t>future: _productList</a:t>
            </a:r>
            <a:r>
              <a:rPr lang="vi-VN"/>
              <a:t> là nơi cung cấp dữ liệu.</a:t>
            </a:r>
            <a:br>
              <a:rPr lang="vi-VN"/>
            </a:br>
            <a:r>
              <a:rPr lang="vi-VN"/>
              <a:t>Nghĩa là </a:t>
            </a:r>
            <a:r>
              <a:rPr lang="vi-VN" sz="1200" kern="1200">
                <a:solidFill>
                  <a:schemeClr val="tx1"/>
                </a:solidFill>
                <a:latin typeface="+mn-lt"/>
                <a:ea typeface="+mn-ea"/>
                <a:cs typeface="+mn-cs"/>
              </a:rPr>
              <a:t>FutureBuilder</a:t>
            </a:r>
            <a:r>
              <a:rPr lang="vi-VN"/>
              <a:t> sẽ “chờ” </a:t>
            </a:r>
            <a:r>
              <a:rPr lang="vi-VN" sz="1200" kern="1200">
                <a:solidFill>
                  <a:schemeClr val="tx1"/>
                </a:solidFill>
                <a:latin typeface="+mn-lt"/>
                <a:ea typeface="+mn-ea"/>
                <a:cs typeface="+mn-cs"/>
              </a:rPr>
              <a:t>Future</a:t>
            </a:r>
            <a:r>
              <a:rPr lang="vi-VN"/>
              <a:t> này hoàn thành, sau đó nhận danh sách sản phẩm (</a:t>
            </a:r>
            <a:r>
              <a:rPr lang="vi-VN" sz="1200" kern="1200">
                <a:solidFill>
                  <a:schemeClr val="tx1"/>
                </a:solidFill>
                <a:latin typeface="+mn-lt"/>
                <a:ea typeface="+mn-ea"/>
                <a:cs typeface="+mn-cs"/>
              </a:rPr>
              <a:t>List&lt;Product&gt;</a:t>
            </a:r>
            <a:r>
              <a:rPr lang="vi-VN"/>
              <a:t>).</a:t>
            </a:r>
          </a:p>
          <a:p>
            <a:r>
              <a:rPr lang="vi-VN" sz="1200" b="1" kern="1200">
                <a:solidFill>
                  <a:schemeClr val="tx1"/>
                </a:solidFill>
                <a:latin typeface="+mn-lt"/>
                <a:ea typeface="+mn-ea"/>
                <a:cs typeface="+mn-cs"/>
              </a:rPr>
              <a:t>_productList</a:t>
            </a:r>
            <a:r>
              <a:rPr lang="vi-VN"/>
              <a:t> thường được định nghĩa trong lớp chứa đoạn code này, ví dụ:</a:t>
            </a:r>
          </a:p>
          <a:p>
            <a:pPr rtl="0"/>
            <a:r>
              <a:rPr lang="vi-VN" sz="1200" kern="1200">
                <a:solidFill>
                  <a:schemeClr val="tx1"/>
                </a:solidFill>
                <a:latin typeface="+mn-lt"/>
                <a:ea typeface="+mn-ea"/>
                <a:cs typeface="+mn-cs"/>
              </a:rPr>
              <a:t>late Future&lt;List&lt;Product&gt;&gt; _productList;</a:t>
            </a:r>
          </a:p>
          <a:p>
            <a:pPr rtl="0"/>
            <a:endParaRPr lang="vi-VN" sz="1200" kern="1200">
              <a:solidFill>
                <a:schemeClr val="tx1"/>
              </a:solidFill>
              <a:latin typeface="+mn-lt"/>
              <a:ea typeface="+mn-ea"/>
              <a:cs typeface="+mn-cs"/>
            </a:endParaRPr>
          </a:p>
          <a:p>
            <a:pPr rtl="0"/>
            <a:r>
              <a:rPr lang="vi-VN" sz="1200" kern="1200">
                <a:solidFill>
                  <a:schemeClr val="tx1"/>
                </a:solidFill>
                <a:latin typeface="+mn-lt"/>
                <a:ea typeface="+mn-ea"/>
                <a:cs typeface="+mn-cs"/>
              </a:rPr>
              <a:t>void _refresh() {</a:t>
            </a:r>
          </a:p>
          <a:p>
            <a:pPr rtl="0"/>
            <a:r>
              <a:rPr lang="vi-VN" sz="1200" kern="1200">
                <a:solidFill>
                  <a:schemeClr val="tx1"/>
                </a:solidFill>
                <a:latin typeface="+mn-lt"/>
                <a:ea typeface="+mn-ea"/>
                <a:cs typeface="+mn-cs"/>
              </a:rPr>
              <a:t>  setState(() {</a:t>
            </a:r>
          </a:p>
          <a:p>
            <a:pPr rtl="0"/>
            <a:r>
              <a:rPr lang="vi-VN" sz="1200" kern="1200">
                <a:solidFill>
                  <a:schemeClr val="tx1"/>
                </a:solidFill>
                <a:latin typeface="+mn-lt"/>
                <a:ea typeface="+mn-ea"/>
                <a:cs typeface="+mn-cs"/>
              </a:rPr>
              <a:t>    _productList = widget.db.getAllProducts(); // &lt;-- Lấy danh sách từ CSDL</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a:t>
            </a:r>
          </a:p>
          <a:p>
            <a:r>
              <a:rPr lang="vi-VN"/>
              <a:t>Hàm </a:t>
            </a:r>
            <a:r>
              <a:rPr lang="vi-VN" sz="1200" kern="1200">
                <a:solidFill>
                  <a:schemeClr val="tx1"/>
                </a:solidFill>
                <a:latin typeface="+mn-lt"/>
                <a:ea typeface="+mn-ea"/>
                <a:cs typeface="+mn-cs"/>
              </a:rPr>
              <a:t>widget.db.getAllProducts()</a:t>
            </a:r>
            <a:r>
              <a:rPr lang="vi-VN"/>
              <a:t> là một hàm trong lớp </a:t>
            </a:r>
            <a:r>
              <a:rPr lang="vi-VN" b="1"/>
              <a:t>AppDatabase</a:t>
            </a:r>
            <a:r>
              <a:rPr lang="vi-VN"/>
              <a:t> hoặc </a:t>
            </a:r>
            <a:r>
              <a:rPr lang="vi-VN" b="1"/>
              <a:t>DBHelper</a:t>
            </a:r>
            <a:r>
              <a:rPr lang="vi-VN"/>
              <a:t>, dùng Drift để truy vấn toàn bộ sản phẩm trong bảng </a:t>
            </a:r>
            <a:r>
              <a:rPr lang="vi-VN" sz="1200" kern="1200">
                <a:solidFill>
                  <a:schemeClr val="tx1"/>
                </a:solidFill>
                <a:latin typeface="+mn-lt"/>
                <a:ea typeface="+mn-ea"/>
                <a:cs typeface="+mn-cs"/>
              </a:rPr>
              <a:t>products</a:t>
            </a:r>
            <a:r>
              <a:rPr lang="vi-VN"/>
              <a:t>.</a:t>
            </a:r>
          </a:p>
          <a:p>
            <a:r>
              <a:rPr lang="vi-VN"/>
              <a:t>Khi truy vấn xong, </a:t>
            </a:r>
            <a:r>
              <a:rPr lang="vi-VN" sz="1200" kern="1200">
                <a:solidFill>
                  <a:schemeClr val="tx1"/>
                </a:solidFill>
                <a:latin typeface="+mn-lt"/>
                <a:ea typeface="+mn-ea"/>
                <a:cs typeface="+mn-cs"/>
              </a:rPr>
              <a:t>snapshot.data</a:t>
            </a:r>
            <a:r>
              <a:rPr lang="vi-VN"/>
              <a:t> chứa giá trị trả về của </a:t>
            </a:r>
            <a:r>
              <a:rPr lang="vi-VN" sz="1200" kern="1200">
                <a:solidFill>
                  <a:schemeClr val="tx1"/>
                </a:solidFill>
                <a:latin typeface="+mn-lt"/>
                <a:ea typeface="+mn-ea"/>
                <a:cs typeface="+mn-cs"/>
              </a:rPr>
              <a:t>Future</a:t>
            </a:r>
            <a:r>
              <a:rPr lang="vi-VN"/>
              <a:t>, tức là </a:t>
            </a:r>
            <a:r>
              <a:rPr lang="vi-VN" sz="1200" b="1" kern="1200">
                <a:solidFill>
                  <a:schemeClr val="tx1"/>
                </a:solidFill>
                <a:latin typeface="+mn-lt"/>
                <a:ea typeface="+mn-ea"/>
                <a:cs typeface="+mn-cs"/>
              </a:rPr>
              <a:t>List&lt;Product&gt;</a:t>
            </a:r>
            <a:r>
              <a:rPr lang="vi-VN"/>
              <a:t>.</a:t>
            </a:r>
          </a:p>
          <a:p>
            <a:r>
              <a:rPr lang="vi-VN"/>
              <a:t>Cuối cùng: </a:t>
            </a:r>
          </a:p>
          <a:p>
            <a:pPr rtl="0"/>
            <a:r>
              <a:rPr lang="vi-VN" sz="1200" kern="1200">
                <a:solidFill>
                  <a:schemeClr val="tx1"/>
                </a:solidFill>
                <a:latin typeface="+mn-lt"/>
                <a:ea typeface="+mn-ea"/>
                <a:cs typeface="+mn-cs"/>
              </a:rPr>
              <a:t>final products = snapshot.data!;</a:t>
            </a:r>
          </a:p>
          <a:p>
            <a:r>
              <a:rPr lang="vi-VN"/>
              <a:t>nghĩa là lấy dữ liệu đó ra và gán vào biến </a:t>
            </a:r>
            <a:r>
              <a:rPr lang="vi-VN" sz="1200" kern="1200">
                <a:solidFill>
                  <a:schemeClr val="tx1"/>
                </a:solidFill>
                <a:latin typeface="+mn-lt"/>
                <a:ea typeface="+mn-ea"/>
                <a:cs typeface="+mn-cs"/>
              </a:rPr>
              <a:t>products</a:t>
            </a:r>
            <a:r>
              <a:rPr lang="vi-VN"/>
              <a:t> để hiển thị.</a:t>
            </a:r>
          </a:p>
          <a:p>
            <a:r>
              <a:rPr lang="en-US" b="1"/>
              <a:t>🧩 </a:t>
            </a:r>
            <a:r>
              <a:rPr lang="vi-VN" b="1"/>
              <a:t>Tóm tắt luồng dữ liệu:</a:t>
            </a:r>
          </a:p>
          <a:p>
            <a:r>
              <a:rPr lang="vi-VN"/>
              <a:t>Hàm </a:t>
            </a:r>
            <a:r>
              <a:rPr lang="vi-VN" sz="1200" kern="1200">
                <a:solidFill>
                  <a:schemeClr val="tx1"/>
                </a:solidFill>
                <a:latin typeface="+mn-lt"/>
                <a:ea typeface="+mn-ea"/>
                <a:cs typeface="+mn-cs"/>
              </a:rPr>
              <a:t>getAllProducts()</a:t>
            </a:r>
            <a:r>
              <a:rPr lang="vi-VN"/>
              <a:t> trong </a:t>
            </a:r>
            <a:r>
              <a:rPr lang="vi-VN" sz="1200" kern="1200">
                <a:solidFill>
                  <a:schemeClr val="tx1"/>
                </a:solidFill>
                <a:latin typeface="+mn-lt"/>
                <a:ea typeface="+mn-ea"/>
                <a:cs typeface="+mn-cs"/>
              </a:rPr>
              <a:t>AppDatabase</a:t>
            </a:r>
            <a:r>
              <a:rPr lang="vi-VN"/>
              <a:t> → đọc bảng </a:t>
            </a:r>
            <a:r>
              <a:rPr lang="vi-VN" sz="1200" kern="1200">
                <a:solidFill>
                  <a:schemeClr val="tx1"/>
                </a:solidFill>
                <a:latin typeface="+mn-lt"/>
                <a:ea typeface="+mn-ea"/>
                <a:cs typeface="+mn-cs"/>
              </a:rPr>
              <a:t>products</a:t>
            </a:r>
            <a:r>
              <a:rPr lang="vi-VN"/>
              <a:t> trong SQLite → trả về </a:t>
            </a:r>
            <a:r>
              <a:rPr lang="vi-VN" sz="1200" kern="1200">
                <a:solidFill>
                  <a:schemeClr val="tx1"/>
                </a:solidFill>
                <a:latin typeface="+mn-lt"/>
                <a:ea typeface="+mn-ea"/>
                <a:cs typeface="+mn-cs"/>
              </a:rPr>
              <a:t>Future&lt;List&lt;Product&gt;&gt;</a:t>
            </a:r>
            <a:r>
              <a:rPr lang="vi-VN"/>
              <a:t>.</a:t>
            </a:r>
          </a:p>
          <a:p>
            <a:r>
              <a:rPr lang="vi-VN" sz="1200" kern="1200">
                <a:solidFill>
                  <a:schemeClr val="tx1"/>
                </a:solidFill>
                <a:latin typeface="+mn-lt"/>
                <a:ea typeface="+mn-ea"/>
                <a:cs typeface="+mn-cs"/>
              </a:rPr>
              <a:t>_productList</a:t>
            </a:r>
            <a:r>
              <a:rPr lang="vi-VN"/>
              <a:t> lưu Future này.</a:t>
            </a:r>
          </a:p>
          <a:p>
            <a:r>
              <a:rPr lang="vi-VN" sz="1200" kern="1200">
                <a:solidFill>
                  <a:schemeClr val="tx1"/>
                </a:solidFill>
                <a:latin typeface="+mn-lt"/>
                <a:ea typeface="+mn-ea"/>
                <a:cs typeface="+mn-cs"/>
              </a:rPr>
              <a:t>FutureBuilder</a:t>
            </a:r>
            <a:r>
              <a:rPr lang="vi-VN"/>
              <a:t> theo dõi </a:t>
            </a:r>
            <a:r>
              <a:rPr lang="vi-VN" sz="1200" kern="1200">
                <a:solidFill>
                  <a:schemeClr val="tx1"/>
                </a:solidFill>
                <a:latin typeface="+mn-lt"/>
                <a:ea typeface="+mn-ea"/>
                <a:cs typeface="+mn-cs"/>
              </a:rPr>
              <a:t>_productList</a:t>
            </a:r>
            <a:r>
              <a:rPr lang="vi-VN"/>
              <a:t> → khi dữ liệu sẵn sàng, </a:t>
            </a:r>
            <a:r>
              <a:rPr lang="vi-VN" sz="1200" kern="1200">
                <a:solidFill>
                  <a:schemeClr val="tx1"/>
                </a:solidFill>
                <a:latin typeface="+mn-lt"/>
                <a:ea typeface="+mn-ea"/>
                <a:cs typeface="+mn-cs"/>
              </a:rPr>
              <a:t>snapshot.data</a:t>
            </a:r>
            <a:r>
              <a:rPr lang="vi-VN"/>
              <a:t> chứa danh sách sản phẩm.</a:t>
            </a:r>
          </a:p>
          <a:p>
            <a:r>
              <a:rPr lang="vi-VN" sz="1200" kern="1200">
                <a:solidFill>
                  <a:schemeClr val="tx1"/>
                </a:solidFill>
                <a:latin typeface="+mn-lt"/>
                <a:ea typeface="+mn-ea"/>
                <a:cs typeface="+mn-cs"/>
              </a:rPr>
              <a:t>final products = snapshot.data!</a:t>
            </a:r>
            <a:r>
              <a:rPr lang="vi-VN"/>
              <a:t> lấy dữ liệu này ra để hiển thị trong </a:t>
            </a:r>
            <a:r>
              <a:rPr lang="vi-VN" sz="1200" kern="1200">
                <a:solidFill>
                  <a:schemeClr val="tx1"/>
                </a:solidFill>
                <a:latin typeface="+mn-lt"/>
                <a:ea typeface="+mn-ea"/>
                <a:cs typeface="+mn-cs"/>
              </a:rPr>
              <a:t>ListView.builder</a:t>
            </a:r>
            <a:r>
              <a:rPr lang="vi-VN"/>
              <a:t>.</a:t>
            </a:r>
          </a:p>
          <a:p>
            <a:r>
              <a:rPr lang="en-US" b="1"/>
              <a:t>---------------------------------------------------------------------------------------------------------------------------------------------</a:t>
            </a:r>
          </a:p>
          <a:p>
            <a:r>
              <a:rPr lang="en-US" b="1"/>
              <a:t>🔍 </a:t>
            </a:r>
            <a:r>
              <a:rPr lang="vi-VN" b="1"/>
              <a:t>Giải thích chi tiết từng phần:</a:t>
            </a:r>
          </a:p>
          <a:p>
            <a:pPr rtl="0"/>
            <a:r>
              <a:rPr lang="vi-VN" sz="1200" kern="1200">
                <a:solidFill>
                  <a:schemeClr val="tx1"/>
                </a:solidFill>
                <a:latin typeface="+mn-lt"/>
                <a:ea typeface="+mn-ea"/>
                <a:cs typeface="+mn-cs"/>
              </a:rPr>
              <a:t>return ListView.builder(</a:t>
            </a:r>
          </a:p>
          <a:p>
            <a:pPr rtl="0"/>
            <a:r>
              <a:rPr lang="vi-VN" sz="1200" kern="1200">
                <a:solidFill>
                  <a:schemeClr val="tx1"/>
                </a:solidFill>
                <a:latin typeface="+mn-lt"/>
                <a:ea typeface="+mn-ea"/>
                <a:cs typeface="+mn-cs"/>
              </a:rPr>
              <a:t>  itemCount: products.length,</a:t>
            </a:r>
          </a:p>
          <a:p>
            <a:pPr rtl="0"/>
            <a:r>
              <a:rPr lang="vi-VN" sz="1200" kern="1200">
                <a:solidFill>
                  <a:schemeClr val="tx1"/>
                </a:solidFill>
                <a:latin typeface="+mn-lt"/>
                <a:ea typeface="+mn-ea"/>
                <a:cs typeface="+mn-cs"/>
              </a:rPr>
              <a:t>  itemBuilder: (context, index) {</a:t>
            </a:r>
          </a:p>
          <a:p>
            <a:pPr rtl="0"/>
            <a:r>
              <a:rPr lang="vi-VN" sz="1200" kern="1200">
                <a:solidFill>
                  <a:schemeClr val="tx1"/>
                </a:solidFill>
                <a:latin typeface="+mn-lt"/>
                <a:ea typeface="+mn-ea"/>
                <a:cs typeface="+mn-cs"/>
              </a:rPr>
              <a:t>    final p = products[index];</a:t>
            </a:r>
          </a:p>
          <a:p>
            <a:pPr rtl="0"/>
            <a:r>
              <a:rPr lang="vi-VN" sz="1200" kern="1200">
                <a:solidFill>
                  <a:schemeClr val="tx1"/>
                </a:solidFill>
                <a:latin typeface="+mn-lt"/>
                <a:ea typeface="+mn-ea"/>
                <a:cs typeface="+mn-cs"/>
              </a:rPr>
              <a:t>    final dateStr = DateFormat('dd/MM/yyyy HH:mm').format(p.dateAdded);</a:t>
            </a:r>
          </a:p>
          <a:p>
            <a:r>
              <a:rPr lang="vi-VN" sz="1200" b="1" kern="1200">
                <a:solidFill>
                  <a:schemeClr val="tx1"/>
                </a:solidFill>
                <a:latin typeface="+mn-lt"/>
                <a:ea typeface="+mn-ea"/>
                <a:cs typeface="+mn-cs"/>
              </a:rPr>
              <a:t>ListView.builder</a:t>
            </a:r>
            <a:r>
              <a:rPr lang="vi-VN"/>
              <a:t> → là widget Flutter dùng để </a:t>
            </a:r>
            <a:r>
              <a:rPr lang="vi-VN" b="1"/>
              <a:t>tạo danh sách cuộn</a:t>
            </a:r>
            <a:r>
              <a:rPr lang="vi-VN"/>
              <a:t> (scrollable list).</a:t>
            </a:r>
          </a:p>
          <a:p>
            <a:pPr lvl="1"/>
            <a:r>
              <a:rPr lang="vi-VN" sz="1200" kern="1200">
                <a:solidFill>
                  <a:schemeClr val="tx1"/>
                </a:solidFill>
                <a:latin typeface="+mn-lt"/>
                <a:ea typeface="+mn-ea"/>
                <a:cs typeface="+mn-cs"/>
              </a:rPr>
              <a:t>itemCount</a:t>
            </a:r>
            <a:r>
              <a:rPr lang="vi-VN"/>
              <a:t> = số lượng phần tử (ở đây là số sản phẩm).</a:t>
            </a:r>
          </a:p>
          <a:p>
            <a:pPr lvl="1"/>
            <a:r>
              <a:rPr lang="vi-VN" sz="1200" kern="1200">
                <a:solidFill>
                  <a:schemeClr val="tx1"/>
                </a:solidFill>
                <a:latin typeface="+mn-lt"/>
                <a:ea typeface="+mn-ea"/>
                <a:cs typeface="+mn-cs"/>
              </a:rPr>
              <a:t>itemBuilder</a:t>
            </a:r>
            <a:r>
              <a:rPr lang="vi-VN"/>
              <a:t> = hàm xây dựng từng phần tử (gọi 1 lần cho mỗi sản phẩm).</a:t>
            </a:r>
          </a:p>
          <a:p>
            <a:r>
              <a:rPr lang="vi-VN" sz="1200" b="1" kern="1200">
                <a:solidFill>
                  <a:schemeClr val="tx1"/>
                </a:solidFill>
                <a:latin typeface="+mn-lt"/>
                <a:ea typeface="+mn-ea"/>
                <a:cs typeface="+mn-cs"/>
              </a:rPr>
              <a:t>products</a:t>
            </a:r>
            <a:r>
              <a:rPr lang="vi-VN"/>
              <a:t> → danh sách các sản phẩm (</a:t>
            </a:r>
            <a:r>
              <a:rPr lang="vi-VN" sz="1200" kern="1200">
                <a:solidFill>
                  <a:schemeClr val="tx1"/>
                </a:solidFill>
                <a:latin typeface="+mn-lt"/>
                <a:ea typeface="+mn-ea"/>
                <a:cs typeface="+mn-cs"/>
              </a:rPr>
              <a:t>List&lt;Product&gt;</a:t>
            </a:r>
            <a:r>
              <a:rPr lang="vi-VN"/>
              <a:t>) lấy từ cơ sở dữ liệu.</a:t>
            </a:r>
          </a:p>
          <a:p>
            <a:r>
              <a:rPr lang="vi-VN" sz="1200" b="1" kern="1200">
                <a:solidFill>
                  <a:schemeClr val="tx1"/>
                </a:solidFill>
                <a:latin typeface="+mn-lt"/>
                <a:ea typeface="+mn-ea"/>
                <a:cs typeface="+mn-cs"/>
              </a:rPr>
              <a:t>p = products[index]</a:t>
            </a:r>
            <a:r>
              <a:rPr lang="vi-VN"/>
              <a:t> → lấy từng sản phẩm một trong danh sách.</a:t>
            </a:r>
          </a:p>
          <a:p>
            <a:r>
              <a:rPr lang="vi-VN" sz="1200" b="1" kern="1200">
                <a:solidFill>
                  <a:schemeClr val="tx1"/>
                </a:solidFill>
                <a:latin typeface="+mn-lt"/>
                <a:ea typeface="+mn-ea"/>
                <a:cs typeface="+mn-cs"/>
              </a:rPr>
              <a:t>DateFormat(...)</a:t>
            </a:r>
            <a:r>
              <a:rPr lang="vi-VN"/>
              <a:t> → định dạng lại ngày nhập (để hiển thị đẹp hơn, ví dụ: </a:t>
            </a:r>
            <a:r>
              <a:rPr lang="vi-VN" sz="1200" kern="1200">
                <a:solidFill>
                  <a:schemeClr val="tx1"/>
                </a:solidFill>
                <a:latin typeface="+mn-lt"/>
                <a:ea typeface="+mn-ea"/>
                <a:cs typeface="+mn-cs"/>
              </a:rPr>
              <a:t>24/10/2025 15:30</a:t>
            </a:r>
            <a:r>
              <a:rPr lang="vi-VN"/>
              <a:t>).</a:t>
            </a:r>
          </a:p>
          <a:p>
            <a:br>
              <a:rPr lang="vi-VN"/>
            </a:br>
            <a:endParaRPr lang="vi-VN"/>
          </a:p>
          <a:p>
            <a:r>
              <a:rPr lang="en-US" b="1"/>
              <a:t>📦 </a:t>
            </a:r>
            <a:r>
              <a:rPr lang="vi-VN" b="1"/>
              <a:t>Tiếp theo:</a:t>
            </a:r>
          </a:p>
          <a:p>
            <a:pPr rtl="0"/>
            <a:r>
              <a:rPr lang="vi-VN" sz="1200" kern="1200">
                <a:solidFill>
                  <a:schemeClr val="tx1"/>
                </a:solidFill>
                <a:latin typeface="+mn-lt"/>
                <a:ea typeface="+mn-ea"/>
                <a:cs typeface="+mn-cs"/>
              </a:rPr>
              <a:t>return ListTile(</a:t>
            </a:r>
          </a:p>
          <a:p>
            <a:pPr rtl="0"/>
            <a:r>
              <a:rPr lang="vi-VN" sz="1200" kern="1200">
                <a:solidFill>
                  <a:schemeClr val="tx1"/>
                </a:solidFill>
                <a:latin typeface="+mn-lt"/>
                <a:ea typeface="+mn-ea"/>
                <a:cs typeface="+mn-cs"/>
              </a:rPr>
              <a:t>  title: Text("${p.name} - ${p.price.toStringAsFixed(0)}₫"),</a:t>
            </a:r>
          </a:p>
          <a:p>
            <a:pPr rtl="0"/>
            <a:r>
              <a:rPr lang="vi-VN" sz="1200" kern="1200">
                <a:solidFill>
                  <a:schemeClr val="tx1"/>
                </a:solidFill>
                <a:latin typeface="+mn-lt"/>
                <a:ea typeface="+mn-ea"/>
                <a:cs typeface="+mn-cs"/>
              </a:rPr>
              <a:t>  subtitle: Text("SL: ${p.quantity} | ${p.description ?? ''}\nNgày nhập: $dateStr"),</a:t>
            </a:r>
          </a:p>
          <a:p>
            <a:pPr rtl="0"/>
            <a:r>
              <a:rPr lang="vi-VN" sz="1200" kern="1200">
                <a:solidFill>
                  <a:schemeClr val="tx1"/>
                </a:solidFill>
                <a:latin typeface="+mn-lt"/>
                <a:ea typeface="+mn-ea"/>
                <a:cs typeface="+mn-cs"/>
              </a:rPr>
              <a:t>  isThreeLine: true,</a:t>
            </a:r>
          </a:p>
          <a:p>
            <a:pPr rtl="0"/>
            <a:r>
              <a:rPr lang="vi-VN" sz="1200" kern="1200">
                <a:solidFill>
                  <a:schemeClr val="tx1"/>
                </a:solidFill>
                <a:latin typeface="+mn-lt"/>
                <a:ea typeface="+mn-ea"/>
                <a:cs typeface="+mn-cs"/>
              </a:rPr>
              <a:t>  trailing: Row(</a:t>
            </a:r>
          </a:p>
          <a:p>
            <a:pPr rtl="0"/>
            <a:r>
              <a:rPr lang="vi-VN" sz="1200" kern="1200">
                <a:solidFill>
                  <a:schemeClr val="tx1"/>
                </a:solidFill>
                <a:latin typeface="+mn-lt"/>
                <a:ea typeface="+mn-ea"/>
                <a:cs typeface="+mn-cs"/>
              </a:rPr>
              <a:t>    mainAxisSize: MainAxisSize.min,</a:t>
            </a:r>
          </a:p>
          <a:p>
            <a:pPr rtl="0"/>
            <a:r>
              <a:rPr lang="vi-VN" sz="1200" kern="1200">
                <a:solidFill>
                  <a:schemeClr val="tx1"/>
                </a:solidFill>
                <a:latin typeface="+mn-lt"/>
                <a:ea typeface="+mn-ea"/>
                <a:cs typeface="+mn-cs"/>
              </a:rPr>
              <a:t>    children: [</a:t>
            </a:r>
          </a:p>
          <a:p>
            <a:pPr rtl="0"/>
            <a:r>
              <a:rPr lang="vi-VN" sz="1200" kern="1200">
                <a:solidFill>
                  <a:schemeClr val="tx1"/>
                </a:solidFill>
                <a:latin typeface="+mn-lt"/>
                <a:ea typeface="+mn-ea"/>
                <a:cs typeface="+mn-cs"/>
              </a:rPr>
              <a:t>      IconButton(</a:t>
            </a:r>
          </a:p>
          <a:p>
            <a:pPr rtl="0"/>
            <a:r>
              <a:rPr lang="vi-VN" sz="1200" kern="1200">
                <a:solidFill>
                  <a:schemeClr val="tx1"/>
                </a:solidFill>
                <a:latin typeface="+mn-lt"/>
                <a:ea typeface="+mn-ea"/>
                <a:cs typeface="+mn-cs"/>
              </a:rPr>
              <a:t>        icon: const Icon(Icons.edit, color: Colors.blue),</a:t>
            </a:r>
          </a:p>
          <a:p>
            <a:pPr rtl="0"/>
            <a:r>
              <a:rPr lang="vi-VN" sz="1200" kern="1200">
                <a:solidFill>
                  <a:schemeClr val="tx1"/>
                </a:solidFill>
                <a:latin typeface="+mn-lt"/>
                <a:ea typeface="+mn-ea"/>
                <a:cs typeface="+mn-cs"/>
              </a:rPr>
              <a:t>        onPressed: () =&gt; _showEditDialog(p),</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IconButton(</a:t>
            </a:r>
          </a:p>
          <a:p>
            <a:pPr rtl="0"/>
            <a:r>
              <a:rPr lang="vi-VN" sz="1200" kern="1200">
                <a:solidFill>
                  <a:schemeClr val="tx1"/>
                </a:solidFill>
                <a:latin typeface="+mn-lt"/>
                <a:ea typeface="+mn-ea"/>
                <a:cs typeface="+mn-cs"/>
              </a:rPr>
              <a:t>        icon: const Icon(Icons.delete, color: Colors.red),</a:t>
            </a:r>
          </a:p>
          <a:p>
            <a:pPr rtl="0"/>
            <a:r>
              <a:rPr lang="vi-VN" sz="1200" kern="1200">
                <a:solidFill>
                  <a:schemeClr val="tx1"/>
                </a:solidFill>
                <a:latin typeface="+mn-lt"/>
                <a:ea typeface="+mn-ea"/>
                <a:cs typeface="+mn-cs"/>
              </a:rPr>
              <a:t>        onPressed: () async {</a:t>
            </a:r>
          </a:p>
          <a:p>
            <a:pPr rtl="0"/>
            <a:r>
              <a:rPr lang="vi-VN" sz="1200" kern="1200">
                <a:solidFill>
                  <a:schemeClr val="tx1"/>
                </a:solidFill>
                <a:latin typeface="+mn-lt"/>
                <a:ea typeface="+mn-ea"/>
                <a:cs typeface="+mn-cs"/>
              </a:rPr>
              <a:t>          await widget.db.deleteProduct(p.id);</a:t>
            </a:r>
          </a:p>
          <a:p>
            <a:pPr rtl="0"/>
            <a:r>
              <a:rPr lang="vi-VN" sz="1200" kern="1200">
                <a:solidFill>
                  <a:schemeClr val="tx1"/>
                </a:solidFill>
                <a:latin typeface="+mn-lt"/>
                <a:ea typeface="+mn-ea"/>
                <a:cs typeface="+mn-cs"/>
              </a:rPr>
              <a:t>          _refresh();</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a:t>
            </a:r>
          </a:p>
          <a:p>
            <a:r>
              <a:rPr lang="en-US" b="1"/>
              <a:t>🔸 </a:t>
            </a:r>
            <a:r>
              <a:rPr lang="vi-VN" b="1"/>
              <a:t>Ý nghĩa:</a:t>
            </a:r>
          </a:p>
          <a:p>
            <a:r>
              <a:rPr lang="vi-VN" sz="1200" kern="1200">
                <a:solidFill>
                  <a:schemeClr val="tx1"/>
                </a:solidFill>
                <a:latin typeface="+mn-lt"/>
                <a:ea typeface="+mn-ea"/>
                <a:cs typeface="+mn-cs"/>
              </a:rPr>
              <a:t>ListTile</a:t>
            </a:r>
            <a:r>
              <a:rPr lang="vi-VN"/>
              <a:t> → mỗi dòng trong danh sách (tượng trưng cho </a:t>
            </a:r>
            <a:r>
              <a:rPr lang="vi-VN" b="1"/>
              <a:t>một sản phẩm</a:t>
            </a:r>
            <a:r>
              <a:rPr lang="vi-VN"/>
              <a:t>).</a:t>
            </a:r>
          </a:p>
          <a:p>
            <a:r>
              <a:rPr lang="vi-VN" sz="1200" kern="1200">
                <a:solidFill>
                  <a:schemeClr val="tx1"/>
                </a:solidFill>
                <a:latin typeface="+mn-lt"/>
                <a:ea typeface="+mn-ea"/>
                <a:cs typeface="+mn-cs"/>
              </a:rPr>
              <a:t>title</a:t>
            </a:r>
            <a:r>
              <a:rPr lang="vi-VN"/>
              <a:t> → dòng tiêu đề: hiển thị tên sản phẩm và giá (định dạng tiền tệ).</a:t>
            </a:r>
          </a:p>
          <a:p>
            <a:r>
              <a:rPr lang="vi-VN" sz="1200" kern="1200">
                <a:solidFill>
                  <a:schemeClr val="tx1"/>
                </a:solidFill>
                <a:latin typeface="+mn-lt"/>
                <a:ea typeface="+mn-ea"/>
                <a:cs typeface="+mn-cs"/>
              </a:rPr>
              <a:t>subtitle</a:t>
            </a:r>
            <a:r>
              <a:rPr lang="vi-VN"/>
              <a:t> → phần mô tả chi tiết: hiển thị số lượng, mô tả, và ngày nhập hàng.</a:t>
            </a:r>
          </a:p>
          <a:p>
            <a:r>
              <a:rPr lang="vi-VN" sz="1200" kern="1200">
                <a:solidFill>
                  <a:schemeClr val="tx1"/>
                </a:solidFill>
                <a:latin typeface="+mn-lt"/>
                <a:ea typeface="+mn-ea"/>
                <a:cs typeface="+mn-cs"/>
              </a:rPr>
              <a:t>trailing</a:t>
            </a:r>
            <a:r>
              <a:rPr lang="vi-VN"/>
              <a:t> → nhóm các nút chức năng (chỉnh sửa ✏️ và xóa </a:t>
            </a:r>
            <a:r>
              <a:rPr lang="en-US"/>
              <a:t>🗑️).</a:t>
            </a:r>
          </a:p>
          <a:p>
            <a:r>
              <a:rPr lang="vi-VN" sz="1200" kern="1200">
                <a:solidFill>
                  <a:schemeClr val="tx1"/>
                </a:solidFill>
                <a:latin typeface="+mn-lt"/>
                <a:ea typeface="+mn-ea"/>
                <a:cs typeface="+mn-cs"/>
              </a:rPr>
              <a:t>onPressed</a:t>
            </a:r>
            <a:r>
              <a:rPr lang="vi-VN"/>
              <a:t> trong từng </a:t>
            </a:r>
            <a:r>
              <a:rPr lang="vi-VN" sz="1200" kern="1200">
                <a:solidFill>
                  <a:schemeClr val="tx1"/>
                </a:solidFill>
                <a:latin typeface="+mn-lt"/>
                <a:ea typeface="+mn-ea"/>
                <a:cs typeface="+mn-cs"/>
              </a:rPr>
              <a:t>IconButton</a:t>
            </a:r>
            <a:r>
              <a:rPr lang="vi-VN"/>
              <a:t> gọi tới:</a:t>
            </a:r>
          </a:p>
          <a:p>
            <a:pPr lvl="1"/>
            <a:r>
              <a:rPr lang="vi-VN" sz="1200" kern="1200">
                <a:solidFill>
                  <a:schemeClr val="tx1"/>
                </a:solidFill>
                <a:latin typeface="+mn-lt"/>
                <a:ea typeface="+mn-ea"/>
                <a:cs typeface="+mn-cs"/>
              </a:rPr>
              <a:t>_showEditDialog(p)</a:t>
            </a:r>
            <a:r>
              <a:rPr lang="vi-VN"/>
              <a:t> → mở form sửa sản phẩm đó.</a:t>
            </a:r>
          </a:p>
          <a:p>
            <a:pPr lvl="1"/>
            <a:r>
              <a:rPr lang="vi-VN" sz="1200" kern="1200">
                <a:solidFill>
                  <a:schemeClr val="tx1"/>
                </a:solidFill>
                <a:latin typeface="+mn-lt"/>
                <a:ea typeface="+mn-ea"/>
                <a:cs typeface="+mn-cs"/>
              </a:rPr>
              <a:t>deleteProduct(p.id)</a:t>
            </a:r>
            <a:r>
              <a:rPr lang="vi-VN"/>
              <a:t> → xóa sản phẩm khỏi database, sau đó </a:t>
            </a:r>
            <a:r>
              <a:rPr lang="vi-VN" sz="1200" kern="1200">
                <a:solidFill>
                  <a:schemeClr val="tx1"/>
                </a:solidFill>
                <a:latin typeface="+mn-lt"/>
                <a:ea typeface="+mn-ea"/>
                <a:cs typeface="+mn-cs"/>
              </a:rPr>
              <a:t>_refresh()</a:t>
            </a:r>
            <a:r>
              <a:rPr lang="vi-VN"/>
              <a:t> để tải lại danh sách</a:t>
            </a:r>
            <a:r>
              <a:rPr lang="en-US"/>
              <a:t>.</a:t>
            </a:r>
            <a:endParaRPr lang="vi-VN"/>
          </a:p>
          <a:p>
            <a:r>
              <a:rPr lang="en-US" b="1"/>
              <a:t>💡 </a:t>
            </a:r>
            <a:r>
              <a:rPr lang="vi-VN" b="1"/>
              <a:t>Tóm tắt ngắn gọn:</a:t>
            </a:r>
          </a:p>
          <a:p>
            <a:r>
              <a:rPr lang="vi-VN"/>
              <a:t>Thành phần</a:t>
            </a:r>
            <a:r>
              <a:rPr lang="en-US"/>
              <a:t>			</a:t>
            </a:r>
            <a:r>
              <a:rPr lang="vi-VN"/>
              <a:t>Ý nghĩa</a:t>
            </a:r>
            <a:endParaRPr lang="en-US"/>
          </a:p>
          <a:p>
            <a:r>
              <a:rPr lang="vi-VN" sz="1200" kern="1200">
                <a:solidFill>
                  <a:schemeClr val="tx1"/>
                </a:solidFill>
                <a:latin typeface="+mn-lt"/>
                <a:ea typeface="+mn-ea"/>
                <a:cs typeface="+mn-cs"/>
              </a:rPr>
              <a:t>ListView.builder</a:t>
            </a:r>
            <a:r>
              <a:rPr lang="en-US" sz="1200" kern="1200">
                <a:solidFill>
                  <a:schemeClr val="tx1"/>
                </a:solidFill>
                <a:latin typeface="+mn-lt"/>
                <a:ea typeface="+mn-ea"/>
                <a:cs typeface="+mn-cs"/>
              </a:rPr>
              <a:t>	</a:t>
            </a:r>
            <a:r>
              <a:rPr lang="vi-VN"/>
              <a:t>Duyệt danh sách sản phẩm và tạo giao diện cho từng sản phẩm</a:t>
            </a:r>
            <a:endParaRPr lang="en-US"/>
          </a:p>
          <a:p>
            <a:r>
              <a:rPr lang="vi-VN" sz="1200" kern="1200">
                <a:solidFill>
                  <a:schemeClr val="tx1"/>
                </a:solidFill>
                <a:latin typeface="+mn-lt"/>
                <a:ea typeface="+mn-ea"/>
                <a:cs typeface="+mn-cs"/>
              </a:rPr>
              <a:t>ListTile</a:t>
            </a:r>
            <a:r>
              <a:rPr lang="en-US" sz="1200" kern="1200">
                <a:solidFill>
                  <a:schemeClr val="tx1"/>
                </a:solidFill>
                <a:latin typeface="+mn-lt"/>
                <a:ea typeface="+mn-ea"/>
                <a:cs typeface="+mn-cs"/>
              </a:rPr>
              <a:t>		</a:t>
            </a:r>
            <a:r>
              <a:rPr lang="vi-VN"/>
              <a:t>Mỗi sản phẩm hiển thị trong 1 dòng (tên, giá, số lượng, ngày nhập)</a:t>
            </a:r>
            <a:endParaRPr lang="en-US"/>
          </a:p>
          <a:p>
            <a:r>
              <a:rPr lang="vi-VN" sz="1200" kern="1200">
                <a:solidFill>
                  <a:schemeClr val="tx1"/>
                </a:solidFill>
                <a:latin typeface="+mn-lt"/>
                <a:ea typeface="+mn-ea"/>
                <a:cs typeface="+mn-cs"/>
              </a:rPr>
              <a:t>IconButton</a:t>
            </a:r>
            <a:r>
              <a:rPr lang="en-US" sz="1200" kern="1200">
                <a:solidFill>
                  <a:schemeClr val="tx1"/>
                </a:solidFill>
                <a:latin typeface="+mn-lt"/>
                <a:ea typeface="+mn-ea"/>
                <a:cs typeface="+mn-cs"/>
              </a:rPr>
              <a:t>		</a:t>
            </a:r>
            <a:r>
              <a:rPr lang="vi-VN"/>
              <a:t>Cho phép sửa hoặc xóa sản phẩm</a:t>
            </a:r>
            <a:endParaRPr lang="en-US"/>
          </a:p>
          <a:p>
            <a:r>
              <a:rPr lang="vi-VN" sz="1200" kern="1200">
                <a:solidFill>
                  <a:schemeClr val="tx1"/>
                </a:solidFill>
                <a:latin typeface="+mn-lt"/>
                <a:ea typeface="+mn-ea"/>
                <a:cs typeface="+mn-cs"/>
              </a:rPr>
              <a:t>_refresh()</a:t>
            </a:r>
            <a:r>
              <a:rPr lang="en-US" sz="1200" kern="1200">
                <a:solidFill>
                  <a:schemeClr val="tx1"/>
                </a:solidFill>
                <a:latin typeface="+mn-lt"/>
                <a:ea typeface="+mn-ea"/>
                <a:cs typeface="+mn-cs"/>
              </a:rPr>
              <a:t>		</a:t>
            </a:r>
            <a:r>
              <a:rPr lang="vi-VN"/>
              <a:t>Làm mới danh sách sau khi xóa hoặc sửa</a:t>
            </a:r>
          </a:p>
          <a:p>
            <a:r>
              <a:rPr lang="en-US" b="0"/>
              <a:t>------------------------------------------------------------------------------------------------------------------------</a:t>
            </a:r>
          </a:p>
          <a:p>
            <a:r>
              <a:rPr lang="vi-VN" b="1"/>
              <a:t>final products = snapshot.data!; if (products.isEmpty) { return const Center(child: Text("Chưa có sản phẩm")); } snapshot.data! là ép không được null thì sao products lại chưa có sản phẩm được</a:t>
            </a:r>
            <a:r>
              <a:rPr lang="en-US" b="1"/>
              <a:t>?</a:t>
            </a:r>
          </a:p>
          <a:p>
            <a:r>
              <a:rPr lang="en-US" b="1"/>
              <a:t>=&gt; </a:t>
            </a:r>
          </a:p>
          <a:p>
            <a:r>
              <a:rPr lang="en-US" b="1"/>
              <a:t>🧩 1. </a:t>
            </a:r>
            <a:r>
              <a:rPr lang="vi-VN" sz="1200" b="1" kern="1200">
                <a:solidFill>
                  <a:schemeClr val="tx1"/>
                </a:solidFill>
                <a:latin typeface="+mn-lt"/>
                <a:ea typeface="+mn-ea"/>
                <a:cs typeface="+mn-cs"/>
              </a:rPr>
              <a:t>snapshot.data!</a:t>
            </a:r>
            <a:r>
              <a:rPr lang="vi-VN" b="1"/>
              <a:t> nghĩa là gì?</a:t>
            </a:r>
          </a:p>
          <a:p>
            <a:r>
              <a:rPr lang="vi-VN"/>
              <a:t>Trong Dart, toán tử </a:t>
            </a:r>
            <a:r>
              <a:rPr lang="vi-VN" sz="1200" b="1" kern="1200">
                <a:solidFill>
                  <a:schemeClr val="tx1"/>
                </a:solidFill>
                <a:latin typeface="+mn-lt"/>
                <a:ea typeface="+mn-ea"/>
                <a:cs typeface="+mn-cs"/>
              </a:rPr>
              <a:t>!</a:t>
            </a:r>
            <a:r>
              <a:rPr lang="vi-VN"/>
              <a:t> sau biến có nghĩa là </a:t>
            </a:r>
            <a:r>
              <a:rPr lang="vi-VN" b="1"/>
              <a:t>“tôi chắc chắn biến này không null”</a:t>
            </a:r>
            <a:r>
              <a:rPr lang="vi-VN"/>
              <a:t>.</a:t>
            </a:r>
            <a:br>
              <a:rPr lang="vi-VN"/>
            </a:br>
            <a:r>
              <a:rPr lang="vi-VN"/>
              <a:t>Tức là:</a:t>
            </a:r>
          </a:p>
          <a:p>
            <a:pPr rtl="0"/>
            <a:r>
              <a:rPr lang="vi-VN" sz="1200" kern="1200">
                <a:solidFill>
                  <a:schemeClr val="tx1"/>
                </a:solidFill>
                <a:latin typeface="+mn-lt"/>
                <a:ea typeface="+mn-ea"/>
                <a:cs typeface="+mn-cs"/>
              </a:rPr>
              <a:t>final products = snapshot.data!;</a:t>
            </a:r>
          </a:p>
          <a:p>
            <a:r>
              <a:rPr lang="vi-VN"/>
              <a:t>→ nói với Dart: </a:t>
            </a:r>
            <a:r>
              <a:rPr lang="vi-VN" i="1"/>
              <a:t>"Tôi biết snapshot.data không null, cho nên đừng báo lỗi null-safety nữa."</a:t>
            </a:r>
            <a:endParaRPr lang="vi-VN"/>
          </a:p>
          <a:p>
            <a:br>
              <a:rPr lang="vi-VN"/>
            </a:br>
            <a:endParaRPr lang="vi-VN"/>
          </a:p>
          <a:p>
            <a:r>
              <a:rPr lang="vi-VN" b="1"/>
              <a:t>⚠️ 2. Nhưng “không null” ≠ “có dữ liệu”</a:t>
            </a:r>
          </a:p>
          <a:p>
            <a:r>
              <a:rPr lang="vi-VN"/>
              <a:t>Đây là điểm quan trọng:</a:t>
            </a:r>
          </a:p>
          <a:p>
            <a:r>
              <a:rPr lang="vi-VN" sz="1200" kern="1200">
                <a:solidFill>
                  <a:schemeClr val="tx1"/>
                </a:solidFill>
                <a:latin typeface="+mn-lt"/>
                <a:ea typeface="+mn-ea"/>
                <a:cs typeface="+mn-cs"/>
              </a:rPr>
              <a:t>snapshot.data!</a:t>
            </a:r>
            <a:r>
              <a:rPr lang="vi-VN"/>
              <a:t> </a:t>
            </a:r>
            <a:r>
              <a:rPr lang="vi-VN" b="1"/>
              <a:t>chắc chắn khác null</a:t>
            </a:r>
            <a:endParaRPr lang="vi-VN"/>
          </a:p>
          <a:p>
            <a:r>
              <a:rPr lang="vi-VN"/>
              <a:t>Nhưng giá trị bên trong </a:t>
            </a:r>
            <a:r>
              <a:rPr lang="vi-VN" b="1"/>
              <a:t>có thể là danh sách rỗng</a:t>
            </a:r>
            <a:r>
              <a:rPr lang="vi-VN"/>
              <a:t> (</a:t>
            </a:r>
            <a:r>
              <a:rPr lang="vi-VN" sz="1200" kern="1200">
                <a:solidFill>
                  <a:schemeClr val="tx1"/>
                </a:solidFill>
                <a:latin typeface="+mn-lt"/>
                <a:ea typeface="+mn-ea"/>
                <a:cs typeface="+mn-cs"/>
              </a:rPr>
              <a:t>[]</a:t>
            </a:r>
            <a:r>
              <a:rPr lang="vi-VN"/>
              <a:t>)</a:t>
            </a:r>
          </a:p>
          <a:p>
            <a:r>
              <a:rPr lang="vi-VN"/>
              <a:t>Ví dụ:</a:t>
            </a:r>
          </a:p>
          <a:p>
            <a:pPr rtl="0"/>
            <a:r>
              <a:rPr lang="vi-VN" sz="1200" kern="1200">
                <a:solidFill>
                  <a:schemeClr val="tx1"/>
                </a:solidFill>
                <a:latin typeface="+mn-lt"/>
                <a:ea typeface="+mn-ea"/>
                <a:cs typeface="+mn-cs"/>
              </a:rPr>
              <a:t>snapshot.data! == []</a:t>
            </a:r>
          </a:p>
          <a:p>
            <a:r>
              <a:rPr lang="vi-VN"/>
              <a:t>là </a:t>
            </a:r>
            <a:r>
              <a:rPr lang="vi-VN" b="1"/>
              <a:t>một danh sách hợp lệ</a:t>
            </a:r>
            <a:r>
              <a:rPr lang="vi-VN"/>
              <a:t> (không null), nhưng </a:t>
            </a:r>
            <a:r>
              <a:rPr lang="vi-VN" b="1"/>
              <a:t>không có phần tử nào</a:t>
            </a:r>
            <a:r>
              <a:rPr lang="vi-VN"/>
              <a:t> bên trong.</a:t>
            </a:r>
          </a:p>
          <a:p>
            <a:br>
              <a:rPr lang="vi-VN"/>
            </a:br>
            <a:endParaRPr lang="vi-VN"/>
          </a:p>
          <a:p>
            <a:r>
              <a:rPr lang="en-US" b="1"/>
              <a:t>🔍 3. </a:t>
            </a:r>
            <a:r>
              <a:rPr lang="vi-VN" b="1"/>
              <a:t>Cụ thể trong code của bạn</a:t>
            </a:r>
          </a:p>
          <a:p>
            <a:pPr rtl="0"/>
            <a:r>
              <a:rPr lang="vi-VN" sz="1200" kern="1200">
                <a:solidFill>
                  <a:schemeClr val="tx1"/>
                </a:solidFill>
                <a:latin typeface="+mn-lt"/>
                <a:ea typeface="+mn-ea"/>
                <a:cs typeface="+mn-cs"/>
              </a:rPr>
              <a:t>final products = snapshot.data!;</a:t>
            </a:r>
          </a:p>
          <a:p>
            <a:pPr rtl="0"/>
            <a:r>
              <a:rPr lang="vi-VN" sz="1200" kern="1200">
                <a:solidFill>
                  <a:schemeClr val="tx1"/>
                </a:solidFill>
                <a:latin typeface="+mn-lt"/>
                <a:ea typeface="+mn-ea"/>
                <a:cs typeface="+mn-cs"/>
              </a:rPr>
              <a:t>if (products.isEmpty) {</a:t>
            </a:r>
          </a:p>
          <a:p>
            <a:pPr rtl="0"/>
            <a:r>
              <a:rPr lang="vi-VN" sz="1200" kern="1200">
                <a:solidFill>
                  <a:schemeClr val="tx1"/>
                </a:solidFill>
                <a:latin typeface="+mn-lt"/>
                <a:ea typeface="+mn-ea"/>
                <a:cs typeface="+mn-cs"/>
              </a:rPr>
              <a:t>  return const Center(child: Text("Chưa có sản phẩm"));</a:t>
            </a:r>
          </a:p>
          <a:p>
            <a:pPr rtl="0"/>
            <a:r>
              <a:rPr lang="vi-VN" sz="1200" kern="1200">
                <a:solidFill>
                  <a:schemeClr val="tx1"/>
                </a:solidFill>
                <a:latin typeface="+mn-lt"/>
                <a:ea typeface="+mn-ea"/>
                <a:cs typeface="+mn-cs"/>
              </a:rPr>
              <a:t>}</a:t>
            </a:r>
          </a:p>
          <a:p>
            <a:r>
              <a:rPr lang="vi-VN"/>
              <a:t>Dòng đầu: </a:t>
            </a:r>
            <a:r>
              <a:rPr lang="vi-VN" sz="1200" kern="1200">
                <a:solidFill>
                  <a:schemeClr val="tx1"/>
                </a:solidFill>
                <a:latin typeface="+mn-lt"/>
                <a:ea typeface="+mn-ea"/>
                <a:cs typeface="+mn-cs"/>
              </a:rPr>
              <a:t>snapshot.data!</a:t>
            </a:r>
            <a:r>
              <a:rPr lang="vi-VN"/>
              <a:t> chắc chắn </a:t>
            </a:r>
            <a:r>
              <a:rPr lang="vi-VN" b="1"/>
              <a:t>đã có danh sách</a:t>
            </a:r>
            <a:r>
              <a:rPr lang="vi-VN"/>
              <a:t> (không null)</a:t>
            </a:r>
          </a:p>
          <a:p>
            <a:r>
              <a:rPr lang="vi-VN"/>
              <a:t>Dòng kế: </a:t>
            </a:r>
            <a:r>
              <a:rPr lang="vi-VN" sz="1200" kern="1200">
                <a:solidFill>
                  <a:schemeClr val="tx1"/>
                </a:solidFill>
                <a:latin typeface="+mn-lt"/>
                <a:ea typeface="+mn-ea"/>
                <a:cs typeface="+mn-cs"/>
              </a:rPr>
              <a:t>products.isEmpty</a:t>
            </a:r>
            <a:r>
              <a:rPr lang="vi-VN"/>
              <a:t> kiểm tra </a:t>
            </a:r>
            <a:r>
              <a:rPr lang="vi-VN" b="1"/>
              <a:t>số lượng phần tử trong danh sách</a:t>
            </a:r>
            <a:endParaRPr lang="vi-VN"/>
          </a:p>
          <a:p>
            <a:r>
              <a:rPr lang="vi-VN"/>
              <a:t>→ Nếu danh sách rỗng (</a:t>
            </a:r>
            <a:r>
              <a:rPr lang="vi-VN" sz="1200" kern="1200">
                <a:solidFill>
                  <a:schemeClr val="tx1"/>
                </a:solidFill>
                <a:latin typeface="+mn-lt"/>
                <a:ea typeface="+mn-ea"/>
                <a:cs typeface="+mn-cs"/>
              </a:rPr>
              <a:t>[]</a:t>
            </a:r>
            <a:r>
              <a:rPr lang="vi-VN"/>
              <a:t>), thì hiển thị </a:t>
            </a:r>
            <a:r>
              <a:rPr lang="vi-VN" sz="1200" kern="1200">
                <a:solidFill>
                  <a:schemeClr val="tx1"/>
                </a:solidFill>
                <a:latin typeface="+mn-lt"/>
                <a:ea typeface="+mn-ea"/>
                <a:cs typeface="+mn-cs"/>
              </a:rPr>
              <a:t>"Chưa có sản phẩm"</a:t>
            </a:r>
            <a:br>
              <a:rPr lang="vi-VN"/>
            </a:br>
            <a:r>
              <a:rPr lang="vi-VN"/>
              <a:t>→ Nếu danh sách có phần tử, hiển thị </a:t>
            </a:r>
            <a:r>
              <a:rPr lang="vi-VN" sz="1200" kern="1200">
                <a:solidFill>
                  <a:schemeClr val="tx1"/>
                </a:solidFill>
                <a:latin typeface="+mn-lt"/>
                <a:ea typeface="+mn-ea"/>
                <a:cs typeface="+mn-cs"/>
              </a:rPr>
              <a:t>ListView</a:t>
            </a:r>
            <a:r>
              <a:rPr lang="vi-VN"/>
              <a:t> chứa các sản phẩm.</a:t>
            </a:r>
          </a:p>
          <a:p>
            <a:endParaRPr lang="en-US" b="0"/>
          </a:p>
        </p:txBody>
      </p:sp>
      <p:sp>
        <p:nvSpPr>
          <p:cNvPr id="4" name="Slide Number Placeholder 3">
            <a:extLst>
              <a:ext uri="{FF2B5EF4-FFF2-40B4-BE49-F238E27FC236}">
                <a16:creationId xmlns:a16="http://schemas.microsoft.com/office/drawing/2014/main" id="{D5EE57FF-2F36-15BD-CDB0-5211CD540E42}"/>
              </a:ext>
            </a:extLst>
          </p:cNvPr>
          <p:cNvSpPr>
            <a:spLocks noGrp="1"/>
          </p:cNvSpPr>
          <p:nvPr>
            <p:ph type="sldNum" sz="quarter" idx="5"/>
          </p:nvPr>
        </p:nvSpPr>
        <p:spPr/>
        <p:txBody>
          <a:bodyPr/>
          <a:lstStyle/>
          <a:p>
            <a:fld id="{1983A999-5E0E-42CA-8400-604AE921FF7C}" type="slidenum">
              <a:rPr lang="en-US" smtClean="0"/>
              <a:t>32</a:t>
            </a:fld>
            <a:endParaRPr lang="en-US"/>
          </a:p>
        </p:txBody>
      </p:sp>
    </p:spTree>
    <p:extLst>
      <p:ext uri="{BB962C8B-B14F-4D97-AF65-F5344CB8AC3E}">
        <p14:creationId xmlns:p14="http://schemas.microsoft.com/office/powerpoint/2010/main" val="10581483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E51DE-52BC-8505-CA26-A7ECCCDA82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708636-D6AA-2565-F858-935FBAEBB1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69DD1A-23EE-5108-206A-53F6EB9B2DEB}"/>
              </a:ext>
            </a:extLst>
          </p:cNvPr>
          <p:cNvSpPr>
            <a:spLocks noGrp="1"/>
          </p:cNvSpPr>
          <p:nvPr>
            <p:ph type="body" idx="1"/>
          </p:nvPr>
        </p:nvSpPr>
        <p:spPr/>
        <p:txBody>
          <a:bodyPr/>
          <a:lstStyle/>
          <a:p>
            <a:r>
              <a:rPr lang="en-US" sz="1200" b="1" kern="1200">
                <a:solidFill>
                  <a:schemeClr val="tx1"/>
                </a:solidFill>
                <a:effectLst/>
                <a:latin typeface="+mn-lt"/>
                <a:ea typeface="+mn-ea"/>
                <a:cs typeface="+mn-cs"/>
              </a:rPr>
              <a:t>Mối quan hệ giữa bảng và lớp:</a:t>
            </a:r>
            <a:endParaRPr lang="en-US" sz="1200" kern="1200">
              <a:solidFill>
                <a:schemeClr val="tx1"/>
              </a:solidFill>
              <a:effectLst/>
              <a:latin typeface="+mn-lt"/>
              <a:ea typeface="+mn-ea"/>
              <a:cs typeface="+mn-cs"/>
            </a:endParaRPr>
          </a:p>
          <a:p>
            <a:pPr lvl="0"/>
            <a:r>
              <a:rPr lang="en-US" sz="1200" b="1" kern="1200">
                <a:solidFill>
                  <a:schemeClr val="tx1"/>
                </a:solidFill>
                <a:effectLst/>
                <a:latin typeface="+mn-lt"/>
                <a:ea typeface="+mn-ea"/>
                <a:cs typeface="+mn-cs"/>
              </a:rPr>
              <a:t>Lớp Products</a:t>
            </a:r>
            <a:r>
              <a:rPr lang="en-US" sz="1200" kern="1200">
                <a:solidFill>
                  <a:schemeClr val="tx1"/>
                </a:solidFill>
                <a:effectLst/>
                <a:latin typeface="+mn-lt"/>
                <a:ea typeface="+mn-ea"/>
                <a:cs typeface="+mn-cs"/>
              </a:rPr>
              <a:t>: Tạo bảng Products trong cơ sở dữ liệu.</a:t>
            </a:r>
          </a:p>
          <a:p>
            <a:pPr lvl="0"/>
            <a:r>
              <a:rPr lang="en-US" sz="1200" b="1" kern="1200">
                <a:solidFill>
                  <a:schemeClr val="tx1"/>
                </a:solidFill>
                <a:effectLst/>
                <a:latin typeface="+mn-lt"/>
                <a:ea typeface="+mn-ea"/>
                <a:cs typeface="+mn-cs"/>
              </a:rPr>
              <a:t>Lớp Product</a:t>
            </a:r>
            <a:r>
              <a:rPr lang="en-US" sz="1200" kern="1200">
                <a:solidFill>
                  <a:schemeClr val="tx1"/>
                </a:solidFill>
                <a:effectLst/>
                <a:latin typeface="+mn-lt"/>
                <a:ea typeface="+mn-ea"/>
                <a:cs typeface="+mn-cs"/>
              </a:rPr>
              <a:t>: Đại diện cho một bản ghi trong bảng Products. Mỗi đối tượng Product sẽ chứa thông tin của một sản phẩm như tên, giá, số lượng, mô tả, ngày nhập, v.v.</a:t>
            </a:r>
          </a:p>
          <a:p>
            <a:pPr lvl="0"/>
            <a:r>
              <a:rPr lang="en-US" sz="1200" b="1" kern="1200">
                <a:solidFill>
                  <a:schemeClr val="tx1"/>
                </a:solidFill>
                <a:effectLst/>
                <a:latin typeface="+mn-lt"/>
                <a:ea typeface="+mn-ea"/>
                <a:cs typeface="+mn-cs"/>
              </a:rPr>
              <a:t>Các lớp Companion</a:t>
            </a:r>
            <a:r>
              <a:rPr lang="en-US" sz="1200" kern="1200">
                <a:solidFill>
                  <a:schemeClr val="tx1"/>
                </a:solidFill>
                <a:effectLst/>
                <a:latin typeface="+mn-lt"/>
                <a:ea typeface="+mn-ea"/>
                <a:cs typeface="+mn-cs"/>
              </a:rPr>
              <a:t>: Được sử dụng khi bạn muốn tạo một đối tượng để insert hoặc update vào bảng mà không cần phải cung cấp đủ tất cả các giá trị (ví dụ: khi một số cột có thể là null). Lớp ProductsCompanion sinh tự động từ Drift.</a:t>
            </a:r>
          </a:p>
          <a:p>
            <a:r>
              <a:rPr lang="en-US" b="1"/>
              <a:t>----------------------------------------------------------------------------------------------------------------------------------------------------------------</a:t>
            </a:r>
          </a:p>
          <a:p>
            <a:r>
              <a:rPr lang="vi-VN"/>
              <a:t>Đoạn code này nằm trong phần:</a:t>
            </a:r>
          </a:p>
          <a:p>
            <a:pPr rtl="0"/>
            <a:r>
              <a:rPr lang="vi-VN" sz="1200" kern="1200">
                <a:solidFill>
                  <a:schemeClr val="tx1"/>
                </a:solidFill>
                <a:latin typeface="+mn-lt"/>
                <a:ea typeface="+mn-ea"/>
                <a:cs typeface="+mn-cs"/>
              </a:rPr>
              <a:t>onPressed: () async {</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await widget.db.insertProduct(</a:t>
            </a:r>
          </a:p>
          <a:p>
            <a:pPr rtl="0"/>
            <a:r>
              <a:rPr lang="vi-VN" sz="1200" kern="1200">
                <a:solidFill>
                  <a:schemeClr val="tx1"/>
                </a:solidFill>
                <a:latin typeface="+mn-lt"/>
                <a:ea typeface="+mn-ea"/>
                <a:cs typeface="+mn-cs"/>
              </a:rPr>
              <a:t>    ProductsCompanion(</a:t>
            </a:r>
          </a:p>
          <a:p>
            <a:pPr rtl="0"/>
            <a:r>
              <a:rPr lang="vi-VN" sz="1200" kern="1200">
                <a:solidFill>
                  <a:schemeClr val="tx1"/>
                </a:solidFill>
                <a:latin typeface="+mn-lt"/>
                <a:ea typeface="+mn-ea"/>
                <a:cs typeface="+mn-cs"/>
              </a:rPr>
              <a:t>      name: Value(name),</a:t>
            </a:r>
          </a:p>
          <a:p>
            <a:pPr rtl="0"/>
            <a:r>
              <a:rPr lang="vi-VN" sz="1200" kern="1200">
                <a:solidFill>
                  <a:schemeClr val="tx1"/>
                </a:solidFill>
                <a:latin typeface="+mn-lt"/>
                <a:ea typeface="+mn-ea"/>
                <a:cs typeface="+mn-cs"/>
              </a:rPr>
              <a:t>      price: Value(price),</a:t>
            </a:r>
          </a:p>
          <a:p>
            <a:pPr rtl="0"/>
            <a:r>
              <a:rPr lang="vi-VN" sz="1200" kern="1200">
                <a:solidFill>
                  <a:schemeClr val="tx1"/>
                </a:solidFill>
                <a:latin typeface="+mn-lt"/>
                <a:ea typeface="+mn-ea"/>
                <a:cs typeface="+mn-cs"/>
              </a:rPr>
              <a:t>      quantity: Value(quantity),</a:t>
            </a:r>
          </a:p>
          <a:p>
            <a:pPr rtl="0"/>
            <a:r>
              <a:rPr lang="vi-VN" sz="1200" kern="1200">
                <a:solidFill>
                  <a:schemeClr val="tx1"/>
                </a:solidFill>
                <a:latin typeface="+mn-lt"/>
                <a:ea typeface="+mn-ea"/>
                <a:cs typeface="+mn-cs"/>
              </a:rPr>
              <a:t>      description: Value(desc),</a:t>
            </a:r>
          </a:p>
          <a:p>
            <a:pPr rtl="0"/>
            <a:r>
              <a:rPr lang="vi-VN" sz="1200" kern="1200">
                <a:solidFill>
                  <a:schemeClr val="tx1"/>
                </a:solidFill>
                <a:latin typeface="+mn-lt"/>
                <a:ea typeface="+mn-ea"/>
                <a:cs typeface="+mn-cs"/>
              </a:rPr>
              <a:t>      dateAdded: Value(dateAdded),</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a:t>
            </a:r>
          </a:p>
          <a:p>
            <a:r>
              <a:rPr lang="vi-VN"/>
              <a:t>nghĩa là khi người dùng nhấn nút </a:t>
            </a:r>
            <a:r>
              <a:rPr lang="vi-VN" b="1"/>
              <a:t>“Thêm”</a:t>
            </a:r>
            <a:r>
              <a:rPr lang="vi-VN"/>
              <a:t>, nó sẽ chèn một bản ghi mới vào </a:t>
            </a:r>
            <a:r>
              <a:rPr lang="vi-VN" b="1"/>
              <a:t>bảng </a:t>
            </a:r>
            <a:r>
              <a:rPr lang="vi-VN" sz="1200" b="1" kern="1200">
                <a:solidFill>
                  <a:schemeClr val="tx1"/>
                </a:solidFill>
                <a:latin typeface="+mn-lt"/>
                <a:ea typeface="+mn-ea"/>
                <a:cs typeface="+mn-cs"/>
              </a:rPr>
              <a:t>products</a:t>
            </a:r>
            <a:r>
              <a:rPr lang="vi-VN"/>
              <a:t> trong cơ sở dữ liệu SQLite.</a:t>
            </a:r>
          </a:p>
          <a:p>
            <a:br>
              <a:rPr lang="vi-VN"/>
            </a:br>
            <a:endParaRPr lang="vi-VN"/>
          </a:p>
          <a:p>
            <a:r>
              <a:rPr lang="en-US" b="1"/>
              <a:t>🔍 </a:t>
            </a:r>
            <a:r>
              <a:rPr lang="vi-VN" b="1"/>
              <a:t>Giải thích chi tiết từng phần</a:t>
            </a:r>
          </a:p>
          <a:p>
            <a:r>
              <a:rPr lang="vi-VN" b="1"/>
              <a:t>1️⃣ </a:t>
            </a:r>
            <a:r>
              <a:rPr lang="vi-VN" sz="1200" b="1" kern="1200">
                <a:solidFill>
                  <a:schemeClr val="tx1"/>
                </a:solidFill>
                <a:latin typeface="+mn-lt"/>
                <a:ea typeface="+mn-ea"/>
                <a:cs typeface="+mn-cs"/>
              </a:rPr>
              <a:t>widget.db</a:t>
            </a:r>
            <a:endParaRPr lang="vi-VN" b="1"/>
          </a:p>
          <a:p>
            <a:r>
              <a:rPr lang="vi-VN" sz="1200" kern="1200">
                <a:solidFill>
                  <a:schemeClr val="tx1"/>
                </a:solidFill>
                <a:latin typeface="+mn-lt"/>
                <a:ea typeface="+mn-ea"/>
                <a:cs typeface="+mn-cs"/>
              </a:rPr>
              <a:t>widget</a:t>
            </a:r>
            <a:r>
              <a:rPr lang="vi-VN"/>
              <a:t> là đối tượng của lớp cha </a:t>
            </a:r>
            <a:r>
              <a:rPr lang="vi-VN" sz="1200" kern="1200">
                <a:solidFill>
                  <a:schemeClr val="tx1"/>
                </a:solidFill>
                <a:latin typeface="+mn-lt"/>
                <a:ea typeface="+mn-ea"/>
                <a:cs typeface="+mn-cs"/>
              </a:rPr>
              <a:t>StatefulWidget</a:t>
            </a:r>
            <a:r>
              <a:rPr lang="vi-VN"/>
              <a:t> chứa state hiện tại.</a:t>
            </a:r>
          </a:p>
          <a:p>
            <a:r>
              <a:rPr lang="vi-VN" sz="1200" kern="1200">
                <a:solidFill>
                  <a:schemeClr val="tx1"/>
                </a:solidFill>
                <a:latin typeface="+mn-lt"/>
                <a:ea typeface="+mn-ea"/>
                <a:cs typeface="+mn-cs"/>
              </a:rPr>
              <a:t>db</a:t>
            </a:r>
            <a:r>
              <a:rPr lang="vi-VN"/>
              <a:t> là biến được truyền vào widget này từ ngoài, ví dụ:</a:t>
            </a:r>
          </a:p>
          <a:p>
            <a:pPr rtl="0"/>
            <a:r>
              <a:rPr lang="vi-VN" sz="1200" kern="1200">
                <a:solidFill>
                  <a:schemeClr val="tx1"/>
                </a:solidFill>
                <a:latin typeface="+mn-lt"/>
                <a:ea typeface="+mn-ea"/>
                <a:cs typeface="+mn-cs"/>
              </a:rPr>
              <a:t>final AppDatabase db;</a:t>
            </a:r>
          </a:p>
          <a:p>
            <a:pPr rtl="0"/>
            <a:r>
              <a:rPr lang="vi-VN" sz="1200" kern="1200">
                <a:solidFill>
                  <a:schemeClr val="tx1"/>
                </a:solidFill>
                <a:latin typeface="+mn-lt"/>
                <a:ea typeface="+mn-ea"/>
                <a:cs typeface="+mn-cs"/>
              </a:rPr>
              <a:t>ProductManager({required this.db});</a:t>
            </a:r>
          </a:p>
          <a:p>
            <a:r>
              <a:rPr lang="vi-VN"/>
              <a:t>Vì vậy, </a:t>
            </a:r>
            <a:r>
              <a:rPr lang="vi-VN" sz="1200" kern="1200">
                <a:solidFill>
                  <a:schemeClr val="tx1"/>
                </a:solidFill>
                <a:latin typeface="+mn-lt"/>
                <a:ea typeface="+mn-ea"/>
                <a:cs typeface="+mn-cs"/>
              </a:rPr>
              <a:t>widget.db</a:t>
            </a:r>
            <a:r>
              <a:rPr lang="vi-VN"/>
              <a:t> chính là </a:t>
            </a:r>
            <a:r>
              <a:rPr lang="vi-VN" b="1"/>
              <a:t>thể hiện của cơ sở dữ liệu</a:t>
            </a:r>
            <a:r>
              <a:rPr lang="vi-VN"/>
              <a:t> (AppDatabase) bạn đã khởi tạo với Drift.</a:t>
            </a:r>
          </a:p>
          <a:p>
            <a:br>
              <a:rPr lang="vi-VN"/>
            </a:br>
            <a:endParaRPr lang="vi-VN"/>
          </a:p>
          <a:p>
            <a:r>
              <a:rPr lang="vi-VN" b="1"/>
              <a:t>2️⃣ </a:t>
            </a:r>
            <a:r>
              <a:rPr lang="vi-VN" sz="1200" b="1" kern="1200">
                <a:solidFill>
                  <a:schemeClr val="tx1"/>
                </a:solidFill>
                <a:latin typeface="+mn-lt"/>
                <a:ea typeface="+mn-ea"/>
                <a:cs typeface="+mn-cs"/>
              </a:rPr>
              <a:t>insertProduct(...)</a:t>
            </a:r>
            <a:endParaRPr lang="vi-VN" b="1"/>
          </a:p>
          <a:p>
            <a:r>
              <a:rPr lang="vi-VN"/>
              <a:t>Đây là </a:t>
            </a:r>
            <a:r>
              <a:rPr lang="vi-VN" b="1"/>
              <a:t>hàm tự định nghĩa</a:t>
            </a:r>
            <a:r>
              <a:rPr lang="vi-VN"/>
              <a:t> trong lớp </a:t>
            </a:r>
            <a:r>
              <a:rPr lang="vi-VN" sz="1200" kern="1200">
                <a:solidFill>
                  <a:schemeClr val="tx1"/>
                </a:solidFill>
                <a:latin typeface="+mn-lt"/>
                <a:ea typeface="+mn-ea"/>
                <a:cs typeface="+mn-cs"/>
              </a:rPr>
              <a:t>AppDatabase</a:t>
            </a:r>
            <a:r>
              <a:rPr lang="vi-VN"/>
              <a:t> (hoặc file </a:t>
            </a:r>
            <a:r>
              <a:rPr lang="vi-VN" sz="1200" kern="1200">
                <a:solidFill>
                  <a:schemeClr val="tx1"/>
                </a:solidFill>
                <a:latin typeface="+mn-lt"/>
                <a:ea typeface="+mn-ea"/>
                <a:cs typeface="+mn-cs"/>
              </a:rPr>
              <a:t>database.dart</a:t>
            </a:r>
            <a:r>
              <a:rPr lang="vi-VN"/>
              <a:t>), ví dụ như:</a:t>
            </a:r>
          </a:p>
          <a:p>
            <a:pPr rtl="0"/>
            <a:r>
              <a:rPr lang="vi-VN" sz="1200" kern="1200">
                <a:solidFill>
                  <a:schemeClr val="tx1"/>
                </a:solidFill>
                <a:latin typeface="+mn-lt"/>
                <a:ea typeface="+mn-ea"/>
                <a:cs typeface="+mn-cs"/>
              </a:rPr>
              <a:t>Future&lt;int&gt; insertProduct(ProductsCompanion product) =&gt;</a:t>
            </a:r>
          </a:p>
          <a:p>
            <a:pPr rtl="0"/>
            <a:r>
              <a:rPr lang="vi-VN" sz="1200" kern="1200">
                <a:solidFill>
                  <a:schemeClr val="tx1"/>
                </a:solidFill>
                <a:latin typeface="+mn-lt"/>
                <a:ea typeface="+mn-ea"/>
                <a:cs typeface="+mn-cs"/>
              </a:rPr>
              <a:t>    into(products).insert(product);</a:t>
            </a:r>
          </a:p>
          <a:p>
            <a:r>
              <a:rPr lang="vi-VN"/>
              <a:t>Nó dùng Drift để </a:t>
            </a:r>
            <a:r>
              <a:rPr lang="vi-VN" b="1"/>
              <a:t>thêm dữ liệu</a:t>
            </a:r>
            <a:r>
              <a:rPr lang="vi-VN"/>
              <a:t> vào bảng </a:t>
            </a:r>
            <a:r>
              <a:rPr lang="vi-VN" sz="1200" kern="1200">
                <a:solidFill>
                  <a:schemeClr val="tx1"/>
                </a:solidFill>
                <a:latin typeface="+mn-lt"/>
                <a:ea typeface="+mn-ea"/>
                <a:cs typeface="+mn-cs"/>
              </a:rPr>
              <a:t>products</a:t>
            </a:r>
            <a:r>
              <a:rPr lang="vi-VN"/>
              <a:t>.</a:t>
            </a:r>
          </a:p>
          <a:p>
            <a:br>
              <a:rPr lang="vi-VN"/>
            </a:br>
            <a:endParaRPr lang="vi-VN"/>
          </a:p>
          <a:p>
            <a:r>
              <a:rPr lang="vi-VN" b="1"/>
              <a:t>3️⃣ </a:t>
            </a:r>
            <a:r>
              <a:rPr lang="vi-VN" sz="1200" b="1" kern="1200">
                <a:solidFill>
                  <a:schemeClr val="tx1"/>
                </a:solidFill>
                <a:latin typeface="+mn-lt"/>
                <a:ea typeface="+mn-ea"/>
                <a:cs typeface="+mn-cs"/>
              </a:rPr>
              <a:t>ProductsCompanion(...)</a:t>
            </a:r>
            <a:endParaRPr lang="vi-VN" b="1"/>
          </a:p>
          <a:p>
            <a:r>
              <a:rPr lang="vi-VN"/>
              <a:t>Đây là </a:t>
            </a:r>
            <a:r>
              <a:rPr lang="vi-VN" b="1"/>
              <a:t>class tự động sinh ra</a:t>
            </a:r>
            <a:r>
              <a:rPr lang="vi-VN"/>
              <a:t> bởi Drift trong file </a:t>
            </a:r>
            <a:r>
              <a:rPr lang="vi-VN" sz="1200" kern="1200">
                <a:solidFill>
                  <a:schemeClr val="tx1"/>
                </a:solidFill>
                <a:latin typeface="+mn-lt"/>
                <a:ea typeface="+mn-ea"/>
                <a:cs typeface="+mn-cs"/>
              </a:rPr>
              <a:t>.g.dart</a:t>
            </a:r>
            <a:r>
              <a:rPr lang="vi-VN"/>
              <a:t>.</a:t>
            </a:r>
            <a:br>
              <a:rPr lang="vi-VN"/>
            </a:br>
            <a:r>
              <a:rPr lang="vi-VN"/>
              <a:t>Nó đại diện cho </a:t>
            </a:r>
            <a:r>
              <a:rPr lang="vi-VN" b="1"/>
              <a:t>một bản ghi (record)</a:t>
            </a:r>
            <a:r>
              <a:rPr lang="vi-VN"/>
              <a:t> trong bảng </a:t>
            </a:r>
            <a:r>
              <a:rPr lang="vi-VN" sz="1200" kern="1200">
                <a:solidFill>
                  <a:schemeClr val="tx1"/>
                </a:solidFill>
                <a:latin typeface="+mn-lt"/>
                <a:ea typeface="+mn-ea"/>
                <a:cs typeface="+mn-cs"/>
              </a:rPr>
              <a:t>products</a:t>
            </a:r>
            <a:r>
              <a:rPr lang="vi-VN"/>
              <a:t>, nhưng </a:t>
            </a:r>
            <a:r>
              <a:rPr lang="vi-VN" b="1"/>
              <a:t>ở dạng có thể bỏ trống một số trường</a:t>
            </a:r>
            <a:r>
              <a:rPr lang="vi-VN"/>
              <a:t> (thường dùng khi thêm hoặc cập nhật dữ liệu).</a:t>
            </a:r>
          </a:p>
          <a:p>
            <a:r>
              <a:rPr lang="vi-VN"/>
              <a:t>Mỗi bảng (ví dụ </a:t>
            </a:r>
            <a:r>
              <a:rPr lang="vi-VN" sz="1200" kern="1200">
                <a:solidFill>
                  <a:schemeClr val="tx1"/>
                </a:solidFill>
                <a:latin typeface="+mn-lt"/>
                <a:ea typeface="+mn-ea"/>
                <a:cs typeface="+mn-cs"/>
              </a:rPr>
              <a:t>Products</a:t>
            </a:r>
            <a:r>
              <a:rPr lang="vi-VN"/>
              <a:t>) trong Drift đều có một lớp </a:t>
            </a:r>
            <a:r>
              <a:rPr lang="vi-VN" sz="1200" kern="1200">
                <a:solidFill>
                  <a:schemeClr val="tx1"/>
                </a:solidFill>
                <a:latin typeface="+mn-lt"/>
                <a:ea typeface="+mn-ea"/>
                <a:cs typeface="+mn-cs"/>
              </a:rPr>
              <a:t>ProductsCompanion</a:t>
            </a:r>
            <a:r>
              <a:rPr lang="vi-VN"/>
              <a:t> tương ứng, giúp bạn “bọc” các giá trị cần chèn.</a:t>
            </a:r>
          </a:p>
          <a:p>
            <a:br>
              <a:rPr lang="vi-VN"/>
            </a:br>
            <a:endParaRPr lang="vi-VN"/>
          </a:p>
          <a:p>
            <a:r>
              <a:rPr lang="vi-VN" b="1"/>
              <a:t>4️⃣ </a:t>
            </a:r>
            <a:r>
              <a:rPr lang="vi-VN" sz="1200" b="1" kern="1200">
                <a:solidFill>
                  <a:schemeClr val="tx1"/>
                </a:solidFill>
                <a:latin typeface="+mn-lt"/>
                <a:ea typeface="+mn-ea"/>
                <a:cs typeface="+mn-cs"/>
              </a:rPr>
              <a:t>Value(...)</a:t>
            </a:r>
            <a:endParaRPr lang="vi-VN" b="1"/>
          </a:p>
          <a:p>
            <a:r>
              <a:rPr lang="vi-VN"/>
              <a:t>Trong Drift, các trường trong </a:t>
            </a:r>
            <a:r>
              <a:rPr lang="vi-VN" sz="1200" kern="1200">
                <a:solidFill>
                  <a:schemeClr val="tx1"/>
                </a:solidFill>
                <a:latin typeface="+mn-lt"/>
                <a:ea typeface="+mn-ea"/>
                <a:cs typeface="+mn-cs"/>
              </a:rPr>
              <a:t>Companion</a:t>
            </a:r>
            <a:r>
              <a:rPr lang="vi-VN"/>
              <a:t> không được gán trực tiếp bằng giá trị gốc mà phải </a:t>
            </a:r>
            <a:r>
              <a:rPr lang="vi-VN" b="1"/>
              <a:t>bọc bằng </a:t>
            </a:r>
            <a:r>
              <a:rPr lang="vi-VN" sz="1200" b="1" kern="1200">
                <a:solidFill>
                  <a:schemeClr val="tx1"/>
                </a:solidFill>
                <a:latin typeface="+mn-lt"/>
                <a:ea typeface="+mn-ea"/>
                <a:cs typeface="+mn-cs"/>
              </a:rPr>
              <a:t>Value()</a:t>
            </a:r>
            <a:r>
              <a:rPr lang="vi-VN"/>
              <a:t>.</a:t>
            </a:r>
            <a:br>
              <a:rPr lang="vi-VN"/>
            </a:br>
            <a:r>
              <a:rPr lang="vi-VN"/>
              <a:t>Mục đích là để phân biệt:</a:t>
            </a:r>
          </a:p>
          <a:p>
            <a:pPr lvl="1"/>
            <a:r>
              <a:rPr lang="vi-VN" sz="1200" kern="1200">
                <a:solidFill>
                  <a:schemeClr val="tx1"/>
                </a:solidFill>
                <a:latin typeface="+mn-lt"/>
                <a:ea typeface="+mn-ea"/>
                <a:cs typeface="+mn-cs"/>
              </a:rPr>
              <a:t>Value(x)</a:t>
            </a:r>
            <a:r>
              <a:rPr lang="vi-VN"/>
              <a:t> → muốn gán trường bằng giá trị </a:t>
            </a:r>
            <a:r>
              <a:rPr lang="vi-VN" sz="1200" kern="1200">
                <a:solidFill>
                  <a:schemeClr val="tx1"/>
                </a:solidFill>
                <a:latin typeface="+mn-lt"/>
                <a:ea typeface="+mn-ea"/>
                <a:cs typeface="+mn-cs"/>
              </a:rPr>
              <a:t>x</a:t>
            </a:r>
            <a:r>
              <a:rPr lang="vi-VN"/>
              <a:t>.</a:t>
            </a:r>
          </a:p>
          <a:p>
            <a:pPr lvl="1"/>
            <a:r>
              <a:rPr lang="vi-VN" sz="1200" kern="1200">
                <a:solidFill>
                  <a:schemeClr val="tx1"/>
                </a:solidFill>
                <a:latin typeface="+mn-lt"/>
                <a:ea typeface="+mn-ea"/>
                <a:cs typeface="+mn-cs"/>
              </a:rPr>
              <a:t>Value.absent()</a:t>
            </a:r>
            <a:r>
              <a:rPr lang="vi-VN"/>
              <a:t> → </a:t>
            </a:r>
            <a:r>
              <a:rPr lang="vi-VN" b="1"/>
              <a:t>bỏ qua trường này</a:t>
            </a:r>
            <a:r>
              <a:rPr lang="vi-VN"/>
              <a:t>, không ghi vào DB (thường dùng khi update).</a:t>
            </a:r>
          </a:p>
          <a:p>
            <a:r>
              <a:rPr lang="en-US"/>
              <a:t>🔹 </a:t>
            </a:r>
            <a:r>
              <a:rPr lang="vi-VN"/>
              <a:t>Ví dụ:</a:t>
            </a:r>
          </a:p>
          <a:p>
            <a:pPr rtl="0"/>
            <a:r>
              <a:rPr lang="vi-VN" sz="1200" kern="1200">
                <a:solidFill>
                  <a:schemeClr val="tx1"/>
                </a:solidFill>
                <a:latin typeface="+mn-lt"/>
                <a:ea typeface="+mn-ea"/>
                <a:cs typeface="+mn-cs"/>
              </a:rPr>
              <a:t>ProductsCompanion(</a:t>
            </a:r>
          </a:p>
          <a:p>
            <a:pPr rtl="0"/>
            <a:r>
              <a:rPr lang="vi-VN" sz="1200" kern="1200">
                <a:solidFill>
                  <a:schemeClr val="tx1"/>
                </a:solidFill>
                <a:latin typeface="+mn-lt"/>
                <a:ea typeface="+mn-ea"/>
                <a:cs typeface="+mn-cs"/>
              </a:rPr>
              <a:t>  name: Value("Laptop"),</a:t>
            </a:r>
          </a:p>
          <a:p>
            <a:pPr rtl="0"/>
            <a:r>
              <a:rPr lang="vi-VN" sz="1200" kern="1200">
                <a:solidFill>
                  <a:schemeClr val="tx1"/>
                </a:solidFill>
                <a:latin typeface="+mn-lt"/>
                <a:ea typeface="+mn-ea"/>
                <a:cs typeface="+mn-cs"/>
              </a:rPr>
              <a:t>  price: Value(12000000),</a:t>
            </a:r>
          </a:p>
          <a:p>
            <a:pPr rtl="0"/>
            <a:r>
              <a:rPr lang="vi-VN" sz="1200" kern="1200">
                <a:solidFill>
                  <a:schemeClr val="tx1"/>
                </a:solidFill>
                <a:latin typeface="+mn-lt"/>
                <a:ea typeface="+mn-ea"/>
                <a:cs typeface="+mn-cs"/>
              </a:rPr>
              <a:t>);</a:t>
            </a:r>
          </a:p>
          <a:p>
            <a:r>
              <a:rPr lang="vi-VN"/>
              <a:t>nghĩa là:</a:t>
            </a:r>
          </a:p>
          <a:p>
            <a:r>
              <a:rPr lang="vi-VN"/>
              <a:t>Thêm 1 sản phẩm có name = "Laptop" và price = 12,000,000 VNĐ.</a:t>
            </a:r>
          </a:p>
          <a:p>
            <a:r>
              <a:rPr lang="vi-VN" b="1"/>
              <a:t>6️⃣ Cách hoạt động tổng thể:</a:t>
            </a:r>
          </a:p>
          <a:p>
            <a:r>
              <a:rPr lang="vi-VN"/>
              <a:t>Khi nhấn nút “Thêm”, chương trình lấy dữ liệu từ các </a:t>
            </a:r>
            <a:r>
              <a:rPr lang="vi-VN" sz="1200" kern="1200">
                <a:solidFill>
                  <a:schemeClr val="tx1"/>
                </a:solidFill>
                <a:latin typeface="+mn-lt"/>
                <a:ea typeface="+mn-ea"/>
                <a:cs typeface="+mn-cs"/>
              </a:rPr>
              <a:t>TextField</a:t>
            </a:r>
            <a:r>
              <a:rPr lang="vi-VN"/>
              <a:t>.</a:t>
            </a:r>
          </a:p>
          <a:p>
            <a:r>
              <a:rPr lang="vi-VN"/>
              <a:t>Tạo đối tượng </a:t>
            </a:r>
            <a:r>
              <a:rPr lang="vi-VN" sz="1200" kern="1200">
                <a:solidFill>
                  <a:schemeClr val="tx1"/>
                </a:solidFill>
                <a:latin typeface="+mn-lt"/>
                <a:ea typeface="+mn-ea"/>
                <a:cs typeface="+mn-cs"/>
              </a:rPr>
              <a:t>ProductsCompanion</a:t>
            </a:r>
            <a:r>
              <a:rPr lang="vi-VN"/>
              <a:t> chứa dữ liệu nhập.</a:t>
            </a:r>
          </a:p>
          <a:p>
            <a:r>
              <a:rPr lang="vi-VN"/>
              <a:t>Gọi </a:t>
            </a:r>
            <a:r>
              <a:rPr lang="vi-VN" sz="1200" kern="1200">
                <a:solidFill>
                  <a:schemeClr val="tx1"/>
                </a:solidFill>
                <a:latin typeface="+mn-lt"/>
                <a:ea typeface="+mn-ea"/>
                <a:cs typeface="+mn-cs"/>
              </a:rPr>
              <a:t>insertProduct()</a:t>
            </a:r>
            <a:r>
              <a:rPr lang="vi-VN"/>
              <a:t> để thêm bản ghi vào bảng </a:t>
            </a:r>
            <a:r>
              <a:rPr lang="vi-VN" sz="1200" kern="1200">
                <a:solidFill>
                  <a:schemeClr val="tx1"/>
                </a:solidFill>
                <a:latin typeface="+mn-lt"/>
                <a:ea typeface="+mn-ea"/>
                <a:cs typeface="+mn-cs"/>
              </a:rPr>
              <a:t>products</a:t>
            </a:r>
            <a:r>
              <a:rPr lang="vi-VN"/>
              <a:t> trong SQLite.</a:t>
            </a:r>
          </a:p>
          <a:p>
            <a:r>
              <a:rPr lang="vi-VN" sz="1200" kern="1200">
                <a:solidFill>
                  <a:schemeClr val="tx1"/>
                </a:solidFill>
                <a:latin typeface="+mn-lt"/>
                <a:ea typeface="+mn-ea"/>
                <a:cs typeface="+mn-cs"/>
              </a:rPr>
              <a:t>await</a:t>
            </a:r>
            <a:r>
              <a:rPr lang="vi-VN"/>
              <a:t> dùng để </a:t>
            </a:r>
            <a:r>
              <a:rPr lang="vi-VN" b="1"/>
              <a:t>chờ lệnh thêm hoàn tất</a:t>
            </a:r>
            <a:r>
              <a:rPr lang="vi-VN"/>
              <a:t> trước khi đóng dialog và làm mới danh sách sản phẩm.</a:t>
            </a:r>
          </a:p>
          <a:p>
            <a:r>
              <a:rPr lang="en-US" b="1"/>
              <a:t>-------------------------------------------------------------------------------------------------------------------------</a:t>
            </a:r>
          </a:p>
          <a:p>
            <a:r>
              <a:rPr lang="en-US" b="1"/>
              <a:t>🧩 </a:t>
            </a:r>
            <a:r>
              <a:rPr lang="vi-VN" b="1"/>
              <a:t>Ngữ cảnh tổng quát</a:t>
            </a:r>
          </a:p>
          <a:p>
            <a:r>
              <a:rPr lang="vi-VN"/>
              <a:t>Đoạn này nằm trong hàm </a:t>
            </a:r>
            <a:r>
              <a:rPr lang="vi-VN" sz="1200" kern="1200">
                <a:solidFill>
                  <a:schemeClr val="tx1"/>
                </a:solidFill>
                <a:latin typeface="+mn-lt"/>
                <a:ea typeface="+mn-ea"/>
                <a:cs typeface="+mn-cs"/>
              </a:rPr>
              <a:t>_showEditDialog(Product product)</a:t>
            </a:r>
            <a:r>
              <a:rPr lang="vi-VN"/>
              <a:t>, tức là </a:t>
            </a:r>
            <a:r>
              <a:rPr lang="vi-VN" b="1"/>
              <a:t>form sửa sản phẩm</a:t>
            </a:r>
            <a:r>
              <a:rPr lang="vi-VN"/>
              <a:t>.</a:t>
            </a:r>
          </a:p>
          <a:p>
            <a:r>
              <a:rPr lang="vi-VN"/>
              <a:t>Khi người dùng nhấn nút “Lưu”, chương trình sẽ:</a:t>
            </a:r>
          </a:p>
          <a:p>
            <a:r>
              <a:rPr lang="vi-VN"/>
              <a:t>Lấy dữ liệu mới từ các </a:t>
            </a:r>
            <a:r>
              <a:rPr lang="vi-VN" sz="1200" kern="1200">
                <a:solidFill>
                  <a:schemeClr val="tx1"/>
                </a:solidFill>
                <a:latin typeface="+mn-lt"/>
                <a:ea typeface="+mn-ea"/>
                <a:cs typeface="+mn-cs"/>
              </a:rPr>
              <a:t>TextField</a:t>
            </a:r>
            <a:r>
              <a:rPr lang="vi-VN"/>
              <a:t>,</a:t>
            </a:r>
          </a:p>
          <a:p>
            <a:r>
              <a:rPr lang="vi-VN"/>
              <a:t>Tạo một bản sao mới của sản phẩm gốc (</a:t>
            </a:r>
            <a:r>
              <a:rPr lang="vi-VN" sz="1200" kern="1200">
                <a:solidFill>
                  <a:schemeClr val="tx1"/>
                </a:solidFill>
                <a:latin typeface="+mn-lt"/>
                <a:ea typeface="+mn-ea"/>
                <a:cs typeface="+mn-cs"/>
              </a:rPr>
              <a:t>product</a:t>
            </a:r>
            <a:r>
              <a:rPr lang="vi-VN"/>
              <a:t>) nhưng </a:t>
            </a:r>
            <a:r>
              <a:rPr lang="vi-VN" b="1"/>
              <a:t>có thông tin được chỉnh sửa</a:t>
            </a:r>
            <a:r>
              <a:rPr lang="vi-VN"/>
              <a:t>,</a:t>
            </a:r>
          </a:p>
          <a:p>
            <a:r>
              <a:rPr lang="vi-VN"/>
              <a:t>Cập nhật bản ghi đó trong cơ sở dữ liệu.</a:t>
            </a:r>
          </a:p>
          <a:p>
            <a:br>
              <a:rPr lang="vi-VN"/>
            </a:br>
            <a:endParaRPr lang="vi-VN"/>
          </a:p>
          <a:p>
            <a:r>
              <a:rPr lang="en-US" b="1"/>
              <a:t>🔍 </a:t>
            </a:r>
            <a:r>
              <a:rPr lang="vi-VN" b="1"/>
              <a:t>Giải thích chi tiết từng dòng</a:t>
            </a:r>
          </a:p>
          <a:p>
            <a:r>
              <a:rPr lang="en-US" b="1"/>
              <a:t>🔸 1️⃣ </a:t>
            </a:r>
            <a:r>
              <a:rPr lang="vi-VN" sz="1200" b="1" kern="1200">
                <a:solidFill>
                  <a:schemeClr val="tx1"/>
                </a:solidFill>
                <a:latin typeface="+mn-lt"/>
                <a:ea typeface="+mn-ea"/>
                <a:cs typeface="+mn-cs"/>
              </a:rPr>
              <a:t>final updated = product.copyWith(...)</a:t>
            </a:r>
            <a:endParaRPr lang="vi-VN" b="1"/>
          </a:p>
          <a:p>
            <a:r>
              <a:rPr lang="en-US"/>
              <a:t>👉 </a:t>
            </a:r>
            <a:r>
              <a:rPr lang="vi-VN"/>
              <a:t>Dòng này tạo </a:t>
            </a:r>
            <a:r>
              <a:rPr lang="vi-VN" b="1"/>
              <a:t>một bản sao mới của đối tượng </a:t>
            </a:r>
            <a:r>
              <a:rPr lang="vi-VN" sz="1200" b="1" kern="1200">
                <a:solidFill>
                  <a:schemeClr val="tx1"/>
                </a:solidFill>
                <a:latin typeface="+mn-lt"/>
                <a:ea typeface="+mn-ea"/>
                <a:cs typeface="+mn-cs"/>
              </a:rPr>
              <a:t>product</a:t>
            </a:r>
            <a:r>
              <a:rPr lang="vi-VN"/>
              <a:t>,</a:t>
            </a:r>
            <a:br>
              <a:rPr lang="vi-VN"/>
            </a:br>
            <a:r>
              <a:rPr lang="vi-VN"/>
              <a:t>nhưng </a:t>
            </a:r>
            <a:r>
              <a:rPr lang="vi-VN" b="1"/>
              <a:t>thay đổi một số thuộc tính</a:t>
            </a:r>
            <a:r>
              <a:rPr lang="vi-VN"/>
              <a:t> (name, price, quantity, …) bằng giá trị mới mà người dùng nhập.</a:t>
            </a:r>
          </a:p>
          <a:p>
            <a:r>
              <a:rPr lang="vi-VN" b="1"/>
              <a:t>Ví dụ:</a:t>
            </a:r>
          </a:p>
          <a:p>
            <a:r>
              <a:rPr lang="vi-VN"/>
              <a:t>Giả sử sản phẩm ban đầu là:</a:t>
            </a:r>
          </a:p>
          <a:p>
            <a:pPr rtl="0"/>
            <a:r>
              <a:rPr lang="vi-VN" sz="1200" kern="1200">
                <a:solidFill>
                  <a:schemeClr val="tx1"/>
                </a:solidFill>
                <a:latin typeface="+mn-lt"/>
                <a:ea typeface="+mn-ea"/>
                <a:cs typeface="+mn-cs"/>
              </a:rPr>
              <a:t>product = Product(</a:t>
            </a:r>
          </a:p>
          <a:p>
            <a:pPr rtl="0"/>
            <a:r>
              <a:rPr lang="vi-VN" sz="1200" kern="1200">
                <a:solidFill>
                  <a:schemeClr val="tx1"/>
                </a:solidFill>
                <a:latin typeface="+mn-lt"/>
                <a:ea typeface="+mn-ea"/>
                <a:cs typeface="+mn-cs"/>
              </a:rPr>
              <a:t>  id: 1,</a:t>
            </a:r>
          </a:p>
          <a:p>
            <a:pPr rtl="0"/>
            <a:r>
              <a:rPr lang="vi-VN" sz="1200" kern="1200">
                <a:solidFill>
                  <a:schemeClr val="tx1"/>
                </a:solidFill>
                <a:latin typeface="+mn-lt"/>
                <a:ea typeface="+mn-ea"/>
                <a:cs typeface="+mn-cs"/>
              </a:rPr>
              <a:t>  name: "Chuột Logitech",</a:t>
            </a:r>
          </a:p>
          <a:p>
            <a:pPr rtl="0"/>
            <a:r>
              <a:rPr lang="vi-VN" sz="1200" kern="1200">
                <a:solidFill>
                  <a:schemeClr val="tx1"/>
                </a:solidFill>
                <a:latin typeface="+mn-lt"/>
                <a:ea typeface="+mn-ea"/>
                <a:cs typeface="+mn-cs"/>
              </a:rPr>
              <a:t>  price: 250000,</a:t>
            </a:r>
          </a:p>
          <a:p>
            <a:pPr rtl="0"/>
            <a:r>
              <a:rPr lang="vi-VN" sz="1200" kern="1200">
                <a:solidFill>
                  <a:schemeClr val="tx1"/>
                </a:solidFill>
                <a:latin typeface="+mn-lt"/>
                <a:ea typeface="+mn-ea"/>
                <a:cs typeface="+mn-cs"/>
              </a:rPr>
              <a:t>  quantity: 5,</a:t>
            </a:r>
          </a:p>
          <a:p>
            <a:pPr rtl="0"/>
            <a:r>
              <a:rPr lang="vi-VN" sz="1200" kern="1200">
                <a:solidFill>
                  <a:schemeClr val="tx1"/>
                </a:solidFill>
                <a:latin typeface="+mn-lt"/>
                <a:ea typeface="+mn-ea"/>
                <a:cs typeface="+mn-cs"/>
              </a:rPr>
              <a:t>  description: "Chuột không dây",</a:t>
            </a:r>
          </a:p>
          <a:p>
            <a:pPr rtl="0"/>
            <a:r>
              <a:rPr lang="vi-VN" sz="1200" kern="1200">
                <a:solidFill>
                  <a:schemeClr val="tx1"/>
                </a:solidFill>
                <a:latin typeface="+mn-lt"/>
                <a:ea typeface="+mn-ea"/>
                <a:cs typeface="+mn-cs"/>
              </a:rPr>
              <a:t>  dateAdded: DateTime(2025, 10, 1),</a:t>
            </a:r>
          </a:p>
          <a:p>
            <a:pPr rtl="0"/>
            <a:r>
              <a:rPr lang="vi-VN" sz="1200" kern="1200">
                <a:solidFill>
                  <a:schemeClr val="tx1"/>
                </a:solidFill>
                <a:latin typeface="+mn-lt"/>
                <a:ea typeface="+mn-ea"/>
                <a:cs typeface="+mn-cs"/>
              </a:rPr>
              <a:t>);</a:t>
            </a:r>
          </a:p>
          <a:p>
            <a:r>
              <a:rPr lang="vi-VN"/>
              <a:t>Nếu người dùng sửa giá thành 300000 và số lượng thành 10,</a:t>
            </a:r>
            <a:br>
              <a:rPr lang="vi-VN"/>
            </a:br>
            <a:r>
              <a:rPr lang="vi-VN"/>
              <a:t>đoạn code:</a:t>
            </a:r>
          </a:p>
          <a:p>
            <a:pPr rtl="0"/>
            <a:r>
              <a:rPr lang="vi-VN" sz="1200" kern="1200">
                <a:solidFill>
                  <a:schemeClr val="tx1"/>
                </a:solidFill>
                <a:latin typeface="+mn-lt"/>
                <a:ea typeface="+mn-ea"/>
                <a:cs typeface="+mn-cs"/>
              </a:rPr>
              <a:t>final updated = product.copyWith(</a:t>
            </a:r>
          </a:p>
          <a:p>
            <a:pPr rtl="0"/>
            <a:r>
              <a:rPr lang="vi-VN" sz="1200" kern="1200">
                <a:solidFill>
                  <a:schemeClr val="tx1"/>
                </a:solidFill>
                <a:latin typeface="+mn-lt"/>
                <a:ea typeface="+mn-ea"/>
                <a:cs typeface="+mn-cs"/>
              </a:rPr>
              <a:t>  price: 300000,</a:t>
            </a:r>
          </a:p>
          <a:p>
            <a:pPr rtl="0"/>
            <a:r>
              <a:rPr lang="vi-VN" sz="1200" kern="1200">
                <a:solidFill>
                  <a:schemeClr val="tx1"/>
                </a:solidFill>
                <a:latin typeface="+mn-lt"/>
                <a:ea typeface="+mn-ea"/>
                <a:cs typeface="+mn-cs"/>
              </a:rPr>
              <a:t>  quantity: 10,</a:t>
            </a:r>
          </a:p>
          <a:p>
            <a:pPr rtl="0"/>
            <a:r>
              <a:rPr lang="vi-VN" sz="1200" kern="1200">
                <a:solidFill>
                  <a:schemeClr val="tx1"/>
                </a:solidFill>
                <a:latin typeface="+mn-lt"/>
                <a:ea typeface="+mn-ea"/>
                <a:cs typeface="+mn-cs"/>
              </a:rPr>
              <a:t>);</a:t>
            </a:r>
          </a:p>
          <a:p>
            <a:r>
              <a:rPr lang="vi-VN"/>
              <a:t>sẽ tạo ra:</a:t>
            </a:r>
          </a:p>
          <a:p>
            <a:pPr rtl="0"/>
            <a:r>
              <a:rPr lang="vi-VN" sz="1200" kern="1200">
                <a:solidFill>
                  <a:schemeClr val="tx1"/>
                </a:solidFill>
                <a:latin typeface="+mn-lt"/>
                <a:ea typeface="+mn-ea"/>
                <a:cs typeface="+mn-cs"/>
              </a:rPr>
              <a:t>updated = Product(</a:t>
            </a:r>
          </a:p>
          <a:p>
            <a:pPr rtl="0"/>
            <a:r>
              <a:rPr lang="vi-VN" sz="1200" kern="1200">
                <a:solidFill>
                  <a:schemeClr val="tx1"/>
                </a:solidFill>
                <a:latin typeface="+mn-lt"/>
                <a:ea typeface="+mn-ea"/>
                <a:cs typeface="+mn-cs"/>
              </a:rPr>
              <a:t>  id: 1,  // vẫn giữ nguyên ID</a:t>
            </a:r>
          </a:p>
          <a:p>
            <a:pPr rtl="0"/>
            <a:r>
              <a:rPr lang="vi-VN" sz="1200" kern="1200">
                <a:solidFill>
                  <a:schemeClr val="tx1"/>
                </a:solidFill>
                <a:latin typeface="+mn-lt"/>
                <a:ea typeface="+mn-ea"/>
                <a:cs typeface="+mn-cs"/>
              </a:rPr>
              <a:t>  name: "Chuột Logitech", // không đổi</a:t>
            </a:r>
          </a:p>
          <a:p>
            <a:pPr rtl="0"/>
            <a:r>
              <a:rPr lang="vi-VN" sz="1200" kern="1200">
                <a:solidFill>
                  <a:schemeClr val="tx1"/>
                </a:solidFill>
                <a:latin typeface="+mn-lt"/>
                <a:ea typeface="+mn-ea"/>
                <a:cs typeface="+mn-cs"/>
              </a:rPr>
              <a:t>  price: 300000,</a:t>
            </a:r>
          </a:p>
          <a:p>
            <a:pPr rtl="0"/>
            <a:r>
              <a:rPr lang="vi-VN" sz="1200" kern="1200">
                <a:solidFill>
                  <a:schemeClr val="tx1"/>
                </a:solidFill>
                <a:latin typeface="+mn-lt"/>
                <a:ea typeface="+mn-ea"/>
                <a:cs typeface="+mn-cs"/>
              </a:rPr>
              <a:t>  quantity: 10,</a:t>
            </a:r>
          </a:p>
          <a:p>
            <a:pPr rtl="0"/>
            <a:r>
              <a:rPr lang="vi-VN" sz="1200" kern="1200">
                <a:solidFill>
                  <a:schemeClr val="tx1"/>
                </a:solidFill>
                <a:latin typeface="+mn-lt"/>
                <a:ea typeface="+mn-ea"/>
                <a:cs typeface="+mn-cs"/>
              </a:rPr>
              <a:t>  description: "Chuột không dây",</a:t>
            </a:r>
          </a:p>
          <a:p>
            <a:pPr rtl="0"/>
            <a:r>
              <a:rPr lang="vi-VN" sz="1200" kern="1200">
                <a:solidFill>
                  <a:schemeClr val="tx1"/>
                </a:solidFill>
                <a:latin typeface="+mn-lt"/>
                <a:ea typeface="+mn-ea"/>
                <a:cs typeface="+mn-cs"/>
              </a:rPr>
              <a:t>  dateAdded: DateTime(2025, 10, 1),</a:t>
            </a:r>
          </a:p>
          <a:p>
            <a:pPr rtl="0"/>
            <a:r>
              <a:rPr lang="vi-VN" sz="1200" kern="1200">
                <a:solidFill>
                  <a:schemeClr val="tx1"/>
                </a:solidFill>
                <a:latin typeface="+mn-lt"/>
                <a:ea typeface="+mn-ea"/>
                <a:cs typeface="+mn-cs"/>
              </a:rPr>
              <a:t>);</a:t>
            </a:r>
          </a:p>
          <a:p>
            <a:r>
              <a:rPr lang="en-US"/>
              <a:t>✅ </a:t>
            </a:r>
            <a:r>
              <a:rPr lang="vi-VN" sz="1200" kern="1200">
                <a:solidFill>
                  <a:schemeClr val="tx1"/>
                </a:solidFill>
                <a:latin typeface="+mn-lt"/>
                <a:ea typeface="+mn-ea"/>
                <a:cs typeface="+mn-cs"/>
              </a:rPr>
              <a:t>copyWith()</a:t>
            </a:r>
            <a:r>
              <a:rPr lang="vi-VN"/>
              <a:t> là hàm </a:t>
            </a:r>
            <a:r>
              <a:rPr lang="vi-VN" b="1"/>
              <a:t>Drift tự động sinh ra</a:t>
            </a:r>
            <a:r>
              <a:rPr lang="vi-VN"/>
              <a:t> cho mỗi model (ví dụ </a:t>
            </a:r>
            <a:r>
              <a:rPr lang="vi-VN" sz="1200" kern="1200">
                <a:solidFill>
                  <a:schemeClr val="tx1"/>
                </a:solidFill>
                <a:latin typeface="+mn-lt"/>
                <a:ea typeface="+mn-ea"/>
                <a:cs typeface="+mn-cs"/>
              </a:rPr>
              <a:t>Product</a:t>
            </a:r>
            <a:r>
              <a:rPr lang="vi-VN"/>
              <a:t>),</a:t>
            </a:r>
            <a:br>
              <a:rPr lang="vi-VN"/>
            </a:br>
            <a:r>
              <a:rPr lang="vi-VN"/>
              <a:t>giúp bạn tạo đối tượng mới </a:t>
            </a:r>
            <a:r>
              <a:rPr lang="vi-VN" b="1"/>
              <a:t>giữ nguyên các trường không đổi</a:t>
            </a:r>
            <a:r>
              <a:rPr lang="vi-VN"/>
              <a:t> và chỉ cập nhật những trường cần sửa.</a:t>
            </a:r>
          </a:p>
          <a:p>
            <a:r>
              <a:rPr lang="en-US" b="1"/>
              <a:t>🔸 3️⃣ </a:t>
            </a:r>
            <a:r>
              <a:rPr lang="vi-VN" sz="1200" b="1" kern="1200">
                <a:solidFill>
                  <a:schemeClr val="tx1"/>
                </a:solidFill>
                <a:latin typeface="+mn-lt"/>
                <a:ea typeface="+mn-ea"/>
                <a:cs typeface="+mn-cs"/>
              </a:rPr>
              <a:t>await widget.db.updateProduct(updated);</a:t>
            </a:r>
            <a:endParaRPr lang="vi-VN" b="1"/>
          </a:p>
          <a:p>
            <a:r>
              <a:rPr lang="vi-VN"/>
              <a:t>Đây là lệnh </a:t>
            </a:r>
            <a:r>
              <a:rPr lang="vi-VN" b="1"/>
              <a:t>gửi bản ghi đã cập nhật</a:t>
            </a:r>
            <a:r>
              <a:rPr lang="vi-VN"/>
              <a:t> xuống cơ sở dữ liệu.</a:t>
            </a:r>
          </a:p>
          <a:p>
            <a:r>
              <a:rPr lang="vi-VN" sz="1200" kern="1200">
                <a:solidFill>
                  <a:schemeClr val="tx1"/>
                </a:solidFill>
                <a:latin typeface="+mn-lt"/>
                <a:ea typeface="+mn-ea"/>
                <a:cs typeface="+mn-cs"/>
              </a:rPr>
              <a:t>widget.db</a:t>
            </a:r>
            <a:r>
              <a:rPr lang="vi-VN"/>
              <a:t> là đối tượng </a:t>
            </a:r>
            <a:r>
              <a:rPr lang="vi-VN" sz="1200" kern="1200">
                <a:solidFill>
                  <a:schemeClr val="tx1"/>
                </a:solidFill>
                <a:latin typeface="+mn-lt"/>
                <a:ea typeface="+mn-ea"/>
                <a:cs typeface="+mn-cs"/>
              </a:rPr>
              <a:t>AppDatabase</a:t>
            </a:r>
            <a:r>
              <a:rPr lang="vi-VN"/>
              <a:t> được truyền vào widget.</a:t>
            </a:r>
          </a:p>
          <a:p>
            <a:r>
              <a:rPr lang="vi-VN" sz="1200" kern="1200">
                <a:solidFill>
                  <a:schemeClr val="tx1"/>
                </a:solidFill>
                <a:latin typeface="+mn-lt"/>
                <a:ea typeface="+mn-ea"/>
                <a:cs typeface="+mn-cs"/>
              </a:rPr>
              <a:t>updateProduct()</a:t>
            </a:r>
            <a:r>
              <a:rPr lang="vi-VN"/>
              <a:t> là </a:t>
            </a:r>
            <a:r>
              <a:rPr lang="vi-VN" b="1"/>
              <a:t>hàm do bạn định nghĩa trong lớp cơ sở dữ liệu</a:t>
            </a:r>
            <a:r>
              <a:rPr lang="vi-VN"/>
              <a:t> để cập nhật 1 bản ghi, ví dụ:</a:t>
            </a:r>
          </a:p>
          <a:p>
            <a:pPr rtl="0"/>
            <a:r>
              <a:rPr lang="vi-VN" sz="1200" kern="1200">
                <a:solidFill>
                  <a:schemeClr val="tx1"/>
                </a:solidFill>
                <a:latin typeface="+mn-lt"/>
                <a:ea typeface="+mn-ea"/>
                <a:cs typeface="+mn-cs"/>
              </a:rPr>
              <a:t>Future&lt;bool&gt; updateProduct(Product product) =&gt;</a:t>
            </a:r>
          </a:p>
          <a:p>
            <a:pPr rtl="0"/>
            <a:r>
              <a:rPr lang="vi-VN" sz="1200" kern="1200">
                <a:solidFill>
                  <a:schemeClr val="tx1"/>
                </a:solidFill>
                <a:latin typeface="+mn-lt"/>
                <a:ea typeface="+mn-ea"/>
                <a:cs typeface="+mn-cs"/>
              </a:rPr>
              <a:t>    update(products).replace(product);</a:t>
            </a:r>
          </a:p>
          <a:p>
            <a:r>
              <a:rPr lang="vi-VN"/>
              <a:t>Drift sẽ tự động tạo câu lệnh SQL tương đương:</a:t>
            </a:r>
          </a:p>
          <a:p>
            <a:pPr rtl="0"/>
            <a:r>
              <a:rPr lang="vi-VN" sz="1200" kern="1200">
                <a:solidFill>
                  <a:schemeClr val="tx1"/>
                </a:solidFill>
                <a:latin typeface="+mn-lt"/>
                <a:ea typeface="+mn-ea"/>
                <a:cs typeface="+mn-cs"/>
              </a:rPr>
              <a:t>UPDATE products</a:t>
            </a:r>
          </a:p>
          <a:p>
            <a:pPr rtl="0"/>
            <a:r>
              <a:rPr lang="vi-VN" sz="1200" kern="1200">
                <a:solidFill>
                  <a:schemeClr val="tx1"/>
                </a:solidFill>
                <a:latin typeface="+mn-lt"/>
                <a:ea typeface="+mn-ea"/>
                <a:cs typeface="+mn-cs"/>
              </a:rPr>
              <a:t>SET name = ..., price = ..., quantity = ..., ...</a:t>
            </a:r>
          </a:p>
          <a:p>
            <a:pPr rtl="0"/>
            <a:r>
              <a:rPr lang="vi-VN" sz="1200" kern="1200">
                <a:solidFill>
                  <a:schemeClr val="tx1"/>
                </a:solidFill>
                <a:latin typeface="+mn-lt"/>
                <a:ea typeface="+mn-ea"/>
                <a:cs typeface="+mn-cs"/>
              </a:rPr>
              <a:t>WHERE id = ...;</a:t>
            </a:r>
          </a:p>
          <a:p>
            <a:r>
              <a:rPr lang="vi-VN"/>
              <a:t>Câu lệnh chỉ chạy sau khi </a:t>
            </a:r>
            <a:r>
              <a:rPr lang="vi-VN" sz="1200" kern="1200">
                <a:solidFill>
                  <a:schemeClr val="tx1"/>
                </a:solidFill>
                <a:latin typeface="+mn-lt"/>
                <a:ea typeface="+mn-ea"/>
                <a:cs typeface="+mn-cs"/>
              </a:rPr>
              <a:t>await</a:t>
            </a:r>
            <a:r>
              <a:rPr lang="vi-VN"/>
              <a:t> hoàn tất — tức là đảm bảo việc cập nhật đã xong trước khi làm tiếp (ví dụ đóng dialog, gọi </a:t>
            </a:r>
            <a:r>
              <a:rPr lang="vi-VN" sz="1200" kern="1200">
                <a:solidFill>
                  <a:schemeClr val="tx1"/>
                </a:solidFill>
                <a:latin typeface="+mn-lt"/>
                <a:ea typeface="+mn-ea"/>
                <a:cs typeface="+mn-cs"/>
              </a:rPr>
              <a:t>_refresh()</a:t>
            </a:r>
            <a:r>
              <a:rPr lang="vi-VN"/>
              <a:t>).</a:t>
            </a:r>
          </a:p>
          <a:p>
            <a:br>
              <a:rPr lang="vi-VN"/>
            </a:br>
            <a:endParaRPr lang="vi-VN"/>
          </a:p>
          <a:p>
            <a:r>
              <a:rPr lang="vi-VN" b="1"/>
              <a:t>⚙️ Tóm tắt ngắn gọn</a:t>
            </a:r>
          </a:p>
          <a:p>
            <a:r>
              <a:rPr lang="vi-VN"/>
              <a:t>Dòng code</a:t>
            </a:r>
            <a:r>
              <a:rPr lang="en-US"/>
              <a:t>				</a:t>
            </a:r>
            <a:r>
              <a:rPr lang="vi-VN"/>
              <a:t>Ý nghĩa</a:t>
            </a:r>
            <a:endParaRPr lang="en-US"/>
          </a:p>
          <a:p>
            <a:r>
              <a:rPr lang="vi-VN" sz="1200" kern="1200">
                <a:solidFill>
                  <a:schemeClr val="tx1"/>
                </a:solidFill>
                <a:latin typeface="+mn-lt"/>
                <a:ea typeface="+mn-ea"/>
                <a:cs typeface="+mn-cs"/>
              </a:rPr>
              <a:t>product.copyWith(...)</a:t>
            </a:r>
            <a:r>
              <a:rPr lang="en-US" sz="1200" kern="1200">
                <a:solidFill>
                  <a:schemeClr val="tx1"/>
                </a:solidFill>
                <a:latin typeface="+mn-lt"/>
                <a:ea typeface="+mn-ea"/>
                <a:cs typeface="+mn-cs"/>
              </a:rPr>
              <a:t>		</a:t>
            </a:r>
            <a:r>
              <a:rPr lang="vi-VN"/>
              <a:t>Tạo bản sao sản phẩm có thông tin mới</a:t>
            </a:r>
            <a:endParaRPr lang="en-US"/>
          </a:p>
          <a:p>
            <a:r>
              <a:rPr lang="vi-VN" sz="1200" kern="1200">
                <a:solidFill>
                  <a:schemeClr val="tx1"/>
                </a:solidFill>
                <a:latin typeface="+mn-lt"/>
                <a:ea typeface="+mn-ea"/>
                <a:cs typeface="+mn-cs"/>
              </a:rPr>
              <a:t>Value(desc)</a:t>
            </a:r>
            <a:r>
              <a:rPr lang="en-US" sz="1200" kern="1200">
                <a:solidFill>
                  <a:schemeClr val="tx1"/>
                </a:solidFill>
                <a:latin typeface="+mn-lt"/>
                <a:ea typeface="+mn-ea"/>
                <a:cs typeface="+mn-cs"/>
              </a:rPr>
              <a:t>			</a:t>
            </a:r>
            <a:r>
              <a:rPr lang="vi-VN"/>
              <a:t>Bọc giá trị có thể null (nullable field)</a:t>
            </a:r>
            <a:endParaRPr lang="en-US"/>
          </a:p>
          <a:p>
            <a:r>
              <a:rPr lang="vi-VN" sz="1200" kern="1200">
                <a:solidFill>
                  <a:schemeClr val="tx1"/>
                </a:solidFill>
                <a:latin typeface="+mn-lt"/>
                <a:ea typeface="+mn-ea"/>
                <a:cs typeface="+mn-cs"/>
              </a:rPr>
              <a:t>await widget.db.updateProduct(updated)</a:t>
            </a:r>
            <a:r>
              <a:rPr lang="en-US" sz="1200" kern="1200">
                <a:solidFill>
                  <a:schemeClr val="tx1"/>
                </a:solidFill>
                <a:latin typeface="+mn-lt"/>
                <a:ea typeface="+mn-ea"/>
                <a:cs typeface="+mn-cs"/>
              </a:rPr>
              <a:t>	</a:t>
            </a:r>
            <a:r>
              <a:rPr lang="vi-VN"/>
              <a:t>Gửi bản ghi mới để cập nhật vào DB</a:t>
            </a:r>
            <a:endParaRPr lang="en-US"/>
          </a:p>
          <a:p>
            <a:r>
              <a:rPr lang="vi-VN" sz="1200" kern="1200">
                <a:solidFill>
                  <a:schemeClr val="tx1"/>
                </a:solidFill>
                <a:latin typeface="+mn-lt"/>
                <a:ea typeface="+mn-ea"/>
                <a:cs typeface="+mn-cs"/>
              </a:rPr>
              <a:t>await</a:t>
            </a:r>
            <a:r>
              <a:rPr lang="vi-VN"/>
              <a:t>Đợi </a:t>
            </a:r>
            <a:r>
              <a:rPr lang="en-US"/>
              <a:t>			</a:t>
            </a:r>
            <a:r>
              <a:rPr lang="vi-VN"/>
              <a:t>cập nhật xong rồi mới tiếp tục thực hiện các lệnh sau</a:t>
            </a:r>
            <a:endParaRPr lang="en-US"/>
          </a:p>
          <a:p>
            <a:r>
              <a:rPr lang="en-US" b="1"/>
              <a:t>---------------------------------------------------------------------------------------------------------------------------------------</a:t>
            </a:r>
          </a:p>
          <a:p>
            <a:endParaRPr lang="vi-VN" b="0"/>
          </a:p>
          <a:p>
            <a:endParaRPr lang="en-US" b="0"/>
          </a:p>
        </p:txBody>
      </p:sp>
      <p:sp>
        <p:nvSpPr>
          <p:cNvPr id="4" name="Slide Number Placeholder 3">
            <a:extLst>
              <a:ext uri="{FF2B5EF4-FFF2-40B4-BE49-F238E27FC236}">
                <a16:creationId xmlns:a16="http://schemas.microsoft.com/office/drawing/2014/main" id="{73451DBC-0903-BB10-290E-205FEF0D12FB}"/>
              </a:ext>
            </a:extLst>
          </p:cNvPr>
          <p:cNvSpPr>
            <a:spLocks noGrp="1"/>
          </p:cNvSpPr>
          <p:nvPr>
            <p:ph type="sldNum" sz="quarter" idx="5"/>
          </p:nvPr>
        </p:nvSpPr>
        <p:spPr/>
        <p:txBody>
          <a:bodyPr/>
          <a:lstStyle/>
          <a:p>
            <a:fld id="{1983A999-5E0E-42CA-8400-604AE921FF7C}" type="slidenum">
              <a:rPr lang="en-US" smtClean="0"/>
              <a:t>33</a:t>
            </a:fld>
            <a:endParaRPr lang="en-US"/>
          </a:p>
        </p:txBody>
      </p:sp>
    </p:spTree>
    <p:extLst>
      <p:ext uri="{BB962C8B-B14F-4D97-AF65-F5344CB8AC3E}">
        <p14:creationId xmlns:p14="http://schemas.microsoft.com/office/powerpoint/2010/main" val="16542627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CB8D6-5464-19E3-2458-520924B104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78C0A2-3980-12EC-032C-94B2AA0696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7EADFC-1160-8ED7-16F7-DB7F7254EF94}"/>
              </a:ext>
            </a:extLst>
          </p:cNvPr>
          <p:cNvSpPr>
            <a:spLocks noGrp="1"/>
          </p:cNvSpPr>
          <p:nvPr>
            <p:ph type="body" idx="1"/>
          </p:nvPr>
        </p:nvSpPr>
        <p:spPr/>
        <p:txBody>
          <a:bodyPr/>
          <a:lstStyle/>
          <a:p>
            <a:r>
              <a:rPr lang="vi-VN" b="1"/>
              <a:t>Mục đích chung</a:t>
            </a:r>
          </a:p>
          <a:p>
            <a:r>
              <a:rPr lang="vi-VN"/>
              <a:t>Nút </a:t>
            </a:r>
            <a:r>
              <a:rPr lang="vi-VN" sz="1200" kern="1200">
                <a:solidFill>
                  <a:schemeClr val="tx1"/>
                </a:solidFill>
                <a:latin typeface="+mn-lt"/>
                <a:ea typeface="+mn-ea"/>
                <a:cs typeface="+mn-cs"/>
              </a:rPr>
              <a:t>ElevatedButton</a:t>
            </a:r>
            <a:r>
              <a:rPr lang="vi-VN"/>
              <a:t> này xử lý </a:t>
            </a:r>
            <a:r>
              <a:rPr lang="vi-VN" b="1"/>
              <a:t>sự kiện nhấn nút Thêm/Lưu</a:t>
            </a:r>
            <a:r>
              <a:rPr lang="vi-VN"/>
              <a:t>: lấy dữ liệu từ các </a:t>
            </a:r>
            <a:r>
              <a:rPr lang="vi-VN" sz="1200" kern="1200">
                <a:solidFill>
                  <a:schemeClr val="tx1"/>
                </a:solidFill>
                <a:latin typeface="+mn-lt"/>
                <a:ea typeface="+mn-ea"/>
                <a:cs typeface="+mn-cs"/>
              </a:rPr>
              <a:t>TextField</a:t>
            </a:r>
            <a:r>
              <a:rPr lang="vi-VN"/>
              <a:t>, chuyển kiểu, kiểm tra hợp lệ, và nếu không hợp lệ thì hiển thị </a:t>
            </a:r>
            <a:r>
              <a:rPr lang="vi-VN" sz="1200" kern="1200">
                <a:solidFill>
                  <a:schemeClr val="tx1"/>
                </a:solidFill>
                <a:latin typeface="+mn-lt"/>
                <a:ea typeface="+mn-ea"/>
                <a:cs typeface="+mn-cs"/>
              </a:rPr>
              <a:t>SnackBar</a:t>
            </a:r>
            <a:r>
              <a:rPr lang="vi-VN"/>
              <a:t> thông báo rồi dừng.</a:t>
            </a:r>
          </a:p>
          <a:p>
            <a:br>
              <a:rPr lang="vi-VN"/>
            </a:br>
            <a:endParaRPr lang="vi-VN"/>
          </a:p>
          <a:p>
            <a:r>
              <a:rPr lang="vi-VN" b="1"/>
              <a:t>Mã và giải thích</a:t>
            </a:r>
          </a:p>
          <a:p>
            <a:pPr rtl="0"/>
            <a:r>
              <a:rPr lang="vi-VN" sz="1200" kern="1200">
                <a:solidFill>
                  <a:schemeClr val="tx1"/>
                </a:solidFill>
                <a:latin typeface="+mn-lt"/>
                <a:ea typeface="+mn-ea"/>
                <a:cs typeface="+mn-cs"/>
              </a:rPr>
              <a:t>ElevatedButton(</a:t>
            </a:r>
          </a:p>
          <a:p>
            <a:pPr rtl="0"/>
            <a:r>
              <a:rPr lang="vi-VN" sz="1200" kern="1200">
                <a:solidFill>
                  <a:schemeClr val="tx1"/>
                </a:solidFill>
                <a:latin typeface="+mn-lt"/>
                <a:ea typeface="+mn-ea"/>
                <a:cs typeface="+mn-cs"/>
              </a:rPr>
              <a:t>  onPressed: () async {</a:t>
            </a:r>
          </a:p>
          <a:p>
            <a:pPr rtl="0"/>
            <a:r>
              <a:rPr lang="vi-VN" sz="1200" kern="1200">
                <a:solidFill>
                  <a:schemeClr val="tx1"/>
                </a:solidFill>
                <a:latin typeface="+mn-lt"/>
                <a:ea typeface="+mn-ea"/>
                <a:cs typeface="+mn-cs"/>
              </a:rPr>
              <a:t>    final name = nameController.text.trim();</a:t>
            </a:r>
          </a:p>
          <a:p>
            <a:pPr rtl="0"/>
            <a:r>
              <a:rPr lang="vi-VN" sz="1200" kern="1200">
                <a:solidFill>
                  <a:schemeClr val="tx1"/>
                </a:solidFill>
                <a:latin typeface="+mn-lt"/>
                <a:ea typeface="+mn-ea"/>
                <a:cs typeface="+mn-cs"/>
              </a:rPr>
              <a:t>    final price = double.tryParse(priceController.text) ?? 0;</a:t>
            </a:r>
          </a:p>
          <a:p>
            <a:pPr rtl="0"/>
            <a:r>
              <a:rPr lang="vi-VN" sz="1200" kern="1200">
                <a:solidFill>
                  <a:schemeClr val="tx1"/>
                </a:solidFill>
                <a:latin typeface="+mn-lt"/>
                <a:ea typeface="+mn-ea"/>
                <a:cs typeface="+mn-cs"/>
              </a:rPr>
              <a:t>    final quantity = int.tryParse(quantityController.text) ?? 0;</a:t>
            </a:r>
          </a:p>
          <a:p>
            <a:pPr rtl="0"/>
            <a:r>
              <a:rPr lang="vi-VN" sz="1200" kern="1200">
                <a:solidFill>
                  <a:schemeClr val="tx1"/>
                </a:solidFill>
                <a:latin typeface="+mn-lt"/>
                <a:ea typeface="+mn-ea"/>
                <a:cs typeface="+mn-cs"/>
              </a:rPr>
              <a:t>    final desc = descriptionController.text.trim();</a:t>
            </a:r>
          </a:p>
          <a:p>
            <a:pPr rtl="0"/>
            <a:endParaRPr lang="vi-VN" sz="1200" kern="1200">
              <a:solidFill>
                <a:schemeClr val="tx1"/>
              </a:solidFill>
              <a:latin typeface="+mn-lt"/>
              <a:ea typeface="+mn-ea"/>
              <a:cs typeface="+mn-cs"/>
            </a:endParaRPr>
          </a:p>
          <a:p>
            <a:pPr rtl="0"/>
            <a:r>
              <a:rPr lang="vi-VN" sz="1200" kern="1200">
                <a:solidFill>
                  <a:schemeClr val="tx1"/>
                </a:solidFill>
                <a:latin typeface="+mn-lt"/>
                <a:ea typeface="+mn-ea"/>
                <a:cs typeface="+mn-cs"/>
              </a:rPr>
              <a:t>    if (name.isEmpty || price &lt;= 0 || quantity &lt;= 0) {</a:t>
            </a:r>
          </a:p>
          <a:p>
            <a:pPr rtl="0"/>
            <a:r>
              <a:rPr lang="vi-VN" sz="1200" kern="1200">
                <a:solidFill>
                  <a:schemeClr val="tx1"/>
                </a:solidFill>
                <a:latin typeface="+mn-lt"/>
                <a:ea typeface="+mn-ea"/>
                <a:cs typeface="+mn-cs"/>
              </a:rPr>
              <a:t>      ScaffoldMessenger.of(context).showSnackBar(</a:t>
            </a:r>
          </a:p>
          <a:p>
            <a:pPr rtl="0"/>
            <a:r>
              <a:rPr lang="vi-VN" sz="1200" kern="1200">
                <a:solidFill>
                  <a:schemeClr val="tx1"/>
                </a:solidFill>
                <a:latin typeface="+mn-lt"/>
                <a:ea typeface="+mn-ea"/>
                <a:cs typeface="+mn-cs"/>
              </a:rPr>
              <a:t>        const SnackBar(content: Text("Vui lòng nhập thông tin hợp lệ")),</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return;</a:t>
            </a:r>
          </a:p>
          <a:p>
            <a:pPr rtl="0"/>
            <a:r>
              <a:rPr lang="vi-VN" sz="1200" kern="1200">
                <a:solidFill>
                  <a:schemeClr val="tx1"/>
                </a:solidFill>
                <a:latin typeface="+mn-lt"/>
                <a:ea typeface="+mn-ea"/>
                <a:cs typeface="+mn-cs"/>
              </a:rPr>
              <a:t>    }</a:t>
            </a:r>
          </a:p>
          <a:p>
            <a:pPr rtl="0"/>
            <a:endParaRPr lang="vi-VN" sz="1200" kern="1200">
              <a:solidFill>
                <a:schemeClr val="tx1"/>
              </a:solidFill>
              <a:latin typeface="+mn-lt"/>
              <a:ea typeface="+mn-ea"/>
              <a:cs typeface="+mn-cs"/>
            </a:endParaRPr>
          </a:p>
          <a:p>
            <a:pPr rtl="0"/>
            <a:r>
              <a:rPr lang="vi-VN" sz="1200" kern="1200">
                <a:solidFill>
                  <a:schemeClr val="tx1"/>
                </a:solidFill>
                <a:latin typeface="+mn-lt"/>
                <a:ea typeface="+mn-ea"/>
                <a:cs typeface="+mn-cs"/>
              </a:rPr>
              <a:t>    // ... tiếp tục xử lý (insert/update)</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child: const Text("Thêm"),</a:t>
            </a:r>
          </a:p>
          <a:p>
            <a:pPr rtl="0"/>
            <a:r>
              <a:rPr lang="vi-VN" sz="1200" kern="1200">
                <a:solidFill>
                  <a:schemeClr val="tx1"/>
                </a:solidFill>
                <a:latin typeface="+mn-lt"/>
                <a:ea typeface="+mn-ea"/>
                <a:cs typeface="+mn-cs"/>
              </a:rPr>
              <a:t>)</a:t>
            </a:r>
          </a:p>
          <a:p>
            <a:r>
              <a:rPr lang="vi-VN" sz="1200" b="1" kern="1200">
                <a:solidFill>
                  <a:schemeClr val="tx1"/>
                </a:solidFill>
                <a:latin typeface="+mn-lt"/>
                <a:ea typeface="+mn-ea"/>
                <a:cs typeface="+mn-cs"/>
              </a:rPr>
              <a:t>onPressed: () async { ... }</a:t>
            </a:r>
            <a:br>
              <a:rPr lang="vi-VN"/>
            </a:br>
            <a:r>
              <a:rPr lang="vi-VN"/>
              <a:t>Đây là hàm bất đồng bộ (async) được gọi khi người dùng nhấn nút. </a:t>
            </a:r>
            <a:r>
              <a:rPr lang="vi-VN" sz="1200" kern="1200">
                <a:solidFill>
                  <a:schemeClr val="tx1"/>
                </a:solidFill>
                <a:latin typeface="+mn-lt"/>
                <a:ea typeface="+mn-ea"/>
                <a:cs typeface="+mn-cs"/>
              </a:rPr>
              <a:t>async</a:t>
            </a:r>
            <a:r>
              <a:rPr lang="vi-VN"/>
              <a:t> cho phép dùng </a:t>
            </a:r>
            <a:r>
              <a:rPr lang="vi-VN" sz="1200" kern="1200">
                <a:solidFill>
                  <a:schemeClr val="tx1"/>
                </a:solidFill>
                <a:latin typeface="+mn-lt"/>
                <a:ea typeface="+mn-ea"/>
                <a:cs typeface="+mn-cs"/>
              </a:rPr>
              <a:t>await</a:t>
            </a:r>
            <a:r>
              <a:rPr lang="vi-VN"/>
              <a:t> bên trong để chờ các thao tác async (ví dụ gọi DB).</a:t>
            </a:r>
          </a:p>
          <a:p>
            <a:r>
              <a:rPr lang="vi-VN" sz="1200" b="1" kern="1200">
                <a:solidFill>
                  <a:schemeClr val="tx1"/>
                </a:solidFill>
                <a:latin typeface="+mn-lt"/>
                <a:ea typeface="+mn-ea"/>
                <a:cs typeface="+mn-cs"/>
              </a:rPr>
              <a:t>final name = nameController.text.trim();</a:t>
            </a:r>
            <a:endParaRPr lang="vi-VN"/>
          </a:p>
          <a:p>
            <a:pPr lvl="1"/>
            <a:r>
              <a:rPr lang="vi-VN" sz="1200" kern="1200">
                <a:solidFill>
                  <a:schemeClr val="tx1"/>
                </a:solidFill>
                <a:latin typeface="+mn-lt"/>
                <a:ea typeface="+mn-ea"/>
                <a:cs typeface="+mn-cs"/>
              </a:rPr>
              <a:t>nameController.text</a:t>
            </a:r>
            <a:r>
              <a:rPr lang="vi-VN"/>
              <a:t> lấy chuỗi người dùng đã nhập.</a:t>
            </a:r>
          </a:p>
          <a:p>
            <a:pPr lvl="1"/>
            <a:r>
              <a:rPr lang="vi-VN" sz="1200" kern="1200">
                <a:solidFill>
                  <a:schemeClr val="tx1"/>
                </a:solidFill>
                <a:latin typeface="+mn-lt"/>
                <a:ea typeface="+mn-ea"/>
                <a:cs typeface="+mn-cs"/>
              </a:rPr>
              <a:t>.trim()</a:t>
            </a:r>
            <a:r>
              <a:rPr lang="vi-VN"/>
              <a:t> loại bỏ khoảng trắng đầu/cuối (tránh trường hợp chỉ nhập toàn dấu cách).</a:t>
            </a:r>
          </a:p>
          <a:p>
            <a:pPr lvl="1"/>
            <a:r>
              <a:rPr lang="vi-VN"/>
              <a:t>Gán vào </a:t>
            </a:r>
            <a:r>
              <a:rPr lang="vi-VN" sz="1200" kern="1200">
                <a:solidFill>
                  <a:schemeClr val="tx1"/>
                </a:solidFill>
                <a:latin typeface="+mn-lt"/>
                <a:ea typeface="+mn-ea"/>
                <a:cs typeface="+mn-cs"/>
              </a:rPr>
              <a:t>name</a:t>
            </a:r>
            <a:r>
              <a:rPr lang="vi-VN"/>
              <a:t> là một </a:t>
            </a:r>
            <a:r>
              <a:rPr lang="vi-VN" sz="1200" kern="1200">
                <a:solidFill>
                  <a:schemeClr val="tx1"/>
                </a:solidFill>
                <a:latin typeface="+mn-lt"/>
                <a:ea typeface="+mn-ea"/>
                <a:cs typeface="+mn-cs"/>
              </a:rPr>
              <a:t>String</a:t>
            </a:r>
            <a:r>
              <a:rPr lang="vi-VN"/>
              <a:t> không đổi (final).</a:t>
            </a:r>
          </a:p>
          <a:p>
            <a:r>
              <a:rPr lang="vi-VN" sz="1200" b="1" kern="1200">
                <a:solidFill>
                  <a:schemeClr val="tx1"/>
                </a:solidFill>
                <a:latin typeface="+mn-lt"/>
                <a:ea typeface="+mn-ea"/>
                <a:cs typeface="+mn-cs"/>
              </a:rPr>
              <a:t>final price = double.tryParse(priceController.text) ?? 0;</a:t>
            </a:r>
            <a:endParaRPr lang="vi-VN"/>
          </a:p>
          <a:p>
            <a:pPr lvl="1"/>
            <a:r>
              <a:rPr lang="vi-VN" sz="1200" kern="1200">
                <a:solidFill>
                  <a:schemeClr val="tx1"/>
                </a:solidFill>
                <a:latin typeface="+mn-lt"/>
                <a:ea typeface="+mn-ea"/>
                <a:cs typeface="+mn-cs"/>
              </a:rPr>
              <a:t>double.tryParse(...)</a:t>
            </a:r>
            <a:r>
              <a:rPr lang="vi-VN"/>
              <a:t> cố gắng chuyển chuỗi sang </a:t>
            </a:r>
            <a:r>
              <a:rPr lang="vi-VN" sz="1200" kern="1200">
                <a:solidFill>
                  <a:schemeClr val="tx1"/>
                </a:solidFill>
                <a:latin typeface="+mn-lt"/>
                <a:ea typeface="+mn-ea"/>
                <a:cs typeface="+mn-cs"/>
              </a:rPr>
              <a:t>double</a:t>
            </a:r>
            <a:r>
              <a:rPr lang="vi-VN"/>
              <a:t>. Nếu chuỗi không hợp lệ (ví dụ rỗng hoặc có ký tự chữ), </a:t>
            </a:r>
            <a:r>
              <a:rPr lang="vi-VN" sz="1200" kern="1200">
                <a:solidFill>
                  <a:schemeClr val="tx1"/>
                </a:solidFill>
                <a:latin typeface="+mn-lt"/>
                <a:ea typeface="+mn-ea"/>
                <a:cs typeface="+mn-cs"/>
              </a:rPr>
              <a:t>tryParse</a:t>
            </a:r>
            <a:r>
              <a:rPr lang="vi-VN"/>
              <a:t> trả </a:t>
            </a:r>
            <a:r>
              <a:rPr lang="vi-VN" sz="1200" kern="1200">
                <a:solidFill>
                  <a:schemeClr val="tx1"/>
                </a:solidFill>
                <a:latin typeface="+mn-lt"/>
                <a:ea typeface="+mn-ea"/>
                <a:cs typeface="+mn-cs"/>
              </a:rPr>
              <a:t>null</a:t>
            </a:r>
            <a:r>
              <a:rPr lang="vi-VN"/>
              <a:t>.</a:t>
            </a:r>
          </a:p>
          <a:p>
            <a:pPr lvl="1"/>
            <a:r>
              <a:rPr lang="vi-VN" sz="1200" kern="1200">
                <a:solidFill>
                  <a:schemeClr val="tx1"/>
                </a:solidFill>
                <a:latin typeface="+mn-lt"/>
                <a:ea typeface="+mn-ea"/>
                <a:cs typeface="+mn-cs"/>
              </a:rPr>
              <a:t>?? 0</a:t>
            </a:r>
            <a:r>
              <a:rPr lang="vi-VN"/>
              <a:t> là toán tử null-coalescing: nếu </a:t>
            </a:r>
            <a:r>
              <a:rPr lang="vi-VN" sz="1200" kern="1200">
                <a:solidFill>
                  <a:schemeClr val="tx1"/>
                </a:solidFill>
                <a:latin typeface="+mn-lt"/>
                <a:ea typeface="+mn-ea"/>
                <a:cs typeface="+mn-cs"/>
              </a:rPr>
              <a:t>tryParse</a:t>
            </a:r>
            <a:r>
              <a:rPr lang="vi-VN"/>
              <a:t> trả </a:t>
            </a:r>
            <a:r>
              <a:rPr lang="vi-VN" sz="1200" kern="1200">
                <a:solidFill>
                  <a:schemeClr val="tx1"/>
                </a:solidFill>
                <a:latin typeface="+mn-lt"/>
                <a:ea typeface="+mn-ea"/>
                <a:cs typeface="+mn-cs"/>
              </a:rPr>
              <a:t>null</a:t>
            </a:r>
            <a:r>
              <a:rPr lang="vi-VN"/>
              <a:t> thì </a:t>
            </a:r>
            <a:r>
              <a:rPr lang="vi-VN" sz="1200" kern="1200">
                <a:solidFill>
                  <a:schemeClr val="tx1"/>
                </a:solidFill>
                <a:latin typeface="+mn-lt"/>
                <a:ea typeface="+mn-ea"/>
                <a:cs typeface="+mn-cs"/>
              </a:rPr>
              <a:t>price</a:t>
            </a:r>
            <a:r>
              <a:rPr lang="vi-VN"/>
              <a:t> sẽ là </a:t>
            </a:r>
            <a:r>
              <a:rPr lang="vi-VN" sz="1200" kern="1200">
                <a:solidFill>
                  <a:schemeClr val="tx1"/>
                </a:solidFill>
                <a:latin typeface="+mn-lt"/>
                <a:ea typeface="+mn-ea"/>
                <a:cs typeface="+mn-cs"/>
              </a:rPr>
              <a:t>0</a:t>
            </a:r>
            <a:r>
              <a:rPr lang="vi-VN"/>
              <a:t>.</a:t>
            </a:r>
          </a:p>
          <a:p>
            <a:pPr lvl="1"/>
            <a:r>
              <a:rPr lang="vi-VN"/>
              <a:t>Kết quả: </a:t>
            </a:r>
            <a:r>
              <a:rPr lang="vi-VN" sz="1200" kern="1200">
                <a:solidFill>
                  <a:schemeClr val="tx1"/>
                </a:solidFill>
                <a:latin typeface="+mn-lt"/>
                <a:ea typeface="+mn-ea"/>
                <a:cs typeface="+mn-cs"/>
              </a:rPr>
              <a:t>price</a:t>
            </a:r>
            <a:r>
              <a:rPr lang="vi-VN"/>
              <a:t> luôn là một </a:t>
            </a:r>
            <a:r>
              <a:rPr lang="vi-VN" sz="1200" kern="1200">
                <a:solidFill>
                  <a:schemeClr val="tx1"/>
                </a:solidFill>
                <a:latin typeface="+mn-lt"/>
                <a:ea typeface="+mn-ea"/>
                <a:cs typeface="+mn-cs"/>
              </a:rPr>
              <a:t>double</a:t>
            </a:r>
            <a:r>
              <a:rPr lang="vi-VN"/>
              <a:t> (không null).</a:t>
            </a:r>
          </a:p>
          <a:p>
            <a:r>
              <a:rPr lang="vi-VN" sz="1200" b="1" kern="1200">
                <a:solidFill>
                  <a:schemeClr val="tx1"/>
                </a:solidFill>
                <a:latin typeface="+mn-lt"/>
                <a:ea typeface="+mn-ea"/>
                <a:cs typeface="+mn-cs"/>
              </a:rPr>
              <a:t>final quantity = int.tryParse(quantityController.text) ?? 0;</a:t>
            </a:r>
            <a:endParaRPr lang="vi-VN"/>
          </a:p>
          <a:p>
            <a:pPr lvl="1"/>
            <a:r>
              <a:rPr lang="vi-VN"/>
              <a:t>Tương tự </a:t>
            </a:r>
            <a:r>
              <a:rPr lang="vi-VN" sz="1200" kern="1200">
                <a:solidFill>
                  <a:schemeClr val="tx1"/>
                </a:solidFill>
                <a:latin typeface="+mn-lt"/>
                <a:ea typeface="+mn-ea"/>
                <a:cs typeface="+mn-cs"/>
              </a:rPr>
              <a:t>price</a:t>
            </a:r>
            <a:r>
              <a:rPr lang="vi-VN"/>
              <a:t>, nhưng chuyển sang </a:t>
            </a:r>
            <a:r>
              <a:rPr lang="vi-VN" sz="1200" kern="1200">
                <a:solidFill>
                  <a:schemeClr val="tx1"/>
                </a:solidFill>
                <a:latin typeface="+mn-lt"/>
                <a:ea typeface="+mn-ea"/>
                <a:cs typeface="+mn-cs"/>
              </a:rPr>
              <a:t>int</a:t>
            </a:r>
            <a:r>
              <a:rPr lang="vi-VN"/>
              <a:t>. Nếu parse thất bại, giá trị mặc định là </a:t>
            </a:r>
            <a:r>
              <a:rPr lang="vi-VN" sz="1200" kern="1200">
                <a:solidFill>
                  <a:schemeClr val="tx1"/>
                </a:solidFill>
                <a:latin typeface="+mn-lt"/>
                <a:ea typeface="+mn-ea"/>
                <a:cs typeface="+mn-cs"/>
              </a:rPr>
              <a:t>0</a:t>
            </a:r>
            <a:r>
              <a:rPr lang="vi-VN"/>
              <a:t>.</a:t>
            </a:r>
          </a:p>
          <a:p>
            <a:r>
              <a:rPr lang="vi-VN" sz="1200" b="1" kern="1200">
                <a:solidFill>
                  <a:schemeClr val="tx1"/>
                </a:solidFill>
                <a:latin typeface="+mn-lt"/>
                <a:ea typeface="+mn-ea"/>
                <a:cs typeface="+mn-cs"/>
              </a:rPr>
              <a:t>final desc = descriptionController.text.trim();</a:t>
            </a:r>
            <a:endParaRPr lang="vi-VN"/>
          </a:p>
          <a:p>
            <a:pPr lvl="1"/>
            <a:r>
              <a:rPr lang="vi-VN"/>
              <a:t>Lấy mô tả và trim khoảng trắng đầu/cuối.</a:t>
            </a:r>
          </a:p>
          <a:p>
            <a:r>
              <a:rPr lang="vi-VN" sz="1200" b="1" kern="1200">
                <a:solidFill>
                  <a:schemeClr val="tx1"/>
                </a:solidFill>
                <a:latin typeface="+mn-lt"/>
                <a:ea typeface="+mn-ea"/>
                <a:cs typeface="+mn-cs"/>
              </a:rPr>
              <a:t>if (name.isEmpty || price &lt;= 0 || quantity &lt;= 0) { ... }</a:t>
            </a:r>
            <a:endParaRPr lang="vi-VN"/>
          </a:p>
          <a:p>
            <a:pPr lvl="1"/>
            <a:r>
              <a:rPr lang="vi-VN"/>
              <a:t>Đây là </a:t>
            </a:r>
            <a:r>
              <a:rPr lang="vi-VN" b="1"/>
              <a:t>validate cơ bản</a:t>
            </a:r>
            <a:r>
              <a:rPr lang="vi-VN"/>
              <a:t>:</a:t>
            </a:r>
          </a:p>
          <a:p>
            <a:pPr lvl="2"/>
            <a:r>
              <a:rPr lang="vi-VN" sz="1200" kern="1200">
                <a:solidFill>
                  <a:schemeClr val="tx1"/>
                </a:solidFill>
                <a:latin typeface="+mn-lt"/>
                <a:ea typeface="+mn-ea"/>
                <a:cs typeface="+mn-cs"/>
              </a:rPr>
              <a:t>name.isEmpty</a:t>
            </a:r>
            <a:r>
              <a:rPr lang="vi-VN"/>
              <a:t> — tên không được để trống.</a:t>
            </a:r>
          </a:p>
          <a:p>
            <a:pPr lvl="2"/>
            <a:r>
              <a:rPr lang="vi-VN" sz="1200" kern="1200">
                <a:solidFill>
                  <a:schemeClr val="tx1"/>
                </a:solidFill>
                <a:latin typeface="+mn-lt"/>
                <a:ea typeface="+mn-ea"/>
                <a:cs typeface="+mn-cs"/>
              </a:rPr>
              <a:t>price &lt;= 0</a:t>
            </a:r>
            <a:r>
              <a:rPr lang="vi-VN"/>
              <a:t> — giá phải &gt; 0 (loại bỏ 0 hoặc số âm).</a:t>
            </a:r>
          </a:p>
          <a:p>
            <a:pPr lvl="2"/>
            <a:r>
              <a:rPr lang="vi-VN" sz="1200" kern="1200">
                <a:solidFill>
                  <a:schemeClr val="tx1"/>
                </a:solidFill>
                <a:latin typeface="+mn-lt"/>
                <a:ea typeface="+mn-ea"/>
                <a:cs typeface="+mn-cs"/>
              </a:rPr>
              <a:t>quantity &lt;= 0</a:t>
            </a:r>
            <a:r>
              <a:rPr lang="vi-VN"/>
              <a:t> — số lượng phải &gt; 0.</a:t>
            </a:r>
          </a:p>
          <a:p>
            <a:pPr lvl="1"/>
            <a:r>
              <a:rPr lang="vi-VN"/>
              <a:t>Nếu </a:t>
            </a:r>
            <a:r>
              <a:rPr lang="vi-VN" b="1"/>
              <a:t>bất kỳ</a:t>
            </a:r>
            <a:r>
              <a:rPr lang="vi-VN"/>
              <a:t> điều kiện trên đúng → coi là dữ liệu không hợp lệ.</a:t>
            </a:r>
          </a:p>
          <a:p>
            <a:r>
              <a:rPr lang="vi-VN" sz="1200" b="1" kern="1200">
                <a:solidFill>
                  <a:schemeClr val="tx1"/>
                </a:solidFill>
                <a:latin typeface="+mn-lt"/>
                <a:ea typeface="+mn-ea"/>
                <a:cs typeface="+mn-cs"/>
              </a:rPr>
              <a:t>ScaffoldMessenger.of(context).showSnackBar(...)</a:t>
            </a:r>
            <a:endParaRPr lang="vi-VN"/>
          </a:p>
          <a:p>
            <a:pPr lvl="1"/>
            <a:r>
              <a:rPr lang="vi-VN"/>
              <a:t>Hiển thị một </a:t>
            </a:r>
            <a:r>
              <a:rPr lang="vi-VN" sz="1200" kern="1200">
                <a:solidFill>
                  <a:schemeClr val="tx1"/>
                </a:solidFill>
                <a:latin typeface="+mn-lt"/>
                <a:ea typeface="+mn-ea"/>
                <a:cs typeface="+mn-cs"/>
              </a:rPr>
              <a:t>SnackBar</a:t>
            </a:r>
            <a:r>
              <a:rPr lang="vi-VN"/>
              <a:t> (thông báo ngắn) ở cuối màn hình để báo lỗi cho người dùng.</a:t>
            </a:r>
          </a:p>
          <a:p>
            <a:pPr lvl="1"/>
            <a:r>
              <a:rPr lang="vi-VN" sz="1200" kern="1200">
                <a:solidFill>
                  <a:schemeClr val="tx1"/>
                </a:solidFill>
                <a:latin typeface="+mn-lt"/>
                <a:ea typeface="+mn-ea"/>
                <a:cs typeface="+mn-cs"/>
              </a:rPr>
              <a:t>ScaffoldMessenger</a:t>
            </a:r>
            <a:r>
              <a:rPr lang="vi-VN"/>
              <a:t> là API hiện tại (thay cho </a:t>
            </a:r>
            <a:r>
              <a:rPr lang="vi-VN" sz="1200" kern="1200">
                <a:solidFill>
                  <a:schemeClr val="tx1"/>
                </a:solidFill>
                <a:latin typeface="+mn-lt"/>
                <a:ea typeface="+mn-ea"/>
                <a:cs typeface="+mn-cs"/>
              </a:rPr>
              <a:t>Scaffold.of</a:t>
            </a:r>
            <a:r>
              <a:rPr lang="vi-VN"/>
              <a:t>) để show </a:t>
            </a:r>
            <a:r>
              <a:rPr lang="vi-VN" sz="1200" kern="1200">
                <a:solidFill>
                  <a:schemeClr val="tx1"/>
                </a:solidFill>
                <a:latin typeface="+mn-lt"/>
                <a:ea typeface="+mn-ea"/>
                <a:cs typeface="+mn-cs"/>
              </a:rPr>
              <a:t>SnackBar</a:t>
            </a:r>
            <a:r>
              <a:rPr lang="vi-VN"/>
              <a:t> một cách an toàn.</a:t>
            </a:r>
          </a:p>
          <a:p>
            <a:r>
              <a:rPr lang="vi-VN" sz="1200" b="1" kern="1200">
                <a:solidFill>
                  <a:schemeClr val="tx1"/>
                </a:solidFill>
                <a:latin typeface="+mn-lt"/>
                <a:ea typeface="+mn-ea"/>
                <a:cs typeface="+mn-cs"/>
              </a:rPr>
              <a:t>return;</a:t>
            </a:r>
            <a:endParaRPr lang="vi-VN"/>
          </a:p>
          <a:p>
            <a:pPr lvl="1"/>
            <a:r>
              <a:rPr lang="vi-VN"/>
              <a:t>Dừng thực thi hàm </a:t>
            </a:r>
            <a:r>
              <a:rPr lang="vi-VN" sz="1200" kern="1200">
                <a:solidFill>
                  <a:schemeClr val="tx1"/>
                </a:solidFill>
                <a:latin typeface="+mn-lt"/>
                <a:ea typeface="+mn-ea"/>
                <a:cs typeface="+mn-cs"/>
              </a:rPr>
              <a:t>onPressed</a:t>
            </a:r>
            <a:r>
              <a:rPr lang="vi-VN"/>
              <a:t> — không tiến hành insert/update.</a:t>
            </a:r>
          </a:p>
          <a:p>
            <a:endParaRPr lang="en-US" b="0"/>
          </a:p>
        </p:txBody>
      </p:sp>
      <p:sp>
        <p:nvSpPr>
          <p:cNvPr id="4" name="Slide Number Placeholder 3">
            <a:extLst>
              <a:ext uri="{FF2B5EF4-FFF2-40B4-BE49-F238E27FC236}">
                <a16:creationId xmlns:a16="http://schemas.microsoft.com/office/drawing/2014/main" id="{E886CA03-8536-3EF5-6DFD-0DEC65AA4FB0}"/>
              </a:ext>
            </a:extLst>
          </p:cNvPr>
          <p:cNvSpPr>
            <a:spLocks noGrp="1"/>
          </p:cNvSpPr>
          <p:nvPr>
            <p:ph type="sldNum" sz="quarter" idx="5"/>
          </p:nvPr>
        </p:nvSpPr>
        <p:spPr/>
        <p:txBody>
          <a:bodyPr/>
          <a:lstStyle/>
          <a:p>
            <a:fld id="{1983A999-5E0E-42CA-8400-604AE921FF7C}" type="slidenum">
              <a:rPr lang="en-US" smtClean="0"/>
              <a:t>34</a:t>
            </a:fld>
            <a:endParaRPr lang="en-US"/>
          </a:p>
        </p:txBody>
      </p:sp>
    </p:spTree>
    <p:extLst>
      <p:ext uri="{BB962C8B-B14F-4D97-AF65-F5344CB8AC3E}">
        <p14:creationId xmlns:p14="http://schemas.microsoft.com/office/powerpoint/2010/main" val="22983000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0E372-B87E-FF12-0E89-34E0E9F933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F04DF2-1684-2F39-B105-67B4A12176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334967-A7C0-3A2B-FF00-A3F639F4C6D3}"/>
              </a:ext>
            </a:extLst>
          </p:cNvPr>
          <p:cNvSpPr>
            <a:spLocks noGrp="1"/>
          </p:cNvSpPr>
          <p:nvPr>
            <p:ph type="body" idx="1"/>
          </p:nvPr>
        </p:nvSpPr>
        <p:spPr/>
        <p:txBody>
          <a:bodyPr/>
          <a:lstStyle/>
          <a:p>
            <a:r>
              <a:rPr lang="vi-VN" b="1"/>
              <a:t>Mục đích chung</a:t>
            </a:r>
          </a:p>
          <a:p>
            <a:r>
              <a:rPr lang="vi-VN"/>
              <a:t>Nút </a:t>
            </a:r>
            <a:r>
              <a:rPr lang="vi-VN" sz="1200" kern="1200">
                <a:solidFill>
                  <a:schemeClr val="tx1"/>
                </a:solidFill>
                <a:latin typeface="+mn-lt"/>
                <a:ea typeface="+mn-ea"/>
                <a:cs typeface="+mn-cs"/>
              </a:rPr>
              <a:t>ElevatedButton</a:t>
            </a:r>
            <a:r>
              <a:rPr lang="vi-VN"/>
              <a:t> này xử lý </a:t>
            </a:r>
            <a:r>
              <a:rPr lang="vi-VN" b="1"/>
              <a:t>sự kiện nhấn nút Thêm/Lưu</a:t>
            </a:r>
            <a:r>
              <a:rPr lang="vi-VN"/>
              <a:t>: lấy dữ liệu từ các </a:t>
            </a:r>
            <a:r>
              <a:rPr lang="vi-VN" sz="1200" kern="1200">
                <a:solidFill>
                  <a:schemeClr val="tx1"/>
                </a:solidFill>
                <a:latin typeface="+mn-lt"/>
                <a:ea typeface="+mn-ea"/>
                <a:cs typeface="+mn-cs"/>
              </a:rPr>
              <a:t>TextField</a:t>
            </a:r>
            <a:r>
              <a:rPr lang="vi-VN"/>
              <a:t>, chuyển kiểu, kiểm tra hợp lệ, và nếu không hợp lệ thì hiển thị </a:t>
            </a:r>
            <a:r>
              <a:rPr lang="vi-VN" sz="1200" kern="1200">
                <a:solidFill>
                  <a:schemeClr val="tx1"/>
                </a:solidFill>
                <a:latin typeface="+mn-lt"/>
                <a:ea typeface="+mn-ea"/>
                <a:cs typeface="+mn-cs"/>
              </a:rPr>
              <a:t>SnackBar</a:t>
            </a:r>
            <a:r>
              <a:rPr lang="vi-VN"/>
              <a:t> thông báo rồi dừng.</a:t>
            </a:r>
          </a:p>
          <a:p>
            <a:br>
              <a:rPr lang="vi-VN"/>
            </a:br>
            <a:endParaRPr lang="vi-VN"/>
          </a:p>
          <a:p>
            <a:r>
              <a:rPr lang="vi-VN" b="1"/>
              <a:t>Mã và giải thích</a:t>
            </a:r>
          </a:p>
          <a:p>
            <a:pPr rtl="0"/>
            <a:r>
              <a:rPr lang="vi-VN" sz="1200" kern="1200">
                <a:solidFill>
                  <a:schemeClr val="tx1"/>
                </a:solidFill>
                <a:latin typeface="+mn-lt"/>
                <a:ea typeface="+mn-ea"/>
                <a:cs typeface="+mn-cs"/>
              </a:rPr>
              <a:t>ElevatedButton(</a:t>
            </a:r>
          </a:p>
          <a:p>
            <a:pPr rtl="0"/>
            <a:r>
              <a:rPr lang="vi-VN" sz="1200" kern="1200">
                <a:solidFill>
                  <a:schemeClr val="tx1"/>
                </a:solidFill>
                <a:latin typeface="+mn-lt"/>
                <a:ea typeface="+mn-ea"/>
                <a:cs typeface="+mn-cs"/>
              </a:rPr>
              <a:t>  onPressed: () async {</a:t>
            </a:r>
          </a:p>
          <a:p>
            <a:pPr rtl="0"/>
            <a:r>
              <a:rPr lang="vi-VN" sz="1200" kern="1200">
                <a:solidFill>
                  <a:schemeClr val="tx1"/>
                </a:solidFill>
                <a:latin typeface="+mn-lt"/>
                <a:ea typeface="+mn-ea"/>
                <a:cs typeface="+mn-cs"/>
              </a:rPr>
              <a:t>    final name = nameController.text.trim();</a:t>
            </a:r>
          </a:p>
          <a:p>
            <a:pPr rtl="0"/>
            <a:r>
              <a:rPr lang="vi-VN" sz="1200" kern="1200">
                <a:solidFill>
                  <a:schemeClr val="tx1"/>
                </a:solidFill>
                <a:latin typeface="+mn-lt"/>
                <a:ea typeface="+mn-ea"/>
                <a:cs typeface="+mn-cs"/>
              </a:rPr>
              <a:t>    final price = double.tryParse(priceController.text) ?? 0;</a:t>
            </a:r>
          </a:p>
          <a:p>
            <a:pPr rtl="0"/>
            <a:r>
              <a:rPr lang="vi-VN" sz="1200" kern="1200">
                <a:solidFill>
                  <a:schemeClr val="tx1"/>
                </a:solidFill>
                <a:latin typeface="+mn-lt"/>
                <a:ea typeface="+mn-ea"/>
                <a:cs typeface="+mn-cs"/>
              </a:rPr>
              <a:t>    final quantity = int.tryParse(quantityController.text) ?? 0;</a:t>
            </a:r>
          </a:p>
          <a:p>
            <a:pPr rtl="0"/>
            <a:r>
              <a:rPr lang="vi-VN" sz="1200" kern="1200">
                <a:solidFill>
                  <a:schemeClr val="tx1"/>
                </a:solidFill>
                <a:latin typeface="+mn-lt"/>
                <a:ea typeface="+mn-ea"/>
                <a:cs typeface="+mn-cs"/>
              </a:rPr>
              <a:t>    final desc = descriptionController.text.trim();</a:t>
            </a:r>
          </a:p>
          <a:p>
            <a:pPr rtl="0"/>
            <a:endParaRPr lang="vi-VN" sz="1200" kern="1200">
              <a:solidFill>
                <a:schemeClr val="tx1"/>
              </a:solidFill>
              <a:latin typeface="+mn-lt"/>
              <a:ea typeface="+mn-ea"/>
              <a:cs typeface="+mn-cs"/>
            </a:endParaRPr>
          </a:p>
          <a:p>
            <a:pPr rtl="0"/>
            <a:r>
              <a:rPr lang="vi-VN" sz="1200" kern="1200">
                <a:solidFill>
                  <a:schemeClr val="tx1"/>
                </a:solidFill>
                <a:latin typeface="+mn-lt"/>
                <a:ea typeface="+mn-ea"/>
                <a:cs typeface="+mn-cs"/>
              </a:rPr>
              <a:t>    if (name.isEmpty || price &lt;= 0 || quantity &lt;= 0) {</a:t>
            </a:r>
          </a:p>
          <a:p>
            <a:pPr rtl="0"/>
            <a:r>
              <a:rPr lang="vi-VN" sz="1200" kern="1200">
                <a:solidFill>
                  <a:schemeClr val="tx1"/>
                </a:solidFill>
                <a:latin typeface="+mn-lt"/>
                <a:ea typeface="+mn-ea"/>
                <a:cs typeface="+mn-cs"/>
              </a:rPr>
              <a:t>      ScaffoldMessenger.of(context).showSnackBar(</a:t>
            </a:r>
          </a:p>
          <a:p>
            <a:pPr rtl="0"/>
            <a:r>
              <a:rPr lang="vi-VN" sz="1200" kern="1200">
                <a:solidFill>
                  <a:schemeClr val="tx1"/>
                </a:solidFill>
                <a:latin typeface="+mn-lt"/>
                <a:ea typeface="+mn-ea"/>
                <a:cs typeface="+mn-cs"/>
              </a:rPr>
              <a:t>        const SnackBar(content: Text("Vui lòng nhập thông tin hợp lệ")),</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return;</a:t>
            </a:r>
          </a:p>
          <a:p>
            <a:pPr rtl="0"/>
            <a:r>
              <a:rPr lang="vi-VN" sz="1200" kern="1200">
                <a:solidFill>
                  <a:schemeClr val="tx1"/>
                </a:solidFill>
                <a:latin typeface="+mn-lt"/>
                <a:ea typeface="+mn-ea"/>
                <a:cs typeface="+mn-cs"/>
              </a:rPr>
              <a:t>    }</a:t>
            </a:r>
          </a:p>
          <a:p>
            <a:pPr rtl="0"/>
            <a:endParaRPr lang="vi-VN" sz="1200" kern="1200">
              <a:solidFill>
                <a:schemeClr val="tx1"/>
              </a:solidFill>
              <a:latin typeface="+mn-lt"/>
              <a:ea typeface="+mn-ea"/>
              <a:cs typeface="+mn-cs"/>
            </a:endParaRPr>
          </a:p>
          <a:p>
            <a:pPr rtl="0"/>
            <a:r>
              <a:rPr lang="vi-VN" sz="1200" kern="1200">
                <a:solidFill>
                  <a:schemeClr val="tx1"/>
                </a:solidFill>
                <a:latin typeface="+mn-lt"/>
                <a:ea typeface="+mn-ea"/>
                <a:cs typeface="+mn-cs"/>
              </a:rPr>
              <a:t>    // ... tiếp tục xử lý (insert/update)</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child: const Text("Thêm"),</a:t>
            </a:r>
          </a:p>
          <a:p>
            <a:pPr rtl="0"/>
            <a:r>
              <a:rPr lang="vi-VN" sz="1200" kern="1200">
                <a:solidFill>
                  <a:schemeClr val="tx1"/>
                </a:solidFill>
                <a:latin typeface="+mn-lt"/>
                <a:ea typeface="+mn-ea"/>
                <a:cs typeface="+mn-cs"/>
              </a:rPr>
              <a:t>)</a:t>
            </a:r>
          </a:p>
          <a:p>
            <a:r>
              <a:rPr lang="vi-VN" sz="1200" b="1" kern="1200">
                <a:solidFill>
                  <a:schemeClr val="tx1"/>
                </a:solidFill>
                <a:latin typeface="+mn-lt"/>
                <a:ea typeface="+mn-ea"/>
                <a:cs typeface="+mn-cs"/>
              </a:rPr>
              <a:t>onPressed: () async { ... }</a:t>
            </a:r>
            <a:br>
              <a:rPr lang="vi-VN"/>
            </a:br>
            <a:r>
              <a:rPr lang="vi-VN"/>
              <a:t>Đây là hàm bất đồng bộ (async) được gọi khi người dùng nhấn nút. </a:t>
            </a:r>
            <a:r>
              <a:rPr lang="vi-VN" sz="1200" kern="1200">
                <a:solidFill>
                  <a:schemeClr val="tx1"/>
                </a:solidFill>
                <a:latin typeface="+mn-lt"/>
                <a:ea typeface="+mn-ea"/>
                <a:cs typeface="+mn-cs"/>
              </a:rPr>
              <a:t>async</a:t>
            </a:r>
            <a:r>
              <a:rPr lang="vi-VN"/>
              <a:t> cho phép dùng </a:t>
            </a:r>
            <a:r>
              <a:rPr lang="vi-VN" sz="1200" kern="1200">
                <a:solidFill>
                  <a:schemeClr val="tx1"/>
                </a:solidFill>
                <a:latin typeface="+mn-lt"/>
                <a:ea typeface="+mn-ea"/>
                <a:cs typeface="+mn-cs"/>
              </a:rPr>
              <a:t>await</a:t>
            </a:r>
            <a:r>
              <a:rPr lang="vi-VN"/>
              <a:t> bên trong để chờ các thao tác async (ví dụ gọi DB).</a:t>
            </a:r>
          </a:p>
          <a:p>
            <a:r>
              <a:rPr lang="vi-VN" sz="1200" b="1" kern="1200">
                <a:solidFill>
                  <a:schemeClr val="tx1"/>
                </a:solidFill>
                <a:latin typeface="+mn-lt"/>
                <a:ea typeface="+mn-ea"/>
                <a:cs typeface="+mn-cs"/>
              </a:rPr>
              <a:t>final name = nameController.text.trim();</a:t>
            </a:r>
            <a:endParaRPr lang="vi-VN"/>
          </a:p>
          <a:p>
            <a:pPr lvl="1"/>
            <a:r>
              <a:rPr lang="vi-VN" sz="1200" kern="1200">
                <a:solidFill>
                  <a:schemeClr val="tx1"/>
                </a:solidFill>
                <a:latin typeface="+mn-lt"/>
                <a:ea typeface="+mn-ea"/>
                <a:cs typeface="+mn-cs"/>
              </a:rPr>
              <a:t>nameController.text</a:t>
            </a:r>
            <a:r>
              <a:rPr lang="vi-VN"/>
              <a:t> lấy chuỗi người dùng đã nhập.</a:t>
            </a:r>
          </a:p>
          <a:p>
            <a:pPr lvl="1"/>
            <a:r>
              <a:rPr lang="vi-VN" sz="1200" kern="1200">
                <a:solidFill>
                  <a:schemeClr val="tx1"/>
                </a:solidFill>
                <a:latin typeface="+mn-lt"/>
                <a:ea typeface="+mn-ea"/>
                <a:cs typeface="+mn-cs"/>
              </a:rPr>
              <a:t>.trim()</a:t>
            </a:r>
            <a:r>
              <a:rPr lang="vi-VN"/>
              <a:t> loại bỏ khoảng trắng đầu/cuối (tránh trường hợp chỉ nhập toàn dấu cách).</a:t>
            </a:r>
          </a:p>
          <a:p>
            <a:pPr lvl="1"/>
            <a:r>
              <a:rPr lang="vi-VN"/>
              <a:t>Gán vào </a:t>
            </a:r>
            <a:r>
              <a:rPr lang="vi-VN" sz="1200" kern="1200">
                <a:solidFill>
                  <a:schemeClr val="tx1"/>
                </a:solidFill>
                <a:latin typeface="+mn-lt"/>
                <a:ea typeface="+mn-ea"/>
                <a:cs typeface="+mn-cs"/>
              </a:rPr>
              <a:t>name</a:t>
            </a:r>
            <a:r>
              <a:rPr lang="vi-VN"/>
              <a:t> là một </a:t>
            </a:r>
            <a:r>
              <a:rPr lang="vi-VN" sz="1200" kern="1200">
                <a:solidFill>
                  <a:schemeClr val="tx1"/>
                </a:solidFill>
                <a:latin typeface="+mn-lt"/>
                <a:ea typeface="+mn-ea"/>
                <a:cs typeface="+mn-cs"/>
              </a:rPr>
              <a:t>String</a:t>
            </a:r>
            <a:r>
              <a:rPr lang="vi-VN"/>
              <a:t> không đổi (final).</a:t>
            </a:r>
          </a:p>
          <a:p>
            <a:r>
              <a:rPr lang="vi-VN" sz="1200" b="1" kern="1200">
                <a:solidFill>
                  <a:schemeClr val="tx1"/>
                </a:solidFill>
                <a:latin typeface="+mn-lt"/>
                <a:ea typeface="+mn-ea"/>
                <a:cs typeface="+mn-cs"/>
              </a:rPr>
              <a:t>final price = double.tryParse(priceController.text) ?? 0;</a:t>
            </a:r>
            <a:endParaRPr lang="vi-VN"/>
          </a:p>
          <a:p>
            <a:pPr lvl="1"/>
            <a:r>
              <a:rPr lang="vi-VN" sz="1200" kern="1200">
                <a:solidFill>
                  <a:schemeClr val="tx1"/>
                </a:solidFill>
                <a:latin typeface="+mn-lt"/>
                <a:ea typeface="+mn-ea"/>
                <a:cs typeface="+mn-cs"/>
              </a:rPr>
              <a:t>double.tryParse(...)</a:t>
            </a:r>
            <a:r>
              <a:rPr lang="vi-VN"/>
              <a:t> cố gắng chuyển chuỗi sang </a:t>
            </a:r>
            <a:r>
              <a:rPr lang="vi-VN" sz="1200" kern="1200">
                <a:solidFill>
                  <a:schemeClr val="tx1"/>
                </a:solidFill>
                <a:latin typeface="+mn-lt"/>
                <a:ea typeface="+mn-ea"/>
                <a:cs typeface="+mn-cs"/>
              </a:rPr>
              <a:t>double</a:t>
            </a:r>
            <a:r>
              <a:rPr lang="vi-VN"/>
              <a:t>. Nếu chuỗi không hợp lệ (ví dụ rỗng hoặc có ký tự chữ), </a:t>
            </a:r>
            <a:r>
              <a:rPr lang="vi-VN" sz="1200" kern="1200">
                <a:solidFill>
                  <a:schemeClr val="tx1"/>
                </a:solidFill>
                <a:latin typeface="+mn-lt"/>
                <a:ea typeface="+mn-ea"/>
                <a:cs typeface="+mn-cs"/>
              </a:rPr>
              <a:t>tryParse</a:t>
            </a:r>
            <a:r>
              <a:rPr lang="vi-VN"/>
              <a:t> trả </a:t>
            </a:r>
            <a:r>
              <a:rPr lang="vi-VN" sz="1200" kern="1200">
                <a:solidFill>
                  <a:schemeClr val="tx1"/>
                </a:solidFill>
                <a:latin typeface="+mn-lt"/>
                <a:ea typeface="+mn-ea"/>
                <a:cs typeface="+mn-cs"/>
              </a:rPr>
              <a:t>null</a:t>
            </a:r>
            <a:r>
              <a:rPr lang="vi-VN"/>
              <a:t>.</a:t>
            </a:r>
          </a:p>
          <a:p>
            <a:pPr lvl="1"/>
            <a:r>
              <a:rPr lang="vi-VN" sz="1200" kern="1200">
                <a:solidFill>
                  <a:schemeClr val="tx1"/>
                </a:solidFill>
                <a:latin typeface="+mn-lt"/>
                <a:ea typeface="+mn-ea"/>
                <a:cs typeface="+mn-cs"/>
              </a:rPr>
              <a:t>?? 0</a:t>
            </a:r>
            <a:r>
              <a:rPr lang="vi-VN"/>
              <a:t> là toán tử null-coalescing: nếu </a:t>
            </a:r>
            <a:r>
              <a:rPr lang="vi-VN" sz="1200" kern="1200">
                <a:solidFill>
                  <a:schemeClr val="tx1"/>
                </a:solidFill>
                <a:latin typeface="+mn-lt"/>
                <a:ea typeface="+mn-ea"/>
                <a:cs typeface="+mn-cs"/>
              </a:rPr>
              <a:t>tryParse</a:t>
            </a:r>
            <a:r>
              <a:rPr lang="vi-VN"/>
              <a:t> trả </a:t>
            </a:r>
            <a:r>
              <a:rPr lang="vi-VN" sz="1200" kern="1200">
                <a:solidFill>
                  <a:schemeClr val="tx1"/>
                </a:solidFill>
                <a:latin typeface="+mn-lt"/>
                <a:ea typeface="+mn-ea"/>
                <a:cs typeface="+mn-cs"/>
              </a:rPr>
              <a:t>null</a:t>
            </a:r>
            <a:r>
              <a:rPr lang="vi-VN"/>
              <a:t> thì </a:t>
            </a:r>
            <a:r>
              <a:rPr lang="vi-VN" sz="1200" kern="1200">
                <a:solidFill>
                  <a:schemeClr val="tx1"/>
                </a:solidFill>
                <a:latin typeface="+mn-lt"/>
                <a:ea typeface="+mn-ea"/>
                <a:cs typeface="+mn-cs"/>
              </a:rPr>
              <a:t>price</a:t>
            </a:r>
            <a:r>
              <a:rPr lang="vi-VN"/>
              <a:t> sẽ là </a:t>
            </a:r>
            <a:r>
              <a:rPr lang="vi-VN" sz="1200" kern="1200">
                <a:solidFill>
                  <a:schemeClr val="tx1"/>
                </a:solidFill>
                <a:latin typeface="+mn-lt"/>
                <a:ea typeface="+mn-ea"/>
                <a:cs typeface="+mn-cs"/>
              </a:rPr>
              <a:t>0</a:t>
            </a:r>
            <a:r>
              <a:rPr lang="vi-VN"/>
              <a:t>.</a:t>
            </a:r>
          </a:p>
          <a:p>
            <a:pPr lvl="1"/>
            <a:r>
              <a:rPr lang="vi-VN"/>
              <a:t>Kết quả: </a:t>
            </a:r>
            <a:r>
              <a:rPr lang="vi-VN" sz="1200" kern="1200">
                <a:solidFill>
                  <a:schemeClr val="tx1"/>
                </a:solidFill>
                <a:latin typeface="+mn-lt"/>
                <a:ea typeface="+mn-ea"/>
                <a:cs typeface="+mn-cs"/>
              </a:rPr>
              <a:t>price</a:t>
            </a:r>
            <a:r>
              <a:rPr lang="vi-VN"/>
              <a:t> luôn là một </a:t>
            </a:r>
            <a:r>
              <a:rPr lang="vi-VN" sz="1200" kern="1200">
                <a:solidFill>
                  <a:schemeClr val="tx1"/>
                </a:solidFill>
                <a:latin typeface="+mn-lt"/>
                <a:ea typeface="+mn-ea"/>
                <a:cs typeface="+mn-cs"/>
              </a:rPr>
              <a:t>double</a:t>
            </a:r>
            <a:r>
              <a:rPr lang="vi-VN"/>
              <a:t> (không null).</a:t>
            </a:r>
          </a:p>
          <a:p>
            <a:r>
              <a:rPr lang="vi-VN" sz="1200" b="1" kern="1200">
                <a:solidFill>
                  <a:schemeClr val="tx1"/>
                </a:solidFill>
                <a:latin typeface="+mn-lt"/>
                <a:ea typeface="+mn-ea"/>
                <a:cs typeface="+mn-cs"/>
              </a:rPr>
              <a:t>final quantity = int.tryParse(quantityController.text) ?? 0;</a:t>
            </a:r>
            <a:endParaRPr lang="vi-VN"/>
          </a:p>
          <a:p>
            <a:pPr lvl="1"/>
            <a:r>
              <a:rPr lang="vi-VN"/>
              <a:t>Tương tự </a:t>
            </a:r>
            <a:r>
              <a:rPr lang="vi-VN" sz="1200" kern="1200">
                <a:solidFill>
                  <a:schemeClr val="tx1"/>
                </a:solidFill>
                <a:latin typeface="+mn-lt"/>
                <a:ea typeface="+mn-ea"/>
                <a:cs typeface="+mn-cs"/>
              </a:rPr>
              <a:t>price</a:t>
            </a:r>
            <a:r>
              <a:rPr lang="vi-VN"/>
              <a:t>, nhưng chuyển sang </a:t>
            </a:r>
            <a:r>
              <a:rPr lang="vi-VN" sz="1200" kern="1200">
                <a:solidFill>
                  <a:schemeClr val="tx1"/>
                </a:solidFill>
                <a:latin typeface="+mn-lt"/>
                <a:ea typeface="+mn-ea"/>
                <a:cs typeface="+mn-cs"/>
              </a:rPr>
              <a:t>int</a:t>
            </a:r>
            <a:r>
              <a:rPr lang="vi-VN"/>
              <a:t>. Nếu parse thất bại, giá trị mặc định là </a:t>
            </a:r>
            <a:r>
              <a:rPr lang="vi-VN" sz="1200" kern="1200">
                <a:solidFill>
                  <a:schemeClr val="tx1"/>
                </a:solidFill>
                <a:latin typeface="+mn-lt"/>
                <a:ea typeface="+mn-ea"/>
                <a:cs typeface="+mn-cs"/>
              </a:rPr>
              <a:t>0</a:t>
            </a:r>
            <a:r>
              <a:rPr lang="vi-VN"/>
              <a:t>.</a:t>
            </a:r>
          </a:p>
          <a:p>
            <a:r>
              <a:rPr lang="vi-VN" sz="1200" b="1" kern="1200">
                <a:solidFill>
                  <a:schemeClr val="tx1"/>
                </a:solidFill>
                <a:latin typeface="+mn-lt"/>
                <a:ea typeface="+mn-ea"/>
                <a:cs typeface="+mn-cs"/>
              </a:rPr>
              <a:t>final desc = descriptionController.text.trim();</a:t>
            </a:r>
            <a:endParaRPr lang="vi-VN"/>
          </a:p>
          <a:p>
            <a:pPr lvl="1"/>
            <a:r>
              <a:rPr lang="vi-VN"/>
              <a:t>Lấy mô tả và trim khoảng trắng đầu/cuối.</a:t>
            </a:r>
          </a:p>
          <a:p>
            <a:r>
              <a:rPr lang="vi-VN" sz="1200" b="1" kern="1200">
                <a:solidFill>
                  <a:schemeClr val="tx1"/>
                </a:solidFill>
                <a:latin typeface="+mn-lt"/>
                <a:ea typeface="+mn-ea"/>
                <a:cs typeface="+mn-cs"/>
              </a:rPr>
              <a:t>if (name.isEmpty || price &lt;= 0 || quantity &lt;= 0) { ... }</a:t>
            </a:r>
            <a:endParaRPr lang="vi-VN"/>
          </a:p>
          <a:p>
            <a:pPr lvl="1"/>
            <a:r>
              <a:rPr lang="vi-VN"/>
              <a:t>Đây là </a:t>
            </a:r>
            <a:r>
              <a:rPr lang="vi-VN" b="1"/>
              <a:t>validate cơ bản</a:t>
            </a:r>
            <a:r>
              <a:rPr lang="vi-VN"/>
              <a:t>:</a:t>
            </a:r>
          </a:p>
          <a:p>
            <a:pPr lvl="2"/>
            <a:r>
              <a:rPr lang="vi-VN" sz="1200" kern="1200">
                <a:solidFill>
                  <a:schemeClr val="tx1"/>
                </a:solidFill>
                <a:latin typeface="+mn-lt"/>
                <a:ea typeface="+mn-ea"/>
                <a:cs typeface="+mn-cs"/>
              </a:rPr>
              <a:t>name.isEmpty</a:t>
            </a:r>
            <a:r>
              <a:rPr lang="vi-VN"/>
              <a:t> — tên không được để trống.</a:t>
            </a:r>
          </a:p>
          <a:p>
            <a:pPr lvl="2"/>
            <a:r>
              <a:rPr lang="vi-VN" sz="1200" kern="1200">
                <a:solidFill>
                  <a:schemeClr val="tx1"/>
                </a:solidFill>
                <a:latin typeface="+mn-lt"/>
                <a:ea typeface="+mn-ea"/>
                <a:cs typeface="+mn-cs"/>
              </a:rPr>
              <a:t>price &lt;= 0</a:t>
            </a:r>
            <a:r>
              <a:rPr lang="vi-VN"/>
              <a:t> — giá phải &gt; 0 (loại bỏ 0 hoặc số âm).</a:t>
            </a:r>
          </a:p>
          <a:p>
            <a:pPr lvl="2"/>
            <a:r>
              <a:rPr lang="vi-VN" sz="1200" kern="1200">
                <a:solidFill>
                  <a:schemeClr val="tx1"/>
                </a:solidFill>
                <a:latin typeface="+mn-lt"/>
                <a:ea typeface="+mn-ea"/>
                <a:cs typeface="+mn-cs"/>
              </a:rPr>
              <a:t>quantity &lt;= 0</a:t>
            </a:r>
            <a:r>
              <a:rPr lang="vi-VN"/>
              <a:t> — số lượng phải &gt; 0.</a:t>
            </a:r>
          </a:p>
          <a:p>
            <a:pPr lvl="1"/>
            <a:r>
              <a:rPr lang="vi-VN"/>
              <a:t>Nếu </a:t>
            </a:r>
            <a:r>
              <a:rPr lang="vi-VN" b="1"/>
              <a:t>bất kỳ</a:t>
            </a:r>
            <a:r>
              <a:rPr lang="vi-VN"/>
              <a:t> điều kiện trên đúng → coi là dữ liệu không hợp lệ.</a:t>
            </a:r>
          </a:p>
          <a:p>
            <a:r>
              <a:rPr lang="vi-VN" sz="1200" b="1" kern="1200">
                <a:solidFill>
                  <a:schemeClr val="tx1"/>
                </a:solidFill>
                <a:latin typeface="+mn-lt"/>
                <a:ea typeface="+mn-ea"/>
                <a:cs typeface="+mn-cs"/>
              </a:rPr>
              <a:t>ScaffoldMessenger.of(context).showSnackBar(...)</a:t>
            </a:r>
            <a:endParaRPr lang="vi-VN"/>
          </a:p>
          <a:p>
            <a:pPr lvl="1"/>
            <a:r>
              <a:rPr lang="vi-VN"/>
              <a:t>Hiển thị một </a:t>
            </a:r>
            <a:r>
              <a:rPr lang="vi-VN" sz="1200" kern="1200">
                <a:solidFill>
                  <a:schemeClr val="tx1"/>
                </a:solidFill>
                <a:latin typeface="+mn-lt"/>
                <a:ea typeface="+mn-ea"/>
                <a:cs typeface="+mn-cs"/>
              </a:rPr>
              <a:t>SnackBar</a:t>
            </a:r>
            <a:r>
              <a:rPr lang="vi-VN"/>
              <a:t> (thông báo ngắn) ở cuối màn hình để báo lỗi cho người dùng.</a:t>
            </a:r>
          </a:p>
          <a:p>
            <a:pPr lvl="1"/>
            <a:r>
              <a:rPr lang="vi-VN" sz="1200" kern="1200">
                <a:solidFill>
                  <a:schemeClr val="tx1"/>
                </a:solidFill>
                <a:latin typeface="+mn-lt"/>
                <a:ea typeface="+mn-ea"/>
                <a:cs typeface="+mn-cs"/>
              </a:rPr>
              <a:t>ScaffoldMessenger</a:t>
            </a:r>
            <a:r>
              <a:rPr lang="vi-VN"/>
              <a:t> là API hiện tại (thay cho </a:t>
            </a:r>
            <a:r>
              <a:rPr lang="vi-VN" sz="1200" kern="1200">
                <a:solidFill>
                  <a:schemeClr val="tx1"/>
                </a:solidFill>
                <a:latin typeface="+mn-lt"/>
                <a:ea typeface="+mn-ea"/>
                <a:cs typeface="+mn-cs"/>
              </a:rPr>
              <a:t>Scaffold.of</a:t>
            </a:r>
            <a:r>
              <a:rPr lang="vi-VN"/>
              <a:t>) để show </a:t>
            </a:r>
            <a:r>
              <a:rPr lang="vi-VN" sz="1200" kern="1200">
                <a:solidFill>
                  <a:schemeClr val="tx1"/>
                </a:solidFill>
                <a:latin typeface="+mn-lt"/>
                <a:ea typeface="+mn-ea"/>
                <a:cs typeface="+mn-cs"/>
              </a:rPr>
              <a:t>SnackBar</a:t>
            </a:r>
            <a:r>
              <a:rPr lang="vi-VN"/>
              <a:t> một cách an toàn.</a:t>
            </a:r>
          </a:p>
          <a:p>
            <a:r>
              <a:rPr lang="vi-VN" sz="1200" b="1" kern="1200">
                <a:solidFill>
                  <a:schemeClr val="tx1"/>
                </a:solidFill>
                <a:latin typeface="+mn-lt"/>
                <a:ea typeface="+mn-ea"/>
                <a:cs typeface="+mn-cs"/>
              </a:rPr>
              <a:t>return;</a:t>
            </a:r>
            <a:endParaRPr lang="vi-VN"/>
          </a:p>
          <a:p>
            <a:pPr lvl="1"/>
            <a:r>
              <a:rPr lang="vi-VN"/>
              <a:t>Dừng thực thi hàm </a:t>
            </a:r>
            <a:r>
              <a:rPr lang="vi-VN" sz="1200" kern="1200">
                <a:solidFill>
                  <a:schemeClr val="tx1"/>
                </a:solidFill>
                <a:latin typeface="+mn-lt"/>
                <a:ea typeface="+mn-ea"/>
                <a:cs typeface="+mn-cs"/>
              </a:rPr>
              <a:t>onPressed</a:t>
            </a:r>
            <a:r>
              <a:rPr lang="vi-VN"/>
              <a:t> — không tiến hành insert/update.</a:t>
            </a:r>
          </a:p>
          <a:p>
            <a:endParaRPr lang="en-US" b="0"/>
          </a:p>
        </p:txBody>
      </p:sp>
      <p:sp>
        <p:nvSpPr>
          <p:cNvPr id="4" name="Slide Number Placeholder 3">
            <a:extLst>
              <a:ext uri="{FF2B5EF4-FFF2-40B4-BE49-F238E27FC236}">
                <a16:creationId xmlns:a16="http://schemas.microsoft.com/office/drawing/2014/main" id="{4B9F9D45-12F5-2044-CDE7-65DEA41D426C}"/>
              </a:ext>
            </a:extLst>
          </p:cNvPr>
          <p:cNvSpPr>
            <a:spLocks noGrp="1"/>
          </p:cNvSpPr>
          <p:nvPr>
            <p:ph type="sldNum" sz="quarter" idx="5"/>
          </p:nvPr>
        </p:nvSpPr>
        <p:spPr/>
        <p:txBody>
          <a:bodyPr/>
          <a:lstStyle/>
          <a:p>
            <a:fld id="{1983A999-5E0E-42CA-8400-604AE921FF7C}" type="slidenum">
              <a:rPr lang="en-US" smtClean="0"/>
              <a:t>35</a:t>
            </a:fld>
            <a:endParaRPr lang="en-US"/>
          </a:p>
        </p:txBody>
      </p:sp>
    </p:spTree>
    <p:extLst>
      <p:ext uri="{BB962C8B-B14F-4D97-AF65-F5344CB8AC3E}">
        <p14:creationId xmlns:p14="http://schemas.microsoft.com/office/powerpoint/2010/main" val="35761400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88DA1-EE2E-3B9B-ACDC-A62B8A3573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7022C7-942D-3C13-DE9C-E2E017891C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41D0E0-C29C-80D1-CEAA-77A1E80A95E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0A7EF6D-3D45-87BA-6AA2-EE06A9BD08C0}"/>
              </a:ext>
            </a:extLst>
          </p:cNvPr>
          <p:cNvSpPr>
            <a:spLocks noGrp="1"/>
          </p:cNvSpPr>
          <p:nvPr>
            <p:ph type="sldNum" sz="quarter" idx="5"/>
          </p:nvPr>
        </p:nvSpPr>
        <p:spPr/>
        <p:txBody>
          <a:bodyPr/>
          <a:lstStyle/>
          <a:p>
            <a:fld id="{1983A999-5E0E-42CA-8400-604AE921FF7C}" type="slidenum">
              <a:rPr lang="en-US" smtClean="0"/>
              <a:t>36</a:t>
            </a:fld>
            <a:endParaRPr lang="en-US"/>
          </a:p>
        </p:txBody>
      </p:sp>
    </p:spTree>
    <p:extLst>
      <p:ext uri="{BB962C8B-B14F-4D97-AF65-F5344CB8AC3E}">
        <p14:creationId xmlns:p14="http://schemas.microsoft.com/office/powerpoint/2010/main" val="20482586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B59FE-1BC8-55B4-09AA-7843824872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1AA447-CF13-FC8F-6749-A88A0CE8C0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D66CAB-931F-B2EF-E44D-2018F29C440D}"/>
              </a:ext>
            </a:extLst>
          </p:cNvPr>
          <p:cNvSpPr>
            <a:spLocks noGrp="1"/>
          </p:cNvSpPr>
          <p:nvPr>
            <p:ph type="body" idx="1"/>
          </p:nvPr>
        </p:nvSpPr>
        <p:spPr/>
        <p:txBody>
          <a:bodyPr/>
          <a:lstStyle/>
          <a:p>
            <a:r>
              <a:rPr lang="vi-VN"/>
              <a:t>Bảng </a:t>
            </a:r>
            <a:r>
              <a:rPr lang="vi-VN" sz="1200" kern="1200">
                <a:solidFill>
                  <a:schemeClr val="tx1"/>
                </a:solidFill>
                <a:latin typeface="+mn-lt"/>
                <a:ea typeface="+mn-ea"/>
                <a:cs typeface="+mn-cs"/>
              </a:rPr>
              <a:t>categories</a:t>
            </a:r>
            <a:r>
              <a:rPr lang="vi-VN"/>
              <a:t>: </a:t>
            </a:r>
            <a:r>
              <a:rPr lang="vi-VN" sz="1200" kern="1200">
                <a:solidFill>
                  <a:schemeClr val="tx1"/>
                </a:solidFill>
                <a:latin typeface="+mn-lt"/>
                <a:ea typeface="+mn-ea"/>
                <a:cs typeface="+mn-cs"/>
              </a:rPr>
              <a:t>id</a:t>
            </a:r>
            <a:r>
              <a:rPr lang="vi-VN"/>
              <a:t> tự động tăng, </a:t>
            </a:r>
            <a:r>
              <a:rPr lang="vi-VN" sz="1200" kern="1200">
                <a:solidFill>
                  <a:schemeClr val="tx1"/>
                </a:solidFill>
                <a:latin typeface="+mn-lt"/>
                <a:ea typeface="+mn-ea"/>
                <a:cs typeface="+mn-cs"/>
              </a:rPr>
              <a:t>name</a:t>
            </a:r>
            <a:r>
              <a:rPr lang="vi-VN"/>
              <a:t> là text không được null.</a:t>
            </a:r>
            <a:endParaRPr lang="en-US"/>
          </a:p>
        </p:txBody>
      </p:sp>
      <p:sp>
        <p:nvSpPr>
          <p:cNvPr id="4" name="Slide Number Placeholder 3">
            <a:extLst>
              <a:ext uri="{FF2B5EF4-FFF2-40B4-BE49-F238E27FC236}">
                <a16:creationId xmlns:a16="http://schemas.microsoft.com/office/drawing/2014/main" id="{78920C29-C711-19D2-E260-66EEFA2D8AD0}"/>
              </a:ext>
            </a:extLst>
          </p:cNvPr>
          <p:cNvSpPr>
            <a:spLocks noGrp="1"/>
          </p:cNvSpPr>
          <p:nvPr>
            <p:ph type="sldNum" sz="quarter" idx="5"/>
          </p:nvPr>
        </p:nvSpPr>
        <p:spPr/>
        <p:txBody>
          <a:bodyPr/>
          <a:lstStyle/>
          <a:p>
            <a:fld id="{1983A999-5E0E-42CA-8400-604AE921FF7C}" type="slidenum">
              <a:rPr lang="en-US" smtClean="0"/>
              <a:t>37</a:t>
            </a:fld>
            <a:endParaRPr lang="en-US"/>
          </a:p>
        </p:txBody>
      </p:sp>
    </p:spTree>
    <p:extLst>
      <p:ext uri="{BB962C8B-B14F-4D97-AF65-F5344CB8AC3E}">
        <p14:creationId xmlns:p14="http://schemas.microsoft.com/office/powerpoint/2010/main" val="25386144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560EF-FBBE-0690-9691-1BFF98CCB2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1DC661-09AC-0C0B-B003-C721D71AB1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DE2AA9-2773-EEEA-8885-4E9B5D519ACE}"/>
              </a:ext>
            </a:extLst>
          </p:cNvPr>
          <p:cNvSpPr>
            <a:spLocks noGrp="1"/>
          </p:cNvSpPr>
          <p:nvPr>
            <p:ph type="body" idx="1"/>
          </p:nvPr>
        </p:nvSpPr>
        <p:spPr/>
        <p:txBody>
          <a:bodyPr/>
          <a:lstStyle/>
          <a:p>
            <a:r>
              <a:rPr lang="vi-VN"/>
              <a:t>Bảng </a:t>
            </a:r>
            <a:r>
              <a:rPr lang="vi-VN" sz="1200" kern="1200">
                <a:solidFill>
                  <a:schemeClr val="tx1"/>
                </a:solidFill>
                <a:latin typeface="+mn-lt"/>
                <a:ea typeface="+mn-ea"/>
                <a:cs typeface="+mn-cs"/>
              </a:rPr>
              <a:t>products</a:t>
            </a:r>
            <a:r>
              <a:rPr lang="vi-VN"/>
              <a:t> có các cột:</a:t>
            </a:r>
          </a:p>
          <a:p>
            <a:r>
              <a:rPr lang="vi-VN" sz="1200" kern="1200">
                <a:solidFill>
                  <a:schemeClr val="tx1"/>
                </a:solidFill>
                <a:latin typeface="+mn-lt"/>
                <a:ea typeface="+mn-ea"/>
                <a:cs typeface="+mn-cs"/>
              </a:rPr>
              <a:t>id</a:t>
            </a:r>
            <a:r>
              <a:rPr lang="vi-VN"/>
              <a:t>: primary key auto increment.</a:t>
            </a:r>
          </a:p>
          <a:p>
            <a:r>
              <a:rPr lang="vi-VN" sz="1200" kern="1200">
                <a:solidFill>
                  <a:schemeClr val="tx1"/>
                </a:solidFill>
                <a:latin typeface="+mn-lt"/>
                <a:ea typeface="+mn-ea"/>
                <a:cs typeface="+mn-cs"/>
              </a:rPr>
              <a:t>name</a:t>
            </a:r>
            <a:r>
              <a:rPr lang="vi-VN"/>
              <a:t>, </a:t>
            </a:r>
            <a:r>
              <a:rPr lang="vi-VN" sz="1200" kern="1200">
                <a:solidFill>
                  <a:schemeClr val="tx1"/>
                </a:solidFill>
                <a:latin typeface="+mn-lt"/>
                <a:ea typeface="+mn-ea"/>
                <a:cs typeface="+mn-cs"/>
              </a:rPr>
              <a:t>price</a:t>
            </a:r>
            <a:r>
              <a:rPr lang="vi-VN"/>
              <a:t> (REAL), </a:t>
            </a:r>
            <a:r>
              <a:rPr lang="vi-VN" sz="1200" kern="1200">
                <a:solidFill>
                  <a:schemeClr val="tx1"/>
                </a:solidFill>
                <a:latin typeface="+mn-lt"/>
                <a:ea typeface="+mn-ea"/>
                <a:cs typeface="+mn-cs"/>
              </a:rPr>
              <a:t>quantity</a:t>
            </a:r>
            <a:r>
              <a:rPr lang="vi-VN"/>
              <a:t>, </a:t>
            </a:r>
            <a:r>
              <a:rPr lang="vi-VN" sz="1200" kern="1200">
                <a:solidFill>
                  <a:schemeClr val="tx1"/>
                </a:solidFill>
                <a:latin typeface="+mn-lt"/>
                <a:ea typeface="+mn-ea"/>
                <a:cs typeface="+mn-cs"/>
              </a:rPr>
              <a:t>description</a:t>
            </a:r>
            <a:r>
              <a:rPr lang="vi-VN"/>
              <a:t> (có thể null), </a:t>
            </a:r>
            <a:r>
              <a:rPr lang="vi-VN" sz="1200" kern="1200">
                <a:solidFill>
                  <a:schemeClr val="tx1"/>
                </a:solidFill>
                <a:latin typeface="+mn-lt"/>
                <a:ea typeface="+mn-ea"/>
                <a:cs typeface="+mn-cs"/>
              </a:rPr>
              <a:t>category_id</a:t>
            </a:r>
            <a:r>
              <a:rPr lang="vi-VN"/>
              <a:t> (khóa ngoại tham chiếu </a:t>
            </a:r>
            <a:r>
              <a:rPr lang="vi-VN" sz="1200" kern="1200">
                <a:solidFill>
                  <a:schemeClr val="tx1"/>
                </a:solidFill>
                <a:latin typeface="+mn-lt"/>
                <a:ea typeface="+mn-ea"/>
                <a:cs typeface="+mn-cs"/>
              </a:rPr>
              <a:t>categories.id</a:t>
            </a:r>
            <a:r>
              <a:rPr lang="vi-VN"/>
              <a:t>), </a:t>
            </a:r>
            <a:r>
              <a:rPr lang="vi-VN" sz="1200" kern="1200">
                <a:solidFill>
                  <a:schemeClr val="tx1"/>
                </a:solidFill>
                <a:latin typeface="+mn-lt"/>
                <a:ea typeface="+mn-ea"/>
                <a:cs typeface="+mn-cs"/>
              </a:rPr>
              <a:t>created_at</a:t>
            </a:r>
            <a:r>
              <a:rPr lang="vi-VN"/>
              <a:t> (lưu chuỗi thời gian).</a:t>
            </a:r>
          </a:p>
          <a:p>
            <a:r>
              <a:rPr lang="vi-VN"/>
              <a:t>Sau khi tạo bảng, chèn danh mục mẫu từ </a:t>
            </a:r>
            <a:r>
              <a:rPr lang="vi-VN" sz="1200" kern="1200">
                <a:solidFill>
                  <a:schemeClr val="tx1"/>
                </a:solidFill>
                <a:latin typeface="+mn-lt"/>
                <a:ea typeface="+mn-ea"/>
                <a:cs typeface="+mn-cs"/>
              </a:rPr>
              <a:t>Category.sampleCategories</a:t>
            </a:r>
            <a:r>
              <a:rPr lang="vi-VN"/>
              <a:t>.</a:t>
            </a:r>
          </a:p>
          <a:p>
            <a:r>
              <a:rPr lang="vi-VN" sz="1200" kern="1200">
                <a:solidFill>
                  <a:schemeClr val="tx1"/>
                </a:solidFill>
                <a:latin typeface="+mn-lt"/>
                <a:ea typeface="+mn-ea"/>
                <a:cs typeface="+mn-cs"/>
              </a:rPr>
              <a:t>_db ??=</a:t>
            </a:r>
            <a:r>
              <a:rPr lang="vi-VN"/>
              <a:t> đảm bảo nếu </a:t>
            </a:r>
            <a:r>
              <a:rPr lang="vi-VN" sz="1200" kern="1200">
                <a:solidFill>
                  <a:schemeClr val="tx1"/>
                </a:solidFill>
                <a:latin typeface="+mn-lt"/>
                <a:ea typeface="+mn-ea"/>
                <a:cs typeface="+mn-cs"/>
              </a:rPr>
              <a:t>_db</a:t>
            </a:r>
            <a:r>
              <a:rPr lang="vi-VN"/>
              <a:t> đã được gán trước đó thì không mở lại (singleton-like).</a:t>
            </a:r>
            <a:endParaRPr lang="en-US"/>
          </a:p>
          <a:p>
            <a:r>
              <a:rPr lang="en-US"/>
              <a:t>--------------------------------------------------------------------------------------------------------</a:t>
            </a:r>
          </a:p>
          <a:p>
            <a:r>
              <a:rPr lang="vi-VN"/>
              <a:t>Câu này:</a:t>
            </a:r>
          </a:p>
          <a:p>
            <a:r>
              <a:rPr lang="vi-VN" sz="1200" b="1" kern="1200">
                <a:solidFill>
                  <a:schemeClr val="tx1"/>
                </a:solidFill>
                <a:latin typeface="+mn-lt"/>
                <a:ea typeface="+mn-ea"/>
                <a:cs typeface="+mn-cs"/>
              </a:rPr>
              <a:t>category_id (khóa ngoại tham chiếu categories.id)</a:t>
            </a:r>
            <a:endParaRPr lang="vi-VN"/>
          </a:p>
          <a:p>
            <a:r>
              <a:rPr lang="vi-VN"/>
              <a:t>nghĩa là:</a:t>
            </a:r>
            <a:br>
              <a:rPr lang="vi-VN"/>
            </a:br>
            <a:r>
              <a:rPr lang="en-US"/>
              <a:t>👉 </a:t>
            </a:r>
            <a:r>
              <a:rPr lang="vi-VN" sz="1200" b="1" kern="1200">
                <a:solidFill>
                  <a:schemeClr val="tx1"/>
                </a:solidFill>
                <a:latin typeface="+mn-lt"/>
                <a:ea typeface="+mn-ea"/>
                <a:cs typeface="+mn-cs"/>
              </a:rPr>
              <a:t>category_id</a:t>
            </a:r>
            <a:r>
              <a:rPr lang="vi-VN"/>
              <a:t> là một </a:t>
            </a:r>
            <a:r>
              <a:rPr lang="vi-VN" b="1"/>
              <a:t>khóa ngoại (foreign key)</a:t>
            </a:r>
            <a:r>
              <a:rPr lang="vi-VN"/>
              <a:t> — nó </a:t>
            </a:r>
            <a:r>
              <a:rPr lang="vi-VN" b="1"/>
              <a:t>liên kết</a:t>
            </a:r>
            <a:r>
              <a:rPr lang="vi-VN"/>
              <a:t> (hoặc </a:t>
            </a:r>
            <a:r>
              <a:rPr lang="vi-VN" b="1"/>
              <a:t>tham chiếu</a:t>
            </a:r>
            <a:r>
              <a:rPr lang="vi-VN"/>
              <a:t>) đến </a:t>
            </a:r>
            <a:r>
              <a:rPr lang="vi-VN" b="1"/>
              <a:t>cột </a:t>
            </a:r>
            <a:r>
              <a:rPr lang="vi-VN" sz="1200" b="1" kern="1200">
                <a:solidFill>
                  <a:schemeClr val="tx1"/>
                </a:solidFill>
                <a:latin typeface="+mn-lt"/>
                <a:ea typeface="+mn-ea"/>
                <a:cs typeface="+mn-cs"/>
              </a:rPr>
              <a:t>id</a:t>
            </a:r>
            <a:r>
              <a:rPr lang="vi-VN" b="1"/>
              <a:t> trong bảng </a:t>
            </a:r>
            <a:r>
              <a:rPr lang="vi-VN" sz="1200" b="1" kern="1200">
                <a:solidFill>
                  <a:schemeClr val="tx1"/>
                </a:solidFill>
                <a:latin typeface="+mn-lt"/>
                <a:ea typeface="+mn-ea"/>
                <a:cs typeface="+mn-cs"/>
              </a:rPr>
              <a:t>categories</a:t>
            </a:r>
            <a:r>
              <a:rPr lang="vi-VN"/>
              <a:t>.</a:t>
            </a:r>
          </a:p>
          <a:p>
            <a:br>
              <a:rPr lang="vi-VN"/>
            </a:br>
            <a:endParaRPr lang="vi-VN"/>
          </a:p>
          <a:p>
            <a:r>
              <a:rPr lang="en-US" b="1"/>
              <a:t>🧩 </a:t>
            </a:r>
            <a:r>
              <a:rPr lang="vi-VN" b="1"/>
              <a:t>Giải thích chi tiết:</a:t>
            </a:r>
          </a:p>
          <a:p>
            <a:r>
              <a:rPr lang="vi-VN"/>
              <a:t>Giả sử bạn có </a:t>
            </a:r>
            <a:r>
              <a:rPr lang="vi-VN" b="1"/>
              <a:t>2 bảng</a:t>
            </a:r>
            <a:r>
              <a:rPr lang="vi-VN"/>
              <a:t> trong cơ sở dữ liệu:</a:t>
            </a:r>
          </a:p>
          <a:p>
            <a:r>
              <a:rPr lang="en-US" b="1"/>
              <a:t>🗂️ </a:t>
            </a:r>
            <a:r>
              <a:rPr lang="vi-VN" b="1"/>
              <a:t>Bảng 1: </a:t>
            </a:r>
            <a:r>
              <a:rPr lang="vi-VN" sz="1200" b="1" kern="1200">
                <a:solidFill>
                  <a:schemeClr val="tx1"/>
                </a:solidFill>
                <a:latin typeface="+mn-lt"/>
                <a:ea typeface="+mn-ea"/>
                <a:cs typeface="+mn-cs"/>
              </a:rPr>
              <a:t>categories</a:t>
            </a:r>
            <a:endParaRPr lang="vi-VN" b="1"/>
          </a:p>
          <a:p>
            <a:r>
              <a:rPr lang="vi-VN"/>
              <a:t>Id</a:t>
            </a:r>
            <a:r>
              <a:rPr lang="en-US"/>
              <a:t>	</a:t>
            </a:r>
            <a:r>
              <a:rPr lang="vi-VN"/>
              <a:t>name</a:t>
            </a:r>
            <a:endParaRPr lang="en-US"/>
          </a:p>
          <a:p>
            <a:r>
              <a:rPr lang="vi-VN"/>
              <a:t>1</a:t>
            </a:r>
            <a:r>
              <a:rPr lang="en-US"/>
              <a:t>	</a:t>
            </a:r>
            <a:r>
              <a:rPr lang="vi-VN"/>
              <a:t>Điện thoại</a:t>
            </a:r>
            <a:endParaRPr lang="en-US"/>
          </a:p>
          <a:p>
            <a:r>
              <a:rPr lang="vi-VN"/>
              <a:t>2</a:t>
            </a:r>
            <a:r>
              <a:rPr lang="en-US"/>
              <a:t>	</a:t>
            </a:r>
            <a:r>
              <a:rPr lang="vi-VN"/>
              <a:t>Laptop</a:t>
            </a:r>
            <a:endParaRPr lang="en-US"/>
          </a:p>
          <a:p>
            <a:r>
              <a:rPr lang="vi-VN"/>
              <a:t>3</a:t>
            </a:r>
            <a:r>
              <a:rPr lang="en-US"/>
              <a:t>	</a:t>
            </a:r>
            <a:r>
              <a:rPr lang="vi-VN"/>
              <a:t>Phụ kiện</a:t>
            </a:r>
          </a:p>
          <a:p>
            <a:r>
              <a:rPr lang="en-US" b="1"/>
              <a:t>🧾 </a:t>
            </a:r>
            <a:r>
              <a:rPr lang="vi-VN" b="1"/>
              <a:t>Bảng 2: </a:t>
            </a:r>
            <a:r>
              <a:rPr lang="vi-VN" sz="1200" b="1" kern="1200">
                <a:solidFill>
                  <a:schemeClr val="tx1"/>
                </a:solidFill>
                <a:latin typeface="+mn-lt"/>
                <a:ea typeface="+mn-ea"/>
                <a:cs typeface="+mn-cs"/>
              </a:rPr>
              <a:t>products</a:t>
            </a:r>
            <a:endParaRPr lang="vi-VN" b="1"/>
          </a:p>
          <a:p>
            <a:r>
              <a:rPr lang="vi-VN"/>
              <a:t>Id</a:t>
            </a:r>
            <a:r>
              <a:rPr lang="en-US"/>
              <a:t>	</a:t>
            </a:r>
            <a:r>
              <a:rPr lang="vi-VN"/>
              <a:t>name</a:t>
            </a:r>
            <a:r>
              <a:rPr lang="en-US"/>
              <a:t>		</a:t>
            </a:r>
            <a:r>
              <a:rPr lang="vi-VN"/>
              <a:t>price</a:t>
            </a:r>
            <a:r>
              <a:rPr lang="en-US"/>
              <a:t>	</a:t>
            </a:r>
            <a:r>
              <a:rPr lang="vi-VN"/>
              <a:t>category_id</a:t>
            </a:r>
            <a:endParaRPr lang="en-US"/>
          </a:p>
          <a:p>
            <a:r>
              <a:rPr lang="vi-VN"/>
              <a:t>1</a:t>
            </a:r>
            <a:r>
              <a:rPr lang="en-US"/>
              <a:t>	</a:t>
            </a:r>
            <a:r>
              <a:rPr lang="vi-VN"/>
              <a:t>iPhone </a:t>
            </a:r>
            <a:r>
              <a:rPr lang="en-US"/>
              <a:t>		</a:t>
            </a:r>
            <a:r>
              <a:rPr lang="vi-VN"/>
              <a:t>1525000000</a:t>
            </a:r>
            <a:r>
              <a:rPr lang="en-US"/>
              <a:t>	</a:t>
            </a:r>
            <a:r>
              <a:rPr lang="vi-VN"/>
              <a:t>1</a:t>
            </a:r>
            <a:endParaRPr lang="en-US"/>
          </a:p>
          <a:p>
            <a:r>
              <a:rPr lang="vi-VN"/>
              <a:t>2</a:t>
            </a:r>
            <a:r>
              <a:rPr lang="en-US"/>
              <a:t>	</a:t>
            </a:r>
            <a:r>
              <a:rPr lang="vi-VN"/>
              <a:t>MacBook Air</a:t>
            </a:r>
            <a:r>
              <a:rPr lang="en-US"/>
              <a:t>		</a:t>
            </a:r>
            <a:r>
              <a:rPr lang="vi-VN"/>
              <a:t>32000000</a:t>
            </a:r>
            <a:r>
              <a:rPr lang="en-US"/>
              <a:t>	</a:t>
            </a:r>
            <a:r>
              <a:rPr lang="vi-VN"/>
              <a:t>2</a:t>
            </a:r>
            <a:endParaRPr lang="en-US"/>
          </a:p>
          <a:p>
            <a:r>
              <a:rPr lang="vi-VN"/>
              <a:t>3</a:t>
            </a:r>
            <a:r>
              <a:rPr lang="en-US"/>
              <a:t>	</a:t>
            </a:r>
            <a:r>
              <a:rPr lang="vi-VN"/>
              <a:t>Tai nghe Bluetooth</a:t>
            </a:r>
            <a:r>
              <a:rPr lang="en-US"/>
              <a:t>	</a:t>
            </a:r>
            <a:r>
              <a:rPr lang="vi-VN"/>
              <a:t>800000</a:t>
            </a:r>
            <a:r>
              <a:rPr lang="en-US"/>
              <a:t>	</a:t>
            </a:r>
            <a:r>
              <a:rPr lang="vi-VN"/>
              <a:t>3</a:t>
            </a:r>
          </a:p>
          <a:p>
            <a:br>
              <a:rPr lang="vi-VN"/>
            </a:br>
            <a:endParaRPr lang="vi-VN"/>
          </a:p>
          <a:p>
            <a:r>
              <a:rPr lang="en-US" b="1"/>
              <a:t>🧠 </a:t>
            </a:r>
            <a:r>
              <a:rPr lang="vi-VN" b="1"/>
              <a:t>Ý nghĩa của “khóa ngoại” (</a:t>
            </a:r>
            <a:r>
              <a:rPr lang="vi-VN" sz="1200" b="1" kern="1200">
                <a:solidFill>
                  <a:schemeClr val="tx1"/>
                </a:solidFill>
                <a:latin typeface="+mn-lt"/>
                <a:ea typeface="+mn-ea"/>
                <a:cs typeface="+mn-cs"/>
              </a:rPr>
              <a:t>foreign key</a:t>
            </a:r>
            <a:r>
              <a:rPr lang="vi-VN" b="1"/>
              <a:t>):</a:t>
            </a:r>
          </a:p>
          <a:p>
            <a:r>
              <a:rPr lang="vi-VN"/>
              <a:t>Trong bảng </a:t>
            </a:r>
            <a:r>
              <a:rPr lang="vi-VN" sz="1200" kern="1200">
                <a:solidFill>
                  <a:schemeClr val="tx1"/>
                </a:solidFill>
                <a:latin typeface="+mn-lt"/>
                <a:ea typeface="+mn-ea"/>
                <a:cs typeface="+mn-cs"/>
              </a:rPr>
              <a:t>products</a:t>
            </a:r>
            <a:r>
              <a:rPr lang="vi-VN"/>
              <a:t>, cột </a:t>
            </a:r>
            <a:r>
              <a:rPr lang="vi-VN" sz="1200" b="1" kern="1200">
                <a:solidFill>
                  <a:schemeClr val="tx1"/>
                </a:solidFill>
                <a:latin typeface="+mn-lt"/>
                <a:ea typeface="+mn-ea"/>
                <a:cs typeface="+mn-cs"/>
              </a:rPr>
              <a:t>category_id</a:t>
            </a:r>
            <a:r>
              <a:rPr lang="vi-VN"/>
              <a:t> lưu giá trị </a:t>
            </a:r>
            <a:r>
              <a:rPr lang="vi-VN" sz="1200" b="1" kern="1200">
                <a:solidFill>
                  <a:schemeClr val="tx1"/>
                </a:solidFill>
                <a:latin typeface="+mn-lt"/>
                <a:ea typeface="+mn-ea"/>
                <a:cs typeface="+mn-cs"/>
              </a:rPr>
              <a:t>id</a:t>
            </a:r>
            <a:r>
              <a:rPr lang="vi-VN"/>
              <a:t> từ bảng </a:t>
            </a:r>
            <a:r>
              <a:rPr lang="vi-VN" sz="1200" b="1" kern="1200">
                <a:solidFill>
                  <a:schemeClr val="tx1"/>
                </a:solidFill>
                <a:latin typeface="+mn-lt"/>
                <a:ea typeface="+mn-ea"/>
                <a:cs typeface="+mn-cs"/>
              </a:rPr>
              <a:t>categories</a:t>
            </a:r>
            <a:r>
              <a:rPr lang="vi-VN"/>
              <a:t>.</a:t>
            </a:r>
          </a:p>
          <a:p>
            <a:r>
              <a:rPr lang="vi-VN"/>
              <a:t>Nhờ đó, </a:t>
            </a:r>
            <a:r>
              <a:rPr lang="vi-VN" b="1"/>
              <a:t>mỗi sản phẩm biết nó thuộc danh mục nào</a:t>
            </a:r>
            <a:r>
              <a:rPr lang="vi-VN"/>
              <a:t>.</a:t>
            </a:r>
          </a:p>
          <a:p>
            <a:r>
              <a:rPr lang="vi-VN"/>
              <a:t>➡️ Ví dụ:</a:t>
            </a:r>
            <a:br>
              <a:rPr lang="vi-VN"/>
            </a:br>
            <a:r>
              <a:rPr lang="vi-VN" sz="1200" kern="1200">
                <a:solidFill>
                  <a:schemeClr val="tx1"/>
                </a:solidFill>
                <a:latin typeface="+mn-lt"/>
                <a:ea typeface="+mn-ea"/>
                <a:cs typeface="+mn-cs"/>
              </a:rPr>
              <a:t>iPhone 15</a:t>
            </a:r>
            <a:r>
              <a:rPr lang="vi-VN"/>
              <a:t> có </a:t>
            </a:r>
            <a:r>
              <a:rPr lang="vi-VN" sz="1200" kern="1200">
                <a:solidFill>
                  <a:schemeClr val="tx1"/>
                </a:solidFill>
                <a:latin typeface="+mn-lt"/>
                <a:ea typeface="+mn-ea"/>
                <a:cs typeface="+mn-cs"/>
              </a:rPr>
              <a:t>category_id = 1</a:t>
            </a:r>
            <a:r>
              <a:rPr lang="vi-VN"/>
              <a:t> → tra trong </a:t>
            </a:r>
            <a:r>
              <a:rPr lang="vi-VN" sz="1200" kern="1200">
                <a:solidFill>
                  <a:schemeClr val="tx1"/>
                </a:solidFill>
                <a:latin typeface="+mn-lt"/>
                <a:ea typeface="+mn-ea"/>
                <a:cs typeface="+mn-cs"/>
              </a:rPr>
              <a:t>categories</a:t>
            </a:r>
            <a:r>
              <a:rPr lang="vi-VN"/>
              <a:t> thì </a:t>
            </a:r>
            <a:r>
              <a:rPr lang="vi-VN" sz="1200" kern="1200">
                <a:solidFill>
                  <a:schemeClr val="tx1"/>
                </a:solidFill>
                <a:latin typeface="+mn-lt"/>
                <a:ea typeface="+mn-ea"/>
                <a:cs typeface="+mn-cs"/>
              </a:rPr>
              <a:t>id = 1</a:t>
            </a:r>
            <a:r>
              <a:rPr lang="vi-VN"/>
              <a:t> là </a:t>
            </a:r>
            <a:r>
              <a:rPr lang="vi-VN" b="1"/>
              <a:t>Điện thoại</a:t>
            </a:r>
            <a:r>
              <a:rPr lang="vi-VN"/>
              <a:t> → nghĩa là sản phẩm này thuộc danh mục </a:t>
            </a:r>
            <a:r>
              <a:rPr lang="vi-VN" b="1"/>
              <a:t>Điện thoại</a:t>
            </a:r>
            <a:r>
              <a:rPr lang="vi-VN"/>
              <a:t>.</a:t>
            </a:r>
          </a:p>
          <a:p>
            <a:br>
              <a:rPr lang="vi-VN"/>
            </a:br>
            <a:endParaRPr lang="vi-VN"/>
          </a:p>
          <a:p>
            <a:r>
              <a:rPr lang="en-US" b="1"/>
              <a:t>🔗 </a:t>
            </a:r>
            <a:r>
              <a:rPr lang="vi-VN" b="1"/>
              <a:t>Cách định nghĩa trong SQL:</a:t>
            </a:r>
          </a:p>
          <a:p>
            <a:pPr rtl="0"/>
            <a:r>
              <a:rPr lang="vi-VN" sz="1200" kern="1200">
                <a:solidFill>
                  <a:schemeClr val="tx1"/>
                </a:solidFill>
                <a:latin typeface="+mn-lt"/>
                <a:ea typeface="+mn-ea"/>
                <a:cs typeface="+mn-cs"/>
              </a:rPr>
              <a:t>CREATE TABLE products (</a:t>
            </a:r>
          </a:p>
          <a:p>
            <a:pPr rtl="0"/>
            <a:r>
              <a:rPr lang="vi-VN" sz="1200" kern="1200">
                <a:solidFill>
                  <a:schemeClr val="tx1"/>
                </a:solidFill>
                <a:latin typeface="+mn-lt"/>
                <a:ea typeface="+mn-ea"/>
                <a:cs typeface="+mn-cs"/>
              </a:rPr>
              <a:t>  id INTEGER PRIMARY KEY AUTOINCREMENT,</a:t>
            </a:r>
          </a:p>
          <a:p>
            <a:pPr rtl="0"/>
            <a:r>
              <a:rPr lang="vi-VN" sz="1200" kern="1200">
                <a:solidFill>
                  <a:schemeClr val="tx1"/>
                </a:solidFill>
                <a:latin typeface="+mn-lt"/>
                <a:ea typeface="+mn-ea"/>
                <a:cs typeface="+mn-cs"/>
              </a:rPr>
              <a:t>  name TEXT,</a:t>
            </a:r>
          </a:p>
          <a:p>
            <a:pPr rtl="0"/>
            <a:r>
              <a:rPr lang="vi-VN" sz="1200" kern="1200">
                <a:solidFill>
                  <a:schemeClr val="tx1"/>
                </a:solidFill>
                <a:latin typeface="+mn-lt"/>
                <a:ea typeface="+mn-ea"/>
                <a:cs typeface="+mn-cs"/>
              </a:rPr>
              <a:t>  price REAL,</a:t>
            </a:r>
          </a:p>
          <a:p>
            <a:pPr rtl="0"/>
            <a:r>
              <a:rPr lang="vi-VN" sz="1200" kern="1200">
                <a:solidFill>
                  <a:schemeClr val="tx1"/>
                </a:solidFill>
                <a:latin typeface="+mn-lt"/>
                <a:ea typeface="+mn-ea"/>
                <a:cs typeface="+mn-cs"/>
              </a:rPr>
              <a:t>  category_id INTEGER,</a:t>
            </a:r>
          </a:p>
          <a:p>
            <a:pPr rtl="0"/>
            <a:r>
              <a:rPr lang="vi-VN" sz="1200" kern="1200">
                <a:solidFill>
                  <a:schemeClr val="tx1"/>
                </a:solidFill>
                <a:latin typeface="+mn-lt"/>
                <a:ea typeface="+mn-ea"/>
                <a:cs typeface="+mn-cs"/>
              </a:rPr>
              <a:t>  FOREIGN KEY (category_id) REFERENCES categories(id)</a:t>
            </a:r>
          </a:p>
          <a:p>
            <a:pPr rtl="0"/>
            <a:r>
              <a:rPr lang="vi-VN" sz="1200" kern="1200">
                <a:solidFill>
                  <a:schemeClr val="tx1"/>
                </a:solidFill>
                <a:latin typeface="+mn-lt"/>
                <a:ea typeface="+mn-ea"/>
                <a:cs typeface="+mn-cs"/>
              </a:rPr>
              <a:t>);</a:t>
            </a:r>
          </a:p>
          <a:p>
            <a:r>
              <a:rPr lang="en-US"/>
              <a:t>👉 </a:t>
            </a:r>
            <a:r>
              <a:rPr lang="vi-VN" sz="1200" kern="1200">
                <a:solidFill>
                  <a:schemeClr val="tx1"/>
                </a:solidFill>
                <a:latin typeface="+mn-lt"/>
                <a:ea typeface="+mn-ea"/>
                <a:cs typeface="+mn-cs"/>
              </a:rPr>
              <a:t>FOREIGN KEY (category_id) REFERENCES categories(id)</a:t>
            </a:r>
            <a:br>
              <a:rPr lang="vi-VN"/>
            </a:br>
            <a:r>
              <a:rPr lang="vi-VN"/>
              <a:t>nghĩa là:</a:t>
            </a:r>
          </a:p>
          <a:p>
            <a:r>
              <a:rPr lang="vi-VN" sz="1200" kern="1200">
                <a:solidFill>
                  <a:schemeClr val="tx1"/>
                </a:solidFill>
                <a:latin typeface="+mn-lt"/>
                <a:ea typeface="+mn-ea"/>
                <a:cs typeface="+mn-cs"/>
              </a:rPr>
              <a:t>category_id</a:t>
            </a:r>
            <a:r>
              <a:rPr lang="vi-VN"/>
              <a:t> </a:t>
            </a:r>
            <a:r>
              <a:rPr lang="vi-VN" b="1"/>
              <a:t>phải trùng với</a:t>
            </a:r>
            <a:r>
              <a:rPr lang="vi-VN"/>
              <a:t> một </a:t>
            </a:r>
            <a:r>
              <a:rPr lang="vi-VN" sz="1200" kern="1200">
                <a:solidFill>
                  <a:schemeClr val="tx1"/>
                </a:solidFill>
                <a:latin typeface="+mn-lt"/>
                <a:ea typeface="+mn-ea"/>
                <a:cs typeface="+mn-cs"/>
              </a:rPr>
              <a:t>id</a:t>
            </a:r>
            <a:r>
              <a:rPr lang="vi-VN"/>
              <a:t> có tồn tại trong bảng </a:t>
            </a:r>
            <a:r>
              <a:rPr lang="vi-VN" sz="1200" kern="1200">
                <a:solidFill>
                  <a:schemeClr val="tx1"/>
                </a:solidFill>
                <a:latin typeface="+mn-lt"/>
                <a:ea typeface="+mn-ea"/>
                <a:cs typeface="+mn-cs"/>
              </a:rPr>
              <a:t>categories</a:t>
            </a:r>
            <a:r>
              <a:rPr lang="vi-VN"/>
              <a:t>.</a:t>
            </a:r>
          </a:p>
          <a:p>
            <a:r>
              <a:rPr lang="vi-VN"/>
              <a:t>Nếu bạn cố thêm sản phẩm có </a:t>
            </a:r>
            <a:r>
              <a:rPr lang="vi-VN" sz="1200" kern="1200">
                <a:solidFill>
                  <a:schemeClr val="tx1"/>
                </a:solidFill>
                <a:latin typeface="+mn-lt"/>
                <a:ea typeface="+mn-ea"/>
                <a:cs typeface="+mn-cs"/>
              </a:rPr>
              <a:t>category_id = 99</a:t>
            </a:r>
            <a:r>
              <a:rPr lang="vi-VN"/>
              <a:t> (mà bảng </a:t>
            </a:r>
            <a:r>
              <a:rPr lang="vi-VN" sz="1200" kern="1200">
                <a:solidFill>
                  <a:schemeClr val="tx1"/>
                </a:solidFill>
                <a:latin typeface="+mn-lt"/>
                <a:ea typeface="+mn-ea"/>
                <a:cs typeface="+mn-cs"/>
              </a:rPr>
              <a:t>categories</a:t>
            </a:r>
            <a:r>
              <a:rPr lang="vi-VN"/>
              <a:t> không có </a:t>
            </a:r>
            <a:r>
              <a:rPr lang="vi-VN" sz="1200" kern="1200">
                <a:solidFill>
                  <a:schemeClr val="tx1"/>
                </a:solidFill>
                <a:latin typeface="+mn-lt"/>
                <a:ea typeface="+mn-ea"/>
                <a:cs typeface="+mn-cs"/>
              </a:rPr>
              <a:t>id = 99</a:t>
            </a:r>
            <a:r>
              <a:rPr lang="vi-VN"/>
              <a:t>), thì cơ sở dữ liệu sẽ </a:t>
            </a:r>
            <a:r>
              <a:rPr lang="vi-VN" b="1"/>
              <a:t>báo lỗi</a:t>
            </a:r>
            <a:r>
              <a:rPr lang="vi-VN"/>
              <a:t>.</a:t>
            </a:r>
          </a:p>
          <a:p>
            <a:br>
              <a:rPr lang="vi-VN"/>
            </a:br>
            <a:endParaRPr lang="vi-VN"/>
          </a:p>
          <a:p>
            <a:r>
              <a:rPr lang="en-US" b="1"/>
              <a:t>🎯 </a:t>
            </a:r>
            <a:r>
              <a:rPr lang="vi-VN" b="1"/>
              <a:t>Tóm tắt dễ hiểu:</a:t>
            </a:r>
          </a:p>
          <a:p>
            <a:r>
              <a:rPr lang="vi-VN"/>
              <a:t>Thuật ngữ</a:t>
            </a:r>
            <a:r>
              <a:rPr lang="en-US"/>
              <a:t>			</a:t>
            </a:r>
            <a:r>
              <a:rPr lang="vi-VN"/>
              <a:t>Nghĩa</a:t>
            </a:r>
            <a:endParaRPr lang="en-US"/>
          </a:p>
          <a:p>
            <a:r>
              <a:rPr lang="vi-VN" b="1"/>
              <a:t>Khóa chính (Primary Key)</a:t>
            </a:r>
            <a:r>
              <a:rPr lang="en-US" b="1"/>
              <a:t>	</a:t>
            </a:r>
            <a:r>
              <a:rPr lang="vi-VN"/>
              <a:t>Xác định duy nhất từng hàng trong bảng (vd: </a:t>
            </a:r>
            <a:r>
              <a:rPr lang="vi-VN" sz="1200" kern="1200">
                <a:solidFill>
                  <a:schemeClr val="tx1"/>
                </a:solidFill>
                <a:latin typeface="+mn-lt"/>
                <a:ea typeface="+mn-ea"/>
                <a:cs typeface="+mn-cs"/>
              </a:rPr>
              <a:t>id</a:t>
            </a:r>
            <a:r>
              <a:rPr lang="vi-VN"/>
              <a:t> trong </a:t>
            </a:r>
            <a:r>
              <a:rPr lang="vi-VN" sz="1200" kern="1200">
                <a:solidFill>
                  <a:schemeClr val="tx1"/>
                </a:solidFill>
                <a:latin typeface="+mn-lt"/>
                <a:ea typeface="+mn-ea"/>
                <a:cs typeface="+mn-cs"/>
              </a:rPr>
              <a:t>categories</a:t>
            </a:r>
            <a:r>
              <a:rPr lang="vi-VN"/>
              <a:t>)</a:t>
            </a:r>
            <a:endParaRPr lang="en-US"/>
          </a:p>
          <a:p>
            <a:r>
              <a:rPr lang="vi-VN" b="1"/>
              <a:t>Khóa ngoại (Foreign Key)</a:t>
            </a:r>
            <a:r>
              <a:rPr lang="en-US" b="1"/>
              <a:t>	</a:t>
            </a:r>
            <a:r>
              <a:rPr lang="vi-VN"/>
              <a:t>Dùng để liên kết bảng này với bảng khác (vd: </a:t>
            </a:r>
            <a:r>
              <a:rPr lang="vi-VN" sz="1200" kern="1200">
                <a:solidFill>
                  <a:schemeClr val="tx1"/>
                </a:solidFill>
                <a:latin typeface="+mn-lt"/>
                <a:ea typeface="+mn-ea"/>
                <a:cs typeface="+mn-cs"/>
              </a:rPr>
              <a:t>category_id</a:t>
            </a:r>
            <a:r>
              <a:rPr lang="vi-VN"/>
              <a:t> trong </a:t>
            </a:r>
            <a:r>
              <a:rPr lang="vi-VN" sz="1200" kern="1200">
                <a:solidFill>
                  <a:schemeClr val="tx1"/>
                </a:solidFill>
                <a:latin typeface="+mn-lt"/>
                <a:ea typeface="+mn-ea"/>
                <a:cs typeface="+mn-cs"/>
              </a:rPr>
              <a:t>products</a:t>
            </a:r>
            <a:r>
              <a:rPr lang="vi-VN"/>
              <a:t>)</a:t>
            </a:r>
            <a:endParaRPr lang="en-US"/>
          </a:p>
          <a:p>
            <a:r>
              <a:rPr lang="vi-VN" b="1"/>
              <a:t>Tham chiếu (References)</a:t>
            </a:r>
            <a:r>
              <a:rPr lang="en-US" b="1"/>
              <a:t>	</a:t>
            </a:r>
            <a:r>
              <a:rPr lang="vi-VN"/>
              <a:t>Cho biết khóa ngoại này nối với cột nào, của bảng nào</a:t>
            </a:r>
          </a:p>
          <a:p>
            <a:endParaRPr lang="vi-VN"/>
          </a:p>
          <a:p>
            <a:r>
              <a:rPr lang="en-US"/>
              <a:t>---------------------------------------------------------------------------------------------------</a:t>
            </a:r>
          </a:p>
          <a:p>
            <a:r>
              <a:rPr lang="en-US" b="1"/>
              <a:t>CATEGORY — lấy tất cả categories</a:t>
            </a:r>
          </a:p>
          <a:p>
            <a:pPr rtl="0"/>
            <a:r>
              <a:rPr lang="en-US" sz="1200" kern="1200">
                <a:solidFill>
                  <a:schemeClr val="tx1"/>
                </a:solidFill>
                <a:latin typeface="+mn-lt"/>
                <a:ea typeface="+mn-ea"/>
                <a:cs typeface="+mn-cs"/>
              </a:rPr>
              <a:t>  static Future&lt;List&lt;Category&gt;&gt; getAllCategories() async {</a:t>
            </a:r>
          </a:p>
          <a:p>
            <a:pPr rtl="0"/>
            <a:r>
              <a:rPr lang="en-US" sz="1200" kern="1200">
                <a:solidFill>
                  <a:schemeClr val="tx1"/>
                </a:solidFill>
                <a:latin typeface="+mn-lt"/>
                <a:ea typeface="+mn-ea"/>
                <a:cs typeface="+mn-cs"/>
              </a:rPr>
              <a:t>    final db = await initDb();</a:t>
            </a:r>
          </a:p>
          <a:p>
            <a:pPr rtl="0"/>
            <a:r>
              <a:rPr lang="en-US" sz="1200" kern="1200">
                <a:solidFill>
                  <a:schemeClr val="tx1"/>
                </a:solidFill>
                <a:latin typeface="+mn-lt"/>
                <a:ea typeface="+mn-ea"/>
                <a:cs typeface="+mn-cs"/>
              </a:rPr>
              <a:t>    final data = await db.query('categories');</a:t>
            </a:r>
          </a:p>
          <a:p>
            <a:pPr rtl="0"/>
            <a:r>
              <a:rPr lang="en-US" sz="1200" kern="1200">
                <a:solidFill>
                  <a:schemeClr val="tx1"/>
                </a:solidFill>
                <a:latin typeface="+mn-lt"/>
                <a:ea typeface="+mn-ea"/>
                <a:cs typeface="+mn-cs"/>
              </a:rPr>
              <a:t>    return data.map((e) =&gt; Category.fromMap(e)).toList();</a:t>
            </a:r>
          </a:p>
          <a:p>
            <a:pPr rtl="0"/>
            <a:r>
              <a:rPr lang="en-US" sz="1200" kern="1200">
                <a:solidFill>
                  <a:schemeClr val="tx1"/>
                </a:solidFill>
                <a:latin typeface="+mn-lt"/>
                <a:ea typeface="+mn-ea"/>
                <a:cs typeface="+mn-cs"/>
              </a:rPr>
              <a:t>  }</a:t>
            </a:r>
          </a:p>
          <a:p>
            <a:r>
              <a:rPr lang="en-US"/>
              <a:t>Gọi </a:t>
            </a:r>
            <a:r>
              <a:rPr lang="en-US" sz="1200" kern="1200">
                <a:solidFill>
                  <a:schemeClr val="tx1"/>
                </a:solidFill>
                <a:latin typeface="+mn-lt"/>
                <a:ea typeface="+mn-ea"/>
                <a:cs typeface="+mn-cs"/>
              </a:rPr>
              <a:t>initDb()</a:t>
            </a:r>
            <a:r>
              <a:rPr lang="en-US"/>
              <a:t> (nếu đã init thì trả instance ngay).</a:t>
            </a:r>
          </a:p>
          <a:p>
            <a:r>
              <a:rPr lang="en-US" sz="1200" kern="1200">
                <a:solidFill>
                  <a:schemeClr val="tx1"/>
                </a:solidFill>
                <a:latin typeface="+mn-lt"/>
                <a:ea typeface="+mn-ea"/>
                <a:cs typeface="+mn-cs"/>
              </a:rPr>
              <a:t>db.query('categories')</a:t>
            </a:r>
            <a:r>
              <a:rPr lang="en-US"/>
              <a:t> lấy tất cả rows.</a:t>
            </a:r>
          </a:p>
          <a:p>
            <a:r>
              <a:rPr lang="en-US"/>
              <a:t>Chuyển từng Map thành </a:t>
            </a:r>
            <a:r>
              <a:rPr lang="en-US" sz="1200" kern="1200">
                <a:solidFill>
                  <a:schemeClr val="tx1"/>
                </a:solidFill>
                <a:latin typeface="+mn-lt"/>
                <a:ea typeface="+mn-ea"/>
                <a:cs typeface="+mn-cs"/>
              </a:rPr>
              <a:t>Category</a:t>
            </a:r>
            <a:r>
              <a:rPr lang="en-US"/>
              <a:t> bằng </a:t>
            </a:r>
            <a:r>
              <a:rPr lang="en-US" sz="1200" kern="1200">
                <a:solidFill>
                  <a:schemeClr val="tx1"/>
                </a:solidFill>
                <a:latin typeface="+mn-lt"/>
                <a:ea typeface="+mn-ea"/>
                <a:cs typeface="+mn-cs"/>
              </a:rPr>
              <a:t>Category.fromMap</a:t>
            </a:r>
            <a:r>
              <a:rPr lang="en-US"/>
              <a:t>.</a:t>
            </a:r>
          </a:p>
          <a:p>
            <a:r>
              <a:rPr lang="vi-VN" b="1"/>
              <a:t>Câu lệnh này:</a:t>
            </a:r>
          </a:p>
          <a:p>
            <a:pPr rtl="0"/>
            <a:r>
              <a:rPr lang="vi-VN" sz="1200" kern="1200">
                <a:solidFill>
                  <a:schemeClr val="tx1"/>
                </a:solidFill>
                <a:latin typeface="+mn-lt"/>
                <a:ea typeface="+mn-ea"/>
                <a:cs typeface="+mn-cs"/>
              </a:rPr>
              <a:t>return data.map((e) =&gt; Category.fromMap(e)).toList();</a:t>
            </a:r>
          </a:p>
          <a:p>
            <a:r>
              <a:rPr lang="en-US"/>
              <a:t>👉 </a:t>
            </a:r>
            <a:r>
              <a:rPr lang="vi-VN"/>
              <a:t>là một </a:t>
            </a:r>
            <a:r>
              <a:rPr lang="vi-VN" b="1"/>
              <a:t>câu lệnh trong Dart</a:t>
            </a:r>
            <a:r>
              <a:rPr lang="vi-VN"/>
              <a:t> dùng để </a:t>
            </a:r>
            <a:r>
              <a:rPr lang="vi-VN" b="1"/>
              <a:t>chuyển danh sách dữ liệu thô (map)</a:t>
            </a:r>
            <a:r>
              <a:rPr lang="vi-VN"/>
              <a:t> từ database thành </a:t>
            </a:r>
            <a:r>
              <a:rPr lang="vi-VN" b="1"/>
              <a:t>danh sách các đối tượng (object)</a:t>
            </a:r>
            <a:r>
              <a:rPr lang="vi-VN"/>
              <a:t> kiểu </a:t>
            </a:r>
            <a:r>
              <a:rPr lang="vi-VN" sz="1200" kern="1200">
                <a:solidFill>
                  <a:schemeClr val="tx1"/>
                </a:solidFill>
                <a:latin typeface="+mn-lt"/>
                <a:ea typeface="+mn-ea"/>
                <a:cs typeface="+mn-cs"/>
              </a:rPr>
              <a:t>Category</a:t>
            </a:r>
            <a:r>
              <a:rPr lang="vi-VN"/>
              <a:t>.</a:t>
            </a:r>
          </a:p>
          <a:p>
            <a:br>
              <a:rPr lang="vi-VN"/>
            </a:br>
            <a:endParaRPr lang="vi-VN"/>
          </a:p>
          <a:p>
            <a:r>
              <a:rPr lang="en-US" b="1"/>
              <a:t>🧩 </a:t>
            </a:r>
            <a:r>
              <a:rPr lang="vi-VN" b="1"/>
              <a:t>Giải thích từng phần:</a:t>
            </a:r>
          </a:p>
          <a:p>
            <a:r>
              <a:rPr lang="vi-VN"/>
              <a:t>Giả sử bạn vừa </a:t>
            </a:r>
            <a:r>
              <a:rPr lang="vi-VN" b="1"/>
              <a:t>truy vấn dữ liệu từ SQLite</a:t>
            </a:r>
            <a:r>
              <a:rPr lang="vi-VN"/>
              <a:t>, kết quả thường là:</a:t>
            </a:r>
          </a:p>
          <a:p>
            <a:pPr rtl="0"/>
            <a:r>
              <a:rPr lang="vi-VN" sz="1200" kern="1200">
                <a:solidFill>
                  <a:schemeClr val="tx1"/>
                </a:solidFill>
                <a:latin typeface="+mn-lt"/>
                <a:ea typeface="+mn-ea"/>
                <a:cs typeface="+mn-cs"/>
              </a:rPr>
              <a:t>final data = [</a:t>
            </a:r>
          </a:p>
          <a:p>
            <a:pPr rtl="0"/>
            <a:r>
              <a:rPr lang="vi-VN" sz="1200" kern="1200">
                <a:solidFill>
                  <a:schemeClr val="tx1"/>
                </a:solidFill>
                <a:latin typeface="+mn-lt"/>
                <a:ea typeface="+mn-ea"/>
                <a:cs typeface="+mn-cs"/>
              </a:rPr>
              <a:t>  {'id': 1, 'name': 'Điện thoại'},</a:t>
            </a:r>
          </a:p>
          <a:p>
            <a:pPr rtl="0"/>
            <a:r>
              <a:rPr lang="vi-VN" sz="1200" kern="1200">
                <a:solidFill>
                  <a:schemeClr val="tx1"/>
                </a:solidFill>
                <a:latin typeface="+mn-lt"/>
                <a:ea typeface="+mn-ea"/>
                <a:cs typeface="+mn-cs"/>
              </a:rPr>
              <a:t>  {'id': 2, 'name': 'Laptop'},</a:t>
            </a:r>
          </a:p>
          <a:p>
            <a:pPr rtl="0"/>
            <a:r>
              <a:rPr lang="vi-VN" sz="1200" kern="1200">
                <a:solidFill>
                  <a:schemeClr val="tx1"/>
                </a:solidFill>
                <a:latin typeface="+mn-lt"/>
                <a:ea typeface="+mn-ea"/>
                <a:cs typeface="+mn-cs"/>
              </a:rPr>
              <a:t>  {'id': 3, 'name': 'Phụ kiện'},</a:t>
            </a:r>
          </a:p>
          <a:p>
            <a:pPr rtl="0"/>
            <a:r>
              <a:rPr lang="vi-VN" sz="1200" kern="1200">
                <a:solidFill>
                  <a:schemeClr val="tx1"/>
                </a:solidFill>
                <a:latin typeface="+mn-lt"/>
                <a:ea typeface="+mn-ea"/>
                <a:cs typeface="+mn-cs"/>
              </a:rPr>
              <a:t>];</a:t>
            </a:r>
          </a:p>
          <a:p>
            <a:r>
              <a:rPr lang="vi-VN"/>
              <a:t>Đây là </a:t>
            </a:r>
            <a:r>
              <a:rPr lang="vi-VN" b="1"/>
              <a:t>List&lt;Map&lt;String, dynamic&gt;&gt;</a:t>
            </a:r>
            <a:r>
              <a:rPr lang="vi-VN"/>
              <a:t>, tức là </a:t>
            </a:r>
            <a:r>
              <a:rPr lang="vi-VN" b="1"/>
              <a:t>một danh sách các bản ghi</a:t>
            </a:r>
            <a:r>
              <a:rPr lang="vi-VN"/>
              <a:t>, mỗi bản ghi là một </a:t>
            </a:r>
            <a:r>
              <a:rPr lang="vi-VN" b="1"/>
              <a:t>Map</a:t>
            </a:r>
            <a:r>
              <a:rPr lang="vi-VN"/>
              <a:t>.</a:t>
            </a:r>
          </a:p>
          <a:p>
            <a:br>
              <a:rPr lang="vi-VN"/>
            </a:br>
            <a:endParaRPr lang="vi-VN"/>
          </a:p>
          <a:p>
            <a:r>
              <a:rPr lang="en-US" b="1"/>
              <a:t>🔍 </a:t>
            </a:r>
            <a:r>
              <a:rPr lang="vi-VN" b="1"/>
              <a:t>Bước 1: </a:t>
            </a:r>
            <a:r>
              <a:rPr lang="vi-VN" sz="1200" b="1" kern="1200">
                <a:solidFill>
                  <a:schemeClr val="tx1"/>
                </a:solidFill>
                <a:latin typeface="+mn-lt"/>
                <a:ea typeface="+mn-ea"/>
                <a:cs typeface="+mn-cs"/>
              </a:rPr>
              <a:t>data.map((e) =&gt; Category.fromMap(e))</a:t>
            </a:r>
            <a:endParaRPr lang="vi-VN" b="1"/>
          </a:p>
          <a:p>
            <a:r>
              <a:rPr lang="vi-VN" sz="1200" kern="1200">
                <a:solidFill>
                  <a:schemeClr val="tx1"/>
                </a:solidFill>
                <a:latin typeface="+mn-lt"/>
                <a:ea typeface="+mn-ea"/>
                <a:cs typeface="+mn-cs"/>
              </a:rPr>
              <a:t>.map()</a:t>
            </a:r>
            <a:r>
              <a:rPr lang="vi-VN"/>
              <a:t> là </a:t>
            </a:r>
            <a:r>
              <a:rPr lang="vi-VN" b="1"/>
              <a:t>hàm ánh xạ</a:t>
            </a:r>
            <a:r>
              <a:rPr lang="vi-VN"/>
              <a:t> (mapping function) — nó </a:t>
            </a:r>
            <a:r>
              <a:rPr lang="vi-VN" b="1"/>
              <a:t>duyệt qua từng phần tử </a:t>
            </a:r>
            <a:r>
              <a:rPr lang="vi-VN" sz="1200" b="1" kern="1200">
                <a:solidFill>
                  <a:schemeClr val="tx1"/>
                </a:solidFill>
                <a:latin typeface="+mn-lt"/>
                <a:ea typeface="+mn-ea"/>
                <a:cs typeface="+mn-cs"/>
              </a:rPr>
              <a:t>e</a:t>
            </a:r>
            <a:r>
              <a:rPr lang="vi-VN" b="1"/>
              <a:t> trong </a:t>
            </a:r>
            <a:r>
              <a:rPr lang="vi-VN" sz="1200" b="1" kern="1200">
                <a:solidFill>
                  <a:schemeClr val="tx1"/>
                </a:solidFill>
                <a:latin typeface="+mn-lt"/>
                <a:ea typeface="+mn-ea"/>
                <a:cs typeface="+mn-cs"/>
              </a:rPr>
              <a:t>data</a:t>
            </a:r>
            <a:r>
              <a:rPr lang="vi-VN"/>
              <a:t>.</a:t>
            </a:r>
          </a:p>
          <a:p>
            <a:r>
              <a:rPr lang="vi-VN"/>
              <a:t>Với mỗi </a:t>
            </a:r>
            <a:r>
              <a:rPr lang="vi-VN" sz="1200" kern="1200">
                <a:solidFill>
                  <a:schemeClr val="tx1"/>
                </a:solidFill>
                <a:latin typeface="+mn-lt"/>
                <a:ea typeface="+mn-ea"/>
                <a:cs typeface="+mn-cs"/>
              </a:rPr>
              <a:t>e</a:t>
            </a:r>
            <a:r>
              <a:rPr lang="vi-VN"/>
              <a:t> (ví dụ </a:t>
            </a:r>
            <a:r>
              <a:rPr lang="vi-VN" sz="1200" kern="1200">
                <a:solidFill>
                  <a:schemeClr val="tx1"/>
                </a:solidFill>
                <a:latin typeface="+mn-lt"/>
                <a:ea typeface="+mn-ea"/>
                <a:cs typeface="+mn-cs"/>
              </a:rPr>
              <a:t>{'id': 1, 'name': 'Điện thoại'}</a:t>
            </a:r>
            <a:r>
              <a:rPr lang="vi-VN"/>
              <a:t>), nó </a:t>
            </a:r>
            <a:r>
              <a:rPr lang="vi-VN" b="1"/>
              <a:t>gọi hàm </a:t>
            </a:r>
            <a:r>
              <a:rPr lang="vi-VN" sz="1200" b="1" kern="1200">
                <a:solidFill>
                  <a:schemeClr val="tx1"/>
                </a:solidFill>
                <a:latin typeface="+mn-lt"/>
                <a:ea typeface="+mn-ea"/>
                <a:cs typeface="+mn-cs"/>
              </a:rPr>
              <a:t>Category.fromMap(e)</a:t>
            </a:r>
            <a:r>
              <a:rPr lang="vi-VN"/>
              <a:t> để </a:t>
            </a:r>
            <a:r>
              <a:rPr lang="vi-VN" b="1"/>
              <a:t>chuyển đổi</a:t>
            </a:r>
            <a:r>
              <a:rPr lang="vi-VN"/>
              <a:t> từ </a:t>
            </a:r>
            <a:r>
              <a:rPr lang="vi-VN" sz="1200" kern="1200">
                <a:solidFill>
                  <a:schemeClr val="tx1"/>
                </a:solidFill>
                <a:latin typeface="+mn-lt"/>
                <a:ea typeface="+mn-ea"/>
                <a:cs typeface="+mn-cs"/>
              </a:rPr>
              <a:t>Map</a:t>
            </a:r>
            <a:r>
              <a:rPr lang="vi-VN"/>
              <a:t> sang </a:t>
            </a:r>
            <a:r>
              <a:rPr lang="vi-VN" b="1"/>
              <a:t>đối tượng </a:t>
            </a:r>
            <a:r>
              <a:rPr lang="vi-VN" sz="1200" b="1" kern="1200">
                <a:solidFill>
                  <a:schemeClr val="tx1"/>
                </a:solidFill>
                <a:latin typeface="+mn-lt"/>
                <a:ea typeface="+mn-ea"/>
                <a:cs typeface="+mn-cs"/>
              </a:rPr>
              <a:t>Category</a:t>
            </a:r>
            <a:r>
              <a:rPr lang="vi-VN"/>
              <a:t>.</a:t>
            </a:r>
          </a:p>
          <a:p>
            <a:r>
              <a:rPr lang="vi-VN"/>
              <a:t>Ví dụ:</a:t>
            </a:r>
          </a:p>
          <a:p>
            <a:pPr rtl="0"/>
            <a:r>
              <a:rPr lang="vi-VN" sz="1200" kern="1200">
                <a:solidFill>
                  <a:schemeClr val="tx1"/>
                </a:solidFill>
                <a:latin typeface="+mn-lt"/>
                <a:ea typeface="+mn-ea"/>
                <a:cs typeface="+mn-cs"/>
              </a:rPr>
              <a:t>Category.fromMap({'id': 1, 'name': 'Điện thoại'})</a:t>
            </a:r>
          </a:p>
          <a:p>
            <a:r>
              <a:rPr lang="vi-VN"/>
              <a:t>→ Trả về một </a:t>
            </a:r>
            <a:r>
              <a:rPr lang="vi-VN" b="1"/>
              <a:t>đối tượng Category</a:t>
            </a:r>
            <a:r>
              <a:rPr lang="vi-VN"/>
              <a:t>:</a:t>
            </a:r>
          </a:p>
          <a:p>
            <a:pPr rtl="0"/>
            <a:r>
              <a:rPr lang="vi-VN" sz="1200" kern="1200">
                <a:solidFill>
                  <a:schemeClr val="tx1"/>
                </a:solidFill>
                <a:latin typeface="+mn-lt"/>
                <a:ea typeface="+mn-ea"/>
                <a:cs typeface="+mn-cs"/>
              </a:rPr>
              <a:t>Category(id: 1, name: 'Điện thoại')</a:t>
            </a:r>
          </a:p>
          <a:p>
            <a:br>
              <a:rPr lang="vi-VN"/>
            </a:br>
            <a:endParaRPr lang="vi-VN"/>
          </a:p>
          <a:p>
            <a:r>
              <a:rPr lang="en-US" b="1"/>
              <a:t>🔁 </a:t>
            </a:r>
            <a:r>
              <a:rPr lang="vi-VN" b="1"/>
              <a:t>Bước 2: </a:t>
            </a:r>
            <a:r>
              <a:rPr lang="vi-VN" sz="1200" b="1" kern="1200">
                <a:solidFill>
                  <a:schemeClr val="tx1"/>
                </a:solidFill>
                <a:latin typeface="+mn-lt"/>
                <a:ea typeface="+mn-ea"/>
                <a:cs typeface="+mn-cs"/>
              </a:rPr>
              <a:t>.toList()</a:t>
            </a:r>
            <a:endParaRPr lang="vi-VN" b="1"/>
          </a:p>
          <a:p>
            <a:r>
              <a:rPr lang="vi-VN"/>
              <a:t>Sau khi </a:t>
            </a:r>
            <a:r>
              <a:rPr lang="vi-VN" sz="1200" kern="1200">
                <a:solidFill>
                  <a:schemeClr val="tx1"/>
                </a:solidFill>
                <a:latin typeface="+mn-lt"/>
                <a:ea typeface="+mn-ea"/>
                <a:cs typeface="+mn-cs"/>
              </a:rPr>
              <a:t>.map()</a:t>
            </a:r>
            <a:r>
              <a:rPr lang="vi-VN"/>
              <a:t> tạo ra một </a:t>
            </a:r>
            <a:r>
              <a:rPr lang="vi-VN" b="1"/>
              <a:t>Iterable&lt;Category&gt;</a:t>
            </a:r>
            <a:r>
              <a:rPr lang="vi-VN"/>
              <a:t>,</a:t>
            </a:r>
          </a:p>
          <a:p>
            <a:r>
              <a:rPr lang="vi-VN" sz="1200" kern="1200">
                <a:solidFill>
                  <a:schemeClr val="tx1"/>
                </a:solidFill>
                <a:latin typeface="+mn-lt"/>
                <a:ea typeface="+mn-ea"/>
                <a:cs typeface="+mn-cs"/>
              </a:rPr>
              <a:t>.toList()</a:t>
            </a:r>
            <a:r>
              <a:rPr lang="vi-VN"/>
              <a:t> sẽ </a:t>
            </a:r>
            <a:r>
              <a:rPr lang="vi-VN" b="1"/>
              <a:t>chuyển nó thành List&lt;Category&gt;</a:t>
            </a:r>
            <a:r>
              <a:rPr lang="vi-VN"/>
              <a:t> (một danh sách đầy đủ).</a:t>
            </a:r>
          </a:p>
          <a:p>
            <a:br>
              <a:rPr lang="vi-VN"/>
            </a:br>
            <a:endParaRPr lang="vi-VN"/>
          </a:p>
          <a:p>
            <a:r>
              <a:rPr lang="en-US" b="1"/>
              <a:t>✅ </a:t>
            </a:r>
            <a:r>
              <a:rPr lang="vi-VN" b="1"/>
              <a:t>Tổng kết lại:</a:t>
            </a:r>
          </a:p>
          <a:p>
            <a:r>
              <a:rPr lang="vi-VN"/>
              <a:t>Câu lệnh này:</a:t>
            </a:r>
          </a:p>
          <a:p>
            <a:pPr rtl="0"/>
            <a:r>
              <a:rPr lang="vi-VN" sz="1200" kern="1200">
                <a:solidFill>
                  <a:schemeClr val="tx1"/>
                </a:solidFill>
                <a:latin typeface="+mn-lt"/>
                <a:ea typeface="+mn-ea"/>
                <a:cs typeface="+mn-cs"/>
              </a:rPr>
              <a:t>return data.map((e) =&gt; Category.fromMap(e)).toList();</a:t>
            </a:r>
          </a:p>
          <a:p>
            <a:r>
              <a:rPr lang="vi-VN"/>
              <a:t>Nghĩa là:</a:t>
            </a:r>
          </a:p>
          <a:p>
            <a:r>
              <a:rPr lang="vi-VN"/>
              <a:t>“Duyệt qua toàn bộ danh sách dữ liệu lấy từ cơ sở dữ liệu (</a:t>
            </a:r>
            <a:r>
              <a:rPr lang="vi-VN" sz="1200" kern="1200">
                <a:solidFill>
                  <a:schemeClr val="tx1"/>
                </a:solidFill>
                <a:latin typeface="+mn-lt"/>
                <a:ea typeface="+mn-ea"/>
                <a:cs typeface="+mn-cs"/>
              </a:rPr>
              <a:t>data</a:t>
            </a:r>
            <a:r>
              <a:rPr lang="vi-VN"/>
              <a:t>),</a:t>
            </a:r>
            <a:br>
              <a:rPr lang="vi-VN"/>
            </a:br>
            <a:r>
              <a:rPr lang="vi-VN"/>
              <a:t>chuyển từng dòng dữ liệu thành một đối tượng </a:t>
            </a:r>
            <a:r>
              <a:rPr lang="vi-VN" sz="1200" kern="1200">
                <a:solidFill>
                  <a:schemeClr val="tx1"/>
                </a:solidFill>
                <a:latin typeface="+mn-lt"/>
                <a:ea typeface="+mn-ea"/>
                <a:cs typeface="+mn-cs"/>
              </a:rPr>
              <a:t>Category</a:t>
            </a:r>
            <a:r>
              <a:rPr lang="vi-VN"/>
              <a:t>,</a:t>
            </a:r>
            <a:br>
              <a:rPr lang="vi-VN"/>
            </a:br>
            <a:r>
              <a:rPr lang="vi-VN"/>
              <a:t>rồi trả về một danh sách chứa các đối tượng đó.”</a:t>
            </a:r>
          </a:p>
          <a:p>
            <a:endParaRPr lang="en-US"/>
          </a:p>
          <a:p>
            <a:r>
              <a:rPr lang="en-US"/>
              <a:t>-------------------------------------------------------------------------------------------------</a:t>
            </a:r>
          </a:p>
          <a:p>
            <a:r>
              <a:rPr lang="vi-VN" b="1"/>
              <a:t>Lấy sản phẩm cùng tên danh mục (JOIN)</a:t>
            </a:r>
          </a:p>
          <a:p>
            <a:pPr rtl="0"/>
            <a:r>
              <a:rPr lang="vi-VN" sz="1200" kern="1200">
                <a:solidFill>
                  <a:schemeClr val="tx1"/>
                </a:solidFill>
                <a:latin typeface="+mn-lt"/>
                <a:ea typeface="+mn-ea"/>
                <a:cs typeface="+mn-cs"/>
              </a:rPr>
              <a:t>  static Future&lt;List&lt;Map&lt;String, dynamic&gt;&gt;&gt; getProductsWithCategory() async {</a:t>
            </a:r>
          </a:p>
          <a:p>
            <a:pPr rtl="0"/>
            <a:r>
              <a:rPr lang="vi-VN" sz="1200" kern="1200">
                <a:solidFill>
                  <a:schemeClr val="tx1"/>
                </a:solidFill>
                <a:latin typeface="+mn-lt"/>
                <a:ea typeface="+mn-ea"/>
                <a:cs typeface="+mn-cs"/>
              </a:rPr>
              <a:t>    final db = await initDb();</a:t>
            </a:r>
          </a:p>
          <a:p>
            <a:pPr rtl="0"/>
            <a:r>
              <a:rPr lang="vi-VN" sz="1200" kern="1200">
                <a:solidFill>
                  <a:schemeClr val="tx1"/>
                </a:solidFill>
                <a:latin typeface="+mn-lt"/>
                <a:ea typeface="+mn-ea"/>
                <a:cs typeface="+mn-cs"/>
              </a:rPr>
              <a:t>    return await db.rawQuery('''</a:t>
            </a:r>
          </a:p>
          <a:p>
            <a:pPr rtl="0"/>
            <a:r>
              <a:rPr lang="vi-VN" sz="1200" kern="1200">
                <a:solidFill>
                  <a:schemeClr val="tx1"/>
                </a:solidFill>
                <a:latin typeface="+mn-lt"/>
                <a:ea typeface="+mn-ea"/>
                <a:cs typeface="+mn-cs"/>
              </a:rPr>
              <a:t>      SELECT p.*, c.name AS category_name</a:t>
            </a:r>
          </a:p>
          <a:p>
            <a:pPr rtl="0"/>
            <a:r>
              <a:rPr lang="vi-VN" sz="1200" kern="1200">
                <a:solidFill>
                  <a:schemeClr val="tx1"/>
                </a:solidFill>
                <a:latin typeface="+mn-lt"/>
                <a:ea typeface="+mn-ea"/>
                <a:cs typeface="+mn-cs"/>
              </a:rPr>
              <a:t>      FROM products p</a:t>
            </a:r>
          </a:p>
          <a:p>
            <a:pPr rtl="0"/>
            <a:r>
              <a:rPr lang="vi-VN" sz="1200" kern="1200">
                <a:solidFill>
                  <a:schemeClr val="tx1"/>
                </a:solidFill>
                <a:latin typeface="+mn-lt"/>
                <a:ea typeface="+mn-ea"/>
                <a:cs typeface="+mn-cs"/>
              </a:rPr>
              <a:t>      JOIN categories c ON p.category_id = c.id</a:t>
            </a:r>
          </a:p>
          <a:p>
            <a:pPr rtl="0"/>
            <a:r>
              <a:rPr lang="vi-VN" sz="1200" kern="1200">
                <a:solidFill>
                  <a:schemeClr val="tx1"/>
                </a:solidFill>
                <a:latin typeface="+mn-lt"/>
                <a:ea typeface="+mn-ea"/>
                <a:cs typeface="+mn-cs"/>
              </a:rPr>
              <a:t>      ORDER BY p.id DESC</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a:t>
            </a:r>
          </a:p>
          <a:p>
            <a:r>
              <a:rPr lang="vi-VN" sz="1200" kern="1200">
                <a:solidFill>
                  <a:schemeClr val="tx1"/>
                </a:solidFill>
                <a:latin typeface="+mn-lt"/>
                <a:ea typeface="+mn-ea"/>
                <a:cs typeface="+mn-cs"/>
              </a:rPr>
              <a:t>rawQuery</a:t>
            </a:r>
            <a:r>
              <a:rPr lang="vi-VN"/>
              <a:t> với </a:t>
            </a:r>
            <a:r>
              <a:rPr lang="vi-VN" sz="1200" kern="1200">
                <a:solidFill>
                  <a:schemeClr val="tx1"/>
                </a:solidFill>
                <a:latin typeface="+mn-lt"/>
                <a:ea typeface="+mn-ea"/>
                <a:cs typeface="+mn-cs"/>
              </a:rPr>
              <a:t>JOIN</a:t>
            </a:r>
            <a:r>
              <a:rPr lang="vi-VN"/>
              <a:t> trả </a:t>
            </a:r>
            <a:r>
              <a:rPr lang="vi-VN" sz="1200" kern="1200">
                <a:solidFill>
                  <a:schemeClr val="tx1"/>
                </a:solidFill>
                <a:latin typeface="+mn-lt"/>
                <a:ea typeface="+mn-ea"/>
                <a:cs typeface="+mn-cs"/>
              </a:rPr>
              <a:t>List&lt;Map&lt;String,dynamic&gt;&gt;</a:t>
            </a:r>
            <a:r>
              <a:rPr lang="vi-VN"/>
              <a:t> (mỗi Map chứa cả cột product và </a:t>
            </a:r>
            <a:r>
              <a:rPr lang="vi-VN" sz="1200" kern="1200">
                <a:solidFill>
                  <a:schemeClr val="tx1"/>
                </a:solidFill>
                <a:latin typeface="+mn-lt"/>
                <a:ea typeface="+mn-ea"/>
                <a:cs typeface="+mn-cs"/>
              </a:rPr>
              <a:t>category_name</a:t>
            </a:r>
            <a:r>
              <a:rPr lang="vi-VN"/>
              <a:t>).</a:t>
            </a:r>
          </a:p>
          <a:p>
            <a:r>
              <a:rPr lang="vi-VN"/>
              <a:t>Vì bạn trả map thẳng cho UI, UI có thể dùng </a:t>
            </a:r>
            <a:r>
              <a:rPr lang="vi-VN" sz="1200" kern="1200">
                <a:solidFill>
                  <a:schemeClr val="tx1"/>
                </a:solidFill>
                <a:latin typeface="+mn-lt"/>
                <a:ea typeface="+mn-ea"/>
                <a:cs typeface="+mn-cs"/>
              </a:rPr>
              <a:t>p['category_name']</a:t>
            </a:r>
            <a:r>
              <a:rPr lang="vi-VN"/>
              <a:t> để hiện tên danh mục.</a:t>
            </a:r>
          </a:p>
          <a:p>
            <a:r>
              <a:rPr lang="vi-VN" b="1"/>
              <a:t>Lưu ý/Best practices</a:t>
            </a:r>
            <a:r>
              <a:rPr lang="vi-VN"/>
              <a:t>:</a:t>
            </a:r>
          </a:p>
          <a:p>
            <a:r>
              <a:rPr lang="vi-VN"/>
              <a:t>Nếu bạn cần enforce foreign key, set </a:t>
            </a:r>
            <a:r>
              <a:rPr lang="vi-VN" sz="1200" kern="1200">
                <a:solidFill>
                  <a:schemeClr val="tx1"/>
                </a:solidFill>
                <a:latin typeface="+mn-lt"/>
                <a:ea typeface="+mn-ea"/>
                <a:cs typeface="+mn-cs"/>
              </a:rPr>
              <a:t>PRAGMA foreign_keys = ON</a:t>
            </a:r>
            <a:r>
              <a:rPr lang="vi-VN"/>
              <a:t> khi mở DB.</a:t>
            </a:r>
          </a:p>
          <a:p>
            <a:r>
              <a:rPr lang="vi-VN"/>
              <a:t>Consider thêm </a:t>
            </a:r>
            <a:r>
              <a:rPr lang="vi-VN" sz="1200" kern="1200">
                <a:solidFill>
                  <a:schemeClr val="tx1"/>
                </a:solidFill>
                <a:latin typeface="+mn-lt"/>
                <a:ea typeface="+mn-ea"/>
                <a:cs typeface="+mn-cs"/>
              </a:rPr>
              <a:t>onUpgrade</a:t>
            </a:r>
            <a:r>
              <a:rPr lang="vi-VN"/>
              <a:t> để handle migration khi </a:t>
            </a:r>
            <a:r>
              <a:rPr lang="vi-VN" sz="1200" kern="1200">
                <a:solidFill>
                  <a:schemeClr val="tx1"/>
                </a:solidFill>
                <a:latin typeface="+mn-lt"/>
                <a:ea typeface="+mn-ea"/>
                <a:cs typeface="+mn-cs"/>
              </a:rPr>
              <a:t>version</a:t>
            </a:r>
            <a:r>
              <a:rPr lang="vi-VN"/>
              <a:t> tăng.</a:t>
            </a:r>
          </a:p>
          <a:p>
            <a:r>
              <a:rPr lang="vi-VN"/>
              <a:t>Cân nhắc xử lý ngoại lệ (try/catch) khi thao tác DB để cho phép hiển thị lỗi rõ ràng.</a:t>
            </a:r>
          </a:p>
          <a:p>
            <a:r>
              <a:rPr lang="en-US"/>
              <a:t>-------------------------------------------------------------------------------------------------------------</a:t>
            </a:r>
          </a:p>
          <a:p>
            <a:r>
              <a:rPr lang="en-US" b="1"/>
              <a:t>🔍 1. </a:t>
            </a:r>
            <a:r>
              <a:rPr lang="vi-VN" b="1"/>
              <a:t>Mục đích</a:t>
            </a:r>
          </a:p>
          <a:p>
            <a:r>
              <a:rPr lang="vi-VN"/>
              <a:t>Hàm này có nhiệm vụ:</a:t>
            </a:r>
          </a:p>
          <a:p>
            <a:r>
              <a:rPr lang="vi-VN" b="1"/>
              <a:t>Lấy danh sách sản phẩm từ bảng </a:t>
            </a:r>
            <a:r>
              <a:rPr lang="vi-VN" sz="1200" b="1" kern="1200">
                <a:solidFill>
                  <a:schemeClr val="tx1"/>
                </a:solidFill>
                <a:latin typeface="+mn-lt"/>
                <a:ea typeface="+mn-ea"/>
                <a:cs typeface="+mn-cs"/>
              </a:rPr>
              <a:t>products</a:t>
            </a:r>
            <a:r>
              <a:rPr lang="vi-VN"/>
              <a:t>,</a:t>
            </a:r>
            <a:br>
              <a:rPr lang="vi-VN"/>
            </a:br>
            <a:r>
              <a:rPr lang="vi-VN"/>
              <a:t>đồng thời </a:t>
            </a:r>
            <a:r>
              <a:rPr lang="vi-VN" b="1"/>
              <a:t>ghép thêm tên danh mục tương ứng từ bảng </a:t>
            </a:r>
            <a:r>
              <a:rPr lang="vi-VN" sz="1200" b="1" kern="1200">
                <a:solidFill>
                  <a:schemeClr val="tx1"/>
                </a:solidFill>
                <a:latin typeface="+mn-lt"/>
                <a:ea typeface="+mn-ea"/>
                <a:cs typeface="+mn-cs"/>
              </a:rPr>
              <a:t>categories</a:t>
            </a:r>
            <a:r>
              <a:rPr lang="vi-VN"/>
              <a:t> (bằng phép JOIN).</a:t>
            </a:r>
          </a:p>
          <a:p>
            <a:br>
              <a:rPr lang="vi-VN"/>
            </a:br>
            <a:endParaRPr lang="vi-VN"/>
          </a:p>
          <a:p>
            <a:r>
              <a:rPr lang="en-US" b="1"/>
              <a:t>🧠 2. </a:t>
            </a:r>
            <a:r>
              <a:rPr lang="vi-VN" b="1"/>
              <a:t>Giải thích chi tiết từng phần</a:t>
            </a:r>
          </a:p>
          <a:p>
            <a:r>
              <a:rPr lang="en-US" b="1"/>
              <a:t>🔹 </a:t>
            </a:r>
            <a:r>
              <a:rPr lang="vi-VN" sz="1200" b="1" kern="1200">
                <a:solidFill>
                  <a:schemeClr val="tx1"/>
                </a:solidFill>
                <a:latin typeface="+mn-lt"/>
                <a:ea typeface="+mn-ea"/>
                <a:cs typeface="+mn-cs"/>
              </a:rPr>
              <a:t>final db = await initDb();</a:t>
            </a:r>
            <a:endParaRPr lang="vi-VN" b="1"/>
          </a:p>
          <a:p>
            <a:r>
              <a:rPr lang="vi-VN"/>
              <a:t>Mở hoặc lấy kết nối tới cơ sở dữ liệu SQLite.</a:t>
            </a:r>
          </a:p>
          <a:p>
            <a:r>
              <a:rPr lang="vi-VN" sz="1200" kern="1200">
                <a:solidFill>
                  <a:schemeClr val="tx1"/>
                </a:solidFill>
                <a:latin typeface="+mn-lt"/>
                <a:ea typeface="+mn-ea"/>
                <a:cs typeface="+mn-cs"/>
              </a:rPr>
              <a:t>db</a:t>
            </a:r>
            <a:r>
              <a:rPr lang="vi-VN"/>
              <a:t> bây giờ là </a:t>
            </a:r>
            <a:r>
              <a:rPr lang="vi-VN" b="1"/>
              <a:t>đối tượng </a:t>
            </a:r>
            <a:r>
              <a:rPr lang="vi-VN" sz="1200" b="1" kern="1200">
                <a:solidFill>
                  <a:schemeClr val="tx1"/>
                </a:solidFill>
                <a:latin typeface="+mn-lt"/>
                <a:ea typeface="+mn-ea"/>
                <a:cs typeface="+mn-cs"/>
              </a:rPr>
              <a:t>Database</a:t>
            </a:r>
            <a:r>
              <a:rPr lang="vi-VN"/>
              <a:t> để bạn có thể thực hiện các truy vấn SQL trên đó.</a:t>
            </a:r>
          </a:p>
          <a:p>
            <a:br>
              <a:rPr lang="vi-VN"/>
            </a:br>
            <a:endParaRPr lang="vi-VN"/>
          </a:p>
          <a:p>
            <a:r>
              <a:rPr lang="en-US" b="1"/>
              <a:t>🔹 </a:t>
            </a:r>
            <a:r>
              <a:rPr lang="vi-VN" sz="1200" b="1" kern="1200">
                <a:solidFill>
                  <a:schemeClr val="tx1"/>
                </a:solidFill>
                <a:latin typeface="+mn-lt"/>
                <a:ea typeface="+mn-ea"/>
                <a:cs typeface="+mn-cs"/>
              </a:rPr>
              <a:t>db.rawQuery(''' ... ''');</a:t>
            </a:r>
            <a:endParaRPr lang="vi-VN" b="1"/>
          </a:p>
          <a:p>
            <a:r>
              <a:rPr lang="vi-VN"/>
              <a:t>Hàm </a:t>
            </a:r>
            <a:r>
              <a:rPr lang="vi-VN" sz="1200" kern="1200">
                <a:solidFill>
                  <a:schemeClr val="tx1"/>
                </a:solidFill>
                <a:latin typeface="+mn-lt"/>
                <a:ea typeface="+mn-ea"/>
                <a:cs typeface="+mn-cs"/>
              </a:rPr>
              <a:t>rawQuery()</a:t>
            </a:r>
            <a:r>
              <a:rPr lang="vi-VN"/>
              <a:t> dùng để </a:t>
            </a:r>
            <a:r>
              <a:rPr lang="vi-VN" b="1"/>
              <a:t>chạy trực tiếp câu lệnh SQL thuần</a:t>
            </a:r>
            <a:r>
              <a:rPr lang="vi-VN"/>
              <a:t> (raw SQL string).</a:t>
            </a:r>
          </a:p>
          <a:p>
            <a:r>
              <a:rPr lang="vi-VN"/>
              <a:t>Kết quả trả về là một </a:t>
            </a:r>
            <a:r>
              <a:rPr lang="vi-VN" sz="1200" b="1" kern="1200">
                <a:solidFill>
                  <a:schemeClr val="tx1"/>
                </a:solidFill>
                <a:latin typeface="+mn-lt"/>
                <a:ea typeface="+mn-ea"/>
                <a:cs typeface="+mn-cs"/>
              </a:rPr>
              <a:t>List&lt;Map&lt;String, dynamic&gt;&gt;</a:t>
            </a:r>
            <a:r>
              <a:rPr lang="vi-VN"/>
              <a:t> — tức là danh sách các bản ghi.</a:t>
            </a:r>
          </a:p>
          <a:p>
            <a:pPr lvl="1"/>
            <a:r>
              <a:rPr lang="vi-VN"/>
              <a:t>Mỗi </a:t>
            </a:r>
            <a:r>
              <a:rPr lang="vi-VN" sz="1200" b="1" kern="1200">
                <a:solidFill>
                  <a:schemeClr val="tx1"/>
                </a:solidFill>
                <a:latin typeface="+mn-lt"/>
                <a:ea typeface="+mn-ea"/>
                <a:cs typeface="+mn-cs"/>
              </a:rPr>
              <a:t>Map</a:t>
            </a:r>
            <a:r>
              <a:rPr lang="vi-VN"/>
              <a:t> tương ứng với </a:t>
            </a:r>
            <a:r>
              <a:rPr lang="vi-VN" b="1"/>
              <a:t>một hàng (row)</a:t>
            </a:r>
            <a:r>
              <a:rPr lang="vi-VN"/>
              <a:t> trong bảng.</a:t>
            </a:r>
          </a:p>
          <a:p>
            <a:pPr lvl="1"/>
            <a:r>
              <a:rPr lang="vi-VN"/>
              <a:t>Mỗi </a:t>
            </a:r>
            <a:r>
              <a:rPr lang="vi-VN" b="1"/>
              <a:t>key</a:t>
            </a:r>
            <a:r>
              <a:rPr lang="vi-VN"/>
              <a:t> trong </a:t>
            </a:r>
            <a:r>
              <a:rPr lang="vi-VN" sz="1200" kern="1200">
                <a:solidFill>
                  <a:schemeClr val="tx1"/>
                </a:solidFill>
                <a:latin typeface="+mn-lt"/>
                <a:ea typeface="+mn-ea"/>
                <a:cs typeface="+mn-cs"/>
              </a:rPr>
              <a:t>Map</a:t>
            </a:r>
            <a:r>
              <a:rPr lang="vi-VN"/>
              <a:t> là tên cột, </a:t>
            </a:r>
            <a:r>
              <a:rPr lang="vi-VN" b="1"/>
              <a:t>value</a:t>
            </a:r>
            <a:r>
              <a:rPr lang="vi-VN"/>
              <a:t> là giá trị trong ô dữ liệu đó.</a:t>
            </a:r>
          </a:p>
          <a:p>
            <a:br>
              <a:rPr lang="vi-VN"/>
            </a:br>
            <a:endParaRPr lang="vi-VN"/>
          </a:p>
          <a:p>
            <a:r>
              <a:rPr lang="en-US" b="1"/>
              <a:t>🔹 </a:t>
            </a:r>
            <a:r>
              <a:rPr lang="vi-VN" b="1"/>
              <a:t>Câu SQL bên trong:</a:t>
            </a:r>
          </a:p>
          <a:p>
            <a:pPr rtl="0"/>
            <a:r>
              <a:rPr lang="vi-VN" sz="1200" kern="1200">
                <a:solidFill>
                  <a:schemeClr val="tx1"/>
                </a:solidFill>
                <a:latin typeface="+mn-lt"/>
                <a:ea typeface="+mn-ea"/>
                <a:cs typeface="+mn-cs"/>
              </a:rPr>
              <a:t>SELECT p.*, c.name AS category_name</a:t>
            </a:r>
          </a:p>
          <a:p>
            <a:pPr rtl="0"/>
            <a:r>
              <a:rPr lang="vi-VN" sz="1200" kern="1200">
                <a:solidFill>
                  <a:schemeClr val="tx1"/>
                </a:solidFill>
                <a:latin typeface="+mn-lt"/>
                <a:ea typeface="+mn-ea"/>
                <a:cs typeface="+mn-cs"/>
              </a:rPr>
              <a:t>FROM products p</a:t>
            </a:r>
          </a:p>
          <a:p>
            <a:pPr rtl="0"/>
            <a:r>
              <a:rPr lang="vi-VN" sz="1200" kern="1200">
                <a:solidFill>
                  <a:schemeClr val="tx1"/>
                </a:solidFill>
                <a:latin typeface="+mn-lt"/>
                <a:ea typeface="+mn-ea"/>
                <a:cs typeface="+mn-cs"/>
              </a:rPr>
              <a:t>JOIN categories c ON p.category_id = c.id</a:t>
            </a:r>
          </a:p>
          <a:p>
            <a:pPr rtl="0"/>
            <a:r>
              <a:rPr lang="vi-VN" sz="1200" kern="1200">
                <a:solidFill>
                  <a:schemeClr val="tx1"/>
                </a:solidFill>
                <a:latin typeface="+mn-lt"/>
                <a:ea typeface="+mn-ea"/>
                <a:cs typeface="+mn-cs"/>
              </a:rPr>
              <a:t>ORDER BY p.id DESC;</a:t>
            </a:r>
          </a:p>
          <a:p>
            <a:r>
              <a:rPr lang="vi-VN"/>
              <a:t>Giải nghĩa từng phần:</a:t>
            </a:r>
          </a:p>
          <a:p>
            <a:r>
              <a:rPr lang="vi-VN"/>
              <a:t>Thành phần</a:t>
            </a:r>
            <a:r>
              <a:rPr lang="en-US"/>
              <a:t>				</a:t>
            </a:r>
            <a:r>
              <a:rPr lang="vi-VN"/>
              <a:t>Ý nghĩa</a:t>
            </a:r>
            <a:endParaRPr lang="en-US"/>
          </a:p>
          <a:p>
            <a:r>
              <a:rPr lang="vi-VN" sz="1200" kern="1200">
                <a:solidFill>
                  <a:schemeClr val="tx1"/>
                </a:solidFill>
                <a:latin typeface="+mn-lt"/>
                <a:ea typeface="+mn-ea"/>
                <a:cs typeface="+mn-cs"/>
              </a:rPr>
              <a:t>SELECT p.*</a:t>
            </a:r>
            <a:r>
              <a:rPr lang="en-US" sz="1200" kern="1200">
                <a:solidFill>
                  <a:schemeClr val="tx1"/>
                </a:solidFill>
                <a:latin typeface="+mn-lt"/>
                <a:ea typeface="+mn-ea"/>
                <a:cs typeface="+mn-cs"/>
              </a:rPr>
              <a:t>			</a:t>
            </a:r>
            <a:r>
              <a:rPr lang="vi-VN"/>
              <a:t>Lấy </a:t>
            </a:r>
            <a:r>
              <a:rPr lang="vi-VN" b="1"/>
              <a:t>toàn bộ cột</a:t>
            </a:r>
            <a:r>
              <a:rPr lang="vi-VN"/>
              <a:t> của bảng </a:t>
            </a:r>
            <a:r>
              <a:rPr lang="vi-VN" sz="1200" kern="1200">
                <a:solidFill>
                  <a:schemeClr val="tx1"/>
                </a:solidFill>
                <a:latin typeface="+mn-lt"/>
                <a:ea typeface="+mn-ea"/>
                <a:cs typeface="+mn-cs"/>
              </a:rPr>
              <a:t>products</a:t>
            </a:r>
            <a:r>
              <a:rPr lang="vi-VN"/>
              <a:t> (đặt bí danh </a:t>
            </a:r>
            <a:r>
              <a:rPr lang="vi-VN" sz="1200" kern="1200">
                <a:solidFill>
                  <a:schemeClr val="tx1"/>
                </a:solidFill>
                <a:latin typeface="+mn-lt"/>
                <a:ea typeface="+mn-ea"/>
                <a:cs typeface="+mn-cs"/>
              </a:rPr>
              <a:t>p</a:t>
            </a:r>
            <a:r>
              <a:rPr lang="vi-VN"/>
              <a:t>)</a:t>
            </a:r>
            <a:endParaRPr lang="en-US"/>
          </a:p>
          <a:p>
            <a:r>
              <a:rPr lang="vi-VN" sz="1200" kern="1200">
                <a:solidFill>
                  <a:schemeClr val="tx1"/>
                </a:solidFill>
                <a:latin typeface="+mn-lt"/>
                <a:ea typeface="+mn-ea"/>
                <a:cs typeface="+mn-cs"/>
              </a:rPr>
              <a:t>c.name AS category_name</a:t>
            </a:r>
            <a:r>
              <a:rPr lang="en-US" sz="1200" kern="1200">
                <a:solidFill>
                  <a:schemeClr val="tx1"/>
                </a:solidFill>
                <a:latin typeface="+mn-lt"/>
                <a:ea typeface="+mn-ea"/>
                <a:cs typeface="+mn-cs"/>
              </a:rPr>
              <a:t>		</a:t>
            </a:r>
            <a:r>
              <a:rPr lang="vi-VN"/>
              <a:t>Lấy thêm cột </a:t>
            </a:r>
            <a:r>
              <a:rPr lang="vi-VN" sz="1200" kern="1200">
                <a:solidFill>
                  <a:schemeClr val="tx1"/>
                </a:solidFill>
                <a:latin typeface="+mn-lt"/>
                <a:ea typeface="+mn-ea"/>
                <a:cs typeface="+mn-cs"/>
              </a:rPr>
              <a:t>name</a:t>
            </a:r>
            <a:r>
              <a:rPr lang="vi-VN"/>
              <a:t> của bảng </a:t>
            </a:r>
            <a:r>
              <a:rPr lang="vi-VN" sz="1200" kern="1200">
                <a:solidFill>
                  <a:schemeClr val="tx1"/>
                </a:solidFill>
                <a:latin typeface="+mn-lt"/>
                <a:ea typeface="+mn-ea"/>
                <a:cs typeface="+mn-cs"/>
              </a:rPr>
              <a:t>categories</a:t>
            </a:r>
            <a:r>
              <a:rPr lang="vi-VN"/>
              <a:t>, và </a:t>
            </a:r>
            <a:r>
              <a:rPr lang="vi-VN" b="1"/>
              <a:t>đặt tên lại</a:t>
            </a:r>
            <a:r>
              <a:rPr lang="vi-VN"/>
              <a:t> là </a:t>
            </a:r>
            <a:r>
              <a:rPr lang="vi-VN" sz="1200" kern="1200">
                <a:solidFill>
                  <a:schemeClr val="tx1"/>
                </a:solidFill>
                <a:latin typeface="+mn-lt"/>
                <a:ea typeface="+mn-ea"/>
                <a:cs typeface="+mn-cs"/>
              </a:rPr>
              <a:t>category_name</a:t>
            </a:r>
            <a:endParaRPr lang="en-US" sz="1200" kern="1200">
              <a:solidFill>
                <a:schemeClr val="tx1"/>
              </a:solidFill>
              <a:latin typeface="+mn-lt"/>
              <a:ea typeface="+mn-ea"/>
              <a:cs typeface="+mn-cs"/>
            </a:endParaRPr>
          </a:p>
          <a:p>
            <a:r>
              <a:rPr lang="vi-VN" sz="1200" kern="1200">
                <a:solidFill>
                  <a:schemeClr val="tx1"/>
                </a:solidFill>
                <a:latin typeface="+mn-lt"/>
                <a:ea typeface="+mn-ea"/>
                <a:cs typeface="+mn-cs"/>
              </a:rPr>
              <a:t>FROM products p</a:t>
            </a:r>
            <a:r>
              <a:rPr lang="en-US" sz="1200" kern="1200">
                <a:solidFill>
                  <a:schemeClr val="tx1"/>
                </a:solidFill>
                <a:latin typeface="+mn-lt"/>
                <a:ea typeface="+mn-ea"/>
                <a:cs typeface="+mn-cs"/>
              </a:rPr>
              <a:t>		</a:t>
            </a:r>
            <a:r>
              <a:rPr lang="vi-VN"/>
              <a:t>Bảng chính là </a:t>
            </a:r>
            <a:r>
              <a:rPr lang="vi-VN" sz="1200" kern="1200">
                <a:solidFill>
                  <a:schemeClr val="tx1"/>
                </a:solidFill>
                <a:latin typeface="+mn-lt"/>
                <a:ea typeface="+mn-ea"/>
                <a:cs typeface="+mn-cs"/>
              </a:rPr>
              <a:t>products</a:t>
            </a:r>
            <a:r>
              <a:rPr lang="vi-VN"/>
              <a:t>, bí danh </a:t>
            </a:r>
            <a:r>
              <a:rPr lang="vi-VN" sz="1200" kern="1200">
                <a:solidFill>
                  <a:schemeClr val="tx1"/>
                </a:solidFill>
                <a:latin typeface="+mn-lt"/>
                <a:ea typeface="+mn-ea"/>
                <a:cs typeface="+mn-cs"/>
              </a:rPr>
              <a:t>p</a:t>
            </a:r>
            <a:r>
              <a:rPr lang="vi-VN"/>
              <a:t> để viết gọn</a:t>
            </a:r>
            <a:endParaRPr lang="en-US"/>
          </a:p>
          <a:p>
            <a:r>
              <a:rPr lang="vi-VN" sz="1200" kern="1200">
                <a:solidFill>
                  <a:schemeClr val="tx1"/>
                </a:solidFill>
                <a:latin typeface="+mn-lt"/>
                <a:ea typeface="+mn-ea"/>
                <a:cs typeface="+mn-cs"/>
              </a:rPr>
              <a:t>JOIN categories c</a:t>
            </a:r>
            <a:r>
              <a:rPr lang="en-US" sz="1200" kern="1200">
                <a:solidFill>
                  <a:schemeClr val="tx1"/>
                </a:solidFill>
                <a:latin typeface="+mn-lt"/>
                <a:ea typeface="+mn-ea"/>
                <a:cs typeface="+mn-cs"/>
              </a:rPr>
              <a:t>		</a:t>
            </a:r>
            <a:r>
              <a:rPr lang="vi-VN"/>
              <a:t>Ghép thêm bảng </a:t>
            </a:r>
            <a:r>
              <a:rPr lang="vi-VN" sz="1200" kern="1200">
                <a:solidFill>
                  <a:schemeClr val="tx1"/>
                </a:solidFill>
                <a:latin typeface="+mn-lt"/>
                <a:ea typeface="+mn-ea"/>
                <a:cs typeface="+mn-cs"/>
              </a:rPr>
              <a:t>categories</a:t>
            </a:r>
            <a:r>
              <a:rPr lang="vi-VN"/>
              <a:t>, bí danh </a:t>
            </a:r>
            <a:r>
              <a:rPr lang="vi-VN" sz="1200" kern="1200">
                <a:solidFill>
                  <a:schemeClr val="tx1"/>
                </a:solidFill>
                <a:latin typeface="+mn-lt"/>
                <a:ea typeface="+mn-ea"/>
                <a:cs typeface="+mn-cs"/>
              </a:rPr>
              <a:t>c</a:t>
            </a:r>
            <a:endParaRPr lang="en-US" sz="1200" kern="1200">
              <a:solidFill>
                <a:schemeClr val="tx1"/>
              </a:solidFill>
              <a:latin typeface="+mn-lt"/>
              <a:ea typeface="+mn-ea"/>
              <a:cs typeface="+mn-cs"/>
            </a:endParaRPr>
          </a:p>
          <a:p>
            <a:r>
              <a:rPr lang="vi-VN" sz="1200" kern="1200">
                <a:solidFill>
                  <a:schemeClr val="tx1"/>
                </a:solidFill>
                <a:latin typeface="+mn-lt"/>
                <a:ea typeface="+mn-ea"/>
                <a:cs typeface="+mn-cs"/>
              </a:rPr>
              <a:t>ON p.category_id = c.id</a:t>
            </a:r>
            <a:r>
              <a:rPr lang="en-US" sz="1200" kern="1200">
                <a:solidFill>
                  <a:schemeClr val="tx1"/>
                </a:solidFill>
                <a:latin typeface="+mn-lt"/>
                <a:ea typeface="+mn-ea"/>
                <a:cs typeface="+mn-cs"/>
              </a:rPr>
              <a:t>		</a:t>
            </a:r>
            <a:r>
              <a:rPr lang="vi-VN"/>
              <a:t>Điều kiện ghép: </a:t>
            </a:r>
            <a:r>
              <a:rPr lang="vi-VN" sz="1200" kern="1200">
                <a:solidFill>
                  <a:schemeClr val="tx1"/>
                </a:solidFill>
                <a:latin typeface="+mn-lt"/>
                <a:ea typeface="+mn-ea"/>
                <a:cs typeface="+mn-cs"/>
              </a:rPr>
              <a:t>category_id</a:t>
            </a:r>
            <a:r>
              <a:rPr lang="vi-VN"/>
              <a:t> trong </a:t>
            </a:r>
            <a:r>
              <a:rPr lang="vi-VN" sz="1200" kern="1200">
                <a:solidFill>
                  <a:schemeClr val="tx1"/>
                </a:solidFill>
                <a:latin typeface="+mn-lt"/>
                <a:ea typeface="+mn-ea"/>
                <a:cs typeface="+mn-cs"/>
              </a:rPr>
              <a:t>products</a:t>
            </a:r>
            <a:r>
              <a:rPr lang="vi-VN"/>
              <a:t> phải khớp với </a:t>
            </a:r>
            <a:r>
              <a:rPr lang="vi-VN" sz="1200" kern="1200">
                <a:solidFill>
                  <a:schemeClr val="tx1"/>
                </a:solidFill>
                <a:latin typeface="+mn-lt"/>
                <a:ea typeface="+mn-ea"/>
                <a:cs typeface="+mn-cs"/>
              </a:rPr>
              <a:t>id</a:t>
            </a:r>
            <a:r>
              <a:rPr lang="vi-VN"/>
              <a:t> trong </a:t>
            </a:r>
            <a:r>
              <a:rPr lang="vi-VN" sz="1200" kern="1200">
                <a:solidFill>
                  <a:schemeClr val="tx1"/>
                </a:solidFill>
                <a:latin typeface="+mn-lt"/>
                <a:ea typeface="+mn-ea"/>
                <a:cs typeface="+mn-cs"/>
              </a:rPr>
              <a:t>categories</a:t>
            </a:r>
            <a:endParaRPr lang="en-US" sz="1200" kern="1200">
              <a:solidFill>
                <a:schemeClr val="tx1"/>
              </a:solidFill>
              <a:latin typeface="+mn-lt"/>
              <a:ea typeface="+mn-ea"/>
              <a:cs typeface="+mn-cs"/>
            </a:endParaRPr>
          </a:p>
          <a:p>
            <a:r>
              <a:rPr lang="vi-VN" sz="1200" kern="1200">
                <a:solidFill>
                  <a:schemeClr val="tx1"/>
                </a:solidFill>
                <a:latin typeface="+mn-lt"/>
                <a:ea typeface="+mn-ea"/>
                <a:cs typeface="+mn-cs"/>
              </a:rPr>
              <a:t>ORDER BY p.id DESC</a:t>
            </a:r>
            <a:r>
              <a:rPr lang="en-US" sz="1200" kern="1200">
                <a:solidFill>
                  <a:schemeClr val="tx1"/>
                </a:solidFill>
                <a:latin typeface="+mn-lt"/>
                <a:ea typeface="+mn-ea"/>
                <a:cs typeface="+mn-cs"/>
              </a:rPr>
              <a:t>		</a:t>
            </a:r>
            <a:r>
              <a:rPr lang="vi-VN"/>
              <a:t>Sắp xếp kết quả theo </a:t>
            </a:r>
            <a:r>
              <a:rPr lang="vi-VN" sz="1200" kern="1200">
                <a:solidFill>
                  <a:schemeClr val="tx1"/>
                </a:solidFill>
                <a:latin typeface="+mn-lt"/>
                <a:ea typeface="+mn-ea"/>
                <a:cs typeface="+mn-cs"/>
              </a:rPr>
              <a:t>id</a:t>
            </a:r>
            <a:r>
              <a:rPr lang="vi-VN"/>
              <a:t> giảm dần (sản phẩm mới nhất lên trước)</a:t>
            </a:r>
          </a:p>
          <a:p>
            <a:endParaRPr lang="en-US"/>
          </a:p>
          <a:p>
            <a:endParaRPr lang="en-US"/>
          </a:p>
        </p:txBody>
      </p:sp>
      <p:sp>
        <p:nvSpPr>
          <p:cNvPr id="4" name="Slide Number Placeholder 3">
            <a:extLst>
              <a:ext uri="{FF2B5EF4-FFF2-40B4-BE49-F238E27FC236}">
                <a16:creationId xmlns:a16="http://schemas.microsoft.com/office/drawing/2014/main" id="{0BC35129-34B8-6B66-4565-FCCC85C9D327}"/>
              </a:ext>
            </a:extLst>
          </p:cNvPr>
          <p:cNvSpPr>
            <a:spLocks noGrp="1"/>
          </p:cNvSpPr>
          <p:nvPr>
            <p:ph type="sldNum" sz="quarter" idx="5"/>
          </p:nvPr>
        </p:nvSpPr>
        <p:spPr/>
        <p:txBody>
          <a:bodyPr/>
          <a:lstStyle/>
          <a:p>
            <a:fld id="{1983A999-5E0E-42CA-8400-604AE921FF7C}" type="slidenum">
              <a:rPr lang="en-US" smtClean="0"/>
              <a:t>38</a:t>
            </a:fld>
            <a:endParaRPr lang="en-US"/>
          </a:p>
        </p:txBody>
      </p:sp>
    </p:spTree>
    <p:extLst>
      <p:ext uri="{BB962C8B-B14F-4D97-AF65-F5344CB8AC3E}">
        <p14:creationId xmlns:p14="http://schemas.microsoft.com/office/powerpoint/2010/main" val="27041219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EB889-81AE-8CB2-AA98-63EE40303E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B2C174-506B-174E-F605-CFD83C66F6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3CE091-45D3-E5C1-7756-441D9EC6B1E7}"/>
              </a:ext>
            </a:extLst>
          </p:cNvPr>
          <p:cNvSpPr>
            <a:spLocks noGrp="1"/>
          </p:cNvSpPr>
          <p:nvPr>
            <p:ph type="body" idx="1"/>
          </p:nvPr>
        </p:nvSpPr>
        <p:spPr/>
        <p:txBody>
          <a:bodyPr/>
          <a:lstStyle/>
          <a:p>
            <a:r>
              <a:rPr lang="vi-VN"/>
              <a:t>Bảng </a:t>
            </a:r>
            <a:r>
              <a:rPr lang="vi-VN" sz="1200" kern="1200">
                <a:solidFill>
                  <a:schemeClr val="tx1"/>
                </a:solidFill>
                <a:latin typeface="+mn-lt"/>
                <a:ea typeface="+mn-ea"/>
                <a:cs typeface="+mn-cs"/>
              </a:rPr>
              <a:t>products</a:t>
            </a:r>
            <a:r>
              <a:rPr lang="vi-VN"/>
              <a:t> có các cột:</a:t>
            </a:r>
          </a:p>
          <a:p>
            <a:r>
              <a:rPr lang="vi-VN" sz="1200" kern="1200">
                <a:solidFill>
                  <a:schemeClr val="tx1"/>
                </a:solidFill>
                <a:latin typeface="+mn-lt"/>
                <a:ea typeface="+mn-ea"/>
                <a:cs typeface="+mn-cs"/>
              </a:rPr>
              <a:t>id</a:t>
            </a:r>
            <a:r>
              <a:rPr lang="vi-VN"/>
              <a:t>: primary key auto increment.</a:t>
            </a:r>
          </a:p>
          <a:p>
            <a:r>
              <a:rPr lang="vi-VN" sz="1200" kern="1200">
                <a:solidFill>
                  <a:schemeClr val="tx1"/>
                </a:solidFill>
                <a:latin typeface="+mn-lt"/>
                <a:ea typeface="+mn-ea"/>
                <a:cs typeface="+mn-cs"/>
              </a:rPr>
              <a:t>name</a:t>
            </a:r>
            <a:r>
              <a:rPr lang="vi-VN"/>
              <a:t>, </a:t>
            </a:r>
            <a:r>
              <a:rPr lang="vi-VN" sz="1200" kern="1200">
                <a:solidFill>
                  <a:schemeClr val="tx1"/>
                </a:solidFill>
                <a:latin typeface="+mn-lt"/>
                <a:ea typeface="+mn-ea"/>
                <a:cs typeface="+mn-cs"/>
              </a:rPr>
              <a:t>price</a:t>
            </a:r>
            <a:r>
              <a:rPr lang="vi-VN"/>
              <a:t> (REAL), </a:t>
            </a:r>
            <a:r>
              <a:rPr lang="vi-VN" sz="1200" kern="1200">
                <a:solidFill>
                  <a:schemeClr val="tx1"/>
                </a:solidFill>
                <a:latin typeface="+mn-lt"/>
                <a:ea typeface="+mn-ea"/>
                <a:cs typeface="+mn-cs"/>
              </a:rPr>
              <a:t>quantity</a:t>
            </a:r>
            <a:r>
              <a:rPr lang="vi-VN"/>
              <a:t>, </a:t>
            </a:r>
            <a:r>
              <a:rPr lang="vi-VN" sz="1200" kern="1200">
                <a:solidFill>
                  <a:schemeClr val="tx1"/>
                </a:solidFill>
                <a:latin typeface="+mn-lt"/>
                <a:ea typeface="+mn-ea"/>
                <a:cs typeface="+mn-cs"/>
              </a:rPr>
              <a:t>description</a:t>
            </a:r>
            <a:r>
              <a:rPr lang="vi-VN"/>
              <a:t> (có thể null), </a:t>
            </a:r>
            <a:r>
              <a:rPr lang="vi-VN" sz="1200" kern="1200">
                <a:solidFill>
                  <a:schemeClr val="tx1"/>
                </a:solidFill>
                <a:latin typeface="+mn-lt"/>
                <a:ea typeface="+mn-ea"/>
                <a:cs typeface="+mn-cs"/>
              </a:rPr>
              <a:t>category_id</a:t>
            </a:r>
            <a:r>
              <a:rPr lang="vi-VN"/>
              <a:t> (khóa ngoại tham chiếu </a:t>
            </a:r>
            <a:r>
              <a:rPr lang="vi-VN" sz="1200" kern="1200">
                <a:solidFill>
                  <a:schemeClr val="tx1"/>
                </a:solidFill>
                <a:latin typeface="+mn-lt"/>
                <a:ea typeface="+mn-ea"/>
                <a:cs typeface="+mn-cs"/>
              </a:rPr>
              <a:t>categories.id</a:t>
            </a:r>
            <a:r>
              <a:rPr lang="vi-VN"/>
              <a:t>), </a:t>
            </a:r>
            <a:r>
              <a:rPr lang="vi-VN" sz="1200" kern="1200">
                <a:solidFill>
                  <a:schemeClr val="tx1"/>
                </a:solidFill>
                <a:latin typeface="+mn-lt"/>
                <a:ea typeface="+mn-ea"/>
                <a:cs typeface="+mn-cs"/>
              </a:rPr>
              <a:t>created_at</a:t>
            </a:r>
            <a:r>
              <a:rPr lang="vi-VN"/>
              <a:t> (lưu chuỗi thời gian).</a:t>
            </a:r>
          </a:p>
          <a:p>
            <a:r>
              <a:rPr lang="vi-VN"/>
              <a:t>Sau khi tạo bảng, chèn danh mục mẫu từ </a:t>
            </a:r>
            <a:r>
              <a:rPr lang="vi-VN" sz="1200" kern="1200">
                <a:solidFill>
                  <a:schemeClr val="tx1"/>
                </a:solidFill>
                <a:latin typeface="+mn-lt"/>
                <a:ea typeface="+mn-ea"/>
                <a:cs typeface="+mn-cs"/>
              </a:rPr>
              <a:t>Category.sampleCategories</a:t>
            </a:r>
            <a:r>
              <a:rPr lang="vi-VN"/>
              <a:t>.</a:t>
            </a:r>
          </a:p>
          <a:p>
            <a:r>
              <a:rPr lang="vi-VN" sz="1200" kern="1200">
                <a:solidFill>
                  <a:schemeClr val="tx1"/>
                </a:solidFill>
                <a:latin typeface="+mn-lt"/>
                <a:ea typeface="+mn-ea"/>
                <a:cs typeface="+mn-cs"/>
              </a:rPr>
              <a:t>_db ??=</a:t>
            </a:r>
            <a:r>
              <a:rPr lang="vi-VN"/>
              <a:t> đảm bảo nếu </a:t>
            </a:r>
            <a:r>
              <a:rPr lang="vi-VN" sz="1200" kern="1200">
                <a:solidFill>
                  <a:schemeClr val="tx1"/>
                </a:solidFill>
                <a:latin typeface="+mn-lt"/>
                <a:ea typeface="+mn-ea"/>
                <a:cs typeface="+mn-cs"/>
              </a:rPr>
              <a:t>_db</a:t>
            </a:r>
            <a:r>
              <a:rPr lang="vi-VN"/>
              <a:t> đã được gán trước đó thì không mở lại (singleton-like).</a:t>
            </a:r>
            <a:endParaRPr lang="en-US"/>
          </a:p>
          <a:p>
            <a:r>
              <a:rPr lang="en-US"/>
              <a:t>--------------------------------------------------------------------------------------------------------</a:t>
            </a:r>
          </a:p>
          <a:p>
            <a:r>
              <a:rPr lang="vi-VN"/>
              <a:t>Câu này:</a:t>
            </a:r>
          </a:p>
          <a:p>
            <a:r>
              <a:rPr lang="vi-VN" sz="1200" b="1" kern="1200">
                <a:solidFill>
                  <a:schemeClr val="tx1"/>
                </a:solidFill>
                <a:latin typeface="+mn-lt"/>
                <a:ea typeface="+mn-ea"/>
                <a:cs typeface="+mn-cs"/>
              </a:rPr>
              <a:t>category_id (khóa ngoại tham chiếu categories.id)</a:t>
            </a:r>
            <a:endParaRPr lang="vi-VN"/>
          </a:p>
          <a:p>
            <a:r>
              <a:rPr lang="vi-VN"/>
              <a:t>nghĩa là:</a:t>
            </a:r>
            <a:br>
              <a:rPr lang="vi-VN"/>
            </a:br>
            <a:r>
              <a:rPr lang="en-US"/>
              <a:t>👉 </a:t>
            </a:r>
            <a:r>
              <a:rPr lang="vi-VN" sz="1200" b="1" kern="1200">
                <a:solidFill>
                  <a:schemeClr val="tx1"/>
                </a:solidFill>
                <a:latin typeface="+mn-lt"/>
                <a:ea typeface="+mn-ea"/>
                <a:cs typeface="+mn-cs"/>
              </a:rPr>
              <a:t>category_id</a:t>
            </a:r>
            <a:r>
              <a:rPr lang="vi-VN"/>
              <a:t> là một </a:t>
            </a:r>
            <a:r>
              <a:rPr lang="vi-VN" b="1"/>
              <a:t>khóa ngoại (foreign key)</a:t>
            </a:r>
            <a:r>
              <a:rPr lang="vi-VN"/>
              <a:t> — nó </a:t>
            </a:r>
            <a:r>
              <a:rPr lang="vi-VN" b="1"/>
              <a:t>liên kết</a:t>
            </a:r>
            <a:r>
              <a:rPr lang="vi-VN"/>
              <a:t> (hoặc </a:t>
            </a:r>
            <a:r>
              <a:rPr lang="vi-VN" b="1"/>
              <a:t>tham chiếu</a:t>
            </a:r>
            <a:r>
              <a:rPr lang="vi-VN"/>
              <a:t>) đến </a:t>
            </a:r>
            <a:r>
              <a:rPr lang="vi-VN" b="1"/>
              <a:t>cột </a:t>
            </a:r>
            <a:r>
              <a:rPr lang="vi-VN" sz="1200" b="1" kern="1200">
                <a:solidFill>
                  <a:schemeClr val="tx1"/>
                </a:solidFill>
                <a:latin typeface="+mn-lt"/>
                <a:ea typeface="+mn-ea"/>
                <a:cs typeface="+mn-cs"/>
              </a:rPr>
              <a:t>id</a:t>
            </a:r>
            <a:r>
              <a:rPr lang="vi-VN" b="1"/>
              <a:t> trong bảng </a:t>
            </a:r>
            <a:r>
              <a:rPr lang="vi-VN" sz="1200" b="1" kern="1200">
                <a:solidFill>
                  <a:schemeClr val="tx1"/>
                </a:solidFill>
                <a:latin typeface="+mn-lt"/>
                <a:ea typeface="+mn-ea"/>
                <a:cs typeface="+mn-cs"/>
              </a:rPr>
              <a:t>categories</a:t>
            </a:r>
            <a:r>
              <a:rPr lang="vi-VN"/>
              <a:t>.</a:t>
            </a:r>
          </a:p>
          <a:p>
            <a:br>
              <a:rPr lang="vi-VN"/>
            </a:br>
            <a:endParaRPr lang="vi-VN"/>
          </a:p>
          <a:p>
            <a:r>
              <a:rPr lang="en-US" b="1"/>
              <a:t>🧩 </a:t>
            </a:r>
            <a:r>
              <a:rPr lang="vi-VN" b="1"/>
              <a:t>Giải thích chi tiết:</a:t>
            </a:r>
          </a:p>
          <a:p>
            <a:r>
              <a:rPr lang="vi-VN"/>
              <a:t>Giả sử bạn có </a:t>
            </a:r>
            <a:r>
              <a:rPr lang="vi-VN" b="1"/>
              <a:t>2 bảng</a:t>
            </a:r>
            <a:r>
              <a:rPr lang="vi-VN"/>
              <a:t> trong cơ sở dữ liệu:</a:t>
            </a:r>
          </a:p>
          <a:p>
            <a:r>
              <a:rPr lang="en-US" b="1"/>
              <a:t>🗂️ </a:t>
            </a:r>
            <a:r>
              <a:rPr lang="vi-VN" b="1"/>
              <a:t>Bảng 1: </a:t>
            </a:r>
            <a:r>
              <a:rPr lang="vi-VN" sz="1200" b="1" kern="1200">
                <a:solidFill>
                  <a:schemeClr val="tx1"/>
                </a:solidFill>
                <a:latin typeface="+mn-lt"/>
                <a:ea typeface="+mn-ea"/>
                <a:cs typeface="+mn-cs"/>
              </a:rPr>
              <a:t>categories</a:t>
            </a:r>
            <a:endParaRPr lang="vi-VN" b="1"/>
          </a:p>
          <a:p>
            <a:r>
              <a:rPr lang="vi-VN"/>
              <a:t>Id</a:t>
            </a:r>
            <a:r>
              <a:rPr lang="en-US"/>
              <a:t>	</a:t>
            </a:r>
            <a:r>
              <a:rPr lang="vi-VN"/>
              <a:t>name</a:t>
            </a:r>
            <a:endParaRPr lang="en-US"/>
          </a:p>
          <a:p>
            <a:r>
              <a:rPr lang="vi-VN"/>
              <a:t>1</a:t>
            </a:r>
            <a:r>
              <a:rPr lang="en-US"/>
              <a:t>	</a:t>
            </a:r>
            <a:r>
              <a:rPr lang="vi-VN"/>
              <a:t>Điện thoại</a:t>
            </a:r>
            <a:endParaRPr lang="en-US"/>
          </a:p>
          <a:p>
            <a:r>
              <a:rPr lang="vi-VN"/>
              <a:t>2</a:t>
            </a:r>
            <a:r>
              <a:rPr lang="en-US"/>
              <a:t>	</a:t>
            </a:r>
            <a:r>
              <a:rPr lang="vi-VN"/>
              <a:t>Laptop</a:t>
            </a:r>
            <a:endParaRPr lang="en-US"/>
          </a:p>
          <a:p>
            <a:r>
              <a:rPr lang="vi-VN"/>
              <a:t>3</a:t>
            </a:r>
            <a:r>
              <a:rPr lang="en-US"/>
              <a:t>	</a:t>
            </a:r>
            <a:r>
              <a:rPr lang="vi-VN"/>
              <a:t>Phụ kiện</a:t>
            </a:r>
          </a:p>
          <a:p>
            <a:r>
              <a:rPr lang="en-US" b="1"/>
              <a:t>🧾 </a:t>
            </a:r>
            <a:r>
              <a:rPr lang="vi-VN" b="1"/>
              <a:t>Bảng 2: </a:t>
            </a:r>
            <a:r>
              <a:rPr lang="vi-VN" sz="1200" b="1" kern="1200">
                <a:solidFill>
                  <a:schemeClr val="tx1"/>
                </a:solidFill>
                <a:latin typeface="+mn-lt"/>
                <a:ea typeface="+mn-ea"/>
                <a:cs typeface="+mn-cs"/>
              </a:rPr>
              <a:t>products</a:t>
            </a:r>
            <a:endParaRPr lang="vi-VN" b="1"/>
          </a:p>
          <a:p>
            <a:r>
              <a:rPr lang="vi-VN"/>
              <a:t>Id</a:t>
            </a:r>
            <a:r>
              <a:rPr lang="en-US"/>
              <a:t>	</a:t>
            </a:r>
            <a:r>
              <a:rPr lang="vi-VN"/>
              <a:t>name</a:t>
            </a:r>
            <a:r>
              <a:rPr lang="en-US"/>
              <a:t>		</a:t>
            </a:r>
            <a:r>
              <a:rPr lang="vi-VN"/>
              <a:t>price</a:t>
            </a:r>
            <a:r>
              <a:rPr lang="en-US"/>
              <a:t>	</a:t>
            </a:r>
            <a:r>
              <a:rPr lang="vi-VN"/>
              <a:t>category_id</a:t>
            </a:r>
            <a:endParaRPr lang="en-US"/>
          </a:p>
          <a:p>
            <a:r>
              <a:rPr lang="vi-VN"/>
              <a:t>1</a:t>
            </a:r>
            <a:r>
              <a:rPr lang="en-US"/>
              <a:t>	</a:t>
            </a:r>
            <a:r>
              <a:rPr lang="vi-VN"/>
              <a:t>iPhone </a:t>
            </a:r>
            <a:r>
              <a:rPr lang="en-US"/>
              <a:t>		</a:t>
            </a:r>
            <a:r>
              <a:rPr lang="vi-VN"/>
              <a:t>1525000000</a:t>
            </a:r>
            <a:r>
              <a:rPr lang="en-US"/>
              <a:t>	</a:t>
            </a:r>
            <a:r>
              <a:rPr lang="vi-VN"/>
              <a:t>1</a:t>
            </a:r>
            <a:endParaRPr lang="en-US"/>
          </a:p>
          <a:p>
            <a:r>
              <a:rPr lang="vi-VN"/>
              <a:t>2</a:t>
            </a:r>
            <a:r>
              <a:rPr lang="en-US"/>
              <a:t>	</a:t>
            </a:r>
            <a:r>
              <a:rPr lang="vi-VN"/>
              <a:t>MacBook Air</a:t>
            </a:r>
            <a:r>
              <a:rPr lang="en-US"/>
              <a:t>		</a:t>
            </a:r>
            <a:r>
              <a:rPr lang="vi-VN"/>
              <a:t>32000000</a:t>
            </a:r>
            <a:r>
              <a:rPr lang="en-US"/>
              <a:t>	</a:t>
            </a:r>
            <a:r>
              <a:rPr lang="vi-VN"/>
              <a:t>2</a:t>
            </a:r>
            <a:endParaRPr lang="en-US"/>
          </a:p>
          <a:p>
            <a:r>
              <a:rPr lang="vi-VN"/>
              <a:t>3</a:t>
            </a:r>
            <a:r>
              <a:rPr lang="en-US"/>
              <a:t>	</a:t>
            </a:r>
            <a:r>
              <a:rPr lang="vi-VN"/>
              <a:t>Tai nghe Bluetooth</a:t>
            </a:r>
            <a:r>
              <a:rPr lang="en-US"/>
              <a:t>	</a:t>
            </a:r>
            <a:r>
              <a:rPr lang="vi-VN"/>
              <a:t>800000</a:t>
            </a:r>
            <a:r>
              <a:rPr lang="en-US"/>
              <a:t>	</a:t>
            </a:r>
            <a:r>
              <a:rPr lang="vi-VN"/>
              <a:t>3</a:t>
            </a:r>
          </a:p>
          <a:p>
            <a:br>
              <a:rPr lang="vi-VN"/>
            </a:br>
            <a:endParaRPr lang="vi-VN"/>
          </a:p>
          <a:p>
            <a:r>
              <a:rPr lang="en-US" b="1"/>
              <a:t>🧠 </a:t>
            </a:r>
            <a:r>
              <a:rPr lang="vi-VN" b="1"/>
              <a:t>Ý nghĩa của “khóa ngoại” (</a:t>
            </a:r>
            <a:r>
              <a:rPr lang="vi-VN" sz="1200" b="1" kern="1200">
                <a:solidFill>
                  <a:schemeClr val="tx1"/>
                </a:solidFill>
                <a:latin typeface="+mn-lt"/>
                <a:ea typeface="+mn-ea"/>
                <a:cs typeface="+mn-cs"/>
              </a:rPr>
              <a:t>foreign key</a:t>
            </a:r>
            <a:r>
              <a:rPr lang="vi-VN" b="1"/>
              <a:t>):</a:t>
            </a:r>
          </a:p>
          <a:p>
            <a:r>
              <a:rPr lang="vi-VN"/>
              <a:t>Trong bảng </a:t>
            </a:r>
            <a:r>
              <a:rPr lang="vi-VN" sz="1200" kern="1200">
                <a:solidFill>
                  <a:schemeClr val="tx1"/>
                </a:solidFill>
                <a:latin typeface="+mn-lt"/>
                <a:ea typeface="+mn-ea"/>
                <a:cs typeface="+mn-cs"/>
              </a:rPr>
              <a:t>products</a:t>
            </a:r>
            <a:r>
              <a:rPr lang="vi-VN"/>
              <a:t>, cột </a:t>
            </a:r>
            <a:r>
              <a:rPr lang="vi-VN" sz="1200" b="1" kern="1200">
                <a:solidFill>
                  <a:schemeClr val="tx1"/>
                </a:solidFill>
                <a:latin typeface="+mn-lt"/>
                <a:ea typeface="+mn-ea"/>
                <a:cs typeface="+mn-cs"/>
              </a:rPr>
              <a:t>category_id</a:t>
            </a:r>
            <a:r>
              <a:rPr lang="vi-VN"/>
              <a:t> lưu giá trị </a:t>
            </a:r>
            <a:r>
              <a:rPr lang="vi-VN" sz="1200" b="1" kern="1200">
                <a:solidFill>
                  <a:schemeClr val="tx1"/>
                </a:solidFill>
                <a:latin typeface="+mn-lt"/>
                <a:ea typeface="+mn-ea"/>
                <a:cs typeface="+mn-cs"/>
              </a:rPr>
              <a:t>id</a:t>
            </a:r>
            <a:r>
              <a:rPr lang="vi-VN"/>
              <a:t> từ bảng </a:t>
            </a:r>
            <a:r>
              <a:rPr lang="vi-VN" sz="1200" b="1" kern="1200">
                <a:solidFill>
                  <a:schemeClr val="tx1"/>
                </a:solidFill>
                <a:latin typeface="+mn-lt"/>
                <a:ea typeface="+mn-ea"/>
                <a:cs typeface="+mn-cs"/>
              </a:rPr>
              <a:t>categories</a:t>
            </a:r>
            <a:r>
              <a:rPr lang="vi-VN"/>
              <a:t>.</a:t>
            </a:r>
          </a:p>
          <a:p>
            <a:r>
              <a:rPr lang="vi-VN"/>
              <a:t>Nhờ đó, </a:t>
            </a:r>
            <a:r>
              <a:rPr lang="vi-VN" b="1"/>
              <a:t>mỗi sản phẩm biết nó thuộc danh mục nào</a:t>
            </a:r>
            <a:r>
              <a:rPr lang="vi-VN"/>
              <a:t>.</a:t>
            </a:r>
          </a:p>
          <a:p>
            <a:r>
              <a:rPr lang="vi-VN"/>
              <a:t>➡️ Ví dụ:</a:t>
            </a:r>
            <a:br>
              <a:rPr lang="vi-VN"/>
            </a:br>
            <a:r>
              <a:rPr lang="vi-VN" sz="1200" kern="1200">
                <a:solidFill>
                  <a:schemeClr val="tx1"/>
                </a:solidFill>
                <a:latin typeface="+mn-lt"/>
                <a:ea typeface="+mn-ea"/>
                <a:cs typeface="+mn-cs"/>
              </a:rPr>
              <a:t>iPhone 15</a:t>
            </a:r>
            <a:r>
              <a:rPr lang="vi-VN"/>
              <a:t> có </a:t>
            </a:r>
            <a:r>
              <a:rPr lang="vi-VN" sz="1200" kern="1200">
                <a:solidFill>
                  <a:schemeClr val="tx1"/>
                </a:solidFill>
                <a:latin typeface="+mn-lt"/>
                <a:ea typeface="+mn-ea"/>
                <a:cs typeface="+mn-cs"/>
              </a:rPr>
              <a:t>category_id = 1</a:t>
            </a:r>
            <a:r>
              <a:rPr lang="vi-VN"/>
              <a:t> → tra trong </a:t>
            </a:r>
            <a:r>
              <a:rPr lang="vi-VN" sz="1200" kern="1200">
                <a:solidFill>
                  <a:schemeClr val="tx1"/>
                </a:solidFill>
                <a:latin typeface="+mn-lt"/>
                <a:ea typeface="+mn-ea"/>
                <a:cs typeface="+mn-cs"/>
              </a:rPr>
              <a:t>categories</a:t>
            </a:r>
            <a:r>
              <a:rPr lang="vi-VN"/>
              <a:t> thì </a:t>
            </a:r>
            <a:r>
              <a:rPr lang="vi-VN" sz="1200" kern="1200">
                <a:solidFill>
                  <a:schemeClr val="tx1"/>
                </a:solidFill>
                <a:latin typeface="+mn-lt"/>
                <a:ea typeface="+mn-ea"/>
                <a:cs typeface="+mn-cs"/>
              </a:rPr>
              <a:t>id = 1</a:t>
            </a:r>
            <a:r>
              <a:rPr lang="vi-VN"/>
              <a:t> là </a:t>
            </a:r>
            <a:r>
              <a:rPr lang="vi-VN" b="1"/>
              <a:t>Điện thoại</a:t>
            </a:r>
            <a:r>
              <a:rPr lang="vi-VN"/>
              <a:t> → nghĩa là sản phẩm này thuộc danh mục </a:t>
            </a:r>
            <a:r>
              <a:rPr lang="vi-VN" b="1"/>
              <a:t>Điện thoại</a:t>
            </a:r>
            <a:r>
              <a:rPr lang="vi-VN"/>
              <a:t>.</a:t>
            </a:r>
          </a:p>
          <a:p>
            <a:br>
              <a:rPr lang="vi-VN"/>
            </a:br>
            <a:endParaRPr lang="vi-VN"/>
          </a:p>
          <a:p>
            <a:r>
              <a:rPr lang="en-US" b="1"/>
              <a:t>🔗 </a:t>
            </a:r>
            <a:r>
              <a:rPr lang="vi-VN" b="1"/>
              <a:t>Cách định nghĩa trong SQL:</a:t>
            </a:r>
          </a:p>
          <a:p>
            <a:pPr rtl="0"/>
            <a:r>
              <a:rPr lang="vi-VN" sz="1200" kern="1200">
                <a:solidFill>
                  <a:schemeClr val="tx1"/>
                </a:solidFill>
                <a:latin typeface="+mn-lt"/>
                <a:ea typeface="+mn-ea"/>
                <a:cs typeface="+mn-cs"/>
              </a:rPr>
              <a:t>CREATE TABLE products (</a:t>
            </a:r>
          </a:p>
          <a:p>
            <a:pPr rtl="0"/>
            <a:r>
              <a:rPr lang="vi-VN" sz="1200" kern="1200">
                <a:solidFill>
                  <a:schemeClr val="tx1"/>
                </a:solidFill>
                <a:latin typeface="+mn-lt"/>
                <a:ea typeface="+mn-ea"/>
                <a:cs typeface="+mn-cs"/>
              </a:rPr>
              <a:t>  id INTEGER PRIMARY KEY AUTOINCREMENT,</a:t>
            </a:r>
          </a:p>
          <a:p>
            <a:pPr rtl="0"/>
            <a:r>
              <a:rPr lang="vi-VN" sz="1200" kern="1200">
                <a:solidFill>
                  <a:schemeClr val="tx1"/>
                </a:solidFill>
                <a:latin typeface="+mn-lt"/>
                <a:ea typeface="+mn-ea"/>
                <a:cs typeface="+mn-cs"/>
              </a:rPr>
              <a:t>  name TEXT,</a:t>
            </a:r>
          </a:p>
          <a:p>
            <a:pPr rtl="0"/>
            <a:r>
              <a:rPr lang="vi-VN" sz="1200" kern="1200">
                <a:solidFill>
                  <a:schemeClr val="tx1"/>
                </a:solidFill>
                <a:latin typeface="+mn-lt"/>
                <a:ea typeface="+mn-ea"/>
                <a:cs typeface="+mn-cs"/>
              </a:rPr>
              <a:t>  price REAL,</a:t>
            </a:r>
          </a:p>
          <a:p>
            <a:pPr rtl="0"/>
            <a:r>
              <a:rPr lang="vi-VN" sz="1200" kern="1200">
                <a:solidFill>
                  <a:schemeClr val="tx1"/>
                </a:solidFill>
                <a:latin typeface="+mn-lt"/>
                <a:ea typeface="+mn-ea"/>
                <a:cs typeface="+mn-cs"/>
              </a:rPr>
              <a:t>  category_id INTEGER,</a:t>
            </a:r>
          </a:p>
          <a:p>
            <a:pPr rtl="0"/>
            <a:r>
              <a:rPr lang="vi-VN" sz="1200" kern="1200">
                <a:solidFill>
                  <a:schemeClr val="tx1"/>
                </a:solidFill>
                <a:latin typeface="+mn-lt"/>
                <a:ea typeface="+mn-ea"/>
                <a:cs typeface="+mn-cs"/>
              </a:rPr>
              <a:t>  FOREIGN KEY (category_id) REFERENCES categories(id)</a:t>
            </a:r>
          </a:p>
          <a:p>
            <a:pPr rtl="0"/>
            <a:r>
              <a:rPr lang="vi-VN" sz="1200" kern="1200">
                <a:solidFill>
                  <a:schemeClr val="tx1"/>
                </a:solidFill>
                <a:latin typeface="+mn-lt"/>
                <a:ea typeface="+mn-ea"/>
                <a:cs typeface="+mn-cs"/>
              </a:rPr>
              <a:t>);</a:t>
            </a:r>
          </a:p>
          <a:p>
            <a:r>
              <a:rPr lang="en-US"/>
              <a:t>👉 </a:t>
            </a:r>
            <a:r>
              <a:rPr lang="vi-VN" sz="1200" kern="1200">
                <a:solidFill>
                  <a:schemeClr val="tx1"/>
                </a:solidFill>
                <a:latin typeface="+mn-lt"/>
                <a:ea typeface="+mn-ea"/>
                <a:cs typeface="+mn-cs"/>
              </a:rPr>
              <a:t>FOREIGN KEY (category_id) REFERENCES categories(id)</a:t>
            </a:r>
            <a:br>
              <a:rPr lang="vi-VN"/>
            </a:br>
            <a:r>
              <a:rPr lang="vi-VN"/>
              <a:t>nghĩa là:</a:t>
            </a:r>
          </a:p>
          <a:p>
            <a:r>
              <a:rPr lang="vi-VN" sz="1200" kern="1200">
                <a:solidFill>
                  <a:schemeClr val="tx1"/>
                </a:solidFill>
                <a:latin typeface="+mn-lt"/>
                <a:ea typeface="+mn-ea"/>
                <a:cs typeface="+mn-cs"/>
              </a:rPr>
              <a:t>category_id</a:t>
            </a:r>
            <a:r>
              <a:rPr lang="vi-VN"/>
              <a:t> </a:t>
            </a:r>
            <a:r>
              <a:rPr lang="vi-VN" b="1"/>
              <a:t>phải trùng với</a:t>
            </a:r>
            <a:r>
              <a:rPr lang="vi-VN"/>
              <a:t> một </a:t>
            </a:r>
            <a:r>
              <a:rPr lang="vi-VN" sz="1200" kern="1200">
                <a:solidFill>
                  <a:schemeClr val="tx1"/>
                </a:solidFill>
                <a:latin typeface="+mn-lt"/>
                <a:ea typeface="+mn-ea"/>
                <a:cs typeface="+mn-cs"/>
              </a:rPr>
              <a:t>id</a:t>
            </a:r>
            <a:r>
              <a:rPr lang="vi-VN"/>
              <a:t> có tồn tại trong bảng </a:t>
            </a:r>
            <a:r>
              <a:rPr lang="vi-VN" sz="1200" kern="1200">
                <a:solidFill>
                  <a:schemeClr val="tx1"/>
                </a:solidFill>
                <a:latin typeface="+mn-lt"/>
                <a:ea typeface="+mn-ea"/>
                <a:cs typeface="+mn-cs"/>
              </a:rPr>
              <a:t>categories</a:t>
            </a:r>
            <a:r>
              <a:rPr lang="vi-VN"/>
              <a:t>.</a:t>
            </a:r>
          </a:p>
          <a:p>
            <a:r>
              <a:rPr lang="vi-VN"/>
              <a:t>Nếu bạn cố thêm sản phẩm có </a:t>
            </a:r>
            <a:r>
              <a:rPr lang="vi-VN" sz="1200" kern="1200">
                <a:solidFill>
                  <a:schemeClr val="tx1"/>
                </a:solidFill>
                <a:latin typeface="+mn-lt"/>
                <a:ea typeface="+mn-ea"/>
                <a:cs typeface="+mn-cs"/>
              </a:rPr>
              <a:t>category_id = 99</a:t>
            </a:r>
            <a:r>
              <a:rPr lang="vi-VN"/>
              <a:t> (mà bảng </a:t>
            </a:r>
            <a:r>
              <a:rPr lang="vi-VN" sz="1200" kern="1200">
                <a:solidFill>
                  <a:schemeClr val="tx1"/>
                </a:solidFill>
                <a:latin typeface="+mn-lt"/>
                <a:ea typeface="+mn-ea"/>
                <a:cs typeface="+mn-cs"/>
              </a:rPr>
              <a:t>categories</a:t>
            </a:r>
            <a:r>
              <a:rPr lang="vi-VN"/>
              <a:t> không có </a:t>
            </a:r>
            <a:r>
              <a:rPr lang="vi-VN" sz="1200" kern="1200">
                <a:solidFill>
                  <a:schemeClr val="tx1"/>
                </a:solidFill>
                <a:latin typeface="+mn-lt"/>
                <a:ea typeface="+mn-ea"/>
                <a:cs typeface="+mn-cs"/>
              </a:rPr>
              <a:t>id = 99</a:t>
            </a:r>
            <a:r>
              <a:rPr lang="vi-VN"/>
              <a:t>), thì cơ sở dữ liệu sẽ </a:t>
            </a:r>
            <a:r>
              <a:rPr lang="vi-VN" b="1"/>
              <a:t>báo lỗi</a:t>
            </a:r>
            <a:r>
              <a:rPr lang="vi-VN"/>
              <a:t>.</a:t>
            </a:r>
          </a:p>
          <a:p>
            <a:br>
              <a:rPr lang="vi-VN"/>
            </a:br>
            <a:endParaRPr lang="vi-VN"/>
          </a:p>
          <a:p>
            <a:r>
              <a:rPr lang="en-US" b="1"/>
              <a:t>🎯 </a:t>
            </a:r>
            <a:r>
              <a:rPr lang="vi-VN" b="1"/>
              <a:t>Tóm tắt dễ hiểu:</a:t>
            </a:r>
          </a:p>
          <a:p>
            <a:r>
              <a:rPr lang="vi-VN"/>
              <a:t>Thuật ngữ</a:t>
            </a:r>
            <a:r>
              <a:rPr lang="en-US"/>
              <a:t>			</a:t>
            </a:r>
            <a:r>
              <a:rPr lang="vi-VN"/>
              <a:t>Nghĩa</a:t>
            </a:r>
            <a:endParaRPr lang="en-US"/>
          </a:p>
          <a:p>
            <a:r>
              <a:rPr lang="vi-VN" b="1"/>
              <a:t>Khóa chính (Primary Key)</a:t>
            </a:r>
            <a:r>
              <a:rPr lang="en-US" b="1"/>
              <a:t>	</a:t>
            </a:r>
            <a:r>
              <a:rPr lang="vi-VN"/>
              <a:t>Xác định duy nhất từng hàng trong bảng (vd: </a:t>
            </a:r>
            <a:r>
              <a:rPr lang="vi-VN" sz="1200" kern="1200">
                <a:solidFill>
                  <a:schemeClr val="tx1"/>
                </a:solidFill>
                <a:latin typeface="+mn-lt"/>
                <a:ea typeface="+mn-ea"/>
                <a:cs typeface="+mn-cs"/>
              </a:rPr>
              <a:t>id</a:t>
            </a:r>
            <a:r>
              <a:rPr lang="vi-VN"/>
              <a:t> trong </a:t>
            </a:r>
            <a:r>
              <a:rPr lang="vi-VN" sz="1200" kern="1200">
                <a:solidFill>
                  <a:schemeClr val="tx1"/>
                </a:solidFill>
                <a:latin typeface="+mn-lt"/>
                <a:ea typeface="+mn-ea"/>
                <a:cs typeface="+mn-cs"/>
              </a:rPr>
              <a:t>categories</a:t>
            </a:r>
            <a:r>
              <a:rPr lang="vi-VN"/>
              <a:t>)</a:t>
            </a:r>
            <a:endParaRPr lang="en-US"/>
          </a:p>
          <a:p>
            <a:r>
              <a:rPr lang="vi-VN" b="1"/>
              <a:t>Khóa ngoại (Foreign Key)</a:t>
            </a:r>
            <a:r>
              <a:rPr lang="en-US" b="1"/>
              <a:t>	</a:t>
            </a:r>
            <a:r>
              <a:rPr lang="vi-VN"/>
              <a:t>Dùng để liên kết bảng này với bảng khác (vd: </a:t>
            </a:r>
            <a:r>
              <a:rPr lang="vi-VN" sz="1200" kern="1200">
                <a:solidFill>
                  <a:schemeClr val="tx1"/>
                </a:solidFill>
                <a:latin typeface="+mn-lt"/>
                <a:ea typeface="+mn-ea"/>
                <a:cs typeface="+mn-cs"/>
              </a:rPr>
              <a:t>category_id</a:t>
            </a:r>
            <a:r>
              <a:rPr lang="vi-VN"/>
              <a:t> trong </a:t>
            </a:r>
            <a:r>
              <a:rPr lang="vi-VN" sz="1200" kern="1200">
                <a:solidFill>
                  <a:schemeClr val="tx1"/>
                </a:solidFill>
                <a:latin typeface="+mn-lt"/>
                <a:ea typeface="+mn-ea"/>
                <a:cs typeface="+mn-cs"/>
              </a:rPr>
              <a:t>products</a:t>
            </a:r>
            <a:r>
              <a:rPr lang="vi-VN"/>
              <a:t>)</a:t>
            </a:r>
            <a:endParaRPr lang="en-US"/>
          </a:p>
          <a:p>
            <a:r>
              <a:rPr lang="vi-VN" b="1"/>
              <a:t>Tham chiếu (References)</a:t>
            </a:r>
            <a:r>
              <a:rPr lang="en-US" b="1"/>
              <a:t>	</a:t>
            </a:r>
            <a:r>
              <a:rPr lang="vi-VN"/>
              <a:t>Cho biết khóa ngoại này nối với cột nào, của bảng nào</a:t>
            </a:r>
          </a:p>
          <a:p>
            <a:endParaRPr lang="vi-VN"/>
          </a:p>
          <a:p>
            <a:r>
              <a:rPr lang="en-US"/>
              <a:t>---------------------------------------------------------------------------------------------------</a:t>
            </a:r>
          </a:p>
          <a:p>
            <a:r>
              <a:rPr lang="en-US" b="1"/>
              <a:t>CATEGORY — lấy tất cả categories</a:t>
            </a:r>
          </a:p>
          <a:p>
            <a:pPr rtl="0"/>
            <a:r>
              <a:rPr lang="en-US" sz="1200" kern="1200">
                <a:solidFill>
                  <a:schemeClr val="tx1"/>
                </a:solidFill>
                <a:latin typeface="+mn-lt"/>
                <a:ea typeface="+mn-ea"/>
                <a:cs typeface="+mn-cs"/>
              </a:rPr>
              <a:t>  static Future&lt;List&lt;Category&gt;&gt; getAllCategories() async {</a:t>
            </a:r>
          </a:p>
          <a:p>
            <a:pPr rtl="0"/>
            <a:r>
              <a:rPr lang="en-US" sz="1200" kern="1200">
                <a:solidFill>
                  <a:schemeClr val="tx1"/>
                </a:solidFill>
                <a:latin typeface="+mn-lt"/>
                <a:ea typeface="+mn-ea"/>
                <a:cs typeface="+mn-cs"/>
              </a:rPr>
              <a:t>    final db = await initDb();</a:t>
            </a:r>
          </a:p>
          <a:p>
            <a:pPr rtl="0"/>
            <a:r>
              <a:rPr lang="en-US" sz="1200" kern="1200">
                <a:solidFill>
                  <a:schemeClr val="tx1"/>
                </a:solidFill>
                <a:latin typeface="+mn-lt"/>
                <a:ea typeface="+mn-ea"/>
                <a:cs typeface="+mn-cs"/>
              </a:rPr>
              <a:t>    final data = await db.query('categories');</a:t>
            </a:r>
          </a:p>
          <a:p>
            <a:pPr rtl="0"/>
            <a:r>
              <a:rPr lang="en-US" sz="1200" kern="1200">
                <a:solidFill>
                  <a:schemeClr val="tx1"/>
                </a:solidFill>
                <a:latin typeface="+mn-lt"/>
                <a:ea typeface="+mn-ea"/>
                <a:cs typeface="+mn-cs"/>
              </a:rPr>
              <a:t>    return data.map((e) =&gt; Category.fromMap(e)).toList();</a:t>
            </a:r>
          </a:p>
          <a:p>
            <a:pPr rtl="0"/>
            <a:r>
              <a:rPr lang="en-US" sz="1200" kern="1200">
                <a:solidFill>
                  <a:schemeClr val="tx1"/>
                </a:solidFill>
                <a:latin typeface="+mn-lt"/>
                <a:ea typeface="+mn-ea"/>
                <a:cs typeface="+mn-cs"/>
              </a:rPr>
              <a:t>  }</a:t>
            </a:r>
          </a:p>
          <a:p>
            <a:r>
              <a:rPr lang="en-US"/>
              <a:t>Gọi </a:t>
            </a:r>
            <a:r>
              <a:rPr lang="en-US" sz="1200" kern="1200">
                <a:solidFill>
                  <a:schemeClr val="tx1"/>
                </a:solidFill>
                <a:latin typeface="+mn-lt"/>
                <a:ea typeface="+mn-ea"/>
                <a:cs typeface="+mn-cs"/>
              </a:rPr>
              <a:t>initDb()</a:t>
            </a:r>
            <a:r>
              <a:rPr lang="en-US"/>
              <a:t> (nếu đã init thì trả instance ngay).</a:t>
            </a:r>
          </a:p>
          <a:p>
            <a:r>
              <a:rPr lang="en-US" sz="1200" kern="1200">
                <a:solidFill>
                  <a:schemeClr val="tx1"/>
                </a:solidFill>
                <a:latin typeface="+mn-lt"/>
                <a:ea typeface="+mn-ea"/>
                <a:cs typeface="+mn-cs"/>
              </a:rPr>
              <a:t>db.query('categories')</a:t>
            </a:r>
            <a:r>
              <a:rPr lang="en-US"/>
              <a:t> lấy tất cả rows.</a:t>
            </a:r>
          </a:p>
          <a:p>
            <a:r>
              <a:rPr lang="en-US"/>
              <a:t>Chuyển từng Map thành </a:t>
            </a:r>
            <a:r>
              <a:rPr lang="en-US" sz="1200" kern="1200">
                <a:solidFill>
                  <a:schemeClr val="tx1"/>
                </a:solidFill>
                <a:latin typeface="+mn-lt"/>
                <a:ea typeface="+mn-ea"/>
                <a:cs typeface="+mn-cs"/>
              </a:rPr>
              <a:t>Category</a:t>
            </a:r>
            <a:r>
              <a:rPr lang="en-US"/>
              <a:t> bằng </a:t>
            </a:r>
            <a:r>
              <a:rPr lang="en-US" sz="1200" kern="1200">
                <a:solidFill>
                  <a:schemeClr val="tx1"/>
                </a:solidFill>
                <a:latin typeface="+mn-lt"/>
                <a:ea typeface="+mn-ea"/>
                <a:cs typeface="+mn-cs"/>
              </a:rPr>
              <a:t>Category.fromMap</a:t>
            </a:r>
            <a:r>
              <a:rPr lang="en-US"/>
              <a:t>.</a:t>
            </a:r>
          </a:p>
          <a:p>
            <a:r>
              <a:rPr lang="vi-VN" b="1"/>
              <a:t>Câu lệnh này:</a:t>
            </a:r>
          </a:p>
          <a:p>
            <a:pPr rtl="0"/>
            <a:r>
              <a:rPr lang="vi-VN" sz="1200" kern="1200">
                <a:solidFill>
                  <a:schemeClr val="tx1"/>
                </a:solidFill>
                <a:latin typeface="+mn-lt"/>
                <a:ea typeface="+mn-ea"/>
                <a:cs typeface="+mn-cs"/>
              </a:rPr>
              <a:t>return data.map((e) =&gt; Category.fromMap(e)).toList();</a:t>
            </a:r>
          </a:p>
          <a:p>
            <a:r>
              <a:rPr lang="en-US"/>
              <a:t>👉 </a:t>
            </a:r>
            <a:r>
              <a:rPr lang="vi-VN"/>
              <a:t>là một </a:t>
            </a:r>
            <a:r>
              <a:rPr lang="vi-VN" b="1"/>
              <a:t>câu lệnh trong Dart</a:t>
            </a:r>
            <a:r>
              <a:rPr lang="vi-VN"/>
              <a:t> dùng để </a:t>
            </a:r>
            <a:r>
              <a:rPr lang="vi-VN" b="1"/>
              <a:t>chuyển danh sách dữ liệu thô (map)</a:t>
            </a:r>
            <a:r>
              <a:rPr lang="vi-VN"/>
              <a:t> từ database thành </a:t>
            </a:r>
            <a:r>
              <a:rPr lang="vi-VN" b="1"/>
              <a:t>danh sách các đối tượng (object)</a:t>
            </a:r>
            <a:r>
              <a:rPr lang="vi-VN"/>
              <a:t> kiểu </a:t>
            </a:r>
            <a:r>
              <a:rPr lang="vi-VN" sz="1200" kern="1200">
                <a:solidFill>
                  <a:schemeClr val="tx1"/>
                </a:solidFill>
                <a:latin typeface="+mn-lt"/>
                <a:ea typeface="+mn-ea"/>
                <a:cs typeface="+mn-cs"/>
              </a:rPr>
              <a:t>Category</a:t>
            </a:r>
            <a:r>
              <a:rPr lang="vi-VN"/>
              <a:t>.</a:t>
            </a:r>
          </a:p>
          <a:p>
            <a:br>
              <a:rPr lang="vi-VN"/>
            </a:br>
            <a:endParaRPr lang="vi-VN"/>
          </a:p>
          <a:p>
            <a:r>
              <a:rPr lang="en-US" b="1"/>
              <a:t>🧩 </a:t>
            </a:r>
            <a:r>
              <a:rPr lang="vi-VN" b="1"/>
              <a:t>Giải thích từng phần:</a:t>
            </a:r>
          </a:p>
          <a:p>
            <a:r>
              <a:rPr lang="vi-VN"/>
              <a:t>Giả sử bạn vừa </a:t>
            </a:r>
            <a:r>
              <a:rPr lang="vi-VN" b="1"/>
              <a:t>truy vấn dữ liệu từ SQLite</a:t>
            </a:r>
            <a:r>
              <a:rPr lang="vi-VN"/>
              <a:t>, kết quả thường là:</a:t>
            </a:r>
          </a:p>
          <a:p>
            <a:pPr rtl="0"/>
            <a:r>
              <a:rPr lang="vi-VN" sz="1200" kern="1200">
                <a:solidFill>
                  <a:schemeClr val="tx1"/>
                </a:solidFill>
                <a:latin typeface="+mn-lt"/>
                <a:ea typeface="+mn-ea"/>
                <a:cs typeface="+mn-cs"/>
              </a:rPr>
              <a:t>final data = [</a:t>
            </a:r>
          </a:p>
          <a:p>
            <a:pPr rtl="0"/>
            <a:r>
              <a:rPr lang="vi-VN" sz="1200" kern="1200">
                <a:solidFill>
                  <a:schemeClr val="tx1"/>
                </a:solidFill>
                <a:latin typeface="+mn-lt"/>
                <a:ea typeface="+mn-ea"/>
                <a:cs typeface="+mn-cs"/>
              </a:rPr>
              <a:t>  {'id': 1, 'name': 'Điện thoại'},</a:t>
            </a:r>
          </a:p>
          <a:p>
            <a:pPr rtl="0"/>
            <a:r>
              <a:rPr lang="vi-VN" sz="1200" kern="1200">
                <a:solidFill>
                  <a:schemeClr val="tx1"/>
                </a:solidFill>
                <a:latin typeface="+mn-lt"/>
                <a:ea typeface="+mn-ea"/>
                <a:cs typeface="+mn-cs"/>
              </a:rPr>
              <a:t>  {'id': 2, 'name': 'Laptop'},</a:t>
            </a:r>
          </a:p>
          <a:p>
            <a:pPr rtl="0"/>
            <a:r>
              <a:rPr lang="vi-VN" sz="1200" kern="1200">
                <a:solidFill>
                  <a:schemeClr val="tx1"/>
                </a:solidFill>
                <a:latin typeface="+mn-lt"/>
                <a:ea typeface="+mn-ea"/>
                <a:cs typeface="+mn-cs"/>
              </a:rPr>
              <a:t>  {'id': 3, 'name': 'Phụ kiện'},</a:t>
            </a:r>
          </a:p>
          <a:p>
            <a:pPr rtl="0"/>
            <a:r>
              <a:rPr lang="vi-VN" sz="1200" kern="1200">
                <a:solidFill>
                  <a:schemeClr val="tx1"/>
                </a:solidFill>
                <a:latin typeface="+mn-lt"/>
                <a:ea typeface="+mn-ea"/>
                <a:cs typeface="+mn-cs"/>
              </a:rPr>
              <a:t>];</a:t>
            </a:r>
          </a:p>
          <a:p>
            <a:r>
              <a:rPr lang="vi-VN"/>
              <a:t>Đây là </a:t>
            </a:r>
            <a:r>
              <a:rPr lang="vi-VN" b="1"/>
              <a:t>List&lt;Map&lt;String, dynamic&gt;&gt;</a:t>
            </a:r>
            <a:r>
              <a:rPr lang="vi-VN"/>
              <a:t>, tức là </a:t>
            </a:r>
            <a:r>
              <a:rPr lang="vi-VN" b="1"/>
              <a:t>một danh sách các bản ghi</a:t>
            </a:r>
            <a:r>
              <a:rPr lang="vi-VN"/>
              <a:t>, mỗi bản ghi là một </a:t>
            </a:r>
            <a:r>
              <a:rPr lang="vi-VN" b="1"/>
              <a:t>Map</a:t>
            </a:r>
            <a:r>
              <a:rPr lang="vi-VN"/>
              <a:t>.</a:t>
            </a:r>
          </a:p>
          <a:p>
            <a:br>
              <a:rPr lang="vi-VN"/>
            </a:br>
            <a:endParaRPr lang="vi-VN"/>
          </a:p>
          <a:p>
            <a:r>
              <a:rPr lang="en-US" b="1"/>
              <a:t>🔍 </a:t>
            </a:r>
            <a:r>
              <a:rPr lang="vi-VN" b="1"/>
              <a:t>Bước 1: </a:t>
            </a:r>
            <a:r>
              <a:rPr lang="vi-VN" sz="1200" b="1" kern="1200">
                <a:solidFill>
                  <a:schemeClr val="tx1"/>
                </a:solidFill>
                <a:latin typeface="+mn-lt"/>
                <a:ea typeface="+mn-ea"/>
                <a:cs typeface="+mn-cs"/>
              </a:rPr>
              <a:t>data.map((e) =&gt; Category.fromMap(e))</a:t>
            </a:r>
            <a:endParaRPr lang="vi-VN" b="1"/>
          </a:p>
          <a:p>
            <a:r>
              <a:rPr lang="vi-VN" sz="1200" kern="1200">
                <a:solidFill>
                  <a:schemeClr val="tx1"/>
                </a:solidFill>
                <a:latin typeface="+mn-lt"/>
                <a:ea typeface="+mn-ea"/>
                <a:cs typeface="+mn-cs"/>
              </a:rPr>
              <a:t>.map()</a:t>
            </a:r>
            <a:r>
              <a:rPr lang="vi-VN"/>
              <a:t> là </a:t>
            </a:r>
            <a:r>
              <a:rPr lang="vi-VN" b="1"/>
              <a:t>hàm ánh xạ</a:t>
            </a:r>
            <a:r>
              <a:rPr lang="vi-VN"/>
              <a:t> (mapping function) — nó </a:t>
            </a:r>
            <a:r>
              <a:rPr lang="vi-VN" b="1"/>
              <a:t>duyệt qua từng phần tử </a:t>
            </a:r>
            <a:r>
              <a:rPr lang="vi-VN" sz="1200" b="1" kern="1200">
                <a:solidFill>
                  <a:schemeClr val="tx1"/>
                </a:solidFill>
                <a:latin typeface="+mn-lt"/>
                <a:ea typeface="+mn-ea"/>
                <a:cs typeface="+mn-cs"/>
              </a:rPr>
              <a:t>e</a:t>
            </a:r>
            <a:r>
              <a:rPr lang="vi-VN" b="1"/>
              <a:t> trong </a:t>
            </a:r>
            <a:r>
              <a:rPr lang="vi-VN" sz="1200" b="1" kern="1200">
                <a:solidFill>
                  <a:schemeClr val="tx1"/>
                </a:solidFill>
                <a:latin typeface="+mn-lt"/>
                <a:ea typeface="+mn-ea"/>
                <a:cs typeface="+mn-cs"/>
              </a:rPr>
              <a:t>data</a:t>
            </a:r>
            <a:r>
              <a:rPr lang="vi-VN"/>
              <a:t>.</a:t>
            </a:r>
          </a:p>
          <a:p>
            <a:r>
              <a:rPr lang="vi-VN"/>
              <a:t>Với mỗi </a:t>
            </a:r>
            <a:r>
              <a:rPr lang="vi-VN" sz="1200" kern="1200">
                <a:solidFill>
                  <a:schemeClr val="tx1"/>
                </a:solidFill>
                <a:latin typeface="+mn-lt"/>
                <a:ea typeface="+mn-ea"/>
                <a:cs typeface="+mn-cs"/>
              </a:rPr>
              <a:t>e</a:t>
            </a:r>
            <a:r>
              <a:rPr lang="vi-VN"/>
              <a:t> (ví dụ </a:t>
            </a:r>
            <a:r>
              <a:rPr lang="vi-VN" sz="1200" kern="1200">
                <a:solidFill>
                  <a:schemeClr val="tx1"/>
                </a:solidFill>
                <a:latin typeface="+mn-lt"/>
                <a:ea typeface="+mn-ea"/>
                <a:cs typeface="+mn-cs"/>
              </a:rPr>
              <a:t>{'id': 1, 'name': 'Điện thoại'}</a:t>
            </a:r>
            <a:r>
              <a:rPr lang="vi-VN"/>
              <a:t>), nó </a:t>
            </a:r>
            <a:r>
              <a:rPr lang="vi-VN" b="1"/>
              <a:t>gọi hàm </a:t>
            </a:r>
            <a:r>
              <a:rPr lang="vi-VN" sz="1200" b="1" kern="1200">
                <a:solidFill>
                  <a:schemeClr val="tx1"/>
                </a:solidFill>
                <a:latin typeface="+mn-lt"/>
                <a:ea typeface="+mn-ea"/>
                <a:cs typeface="+mn-cs"/>
              </a:rPr>
              <a:t>Category.fromMap(e)</a:t>
            </a:r>
            <a:r>
              <a:rPr lang="vi-VN"/>
              <a:t> để </a:t>
            </a:r>
            <a:r>
              <a:rPr lang="vi-VN" b="1"/>
              <a:t>chuyển đổi</a:t>
            </a:r>
            <a:r>
              <a:rPr lang="vi-VN"/>
              <a:t> từ </a:t>
            </a:r>
            <a:r>
              <a:rPr lang="vi-VN" sz="1200" kern="1200">
                <a:solidFill>
                  <a:schemeClr val="tx1"/>
                </a:solidFill>
                <a:latin typeface="+mn-lt"/>
                <a:ea typeface="+mn-ea"/>
                <a:cs typeface="+mn-cs"/>
              </a:rPr>
              <a:t>Map</a:t>
            </a:r>
            <a:r>
              <a:rPr lang="vi-VN"/>
              <a:t> sang </a:t>
            </a:r>
            <a:r>
              <a:rPr lang="vi-VN" b="1"/>
              <a:t>đối tượng </a:t>
            </a:r>
            <a:r>
              <a:rPr lang="vi-VN" sz="1200" b="1" kern="1200">
                <a:solidFill>
                  <a:schemeClr val="tx1"/>
                </a:solidFill>
                <a:latin typeface="+mn-lt"/>
                <a:ea typeface="+mn-ea"/>
                <a:cs typeface="+mn-cs"/>
              </a:rPr>
              <a:t>Category</a:t>
            </a:r>
            <a:r>
              <a:rPr lang="vi-VN"/>
              <a:t>.</a:t>
            </a:r>
          </a:p>
          <a:p>
            <a:r>
              <a:rPr lang="vi-VN"/>
              <a:t>Ví dụ:</a:t>
            </a:r>
          </a:p>
          <a:p>
            <a:pPr rtl="0"/>
            <a:r>
              <a:rPr lang="vi-VN" sz="1200" kern="1200">
                <a:solidFill>
                  <a:schemeClr val="tx1"/>
                </a:solidFill>
                <a:latin typeface="+mn-lt"/>
                <a:ea typeface="+mn-ea"/>
                <a:cs typeface="+mn-cs"/>
              </a:rPr>
              <a:t>Category.fromMap({'id': 1, 'name': 'Điện thoại'})</a:t>
            </a:r>
          </a:p>
          <a:p>
            <a:r>
              <a:rPr lang="vi-VN"/>
              <a:t>→ Trả về một </a:t>
            </a:r>
            <a:r>
              <a:rPr lang="vi-VN" b="1"/>
              <a:t>đối tượng Category</a:t>
            </a:r>
            <a:r>
              <a:rPr lang="vi-VN"/>
              <a:t>:</a:t>
            </a:r>
          </a:p>
          <a:p>
            <a:pPr rtl="0"/>
            <a:r>
              <a:rPr lang="vi-VN" sz="1200" kern="1200">
                <a:solidFill>
                  <a:schemeClr val="tx1"/>
                </a:solidFill>
                <a:latin typeface="+mn-lt"/>
                <a:ea typeface="+mn-ea"/>
                <a:cs typeface="+mn-cs"/>
              </a:rPr>
              <a:t>Category(id: 1, name: 'Điện thoại')</a:t>
            </a:r>
            <a:endParaRPr lang="vi-VN"/>
          </a:p>
          <a:p>
            <a:r>
              <a:rPr lang="en-US" b="1"/>
              <a:t>🔁 </a:t>
            </a:r>
            <a:r>
              <a:rPr lang="vi-VN" b="1"/>
              <a:t>Bước 2: </a:t>
            </a:r>
            <a:r>
              <a:rPr lang="vi-VN" sz="1200" b="1" kern="1200">
                <a:solidFill>
                  <a:schemeClr val="tx1"/>
                </a:solidFill>
                <a:latin typeface="+mn-lt"/>
                <a:ea typeface="+mn-ea"/>
                <a:cs typeface="+mn-cs"/>
              </a:rPr>
              <a:t>.toList()</a:t>
            </a:r>
            <a:endParaRPr lang="vi-VN" b="1"/>
          </a:p>
          <a:p>
            <a:r>
              <a:rPr lang="vi-VN"/>
              <a:t>Sau khi </a:t>
            </a:r>
            <a:r>
              <a:rPr lang="vi-VN" sz="1200" kern="1200">
                <a:solidFill>
                  <a:schemeClr val="tx1"/>
                </a:solidFill>
                <a:latin typeface="+mn-lt"/>
                <a:ea typeface="+mn-ea"/>
                <a:cs typeface="+mn-cs"/>
              </a:rPr>
              <a:t>.map()</a:t>
            </a:r>
            <a:r>
              <a:rPr lang="vi-VN"/>
              <a:t> tạo ra một </a:t>
            </a:r>
            <a:r>
              <a:rPr lang="vi-VN" b="1"/>
              <a:t>Iterable&lt;Category&gt;</a:t>
            </a:r>
            <a:r>
              <a:rPr lang="vi-VN"/>
              <a:t>,</a:t>
            </a:r>
          </a:p>
          <a:p>
            <a:r>
              <a:rPr lang="vi-VN" sz="1200" kern="1200">
                <a:solidFill>
                  <a:schemeClr val="tx1"/>
                </a:solidFill>
                <a:latin typeface="+mn-lt"/>
                <a:ea typeface="+mn-ea"/>
                <a:cs typeface="+mn-cs"/>
              </a:rPr>
              <a:t>.toList()</a:t>
            </a:r>
            <a:r>
              <a:rPr lang="vi-VN"/>
              <a:t> sẽ </a:t>
            </a:r>
            <a:r>
              <a:rPr lang="vi-VN" b="1"/>
              <a:t>chuyển nó thành List&lt;Category&gt;</a:t>
            </a:r>
            <a:r>
              <a:rPr lang="vi-VN"/>
              <a:t> (một danh sách đầy đủ).</a:t>
            </a:r>
          </a:p>
          <a:p>
            <a:r>
              <a:rPr lang="en-US" b="1"/>
              <a:t>✅ </a:t>
            </a:r>
            <a:r>
              <a:rPr lang="vi-VN" b="1"/>
              <a:t>Tổng kết lại:</a:t>
            </a:r>
          </a:p>
          <a:p>
            <a:r>
              <a:rPr lang="vi-VN"/>
              <a:t>Câu lệnh này:</a:t>
            </a:r>
          </a:p>
          <a:p>
            <a:pPr rtl="0"/>
            <a:r>
              <a:rPr lang="vi-VN" sz="1200" kern="1200">
                <a:solidFill>
                  <a:schemeClr val="tx1"/>
                </a:solidFill>
                <a:latin typeface="+mn-lt"/>
                <a:ea typeface="+mn-ea"/>
                <a:cs typeface="+mn-cs"/>
              </a:rPr>
              <a:t>return data.map((e) =&gt; Category.fromMap(e)).toList();</a:t>
            </a:r>
          </a:p>
          <a:p>
            <a:r>
              <a:rPr lang="vi-VN"/>
              <a:t>Nghĩa là:</a:t>
            </a:r>
          </a:p>
          <a:p>
            <a:r>
              <a:rPr lang="vi-VN"/>
              <a:t>“Duyệt qua toàn bộ danh sách dữ liệu lấy từ cơ sở dữ liệu (</a:t>
            </a:r>
            <a:r>
              <a:rPr lang="vi-VN" sz="1200" kern="1200">
                <a:solidFill>
                  <a:schemeClr val="tx1"/>
                </a:solidFill>
                <a:latin typeface="+mn-lt"/>
                <a:ea typeface="+mn-ea"/>
                <a:cs typeface="+mn-cs"/>
              </a:rPr>
              <a:t>data</a:t>
            </a:r>
            <a:r>
              <a:rPr lang="vi-VN"/>
              <a:t>),</a:t>
            </a:r>
            <a:br>
              <a:rPr lang="vi-VN"/>
            </a:br>
            <a:r>
              <a:rPr lang="vi-VN"/>
              <a:t>chuyển từng dòng dữ liệu thành một đối tượng </a:t>
            </a:r>
            <a:r>
              <a:rPr lang="vi-VN" sz="1200" kern="1200">
                <a:solidFill>
                  <a:schemeClr val="tx1"/>
                </a:solidFill>
                <a:latin typeface="+mn-lt"/>
                <a:ea typeface="+mn-ea"/>
                <a:cs typeface="+mn-cs"/>
              </a:rPr>
              <a:t>Category</a:t>
            </a:r>
            <a:r>
              <a:rPr lang="vi-VN"/>
              <a:t>,</a:t>
            </a:r>
            <a:br>
              <a:rPr lang="vi-VN"/>
            </a:br>
            <a:r>
              <a:rPr lang="vi-VN"/>
              <a:t>rồi trả về một danh sách chứa các đối tượng đó.”</a:t>
            </a:r>
          </a:p>
          <a:p>
            <a:endParaRPr lang="en-US"/>
          </a:p>
          <a:p>
            <a:r>
              <a:rPr lang="en-US"/>
              <a:t>-------------------------------------------------------------------------------------------------</a:t>
            </a:r>
          </a:p>
          <a:p>
            <a:r>
              <a:rPr lang="vi-VN" b="1"/>
              <a:t>Lấy sản phẩm cùng tên danh mục (JOIN)</a:t>
            </a:r>
          </a:p>
          <a:p>
            <a:pPr rtl="0"/>
            <a:r>
              <a:rPr lang="vi-VN" sz="1200" kern="1200">
                <a:solidFill>
                  <a:schemeClr val="tx1"/>
                </a:solidFill>
                <a:latin typeface="+mn-lt"/>
                <a:ea typeface="+mn-ea"/>
                <a:cs typeface="+mn-cs"/>
              </a:rPr>
              <a:t>  static Future&lt;List&lt;Map&lt;String, dynamic&gt;&gt;&gt; getProductsWithCategory() async {</a:t>
            </a:r>
          </a:p>
          <a:p>
            <a:pPr rtl="0"/>
            <a:r>
              <a:rPr lang="vi-VN" sz="1200" kern="1200">
                <a:solidFill>
                  <a:schemeClr val="tx1"/>
                </a:solidFill>
                <a:latin typeface="+mn-lt"/>
                <a:ea typeface="+mn-ea"/>
                <a:cs typeface="+mn-cs"/>
              </a:rPr>
              <a:t>    final db = await initDb();</a:t>
            </a:r>
          </a:p>
          <a:p>
            <a:pPr rtl="0"/>
            <a:r>
              <a:rPr lang="vi-VN" sz="1200" kern="1200">
                <a:solidFill>
                  <a:schemeClr val="tx1"/>
                </a:solidFill>
                <a:latin typeface="+mn-lt"/>
                <a:ea typeface="+mn-ea"/>
                <a:cs typeface="+mn-cs"/>
              </a:rPr>
              <a:t>    return await db.rawQuery('''</a:t>
            </a:r>
          </a:p>
          <a:p>
            <a:pPr rtl="0"/>
            <a:r>
              <a:rPr lang="vi-VN" sz="1200" kern="1200">
                <a:solidFill>
                  <a:schemeClr val="tx1"/>
                </a:solidFill>
                <a:latin typeface="+mn-lt"/>
                <a:ea typeface="+mn-ea"/>
                <a:cs typeface="+mn-cs"/>
              </a:rPr>
              <a:t>      SELECT p.*, c.name AS category_name</a:t>
            </a:r>
          </a:p>
          <a:p>
            <a:pPr rtl="0"/>
            <a:r>
              <a:rPr lang="vi-VN" sz="1200" kern="1200">
                <a:solidFill>
                  <a:schemeClr val="tx1"/>
                </a:solidFill>
                <a:latin typeface="+mn-lt"/>
                <a:ea typeface="+mn-ea"/>
                <a:cs typeface="+mn-cs"/>
              </a:rPr>
              <a:t>      FROM products p</a:t>
            </a:r>
          </a:p>
          <a:p>
            <a:pPr rtl="0"/>
            <a:r>
              <a:rPr lang="vi-VN" sz="1200" kern="1200">
                <a:solidFill>
                  <a:schemeClr val="tx1"/>
                </a:solidFill>
                <a:latin typeface="+mn-lt"/>
                <a:ea typeface="+mn-ea"/>
                <a:cs typeface="+mn-cs"/>
              </a:rPr>
              <a:t>      JOIN categories c ON p.category_id = c.id</a:t>
            </a:r>
          </a:p>
          <a:p>
            <a:pPr rtl="0"/>
            <a:r>
              <a:rPr lang="vi-VN" sz="1200" kern="1200">
                <a:solidFill>
                  <a:schemeClr val="tx1"/>
                </a:solidFill>
                <a:latin typeface="+mn-lt"/>
                <a:ea typeface="+mn-ea"/>
                <a:cs typeface="+mn-cs"/>
              </a:rPr>
              <a:t>      ORDER BY p.id DESC</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a:t>
            </a:r>
          </a:p>
          <a:p>
            <a:r>
              <a:rPr lang="vi-VN" sz="1200" kern="1200">
                <a:solidFill>
                  <a:schemeClr val="tx1"/>
                </a:solidFill>
                <a:latin typeface="+mn-lt"/>
                <a:ea typeface="+mn-ea"/>
                <a:cs typeface="+mn-cs"/>
              </a:rPr>
              <a:t>rawQuery</a:t>
            </a:r>
            <a:r>
              <a:rPr lang="vi-VN"/>
              <a:t> với </a:t>
            </a:r>
            <a:r>
              <a:rPr lang="vi-VN" sz="1200" kern="1200">
                <a:solidFill>
                  <a:schemeClr val="tx1"/>
                </a:solidFill>
                <a:latin typeface="+mn-lt"/>
                <a:ea typeface="+mn-ea"/>
                <a:cs typeface="+mn-cs"/>
              </a:rPr>
              <a:t>JOIN</a:t>
            </a:r>
            <a:r>
              <a:rPr lang="vi-VN"/>
              <a:t> trả </a:t>
            </a:r>
            <a:r>
              <a:rPr lang="vi-VN" sz="1200" kern="1200">
                <a:solidFill>
                  <a:schemeClr val="tx1"/>
                </a:solidFill>
                <a:latin typeface="+mn-lt"/>
                <a:ea typeface="+mn-ea"/>
                <a:cs typeface="+mn-cs"/>
              </a:rPr>
              <a:t>List&lt;Map&lt;String,dynamic&gt;&gt;</a:t>
            </a:r>
            <a:r>
              <a:rPr lang="vi-VN"/>
              <a:t> (mỗi Map chứa cả cột product và </a:t>
            </a:r>
            <a:r>
              <a:rPr lang="vi-VN" sz="1200" kern="1200">
                <a:solidFill>
                  <a:schemeClr val="tx1"/>
                </a:solidFill>
                <a:latin typeface="+mn-lt"/>
                <a:ea typeface="+mn-ea"/>
                <a:cs typeface="+mn-cs"/>
              </a:rPr>
              <a:t>category_name</a:t>
            </a:r>
            <a:r>
              <a:rPr lang="vi-VN"/>
              <a:t>).</a:t>
            </a:r>
          </a:p>
          <a:p>
            <a:r>
              <a:rPr lang="vi-VN"/>
              <a:t>Vì bạn trả map thẳng cho UI, UI có thể dùng </a:t>
            </a:r>
            <a:r>
              <a:rPr lang="vi-VN" sz="1200" kern="1200">
                <a:solidFill>
                  <a:schemeClr val="tx1"/>
                </a:solidFill>
                <a:latin typeface="+mn-lt"/>
                <a:ea typeface="+mn-ea"/>
                <a:cs typeface="+mn-cs"/>
              </a:rPr>
              <a:t>p['category_name']</a:t>
            </a:r>
            <a:r>
              <a:rPr lang="vi-VN"/>
              <a:t> để hiện tên danh mục.</a:t>
            </a:r>
          </a:p>
          <a:p>
            <a:r>
              <a:rPr lang="vi-VN" b="1"/>
              <a:t>Lưu ý/Best practices</a:t>
            </a:r>
            <a:r>
              <a:rPr lang="vi-VN"/>
              <a:t>:</a:t>
            </a:r>
          </a:p>
          <a:p>
            <a:r>
              <a:rPr lang="vi-VN"/>
              <a:t>Nếu bạn cần enforce foreign key, set </a:t>
            </a:r>
            <a:r>
              <a:rPr lang="vi-VN" sz="1200" kern="1200">
                <a:solidFill>
                  <a:schemeClr val="tx1"/>
                </a:solidFill>
                <a:latin typeface="+mn-lt"/>
                <a:ea typeface="+mn-ea"/>
                <a:cs typeface="+mn-cs"/>
              </a:rPr>
              <a:t>PRAGMA foreign_keys = ON</a:t>
            </a:r>
            <a:r>
              <a:rPr lang="vi-VN"/>
              <a:t> khi mở DB.</a:t>
            </a:r>
          </a:p>
          <a:p>
            <a:r>
              <a:rPr lang="vi-VN"/>
              <a:t>Consider thêm </a:t>
            </a:r>
            <a:r>
              <a:rPr lang="vi-VN" sz="1200" kern="1200">
                <a:solidFill>
                  <a:schemeClr val="tx1"/>
                </a:solidFill>
                <a:latin typeface="+mn-lt"/>
                <a:ea typeface="+mn-ea"/>
                <a:cs typeface="+mn-cs"/>
              </a:rPr>
              <a:t>onUpgrade</a:t>
            </a:r>
            <a:r>
              <a:rPr lang="vi-VN"/>
              <a:t> để handle migration khi </a:t>
            </a:r>
            <a:r>
              <a:rPr lang="vi-VN" sz="1200" kern="1200">
                <a:solidFill>
                  <a:schemeClr val="tx1"/>
                </a:solidFill>
                <a:latin typeface="+mn-lt"/>
                <a:ea typeface="+mn-ea"/>
                <a:cs typeface="+mn-cs"/>
              </a:rPr>
              <a:t>version</a:t>
            </a:r>
            <a:r>
              <a:rPr lang="vi-VN"/>
              <a:t> tăng.</a:t>
            </a:r>
          </a:p>
          <a:p>
            <a:r>
              <a:rPr lang="vi-VN"/>
              <a:t>Cân nhắc xử lý ngoại lệ (try/catch) khi thao tác DB để cho phép hiển thị lỗi rõ ràng.</a:t>
            </a:r>
          </a:p>
          <a:p>
            <a:r>
              <a:rPr lang="en-US" b="1"/>
              <a:t>🔍 1. </a:t>
            </a:r>
            <a:r>
              <a:rPr lang="vi-VN" b="1"/>
              <a:t>Mục đích</a:t>
            </a:r>
          </a:p>
          <a:p>
            <a:r>
              <a:rPr lang="vi-VN"/>
              <a:t>Hàm này có nhiệm vụ:</a:t>
            </a:r>
          </a:p>
          <a:p>
            <a:r>
              <a:rPr lang="vi-VN" b="1"/>
              <a:t>Lấy danh sách sản phẩm từ bảng </a:t>
            </a:r>
            <a:r>
              <a:rPr lang="vi-VN" sz="1200" b="1" kern="1200">
                <a:solidFill>
                  <a:schemeClr val="tx1"/>
                </a:solidFill>
                <a:latin typeface="+mn-lt"/>
                <a:ea typeface="+mn-ea"/>
                <a:cs typeface="+mn-cs"/>
              </a:rPr>
              <a:t>products</a:t>
            </a:r>
            <a:r>
              <a:rPr lang="vi-VN"/>
              <a:t>,</a:t>
            </a:r>
            <a:br>
              <a:rPr lang="vi-VN"/>
            </a:br>
            <a:r>
              <a:rPr lang="vi-VN"/>
              <a:t>đồng thời </a:t>
            </a:r>
            <a:r>
              <a:rPr lang="vi-VN" b="1"/>
              <a:t>ghép thêm tên danh mục tương ứng từ bảng </a:t>
            </a:r>
            <a:r>
              <a:rPr lang="vi-VN" sz="1200" b="1" kern="1200">
                <a:solidFill>
                  <a:schemeClr val="tx1"/>
                </a:solidFill>
                <a:latin typeface="+mn-lt"/>
                <a:ea typeface="+mn-ea"/>
                <a:cs typeface="+mn-cs"/>
              </a:rPr>
              <a:t>categories</a:t>
            </a:r>
            <a:r>
              <a:rPr lang="vi-VN"/>
              <a:t> (bằng phép JOIN).</a:t>
            </a:r>
          </a:p>
          <a:p>
            <a:endParaRPr lang="vi-VN"/>
          </a:p>
          <a:p>
            <a:r>
              <a:rPr lang="en-US" b="1"/>
              <a:t>🧠 2. </a:t>
            </a:r>
            <a:r>
              <a:rPr lang="vi-VN" b="1"/>
              <a:t>Giải thích chi tiết từng phần</a:t>
            </a:r>
          </a:p>
          <a:p>
            <a:r>
              <a:rPr lang="en-US" b="1"/>
              <a:t>🔹 </a:t>
            </a:r>
            <a:r>
              <a:rPr lang="vi-VN" sz="1200" b="1" kern="1200">
                <a:solidFill>
                  <a:schemeClr val="tx1"/>
                </a:solidFill>
                <a:latin typeface="+mn-lt"/>
                <a:ea typeface="+mn-ea"/>
                <a:cs typeface="+mn-cs"/>
              </a:rPr>
              <a:t>final db = await initDb();</a:t>
            </a:r>
            <a:endParaRPr lang="vi-VN" b="1"/>
          </a:p>
          <a:p>
            <a:r>
              <a:rPr lang="vi-VN"/>
              <a:t>Mở hoặc lấy kết nối tới cơ sở dữ liệu SQLite.</a:t>
            </a:r>
          </a:p>
          <a:p>
            <a:r>
              <a:rPr lang="vi-VN" sz="1200" kern="1200">
                <a:solidFill>
                  <a:schemeClr val="tx1"/>
                </a:solidFill>
                <a:latin typeface="+mn-lt"/>
                <a:ea typeface="+mn-ea"/>
                <a:cs typeface="+mn-cs"/>
              </a:rPr>
              <a:t>db</a:t>
            </a:r>
            <a:r>
              <a:rPr lang="vi-VN"/>
              <a:t> bây giờ là </a:t>
            </a:r>
            <a:r>
              <a:rPr lang="vi-VN" b="1"/>
              <a:t>đối tượng </a:t>
            </a:r>
            <a:r>
              <a:rPr lang="vi-VN" sz="1200" b="1" kern="1200">
                <a:solidFill>
                  <a:schemeClr val="tx1"/>
                </a:solidFill>
                <a:latin typeface="+mn-lt"/>
                <a:ea typeface="+mn-ea"/>
                <a:cs typeface="+mn-cs"/>
              </a:rPr>
              <a:t>Database</a:t>
            </a:r>
            <a:r>
              <a:rPr lang="vi-VN"/>
              <a:t> để bạn có thể thực hiện các truy vấn SQL trên đó.</a:t>
            </a:r>
          </a:p>
          <a:p>
            <a:r>
              <a:rPr lang="en-US" b="1"/>
              <a:t>🔹 </a:t>
            </a:r>
            <a:r>
              <a:rPr lang="vi-VN" sz="1200" b="1" kern="1200">
                <a:solidFill>
                  <a:schemeClr val="tx1"/>
                </a:solidFill>
                <a:latin typeface="+mn-lt"/>
                <a:ea typeface="+mn-ea"/>
                <a:cs typeface="+mn-cs"/>
              </a:rPr>
              <a:t>db.rawQuery(''' ... ''');</a:t>
            </a:r>
            <a:endParaRPr lang="vi-VN" b="1"/>
          </a:p>
          <a:p>
            <a:r>
              <a:rPr lang="vi-VN"/>
              <a:t>Hàm </a:t>
            </a:r>
            <a:r>
              <a:rPr lang="vi-VN" sz="1200" kern="1200">
                <a:solidFill>
                  <a:schemeClr val="tx1"/>
                </a:solidFill>
                <a:latin typeface="+mn-lt"/>
                <a:ea typeface="+mn-ea"/>
                <a:cs typeface="+mn-cs"/>
              </a:rPr>
              <a:t>rawQuery()</a:t>
            </a:r>
            <a:r>
              <a:rPr lang="vi-VN"/>
              <a:t> dùng để </a:t>
            </a:r>
            <a:r>
              <a:rPr lang="vi-VN" b="1"/>
              <a:t>chạy trực tiếp câu lệnh SQL thuần</a:t>
            </a:r>
            <a:r>
              <a:rPr lang="vi-VN"/>
              <a:t> (raw SQL string).</a:t>
            </a:r>
          </a:p>
          <a:p>
            <a:r>
              <a:rPr lang="vi-VN"/>
              <a:t>Kết quả trả về là một </a:t>
            </a:r>
            <a:r>
              <a:rPr lang="vi-VN" sz="1200" b="1" kern="1200">
                <a:solidFill>
                  <a:schemeClr val="tx1"/>
                </a:solidFill>
                <a:latin typeface="+mn-lt"/>
                <a:ea typeface="+mn-ea"/>
                <a:cs typeface="+mn-cs"/>
              </a:rPr>
              <a:t>List&lt;Map&lt;String, dynamic&gt;&gt;</a:t>
            </a:r>
            <a:r>
              <a:rPr lang="vi-VN"/>
              <a:t> — tức là danh sách các bản ghi.</a:t>
            </a:r>
          </a:p>
          <a:p>
            <a:pPr lvl="1"/>
            <a:r>
              <a:rPr lang="vi-VN"/>
              <a:t>Mỗi </a:t>
            </a:r>
            <a:r>
              <a:rPr lang="vi-VN" sz="1200" b="1" kern="1200">
                <a:solidFill>
                  <a:schemeClr val="tx1"/>
                </a:solidFill>
                <a:latin typeface="+mn-lt"/>
                <a:ea typeface="+mn-ea"/>
                <a:cs typeface="+mn-cs"/>
              </a:rPr>
              <a:t>Map</a:t>
            </a:r>
            <a:r>
              <a:rPr lang="vi-VN"/>
              <a:t> tương ứng với </a:t>
            </a:r>
            <a:r>
              <a:rPr lang="vi-VN" b="1"/>
              <a:t>một hàng (row)</a:t>
            </a:r>
            <a:r>
              <a:rPr lang="vi-VN"/>
              <a:t> trong bảng.</a:t>
            </a:r>
          </a:p>
          <a:p>
            <a:pPr lvl="1"/>
            <a:r>
              <a:rPr lang="vi-VN"/>
              <a:t>Mỗi </a:t>
            </a:r>
            <a:r>
              <a:rPr lang="vi-VN" b="1"/>
              <a:t>key</a:t>
            </a:r>
            <a:r>
              <a:rPr lang="vi-VN"/>
              <a:t> trong </a:t>
            </a:r>
            <a:r>
              <a:rPr lang="vi-VN" sz="1200" kern="1200">
                <a:solidFill>
                  <a:schemeClr val="tx1"/>
                </a:solidFill>
                <a:latin typeface="+mn-lt"/>
                <a:ea typeface="+mn-ea"/>
                <a:cs typeface="+mn-cs"/>
              </a:rPr>
              <a:t>Map</a:t>
            </a:r>
            <a:r>
              <a:rPr lang="vi-VN"/>
              <a:t> là tên cột, </a:t>
            </a:r>
            <a:r>
              <a:rPr lang="vi-VN" b="1"/>
              <a:t>value</a:t>
            </a:r>
            <a:r>
              <a:rPr lang="vi-VN"/>
              <a:t> là giá trị trong ô dữ liệu đó.</a:t>
            </a:r>
          </a:p>
          <a:p>
            <a:r>
              <a:rPr lang="en-US" b="1"/>
              <a:t>🔹 </a:t>
            </a:r>
            <a:r>
              <a:rPr lang="vi-VN" b="1"/>
              <a:t>Câu SQL bên trong:</a:t>
            </a:r>
          </a:p>
          <a:p>
            <a:pPr rtl="0"/>
            <a:r>
              <a:rPr lang="vi-VN" sz="1200" kern="1200">
                <a:solidFill>
                  <a:schemeClr val="tx1"/>
                </a:solidFill>
                <a:latin typeface="+mn-lt"/>
                <a:ea typeface="+mn-ea"/>
                <a:cs typeface="+mn-cs"/>
              </a:rPr>
              <a:t>SELECT p.*, c.name AS category_name</a:t>
            </a:r>
          </a:p>
          <a:p>
            <a:pPr rtl="0"/>
            <a:r>
              <a:rPr lang="vi-VN" sz="1200" kern="1200">
                <a:solidFill>
                  <a:schemeClr val="tx1"/>
                </a:solidFill>
                <a:latin typeface="+mn-lt"/>
                <a:ea typeface="+mn-ea"/>
                <a:cs typeface="+mn-cs"/>
              </a:rPr>
              <a:t>FROM products p</a:t>
            </a:r>
          </a:p>
          <a:p>
            <a:pPr rtl="0"/>
            <a:r>
              <a:rPr lang="vi-VN" sz="1200" kern="1200">
                <a:solidFill>
                  <a:schemeClr val="tx1"/>
                </a:solidFill>
                <a:latin typeface="+mn-lt"/>
                <a:ea typeface="+mn-ea"/>
                <a:cs typeface="+mn-cs"/>
              </a:rPr>
              <a:t>JOIN categories c ON p.category_id = c.id</a:t>
            </a:r>
          </a:p>
          <a:p>
            <a:pPr rtl="0"/>
            <a:r>
              <a:rPr lang="vi-VN" sz="1200" kern="1200">
                <a:solidFill>
                  <a:schemeClr val="tx1"/>
                </a:solidFill>
                <a:latin typeface="+mn-lt"/>
                <a:ea typeface="+mn-ea"/>
                <a:cs typeface="+mn-cs"/>
              </a:rPr>
              <a:t>ORDER BY p.id DESC;</a:t>
            </a:r>
          </a:p>
          <a:p>
            <a:r>
              <a:rPr lang="vi-VN"/>
              <a:t>Giải nghĩa từng phần:</a:t>
            </a:r>
          </a:p>
          <a:p>
            <a:r>
              <a:rPr lang="vi-VN"/>
              <a:t>Thành phần</a:t>
            </a:r>
            <a:r>
              <a:rPr lang="en-US"/>
              <a:t>				</a:t>
            </a:r>
            <a:r>
              <a:rPr lang="vi-VN"/>
              <a:t>Ý nghĩa</a:t>
            </a:r>
            <a:endParaRPr lang="en-US"/>
          </a:p>
          <a:p>
            <a:r>
              <a:rPr lang="vi-VN" sz="1200" kern="1200">
                <a:solidFill>
                  <a:schemeClr val="tx1"/>
                </a:solidFill>
                <a:latin typeface="+mn-lt"/>
                <a:ea typeface="+mn-ea"/>
                <a:cs typeface="+mn-cs"/>
              </a:rPr>
              <a:t>SELECT p.*</a:t>
            </a:r>
            <a:r>
              <a:rPr lang="en-US" sz="1200" kern="1200">
                <a:solidFill>
                  <a:schemeClr val="tx1"/>
                </a:solidFill>
                <a:latin typeface="+mn-lt"/>
                <a:ea typeface="+mn-ea"/>
                <a:cs typeface="+mn-cs"/>
              </a:rPr>
              <a:t>			</a:t>
            </a:r>
            <a:r>
              <a:rPr lang="vi-VN"/>
              <a:t>Lấy </a:t>
            </a:r>
            <a:r>
              <a:rPr lang="vi-VN" b="1"/>
              <a:t>toàn bộ cột</a:t>
            </a:r>
            <a:r>
              <a:rPr lang="vi-VN"/>
              <a:t> của bảng </a:t>
            </a:r>
            <a:r>
              <a:rPr lang="vi-VN" sz="1200" kern="1200">
                <a:solidFill>
                  <a:schemeClr val="tx1"/>
                </a:solidFill>
                <a:latin typeface="+mn-lt"/>
                <a:ea typeface="+mn-ea"/>
                <a:cs typeface="+mn-cs"/>
              </a:rPr>
              <a:t>products</a:t>
            </a:r>
            <a:r>
              <a:rPr lang="vi-VN"/>
              <a:t> (đặt bí danh </a:t>
            </a:r>
            <a:r>
              <a:rPr lang="vi-VN" sz="1200" kern="1200">
                <a:solidFill>
                  <a:schemeClr val="tx1"/>
                </a:solidFill>
                <a:latin typeface="+mn-lt"/>
                <a:ea typeface="+mn-ea"/>
                <a:cs typeface="+mn-cs"/>
              </a:rPr>
              <a:t>p</a:t>
            </a:r>
            <a:r>
              <a:rPr lang="vi-VN"/>
              <a:t>)</a:t>
            </a:r>
            <a:endParaRPr lang="en-US"/>
          </a:p>
          <a:p>
            <a:r>
              <a:rPr lang="vi-VN" sz="1200" kern="1200">
                <a:solidFill>
                  <a:schemeClr val="tx1"/>
                </a:solidFill>
                <a:latin typeface="+mn-lt"/>
                <a:ea typeface="+mn-ea"/>
                <a:cs typeface="+mn-cs"/>
              </a:rPr>
              <a:t>c.name AS category_name</a:t>
            </a:r>
            <a:r>
              <a:rPr lang="en-US" sz="1200" kern="1200">
                <a:solidFill>
                  <a:schemeClr val="tx1"/>
                </a:solidFill>
                <a:latin typeface="+mn-lt"/>
                <a:ea typeface="+mn-ea"/>
                <a:cs typeface="+mn-cs"/>
              </a:rPr>
              <a:t>		</a:t>
            </a:r>
            <a:r>
              <a:rPr lang="vi-VN"/>
              <a:t>Lấy thêm cột </a:t>
            </a:r>
            <a:r>
              <a:rPr lang="vi-VN" sz="1200" kern="1200">
                <a:solidFill>
                  <a:schemeClr val="tx1"/>
                </a:solidFill>
                <a:latin typeface="+mn-lt"/>
                <a:ea typeface="+mn-ea"/>
                <a:cs typeface="+mn-cs"/>
              </a:rPr>
              <a:t>name</a:t>
            </a:r>
            <a:r>
              <a:rPr lang="vi-VN"/>
              <a:t> của bảng </a:t>
            </a:r>
            <a:r>
              <a:rPr lang="vi-VN" sz="1200" kern="1200">
                <a:solidFill>
                  <a:schemeClr val="tx1"/>
                </a:solidFill>
                <a:latin typeface="+mn-lt"/>
                <a:ea typeface="+mn-ea"/>
                <a:cs typeface="+mn-cs"/>
              </a:rPr>
              <a:t>categories</a:t>
            </a:r>
            <a:r>
              <a:rPr lang="vi-VN"/>
              <a:t>, và </a:t>
            </a:r>
            <a:r>
              <a:rPr lang="vi-VN" b="1"/>
              <a:t>đặt tên lại</a:t>
            </a:r>
            <a:r>
              <a:rPr lang="vi-VN"/>
              <a:t> là </a:t>
            </a:r>
            <a:r>
              <a:rPr lang="vi-VN" sz="1200" kern="1200">
                <a:solidFill>
                  <a:schemeClr val="tx1"/>
                </a:solidFill>
                <a:latin typeface="+mn-lt"/>
                <a:ea typeface="+mn-ea"/>
                <a:cs typeface="+mn-cs"/>
              </a:rPr>
              <a:t>category_name</a:t>
            </a:r>
            <a:endParaRPr lang="en-US" sz="1200" kern="1200">
              <a:solidFill>
                <a:schemeClr val="tx1"/>
              </a:solidFill>
              <a:latin typeface="+mn-lt"/>
              <a:ea typeface="+mn-ea"/>
              <a:cs typeface="+mn-cs"/>
            </a:endParaRPr>
          </a:p>
          <a:p>
            <a:r>
              <a:rPr lang="vi-VN" sz="1200" kern="1200">
                <a:solidFill>
                  <a:schemeClr val="tx1"/>
                </a:solidFill>
                <a:latin typeface="+mn-lt"/>
                <a:ea typeface="+mn-ea"/>
                <a:cs typeface="+mn-cs"/>
              </a:rPr>
              <a:t>FROM products p</a:t>
            </a:r>
            <a:r>
              <a:rPr lang="en-US" sz="1200" kern="1200">
                <a:solidFill>
                  <a:schemeClr val="tx1"/>
                </a:solidFill>
                <a:latin typeface="+mn-lt"/>
                <a:ea typeface="+mn-ea"/>
                <a:cs typeface="+mn-cs"/>
              </a:rPr>
              <a:t>		</a:t>
            </a:r>
            <a:r>
              <a:rPr lang="vi-VN"/>
              <a:t>Bảng chính là </a:t>
            </a:r>
            <a:r>
              <a:rPr lang="vi-VN" sz="1200" kern="1200">
                <a:solidFill>
                  <a:schemeClr val="tx1"/>
                </a:solidFill>
                <a:latin typeface="+mn-lt"/>
                <a:ea typeface="+mn-ea"/>
                <a:cs typeface="+mn-cs"/>
              </a:rPr>
              <a:t>products</a:t>
            </a:r>
            <a:r>
              <a:rPr lang="vi-VN"/>
              <a:t>, bí danh </a:t>
            </a:r>
            <a:r>
              <a:rPr lang="vi-VN" sz="1200" kern="1200">
                <a:solidFill>
                  <a:schemeClr val="tx1"/>
                </a:solidFill>
                <a:latin typeface="+mn-lt"/>
                <a:ea typeface="+mn-ea"/>
                <a:cs typeface="+mn-cs"/>
              </a:rPr>
              <a:t>p</a:t>
            </a:r>
            <a:r>
              <a:rPr lang="vi-VN"/>
              <a:t> để viết gọn</a:t>
            </a:r>
            <a:endParaRPr lang="en-US"/>
          </a:p>
          <a:p>
            <a:r>
              <a:rPr lang="vi-VN" sz="1200" kern="1200">
                <a:solidFill>
                  <a:schemeClr val="tx1"/>
                </a:solidFill>
                <a:latin typeface="+mn-lt"/>
                <a:ea typeface="+mn-ea"/>
                <a:cs typeface="+mn-cs"/>
              </a:rPr>
              <a:t>JOIN categories c</a:t>
            </a:r>
            <a:r>
              <a:rPr lang="en-US" sz="1200" kern="1200">
                <a:solidFill>
                  <a:schemeClr val="tx1"/>
                </a:solidFill>
                <a:latin typeface="+mn-lt"/>
                <a:ea typeface="+mn-ea"/>
                <a:cs typeface="+mn-cs"/>
              </a:rPr>
              <a:t>		</a:t>
            </a:r>
            <a:r>
              <a:rPr lang="vi-VN"/>
              <a:t>Ghép thêm bảng </a:t>
            </a:r>
            <a:r>
              <a:rPr lang="vi-VN" sz="1200" kern="1200">
                <a:solidFill>
                  <a:schemeClr val="tx1"/>
                </a:solidFill>
                <a:latin typeface="+mn-lt"/>
                <a:ea typeface="+mn-ea"/>
                <a:cs typeface="+mn-cs"/>
              </a:rPr>
              <a:t>categories</a:t>
            </a:r>
            <a:r>
              <a:rPr lang="vi-VN"/>
              <a:t>, bí danh </a:t>
            </a:r>
            <a:r>
              <a:rPr lang="vi-VN" sz="1200" kern="1200">
                <a:solidFill>
                  <a:schemeClr val="tx1"/>
                </a:solidFill>
                <a:latin typeface="+mn-lt"/>
                <a:ea typeface="+mn-ea"/>
                <a:cs typeface="+mn-cs"/>
              </a:rPr>
              <a:t>c</a:t>
            </a:r>
            <a:endParaRPr lang="en-US" sz="1200" kern="1200">
              <a:solidFill>
                <a:schemeClr val="tx1"/>
              </a:solidFill>
              <a:latin typeface="+mn-lt"/>
              <a:ea typeface="+mn-ea"/>
              <a:cs typeface="+mn-cs"/>
            </a:endParaRPr>
          </a:p>
          <a:p>
            <a:r>
              <a:rPr lang="vi-VN" sz="1200" kern="1200">
                <a:solidFill>
                  <a:schemeClr val="tx1"/>
                </a:solidFill>
                <a:latin typeface="+mn-lt"/>
                <a:ea typeface="+mn-ea"/>
                <a:cs typeface="+mn-cs"/>
              </a:rPr>
              <a:t>ON p.category_id = c.id</a:t>
            </a:r>
            <a:r>
              <a:rPr lang="en-US" sz="1200" kern="1200">
                <a:solidFill>
                  <a:schemeClr val="tx1"/>
                </a:solidFill>
                <a:latin typeface="+mn-lt"/>
                <a:ea typeface="+mn-ea"/>
                <a:cs typeface="+mn-cs"/>
              </a:rPr>
              <a:t>		</a:t>
            </a:r>
            <a:r>
              <a:rPr lang="vi-VN"/>
              <a:t>Điều kiện ghép: </a:t>
            </a:r>
            <a:r>
              <a:rPr lang="vi-VN" sz="1200" kern="1200">
                <a:solidFill>
                  <a:schemeClr val="tx1"/>
                </a:solidFill>
                <a:latin typeface="+mn-lt"/>
                <a:ea typeface="+mn-ea"/>
                <a:cs typeface="+mn-cs"/>
              </a:rPr>
              <a:t>category_id</a:t>
            </a:r>
            <a:r>
              <a:rPr lang="vi-VN"/>
              <a:t> trong </a:t>
            </a:r>
            <a:r>
              <a:rPr lang="vi-VN" sz="1200" kern="1200">
                <a:solidFill>
                  <a:schemeClr val="tx1"/>
                </a:solidFill>
                <a:latin typeface="+mn-lt"/>
                <a:ea typeface="+mn-ea"/>
                <a:cs typeface="+mn-cs"/>
              </a:rPr>
              <a:t>products</a:t>
            </a:r>
            <a:r>
              <a:rPr lang="vi-VN"/>
              <a:t> phải khớp với </a:t>
            </a:r>
            <a:r>
              <a:rPr lang="vi-VN" sz="1200" kern="1200">
                <a:solidFill>
                  <a:schemeClr val="tx1"/>
                </a:solidFill>
                <a:latin typeface="+mn-lt"/>
                <a:ea typeface="+mn-ea"/>
                <a:cs typeface="+mn-cs"/>
              </a:rPr>
              <a:t>id</a:t>
            </a:r>
            <a:r>
              <a:rPr lang="vi-VN"/>
              <a:t> trong </a:t>
            </a:r>
            <a:r>
              <a:rPr lang="vi-VN" sz="1200" kern="1200">
                <a:solidFill>
                  <a:schemeClr val="tx1"/>
                </a:solidFill>
                <a:latin typeface="+mn-lt"/>
                <a:ea typeface="+mn-ea"/>
                <a:cs typeface="+mn-cs"/>
              </a:rPr>
              <a:t>categories</a:t>
            </a:r>
            <a:endParaRPr lang="en-US" sz="1200" kern="1200">
              <a:solidFill>
                <a:schemeClr val="tx1"/>
              </a:solidFill>
              <a:latin typeface="+mn-lt"/>
              <a:ea typeface="+mn-ea"/>
              <a:cs typeface="+mn-cs"/>
            </a:endParaRPr>
          </a:p>
          <a:p>
            <a:r>
              <a:rPr lang="vi-VN" sz="1200" kern="1200">
                <a:solidFill>
                  <a:schemeClr val="tx1"/>
                </a:solidFill>
                <a:latin typeface="+mn-lt"/>
                <a:ea typeface="+mn-ea"/>
                <a:cs typeface="+mn-cs"/>
              </a:rPr>
              <a:t>ORDER BY p.id DESC</a:t>
            </a:r>
            <a:r>
              <a:rPr lang="en-US" sz="1200" kern="1200">
                <a:solidFill>
                  <a:schemeClr val="tx1"/>
                </a:solidFill>
                <a:latin typeface="+mn-lt"/>
                <a:ea typeface="+mn-ea"/>
                <a:cs typeface="+mn-cs"/>
              </a:rPr>
              <a:t>		</a:t>
            </a:r>
            <a:r>
              <a:rPr lang="vi-VN"/>
              <a:t>Sắp xếp kết quả theo </a:t>
            </a:r>
            <a:r>
              <a:rPr lang="vi-VN" sz="1200" kern="1200">
                <a:solidFill>
                  <a:schemeClr val="tx1"/>
                </a:solidFill>
                <a:latin typeface="+mn-lt"/>
                <a:ea typeface="+mn-ea"/>
                <a:cs typeface="+mn-cs"/>
              </a:rPr>
              <a:t>id</a:t>
            </a:r>
            <a:r>
              <a:rPr lang="vi-VN"/>
              <a:t> giảm dần (sản phẩm mới nhất lên trước)</a:t>
            </a:r>
          </a:p>
          <a:p>
            <a:r>
              <a:rPr lang="en-US" b="1"/>
              <a:t>---------------------------------------------------------------------------------------------------------------------</a:t>
            </a:r>
          </a:p>
          <a:p>
            <a:r>
              <a:rPr lang="en-US" b="1"/>
              <a:t>Drift:</a:t>
            </a:r>
          </a:p>
          <a:p>
            <a:r>
              <a:rPr lang="en-US" b="1"/>
              <a:t>🔹 </a:t>
            </a:r>
            <a:r>
              <a:rPr lang="vi-VN" b="1"/>
              <a:t>Mục đích hàm:</a:t>
            </a:r>
          </a:p>
          <a:p>
            <a:r>
              <a:rPr lang="vi-VN" sz="1200" kern="1200">
                <a:solidFill>
                  <a:schemeClr val="tx1"/>
                </a:solidFill>
                <a:latin typeface="+mn-lt"/>
                <a:ea typeface="+mn-ea"/>
                <a:cs typeface="+mn-cs"/>
              </a:rPr>
              <a:t>getAllProductsWithCategory()</a:t>
            </a:r>
            <a:br>
              <a:rPr lang="vi-VN"/>
            </a:br>
            <a:r>
              <a:rPr lang="vi-VN"/>
              <a:t>→ Lấy </a:t>
            </a:r>
            <a:r>
              <a:rPr lang="vi-VN" b="1"/>
              <a:t>toàn bộ danh sách sản phẩm</a:t>
            </a:r>
            <a:r>
              <a:rPr lang="vi-VN"/>
              <a:t>, kèm theo thông tin </a:t>
            </a:r>
            <a:r>
              <a:rPr lang="vi-VN" b="1"/>
              <a:t>danh mục (category)</a:t>
            </a:r>
            <a:r>
              <a:rPr lang="vi-VN"/>
              <a:t> của từng sản phẩm.</a:t>
            </a:r>
          </a:p>
          <a:p>
            <a:r>
              <a:rPr lang="vi-VN"/>
              <a:t>Trong SQL thuần, hàm này tương đương:</a:t>
            </a:r>
          </a:p>
          <a:p>
            <a:pPr rtl="0"/>
            <a:r>
              <a:rPr lang="vi-VN" sz="1200" kern="1200">
                <a:solidFill>
                  <a:schemeClr val="tx1"/>
                </a:solidFill>
                <a:latin typeface="+mn-lt"/>
                <a:ea typeface="+mn-ea"/>
                <a:cs typeface="+mn-cs"/>
              </a:rPr>
              <a:t>SELECT products.*, categories.*</a:t>
            </a:r>
          </a:p>
          <a:p>
            <a:pPr rtl="0"/>
            <a:r>
              <a:rPr lang="vi-VN" sz="1200" kern="1200">
                <a:solidFill>
                  <a:schemeClr val="tx1"/>
                </a:solidFill>
                <a:latin typeface="+mn-lt"/>
                <a:ea typeface="+mn-ea"/>
                <a:cs typeface="+mn-cs"/>
              </a:rPr>
              <a:t>FROM products</a:t>
            </a:r>
          </a:p>
          <a:p>
            <a:pPr rtl="0"/>
            <a:r>
              <a:rPr lang="vi-VN" sz="1200" kern="1200">
                <a:solidFill>
                  <a:schemeClr val="tx1"/>
                </a:solidFill>
                <a:latin typeface="+mn-lt"/>
                <a:ea typeface="+mn-ea"/>
                <a:cs typeface="+mn-cs"/>
              </a:rPr>
              <a:t>INNER JOIN categories ON categories.id = products.category_id</a:t>
            </a:r>
          </a:p>
          <a:p>
            <a:pPr rtl="0"/>
            <a:r>
              <a:rPr lang="vi-VN" sz="1200" kern="1200">
                <a:solidFill>
                  <a:schemeClr val="tx1"/>
                </a:solidFill>
                <a:latin typeface="+mn-lt"/>
                <a:ea typeface="+mn-ea"/>
                <a:cs typeface="+mn-cs"/>
              </a:rPr>
              <a:t>ORDER BY products.id DESC;</a:t>
            </a:r>
          </a:p>
          <a:p>
            <a:br>
              <a:rPr lang="vi-VN"/>
            </a:br>
            <a:endParaRPr lang="vi-VN"/>
          </a:p>
          <a:p>
            <a:r>
              <a:rPr lang="en-US" b="1"/>
              <a:t>🧩 </a:t>
            </a:r>
            <a:r>
              <a:rPr lang="vi-VN" b="1"/>
              <a:t>Phân tích từng dòng</a:t>
            </a:r>
          </a:p>
          <a:p>
            <a:br>
              <a:rPr lang="vi-VN"/>
            </a:br>
            <a:endParaRPr lang="vi-VN"/>
          </a:p>
          <a:p>
            <a:r>
              <a:rPr lang="vi-VN" b="1"/>
              <a:t>Dòng 1</a:t>
            </a:r>
          </a:p>
          <a:p>
            <a:pPr rtl="0"/>
            <a:r>
              <a:rPr lang="vi-VN" sz="1200" kern="1200">
                <a:solidFill>
                  <a:schemeClr val="tx1"/>
                </a:solidFill>
                <a:latin typeface="+mn-lt"/>
                <a:ea typeface="+mn-ea"/>
                <a:cs typeface="+mn-cs"/>
              </a:rPr>
              <a:t>Future&lt;List&lt;ProductWithCategory&gt;&gt; getAllProductsWithCategory() async {</a:t>
            </a:r>
          </a:p>
          <a:p>
            <a:r>
              <a:rPr lang="vi-VN"/>
              <a:t>Hàm </a:t>
            </a:r>
            <a:r>
              <a:rPr lang="vi-VN" b="1"/>
              <a:t>trả về</a:t>
            </a:r>
            <a:r>
              <a:rPr lang="vi-VN"/>
              <a:t> một </a:t>
            </a:r>
            <a:r>
              <a:rPr lang="vi-VN" sz="1200" kern="1200">
                <a:solidFill>
                  <a:schemeClr val="tx1"/>
                </a:solidFill>
                <a:latin typeface="+mn-lt"/>
                <a:ea typeface="+mn-ea"/>
                <a:cs typeface="+mn-cs"/>
              </a:rPr>
              <a:t>Future</a:t>
            </a:r>
            <a:r>
              <a:rPr lang="vi-VN"/>
              <a:t> (vì có truy cập CSDL bất đồng bộ).</a:t>
            </a:r>
          </a:p>
          <a:p>
            <a:r>
              <a:rPr lang="vi-VN"/>
              <a:t>Kiểu trả về là </a:t>
            </a:r>
            <a:r>
              <a:rPr lang="vi-VN" sz="1200" kern="1200">
                <a:solidFill>
                  <a:schemeClr val="tx1"/>
                </a:solidFill>
                <a:latin typeface="+mn-lt"/>
                <a:ea typeface="+mn-ea"/>
                <a:cs typeface="+mn-cs"/>
              </a:rPr>
              <a:t>List&lt;ProductWithCategory&gt;</a:t>
            </a:r>
            <a:r>
              <a:rPr lang="vi-VN"/>
              <a:t>, tức danh sách các đối tượng gồm </a:t>
            </a:r>
            <a:r>
              <a:rPr lang="vi-VN" b="1"/>
              <a:t>product + category</a:t>
            </a:r>
            <a:r>
              <a:rPr lang="vi-VN"/>
              <a:t> gộp lại.</a:t>
            </a:r>
          </a:p>
          <a:p>
            <a:br>
              <a:rPr lang="vi-VN"/>
            </a:br>
            <a:endParaRPr lang="vi-VN"/>
          </a:p>
          <a:p>
            <a:r>
              <a:rPr lang="vi-VN" b="1"/>
              <a:t>Dòng 2–5</a:t>
            </a:r>
          </a:p>
          <a:p>
            <a:pPr rtl="0"/>
            <a:r>
              <a:rPr lang="vi-VN" sz="1200" kern="1200">
                <a:solidFill>
                  <a:schemeClr val="tx1"/>
                </a:solidFill>
                <a:latin typeface="+mn-lt"/>
                <a:ea typeface="+mn-ea"/>
                <a:cs typeface="+mn-cs"/>
              </a:rPr>
              <a:t>final query = select(products).join([</a:t>
            </a:r>
          </a:p>
          <a:p>
            <a:pPr rtl="0"/>
            <a:r>
              <a:rPr lang="vi-VN" sz="1200" kern="1200">
                <a:solidFill>
                  <a:schemeClr val="tx1"/>
                </a:solidFill>
                <a:latin typeface="+mn-lt"/>
                <a:ea typeface="+mn-ea"/>
                <a:cs typeface="+mn-cs"/>
              </a:rPr>
              <a:t>  innerJoin(categories, categories.id.equalsExp(products.categoryId))</a:t>
            </a:r>
          </a:p>
          <a:p>
            <a:pPr rtl="0"/>
            <a:r>
              <a:rPr lang="vi-VN" sz="1200" kern="1200">
                <a:solidFill>
                  <a:schemeClr val="tx1"/>
                </a:solidFill>
                <a:latin typeface="+mn-lt"/>
                <a:ea typeface="+mn-ea"/>
                <a:cs typeface="+mn-cs"/>
              </a:rPr>
              <a:t>])</a:t>
            </a:r>
          </a:p>
          <a:p>
            <a:pPr rtl="0"/>
            <a:r>
              <a:rPr lang="vi-VN" sz="1200" kern="1200">
                <a:solidFill>
                  <a:schemeClr val="tx1"/>
                </a:solidFill>
                <a:latin typeface="+mn-lt"/>
                <a:ea typeface="+mn-ea"/>
                <a:cs typeface="+mn-cs"/>
              </a:rPr>
              <a:t>  ..orderBy([OrderingTerm.desc(products.id)]);</a:t>
            </a:r>
          </a:p>
          <a:p>
            <a:r>
              <a:rPr lang="en-US"/>
              <a:t>👉 </a:t>
            </a:r>
            <a:r>
              <a:rPr lang="vi-VN"/>
              <a:t>Đây là nơi tạo </a:t>
            </a:r>
            <a:r>
              <a:rPr lang="vi-VN" b="1"/>
              <a:t>câu truy vấn JOIN</a:t>
            </a:r>
            <a:r>
              <a:rPr lang="vi-VN"/>
              <a:t> giữa hai bảng.</a:t>
            </a:r>
          </a:p>
          <a:p>
            <a:r>
              <a:rPr lang="vi-VN"/>
              <a:t>Giải thích chi tiết:</a:t>
            </a:r>
          </a:p>
          <a:p>
            <a:r>
              <a:rPr lang="vi-VN"/>
              <a:t>Thành phần</a:t>
            </a:r>
            <a:r>
              <a:rPr lang="en-US"/>
              <a:t>				</a:t>
            </a:r>
            <a:r>
              <a:rPr lang="vi-VN"/>
              <a:t>Ý nghĩa</a:t>
            </a:r>
            <a:endParaRPr lang="en-US"/>
          </a:p>
          <a:p>
            <a:r>
              <a:rPr lang="vi-VN" sz="1200" kern="1200">
                <a:solidFill>
                  <a:schemeClr val="tx1"/>
                </a:solidFill>
                <a:latin typeface="+mn-lt"/>
                <a:ea typeface="+mn-ea"/>
                <a:cs typeface="+mn-cs"/>
              </a:rPr>
              <a:t>select(products)</a:t>
            </a:r>
            <a:r>
              <a:rPr lang="en-US" sz="1200" kern="1200">
                <a:solidFill>
                  <a:schemeClr val="tx1"/>
                </a:solidFill>
                <a:latin typeface="+mn-lt"/>
                <a:ea typeface="+mn-ea"/>
                <a:cs typeface="+mn-cs"/>
              </a:rPr>
              <a:t>			</a:t>
            </a:r>
            <a:r>
              <a:rPr lang="vi-VN"/>
              <a:t>Chọn bảng chính là </a:t>
            </a:r>
            <a:r>
              <a:rPr lang="vi-VN" b="1"/>
              <a:t>products</a:t>
            </a:r>
            <a:r>
              <a:rPr lang="vi-VN"/>
              <a:t> (bảng sản phẩm).</a:t>
            </a:r>
            <a:endParaRPr lang="en-US"/>
          </a:p>
          <a:p>
            <a:r>
              <a:rPr lang="vi-VN" sz="1200" kern="1200">
                <a:solidFill>
                  <a:schemeClr val="tx1"/>
                </a:solidFill>
                <a:latin typeface="+mn-lt"/>
                <a:ea typeface="+mn-ea"/>
                <a:cs typeface="+mn-cs"/>
              </a:rPr>
              <a:t>.join([...])</a:t>
            </a:r>
            <a:r>
              <a:rPr lang="en-US" sz="1200" kern="1200">
                <a:solidFill>
                  <a:schemeClr val="tx1"/>
                </a:solidFill>
                <a:latin typeface="+mn-lt"/>
                <a:ea typeface="+mn-ea"/>
                <a:cs typeface="+mn-cs"/>
              </a:rPr>
              <a:t>				</a:t>
            </a:r>
            <a:r>
              <a:rPr lang="vi-VN"/>
              <a:t>Thực hiện </a:t>
            </a:r>
            <a:r>
              <a:rPr lang="vi-VN" b="1"/>
              <a:t>kết nối (JOIN)</a:t>
            </a:r>
            <a:r>
              <a:rPr lang="vi-VN"/>
              <a:t> với các bảng khác.</a:t>
            </a:r>
            <a:endParaRPr lang="en-US"/>
          </a:p>
          <a:p>
            <a:r>
              <a:rPr lang="vi-VN" sz="1200" kern="1200">
                <a:solidFill>
                  <a:schemeClr val="tx1"/>
                </a:solidFill>
                <a:latin typeface="+mn-lt"/>
                <a:ea typeface="+mn-ea"/>
                <a:cs typeface="+mn-cs"/>
              </a:rPr>
              <a:t>innerJoin(categories, ...)</a:t>
            </a:r>
            <a:r>
              <a:rPr lang="en-US" sz="1200" kern="1200">
                <a:solidFill>
                  <a:schemeClr val="tx1"/>
                </a:solidFill>
                <a:latin typeface="+mn-lt"/>
                <a:ea typeface="+mn-ea"/>
                <a:cs typeface="+mn-cs"/>
              </a:rPr>
              <a:t>			</a:t>
            </a:r>
            <a:r>
              <a:rPr lang="vi-VN"/>
              <a:t>Kết nối </a:t>
            </a:r>
            <a:r>
              <a:rPr lang="vi-VN" b="1"/>
              <a:t>inner join</a:t>
            </a:r>
            <a:r>
              <a:rPr lang="vi-VN"/>
              <a:t> với bảng </a:t>
            </a:r>
            <a:r>
              <a:rPr lang="vi-VN" sz="1200" kern="1200">
                <a:solidFill>
                  <a:schemeClr val="tx1"/>
                </a:solidFill>
                <a:latin typeface="+mn-lt"/>
                <a:ea typeface="+mn-ea"/>
                <a:cs typeface="+mn-cs"/>
              </a:rPr>
              <a:t>categories</a:t>
            </a:r>
            <a:r>
              <a:rPr lang="vi-VN"/>
              <a:t>.</a:t>
            </a:r>
            <a:endParaRPr lang="en-US"/>
          </a:p>
          <a:p>
            <a:r>
              <a:rPr lang="vi-VN" sz="1200" kern="1200">
                <a:solidFill>
                  <a:schemeClr val="tx1"/>
                </a:solidFill>
                <a:latin typeface="+mn-lt"/>
                <a:ea typeface="+mn-ea"/>
                <a:cs typeface="+mn-cs"/>
              </a:rPr>
              <a:t>categories.id.equalsExp(products.categoryId)</a:t>
            </a:r>
            <a:r>
              <a:rPr lang="en-US" sz="1200" kern="1200">
                <a:solidFill>
                  <a:schemeClr val="tx1"/>
                </a:solidFill>
                <a:latin typeface="+mn-lt"/>
                <a:ea typeface="+mn-ea"/>
                <a:cs typeface="+mn-cs"/>
              </a:rPr>
              <a:t>	</a:t>
            </a:r>
            <a:r>
              <a:rPr lang="vi-VN"/>
              <a:t>Điều kiện nối: cột </a:t>
            </a:r>
            <a:r>
              <a:rPr lang="vi-VN" sz="1200" kern="1200">
                <a:solidFill>
                  <a:schemeClr val="tx1"/>
                </a:solidFill>
                <a:latin typeface="+mn-lt"/>
                <a:ea typeface="+mn-ea"/>
                <a:cs typeface="+mn-cs"/>
              </a:rPr>
              <a:t>id</a:t>
            </a:r>
            <a:r>
              <a:rPr lang="vi-VN"/>
              <a:t> của bảng </a:t>
            </a:r>
            <a:r>
              <a:rPr lang="vi-VN" sz="1200" kern="1200">
                <a:solidFill>
                  <a:schemeClr val="tx1"/>
                </a:solidFill>
                <a:latin typeface="+mn-lt"/>
                <a:ea typeface="+mn-ea"/>
                <a:cs typeface="+mn-cs"/>
              </a:rPr>
              <a:t>categories</a:t>
            </a:r>
            <a:r>
              <a:rPr lang="vi-VN"/>
              <a:t> phải bằng </a:t>
            </a:r>
            <a:r>
              <a:rPr lang="vi-VN" sz="1200" kern="1200">
                <a:solidFill>
                  <a:schemeClr val="tx1"/>
                </a:solidFill>
                <a:latin typeface="+mn-lt"/>
                <a:ea typeface="+mn-ea"/>
                <a:cs typeface="+mn-cs"/>
              </a:rPr>
              <a:t>categoryId</a:t>
            </a:r>
            <a:r>
              <a:rPr lang="vi-VN"/>
              <a:t> trong bảng </a:t>
            </a:r>
            <a:r>
              <a:rPr lang="vi-VN" sz="1200" kern="1200">
                <a:solidFill>
                  <a:schemeClr val="tx1"/>
                </a:solidFill>
                <a:latin typeface="+mn-lt"/>
                <a:ea typeface="+mn-ea"/>
                <a:cs typeface="+mn-cs"/>
              </a:rPr>
              <a:t>products</a:t>
            </a:r>
            <a:r>
              <a:rPr lang="vi-VN"/>
              <a:t>. Tương đương: </a:t>
            </a:r>
            <a:r>
              <a:rPr lang="vi-VN" sz="1200" kern="1200">
                <a:solidFill>
                  <a:schemeClr val="tx1"/>
                </a:solidFill>
                <a:latin typeface="+mn-lt"/>
                <a:ea typeface="+mn-ea"/>
                <a:cs typeface="+mn-cs"/>
              </a:rPr>
              <a:t>ON </a:t>
            </a:r>
            <a:r>
              <a:rPr lang="en-US" sz="1200" kern="1200">
                <a:solidFill>
                  <a:schemeClr val="tx1"/>
                </a:solidFill>
                <a:latin typeface="+mn-lt"/>
                <a:ea typeface="+mn-ea"/>
                <a:cs typeface="+mn-cs"/>
              </a:rPr>
              <a:t>				</a:t>
            </a:r>
            <a:r>
              <a:rPr lang="vi-VN" sz="1200" kern="1200">
                <a:solidFill>
                  <a:schemeClr val="tx1"/>
                </a:solidFill>
                <a:latin typeface="+mn-lt"/>
                <a:ea typeface="+mn-ea"/>
                <a:cs typeface="+mn-cs"/>
              </a:rPr>
              <a:t>categories.id = products.category_id</a:t>
            </a:r>
            <a:r>
              <a:rPr lang="vi-VN"/>
              <a:t>.</a:t>
            </a:r>
            <a:endParaRPr lang="en-US"/>
          </a:p>
          <a:p>
            <a:r>
              <a:rPr lang="vi-VN" sz="1200" kern="1200">
                <a:solidFill>
                  <a:schemeClr val="tx1"/>
                </a:solidFill>
                <a:latin typeface="+mn-lt"/>
                <a:ea typeface="+mn-ea"/>
                <a:cs typeface="+mn-cs"/>
              </a:rPr>
              <a:t>..orderBy([...])</a:t>
            </a:r>
            <a:r>
              <a:rPr lang="en-US" sz="1200" kern="1200">
                <a:solidFill>
                  <a:schemeClr val="tx1"/>
                </a:solidFill>
                <a:latin typeface="+mn-lt"/>
                <a:ea typeface="+mn-ea"/>
                <a:cs typeface="+mn-cs"/>
              </a:rPr>
              <a:t>				</a:t>
            </a:r>
            <a:r>
              <a:rPr lang="vi-VN"/>
              <a:t>Dấu </a:t>
            </a:r>
            <a:r>
              <a:rPr lang="vi-VN" sz="1200" kern="1200">
                <a:solidFill>
                  <a:schemeClr val="tx1"/>
                </a:solidFill>
                <a:latin typeface="+mn-lt"/>
                <a:ea typeface="+mn-ea"/>
                <a:cs typeface="+mn-cs"/>
              </a:rPr>
              <a:t>..</a:t>
            </a:r>
            <a:r>
              <a:rPr lang="vi-VN"/>
              <a:t> (cascade operator) cho phép gọi tiếp </a:t>
            </a:r>
            <a:r>
              <a:rPr lang="vi-VN" sz="1200" kern="1200">
                <a:solidFill>
                  <a:schemeClr val="tx1"/>
                </a:solidFill>
                <a:latin typeface="+mn-lt"/>
                <a:ea typeface="+mn-ea"/>
                <a:cs typeface="+mn-cs"/>
              </a:rPr>
              <a:t>orderBy()</a:t>
            </a:r>
            <a:r>
              <a:rPr lang="vi-VN"/>
              <a:t> mà không cần viết lại </a:t>
            </a:r>
            <a:r>
              <a:rPr lang="vi-VN" sz="1200" kern="1200">
                <a:solidFill>
                  <a:schemeClr val="tx1"/>
                </a:solidFill>
                <a:latin typeface="+mn-lt"/>
                <a:ea typeface="+mn-ea"/>
                <a:cs typeface="+mn-cs"/>
              </a:rPr>
              <a:t>query = query.orderBy(...)</a:t>
            </a:r>
            <a:r>
              <a:rPr lang="vi-VN"/>
              <a:t>.</a:t>
            </a:r>
            <a:endParaRPr lang="en-US"/>
          </a:p>
          <a:p>
            <a:r>
              <a:rPr lang="vi-VN" sz="1200" kern="1200">
                <a:solidFill>
                  <a:schemeClr val="tx1"/>
                </a:solidFill>
                <a:latin typeface="+mn-lt"/>
                <a:ea typeface="+mn-ea"/>
                <a:cs typeface="+mn-cs"/>
              </a:rPr>
              <a:t>OrderingTerm.desc(products.id)</a:t>
            </a:r>
            <a:r>
              <a:rPr lang="en-US" sz="1200" kern="1200">
                <a:solidFill>
                  <a:schemeClr val="tx1"/>
                </a:solidFill>
                <a:latin typeface="+mn-lt"/>
                <a:ea typeface="+mn-ea"/>
                <a:cs typeface="+mn-cs"/>
              </a:rPr>
              <a:t>		</a:t>
            </a:r>
            <a:r>
              <a:rPr lang="vi-VN"/>
              <a:t>Sắp xếp </a:t>
            </a:r>
            <a:r>
              <a:rPr lang="vi-VN" b="1"/>
              <a:t>giảm dần</a:t>
            </a:r>
            <a:r>
              <a:rPr lang="vi-VN"/>
              <a:t> theo ID sản phẩm — nghĩa là sản phẩm mới thêm sẽ nằm trên cùng.</a:t>
            </a:r>
          </a:p>
          <a:p>
            <a:r>
              <a:rPr lang="vi-VN"/>
              <a:t>Sau dòng này, </a:t>
            </a:r>
            <a:r>
              <a:rPr lang="vi-VN" sz="1200" kern="1200">
                <a:solidFill>
                  <a:schemeClr val="tx1"/>
                </a:solidFill>
                <a:latin typeface="+mn-lt"/>
                <a:ea typeface="+mn-ea"/>
                <a:cs typeface="+mn-cs"/>
              </a:rPr>
              <a:t>query</a:t>
            </a:r>
            <a:r>
              <a:rPr lang="vi-VN"/>
              <a:t> chứa một </a:t>
            </a:r>
            <a:r>
              <a:rPr lang="vi-VN" b="1"/>
              <a:t>cấu trúc truy vấn kết hợp 2 bảng</a:t>
            </a:r>
            <a:r>
              <a:rPr lang="vi-VN"/>
              <a:t>, nhưng chưa được thực thi (chưa đọc dữ liệu thật).</a:t>
            </a:r>
          </a:p>
          <a:p>
            <a:br>
              <a:rPr lang="vi-VN"/>
            </a:br>
            <a:endParaRPr lang="vi-VN"/>
          </a:p>
          <a:p>
            <a:r>
              <a:rPr lang="vi-VN" b="1"/>
              <a:t>Dòng 6</a:t>
            </a:r>
          </a:p>
          <a:p>
            <a:pPr rtl="0"/>
            <a:r>
              <a:rPr lang="vi-VN" sz="1200" kern="1200">
                <a:solidFill>
                  <a:schemeClr val="tx1"/>
                </a:solidFill>
                <a:latin typeface="+mn-lt"/>
                <a:ea typeface="+mn-ea"/>
                <a:cs typeface="+mn-cs"/>
              </a:rPr>
              <a:t>final rows = await query.get();</a:t>
            </a:r>
          </a:p>
          <a:p>
            <a:r>
              <a:rPr lang="vi-VN" sz="1200" kern="1200">
                <a:solidFill>
                  <a:schemeClr val="tx1"/>
                </a:solidFill>
                <a:latin typeface="+mn-lt"/>
                <a:ea typeface="+mn-ea"/>
                <a:cs typeface="+mn-cs"/>
              </a:rPr>
              <a:t>query.get()</a:t>
            </a:r>
            <a:r>
              <a:rPr lang="vi-VN"/>
              <a:t> sẽ </a:t>
            </a:r>
            <a:r>
              <a:rPr lang="vi-VN" b="1"/>
              <a:t>thực thi truy vấn JOIN</a:t>
            </a:r>
            <a:r>
              <a:rPr lang="vi-VN"/>
              <a:t> thật sự trong SQLite.</a:t>
            </a:r>
          </a:p>
          <a:p>
            <a:r>
              <a:rPr lang="vi-VN"/>
              <a:t>Kết quả trả về là </a:t>
            </a:r>
            <a:r>
              <a:rPr lang="vi-VN" b="1"/>
              <a:t>List&lt;QueryRow&gt;</a:t>
            </a:r>
            <a:r>
              <a:rPr lang="vi-VN"/>
              <a:t>,</a:t>
            </a:r>
            <a:br>
              <a:rPr lang="vi-VN"/>
            </a:br>
            <a:r>
              <a:rPr lang="vi-VN"/>
              <a:t>mỗi </a:t>
            </a:r>
            <a:r>
              <a:rPr lang="vi-VN" sz="1200" kern="1200">
                <a:solidFill>
                  <a:schemeClr val="tx1"/>
                </a:solidFill>
                <a:latin typeface="+mn-lt"/>
                <a:ea typeface="+mn-ea"/>
                <a:cs typeface="+mn-cs"/>
              </a:rPr>
              <a:t>QueryRow</a:t>
            </a:r>
            <a:r>
              <a:rPr lang="vi-VN"/>
              <a:t> chứa dữ liệu của cả 2 bảng (</a:t>
            </a:r>
            <a:r>
              <a:rPr lang="vi-VN" sz="1200" kern="1200">
                <a:solidFill>
                  <a:schemeClr val="tx1"/>
                </a:solidFill>
                <a:latin typeface="+mn-lt"/>
                <a:ea typeface="+mn-ea"/>
                <a:cs typeface="+mn-cs"/>
              </a:rPr>
              <a:t>products</a:t>
            </a:r>
            <a:r>
              <a:rPr lang="vi-VN"/>
              <a:t> và </a:t>
            </a:r>
            <a:r>
              <a:rPr lang="vi-VN" sz="1200" kern="1200">
                <a:solidFill>
                  <a:schemeClr val="tx1"/>
                </a:solidFill>
                <a:latin typeface="+mn-lt"/>
                <a:ea typeface="+mn-ea"/>
                <a:cs typeface="+mn-cs"/>
              </a:rPr>
              <a:t>categories</a:t>
            </a:r>
            <a:r>
              <a:rPr lang="vi-VN"/>
              <a:t>) trong cùng một dòng.</a:t>
            </a:r>
          </a:p>
          <a:p>
            <a:br>
              <a:rPr lang="vi-VN"/>
            </a:br>
            <a:endParaRPr lang="vi-VN"/>
          </a:p>
          <a:p>
            <a:r>
              <a:rPr lang="vi-VN" b="1"/>
              <a:t>Dòng 7–11</a:t>
            </a:r>
          </a:p>
          <a:p>
            <a:pPr rtl="0"/>
            <a:r>
              <a:rPr lang="vi-VN" sz="1200" kern="1200">
                <a:solidFill>
                  <a:schemeClr val="tx1"/>
                </a:solidFill>
                <a:latin typeface="+mn-lt"/>
                <a:ea typeface="+mn-ea"/>
                <a:cs typeface="+mn-cs"/>
              </a:rPr>
              <a:t>return rows.map((row) =&gt; ProductWithCategory(</a:t>
            </a:r>
          </a:p>
          <a:p>
            <a:pPr rtl="0"/>
            <a:r>
              <a:rPr lang="vi-VN" sz="1200" kern="1200">
                <a:solidFill>
                  <a:schemeClr val="tx1"/>
                </a:solidFill>
                <a:latin typeface="+mn-lt"/>
                <a:ea typeface="+mn-ea"/>
                <a:cs typeface="+mn-cs"/>
              </a:rPr>
              <a:t>  product: row.readTable(products),</a:t>
            </a:r>
          </a:p>
          <a:p>
            <a:pPr rtl="0"/>
            <a:r>
              <a:rPr lang="vi-VN" sz="1200" kern="1200">
                <a:solidFill>
                  <a:schemeClr val="tx1"/>
                </a:solidFill>
                <a:latin typeface="+mn-lt"/>
                <a:ea typeface="+mn-ea"/>
                <a:cs typeface="+mn-cs"/>
              </a:rPr>
              <a:t>  category: row.readTable(categories),</a:t>
            </a:r>
          </a:p>
          <a:p>
            <a:pPr rtl="0"/>
            <a:r>
              <a:rPr lang="vi-VN" sz="1200" kern="1200">
                <a:solidFill>
                  <a:schemeClr val="tx1"/>
                </a:solidFill>
                <a:latin typeface="+mn-lt"/>
                <a:ea typeface="+mn-ea"/>
                <a:cs typeface="+mn-cs"/>
              </a:rPr>
              <a:t>)).toList();</a:t>
            </a:r>
          </a:p>
          <a:p>
            <a:r>
              <a:rPr lang="en-US"/>
              <a:t>👉 </a:t>
            </a:r>
            <a:r>
              <a:rPr lang="vi-VN"/>
              <a:t>Duyệt từng dòng (</a:t>
            </a:r>
            <a:r>
              <a:rPr lang="vi-VN" sz="1200" kern="1200">
                <a:solidFill>
                  <a:schemeClr val="tx1"/>
                </a:solidFill>
                <a:latin typeface="+mn-lt"/>
                <a:ea typeface="+mn-ea"/>
                <a:cs typeface="+mn-cs"/>
              </a:rPr>
              <a:t>row</a:t>
            </a:r>
            <a:r>
              <a:rPr lang="vi-VN"/>
              <a:t>) trong kết quả và chuyển nó thành một đối tượng Dart thuần (</a:t>
            </a:r>
            <a:r>
              <a:rPr lang="vi-VN" sz="1200" kern="1200">
                <a:solidFill>
                  <a:schemeClr val="tx1"/>
                </a:solidFill>
                <a:latin typeface="+mn-lt"/>
                <a:ea typeface="+mn-ea"/>
                <a:cs typeface="+mn-cs"/>
              </a:rPr>
              <a:t>ProductWithCategory</a:t>
            </a:r>
            <a:r>
              <a:rPr lang="vi-VN"/>
              <a:t>).</a:t>
            </a:r>
          </a:p>
          <a:p>
            <a:r>
              <a:rPr lang="vi-VN"/>
              <a:t>Chi tiết:</a:t>
            </a:r>
          </a:p>
          <a:p>
            <a:r>
              <a:rPr lang="vi-VN"/>
              <a:t>Thành phần</a:t>
            </a:r>
            <a:r>
              <a:rPr lang="en-US"/>
              <a:t>				</a:t>
            </a:r>
            <a:r>
              <a:rPr lang="vi-VN"/>
              <a:t>Ý nghĩa</a:t>
            </a:r>
            <a:endParaRPr lang="en-US"/>
          </a:p>
          <a:p>
            <a:r>
              <a:rPr lang="vi-VN" sz="1200" kern="1200">
                <a:solidFill>
                  <a:schemeClr val="tx1"/>
                </a:solidFill>
                <a:latin typeface="+mn-lt"/>
                <a:ea typeface="+mn-ea"/>
                <a:cs typeface="+mn-cs"/>
              </a:rPr>
              <a:t>rows.map(...)</a:t>
            </a:r>
            <a:r>
              <a:rPr lang="en-US" sz="1200" kern="1200">
                <a:solidFill>
                  <a:schemeClr val="tx1"/>
                </a:solidFill>
                <a:latin typeface="+mn-lt"/>
                <a:ea typeface="+mn-ea"/>
                <a:cs typeface="+mn-cs"/>
              </a:rPr>
              <a:t>			</a:t>
            </a:r>
            <a:r>
              <a:rPr lang="vi-VN"/>
              <a:t>Duyệt từng dòng trong kết quả.</a:t>
            </a:r>
            <a:endParaRPr lang="en-US"/>
          </a:p>
          <a:p>
            <a:r>
              <a:rPr lang="vi-VN" sz="1200" kern="1200">
                <a:solidFill>
                  <a:schemeClr val="tx1"/>
                </a:solidFill>
                <a:latin typeface="+mn-lt"/>
                <a:ea typeface="+mn-ea"/>
                <a:cs typeface="+mn-cs"/>
              </a:rPr>
              <a:t>row.readTable(products)</a:t>
            </a:r>
            <a:r>
              <a:rPr lang="en-US" sz="1200" kern="1200">
                <a:solidFill>
                  <a:schemeClr val="tx1"/>
                </a:solidFill>
                <a:latin typeface="+mn-lt"/>
                <a:ea typeface="+mn-ea"/>
                <a:cs typeface="+mn-cs"/>
              </a:rPr>
              <a:t>		</a:t>
            </a:r>
            <a:r>
              <a:rPr lang="vi-VN"/>
              <a:t>Drift tự động ánh xạ </a:t>
            </a:r>
            <a:r>
              <a:rPr lang="en-US"/>
              <a:t>bản ghi (dòng) trong bảng products</a:t>
            </a:r>
            <a:r>
              <a:rPr lang="vi-VN"/>
              <a:t> thành một đối tượng </a:t>
            </a:r>
            <a:r>
              <a:rPr lang="vi-VN" sz="1200" kern="1200">
                <a:solidFill>
                  <a:schemeClr val="tx1"/>
                </a:solidFill>
                <a:latin typeface="+mn-lt"/>
                <a:ea typeface="+mn-ea"/>
                <a:cs typeface="+mn-cs"/>
              </a:rPr>
              <a:t>Product</a:t>
            </a:r>
            <a:r>
              <a:rPr lang="vi-VN"/>
              <a:t>.</a:t>
            </a:r>
            <a:endParaRPr lang="en-US"/>
          </a:p>
          <a:p>
            <a:r>
              <a:rPr lang="vi-VN" sz="1200" kern="1200">
                <a:solidFill>
                  <a:schemeClr val="tx1"/>
                </a:solidFill>
                <a:latin typeface="+mn-lt"/>
                <a:ea typeface="+mn-ea"/>
                <a:cs typeface="+mn-cs"/>
              </a:rPr>
              <a:t>row.readTable(categories)</a:t>
            </a:r>
            <a:r>
              <a:rPr lang="en-US" sz="1200" kern="1200">
                <a:solidFill>
                  <a:schemeClr val="tx1"/>
                </a:solidFill>
                <a:latin typeface="+mn-lt"/>
                <a:ea typeface="+mn-ea"/>
                <a:cs typeface="+mn-cs"/>
              </a:rPr>
              <a:t>		</a:t>
            </a:r>
            <a:r>
              <a:rPr lang="vi-VN"/>
              <a:t>Tương tự, ánh xạ phần dữ liệu của bảng </a:t>
            </a:r>
            <a:r>
              <a:rPr lang="vi-VN" sz="1200" kern="1200">
                <a:solidFill>
                  <a:schemeClr val="tx1"/>
                </a:solidFill>
                <a:latin typeface="+mn-lt"/>
                <a:ea typeface="+mn-ea"/>
                <a:cs typeface="+mn-cs"/>
              </a:rPr>
              <a:t>categories</a:t>
            </a:r>
            <a:r>
              <a:rPr lang="vi-VN"/>
              <a:t> thành một </a:t>
            </a:r>
            <a:r>
              <a:rPr lang="vi-VN" sz="1200" kern="1200">
                <a:solidFill>
                  <a:schemeClr val="tx1"/>
                </a:solidFill>
                <a:latin typeface="+mn-lt"/>
                <a:ea typeface="+mn-ea"/>
                <a:cs typeface="+mn-cs"/>
              </a:rPr>
              <a:t>Category</a:t>
            </a:r>
            <a:r>
              <a:rPr lang="vi-VN"/>
              <a:t>.</a:t>
            </a:r>
            <a:endParaRPr lang="en-US"/>
          </a:p>
          <a:p>
            <a:r>
              <a:rPr lang="vi-VN" sz="1200" kern="1200">
                <a:solidFill>
                  <a:schemeClr val="tx1"/>
                </a:solidFill>
                <a:latin typeface="+mn-lt"/>
                <a:ea typeface="+mn-ea"/>
                <a:cs typeface="+mn-cs"/>
              </a:rPr>
              <a:t>ProductWithCategory(...)</a:t>
            </a:r>
            <a:r>
              <a:rPr lang="en-US" sz="1200" kern="1200">
                <a:solidFill>
                  <a:schemeClr val="tx1"/>
                </a:solidFill>
                <a:latin typeface="+mn-lt"/>
                <a:ea typeface="+mn-ea"/>
                <a:cs typeface="+mn-cs"/>
              </a:rPr>
              <a:t>		</a:t>
            </a:r>
            <a:r>
              <a:rPr lang="vi-VN"/>
              <a:t>Tạo object chứa cả hai: </a:t>
            </a:r>
            <a:r>
              <a:rPr lang="vi-VN" sz="1200" kern="1200">
                <a:solidFill>
                  <a:schemeClr val="tx1"/>
                </a:solidFill>
                <a:latin typeface="+mn-lt"/>
                <a:ea typeface="+mn-ea"/>
                <a:cs typeface="+mn-cs"/>
              </a:rPr>
              <a:t>product</a:t>
            </a:r>
            <a:r>
              <a:rPr lang="vi-VN"/>
              <a:t> và </a:t>
            </a:r>
            <a:r>
              <a:rPr lang="vi-VN" sz="1200" kern="1200">
                <a:solidFill>
                  <a:schemeClr val="tx1"/>
                </a:solidFill>
                <a:latin typeface="+mn-lt"/>
                <a:ea typeface="+mn-ea"/>
                <a:cs typeface="+mn-cs"/>
              </a:rPr>
              <a:t>category</a:t>
            </a:r>
            <a:r>
              <a:rPr lang="vi-VN"/>
              <a:t>.</a:t>
            </a:r>
            <a:endParaRPr lang="en-US"/>
          </a:p>
          <a:p>
            <a:r>
              <a:rPr lang="vi-VN" sz="1200" kern="1200">
                <a:solidFill>
                  <a:schemeClr val="tx1"/>
                </a:solidFill>
                <a:latin typeface="+mn-lt"/>
                <a:ea typeface="+mn-ea"/>
                <a:cs typeface="+mn-cs"/>
              </a:rPr>
              <a:t>.toList()</a:t>
            </a:r>
            <a:r>
              <a:rPr lang="en-US" sz="1200" kern="1200">
                <a:solidFill>
                  <a:schemeClr val="tx1"/>
                </a:solidFill>
                <a:latin typeface="+mn-lt"/>
                <a:ea typeface="+mn-ea"/>
                <a:cs typeface="+mn-cs"/>
              </a:rPr>
              <a:t>			</a:t>
            </a:r>
            <a:r>
              <a:rPr lang="vi-VN"/>
              <a:t>Chuyển kết quả </a:t>
            </a:r>
            <a:r>
              <a:rPr lang="vi-VN" sz="1200" kern="1200">
                <a:solidFill>
                  <a:schemeClr val="tx1"/>
                </a:solidFill>
                <a:latin typeface="+mn-lt"/>
                <a:ea typeface="+mn-ea"/>
                <a:cs typeface="+mn-cs"/>
              </a:rPr>
              <a:t>Iterable</a:t>
            </a:r>
            <a:r>
              <a:rPr lang="vi-VN"/>
              <a:t> thành </a:t>
            </a:r>
            <a:r>
              <a:rPr lang="vi-VN" sz="1200" kern="1200">
                <a:solidFill>
                  <a:schemeClr val="tx1"/>
                </a:solidFill>
                <a:latin typeface="+mn-lt"/>
                <a:ea typeface="+mn-ea"/>
                <a:cs typeface="+mn-cs"/>
              </a:rPr>
              <a:t>List</a:t>
            </a:r>
            <a:r>
              <a:rPr lang="vi-VN"/>
              <a:t>.</a:t>
            </a:r>
          </a:p>
          <a:p>
            <a:endParaRPr lang="vi-VN"/>
          </a:p>
          <a:p>
            <a:r>
              <a:rPr lang="en-US" b="1"/>
              <a:t>🔹 </a:t>
            </a:r>
            <a:r>
              <a:rPr lang="vi-VN" b="1"/>
              <a:t>Tóm tắt quá trình thực thi</a:t>
            </a:r>
          </a:p>
          <a:p>
            <a:r>
              <a:rPr lang="vi-VN" b="1"/>
              <a:t>Tạo truy vấn JOIN</a:t>
            </a:r>
            <a:r>
              <a:rPr lang="vi-VN"/>
              <a:t> giữa bảng </a:t>
            </a:r>
            <a:r>
              <a:rPr lang="vi-VN" sz="1200" kern="1200">
                <a:solidFill>
                  <a:schemeClr val="tx1"/>
                </a:solidFill>
                <a:latin typeface="+mn-lt"/>
                <a:ea typeface="+mn-ea"/>
                <a:cs typeface="+mn-cs"/>
              </a:rPr>
              <a:t>products</a:t>
            </a:r>
            <a:r>
              <a:rPr lang="vi-VN"/>
              <a:t> và </a:t>
            </a:r>
            <a:r>
              <a:rPr lang="vi-VN" sz="1200" kern="1200">
                <a:solidFill>
                  <a:schemeClr val="tx1"/>
                </a:solidFill>
                <a:latin typeface="+mn-lt"/>
                <a:ea typeface="+mn-ea"/>
                <a:cs typeface="+mn-cs"/>
              </a:rPr>
              <a:t>categories</a:t>
            </a:r>
            <a:r>
              <a:rPr lang="vi-VN"/>
              <a:t>.</a:t>
            </a:r>
          </a:p>
          <a:p>
            <a:r>
              <a:rPr lang="vi-VN" b="1"/>
              <a:t>Sắp xếp kết quả giảm dần</a:t>
            </a:r>
            <a:r>
              <a:rPr lang="vi-VN"/>
              <a:t> theo </a:t>
            </a:r>
            <a:r>
              <a:rPr lang="vi-VN" sz="1200" kern="1200">
                <a:solidFill>
                  <a:schemeClr val="tx1"/>
                </a:solidFill>
                <a:latin typeface="+mn-lt"/>
                <a:ea typeface="+mn-ea"/>
                <a:cs typeface="+mn-cs"/>
              </a:rPr>
              <a:t>product.id</a:t>
            </a:r>
            <a:r>
              <a:rPr lang="vi-VN"/>
              <a:t>.</a:t>
            </a:r>
          </a:p>
          <a:p>
            <a:r>
              <a:rPr lang="vi-VN" b="1"/>
              <a:t>Thực thi truy vấn</a:t>
            </a:r>
            <a:r>
              <a:rPr lang="vi-VN"/>
              <a:t> và nhận về danh sách các dòng (cả hai bảng gộp lại).</a:t>
            </a:r>
          </a:p>
          <a:p>
            <a:r>
              <a:rPr lang="vi-VN" b="1"/>
              <a:t>Ánh xạ từng dòng</a:t>
            </a:r>
            <a:r>
              <a:rPr lang="vi-VN"/>
              <a:t> thành đối tượng </a:t>
            </a:r>
            <a:r>
              <a:rPr lang="vi-VN" sz="1200" kern="1200">
                <a:solidFill>
                  <a:schemeClr val="tx1"/>
                </a:solidFill>
                <a:latin typeface="+mn-lt"/>
                <a:ea typeface="+mn-ea"/>
                <a:cs typeface="+mn-cs"/>
              </a:rPr>
              <a:t>ProductWithCategory</a:t>
            </a:r>
            <a:r>
              <a:rPr lang="vi-VN"/>
              <a:t>.</a:t>
            </a:r>
          </a:p>
          <a:p>
            <a:r>
              <a:rPr lang="vi-VN" b="1"/>
              <a:t>Trả về danh sách hoàn chỉnh</a:t>
            </a:r>
            <a:r>
              <a:rPr lang="vi-VN"/>
              <a:t> để hiển thị trong UI.</a:t>
            </a:r>
          </a:p>
          <a:p>
            <a:r>
              <a:rPr lang="en-US" b="1"/>
              <a:t>---------------------------------------------------------------------------------------------------------------------------------</a:t>
            </a:r>
          </a:p>
          <a:p>
            <a:r>
              <a:rPr lang="en-US" b="1"/>
              <a:t>🔹 </a:t>
            </a:r>
            <a:r>
              <a:rPr lang="vi-VN" b="1"/>
              <a:t>Toàn bộ hàm:</a:t>
            </a:r>
          </a:p>
          <a:p>
            <a:pPr rtl="0"/>
            <a:r>
              <a:rPr lang="vi-VN" sz="1200" kern="1200">
                <a:solidFill>
                  <a:schemeClr val="tx1"/>
                </a:solidFill>
                <a:latin typeface="+mn-lt"/>
                <a:ea typeface="+mn-ea"/>
                <a:cs typeface="+mn-cs"/>
              </a:rPr>
              <a:t>Future&lt;List&lt;Category&gt;&gt; getAllCategories() =&gt; select(categories).get();</a:t>
            </a:r>
            <a:endParaRPr lang="vi-VN"/>
          </a:p>
          <a:p>
            <a:r>
              <a:rPr lang="en-US" b="1"/>
              <a:t>🧩 </a:t>
            </a:r>
            <a:r>
              <a:rPr lang="vi-VN" b="1"/>
              <a:t>Mục đích</a:t>
            </a:r>
          </a:p>
          <a:p>
            <a:r>
              <a:rPr lang="vi-VN"/>
              <a:t>Hàm này </a:t>
            </a:r>
            <a:r>
              <a:rPr lang="vi-VN" b="1"/>
              <a:t>lấy toàn bộ danh mục (categories)</a:t>
            </a:r>
            <a:r>
              <a:rPr lang="vi-VN"/>
              <a:t> trong bảng </a:t>
            </a:r>
            <a:r>
              <a:rPr lang="vi-VN" sz="1200" kern="1200">
                <a:solidFill>
                  <a:schemeClr val="tx1"/>
                </a:solidFill>
                <a:latin typeface="+mn-lt"/>
                <a:ea typeface="+mn-ea"/>
                <a:cs typeface="+mn-cs"/>
              </a:rPr>
              <a:t>Categories</a:t>
            </a:r>
            <a:r>
              <a:rPr lang="vi-VN"/>
              <a:t> từ cơ sở dữ liệu và trả về </a:t>
            </a:r>
            <a:r>
              <a:rPr lang="vi-VN" b="1"/>
              <a:t>một danh sách (</a:t>
            </a:r>
            <a:r>
              <a:rPr lang="vi-VN" sz="1200" b="1" kern="1200">
                <a:solidFill>
                  <a:schemeClr val="tx1"/>
                </a:solidFill>
                <a:latin typeface="+mn-lt"/>
                <a:ea typeface="+mn-ea"/>
                <a:cs typeface="+mn-cs"/>
              </a:rPr>
              <a:t>List&lt;Category&gt;</a:t>
            </a:r>
            <a:r>
              <a:rPr lang="vi-VN" b="1"/>
              <a:t>)</a:t>
            </a:r>
            <a:r>
              <a:rPr lang="vi-VN"/>
              <a:t>.</a:t>
            </a:r>
          </a:p>
          <a:p>
            <a:r>
              <a:rPr lang="vi-VN"/>
              <a:t>Trong SQL thuần, nó tương đương với:</a:t>
            </a:r>
          </a:p>
          <a:p>
            <a:pPr rtl="0"/>
            <a:r>
              <a:rPr lang="vi-VN" sz="1200" kern="1200">
                <a:solidFill>
                  <a:schemeClr val="tx1"/>
                </a:solidFill>
                <a:latin typeface="+mn-lt"/>
                <a:ea typeface="+mn-ea"/>
                <a:cs typeface="+mn-cs"/>
              </a:rPr>
              <a:t>SELECT * FROM categories;</a:t>
            </a:r>
            <a:endParaRPr lang="vi-VN"/>
          </a:p>
          <a:p>
            <a:r>
              <a:rPr lang="en-US" b="1"/>
              <a:t>🧠 </a:t>
            </a:r>
            <a:r>
              <a:rPr lang="vi-VN" b="1"/>
              <a:t>Phân tích chi tiết từng phần</a:t>
            </a:r>
          </a:p>
          <a:p>
            <a:r>
              <a:rPr lang="vi-VN" b="1"/>
              <a:t>1️⃣ </a:t>
            </a:r>
            <a:r>
              <a:rPr lang="vi-VN" sz="1200" b="1" kern="1200">
                <a:solidFill>
                  <a:schemeClr val="tx1"/>
                </a:solidFill>
                <a:latin typeface="+mn-lt"/>
                <a:ea typeface="+mn-ea"/>
                <a:cs typeface="+mn-cs"/>
              </a:rPr>
              <a:t>Future&lt;List&lt;Category&gt;&gt;</a:t>
            </a:r>
            <a:endParaRPr lang="vi-VN" b="1"/>
          </a:p>
          <a:p>
            <a:r>
              <a:rPr lang="vi-VN"/>
              <a:t>Kiểu </a:t>
            </a:r>
            <a:r>
              <a:rPr lang="vi-VN" b="1"/>
              <a:t>trả về</a:t>
            </a:r>
            <a:r>
              <a:rPr lang="vi-VN"/>
              <a:t> của hàm.</a:t>
            </a:r>
          </a:p>
          <a:p>
            <a:r>
              <a:rPr lang="vi-VN"/>
              <a:t>Vì thao tác với cơ sở dữ liệu là </a:t>
            </a:r>
            <a:r>
              <a:rPr lang="vi-VN" b="1"/>
              <a:t>bất đồng bộ (asynchronous)</a:t>
            </a:r>
            <a:r>
              <a:rPr lang="vi-VN"/>
              <a:t>, nên phải dùng </a:t>
            </a:r>
            <a:r>
              <a:rPr lang="vi-VN" sz="1200" kern="1200">
                <a:solidFill>
                  <a:schemeClr val="tx1"/>
                </a:solidFill>
                <a:latin typeface="+mn-lt"/>
                <a:ea typeface="+mn-ea"/>
                <a:cs typeface="+mn-cs"/>
              </a:rPr>
              <a:t>Future</a:t>
            </a:r>
            <a:r>
              <a:rPr lang="vi-VN"/>
              <a:t>.</a:t>
            </a:r>
          </a:p>
          <a:p>
            <a:r>
              <a:rPr lang="vi-VN"/>
              <a:t>Khi hoàn thành, </a:t>
            </a:r>
            <a:r>
              <a:rPr lang="vi-VN" sz="1200" kern="1200">
                <a:solidFill>
                  <a:schemeClr val="tx1"/>
                </a:solidFill>
                <a:latin typeface="+mn-lt"/>
                <a:ea typeface="+mn-ea"/>
                <a:cs typeface="+mn-cs"/>
              </a:rPr>
              <a:t>Future</a:t>
            </a:r>
            <a:r>
              <a:rPr lang="vi-VN"/>
              <a:t> này trả về </a:t>
            </a:r>
            <a:r>
              <a:rPr lang="vi-VN" b="1"/>
              <a:t>danh sách các đối tượng </a:t>
            </a:r>
            <a:r>
              <a:rPr lang="vi-VN" sz="1200" b="1" kern="1200">
                <a:solidFill>
                  <a:schemeClr val="tx1"/>
                </a:solidFill>
                <a:latin typeface="+mn-lt"/>
                <a:ea typeface="+mn-ea"/>
                <a:cs typeface="+mn-cs"/>
              </a:rPr>
              <a:t>Category</a:t>
            </a:r>
            <a:r>
              <a:rPr lang="vi-VN"/>
              <a:t> (mỗi hàng trong bảng tương ứng một đối tượng).</a:t>
            </a:r>
          </a:p>
          <a:p>
            <a:r>
              <a:rPr lang="en-US"/>
              <a:t>👉 </a:t>
            </a:r>
            <a:r>
              <a:rPr lang="vi-VN"/>
              <a:t>Ví dụ:</a:t>
            </a:r>
            <a:br>
              <a:rPr lang="vi-VN"/>
            </a:br>
            <a:r>
              <a:rPr lang="vi-VN" sz="1200" kern="1200">
                <a:solidFill>
                  <a:schemeClr val="tx1"/>
                </a:solidFill>
                <a:latin typeface="+mn-lt"/>
                <a:ea typeface="+mn-ea"/>
                <a:cs typeface="+mn-cs"/>
              </a:rPr>
              <a:t>[Category(id:1, name:'Food'), Category(id:2, name:'Drink'), Category(id:3, name:'Electronics')]</a:t>
            </a:r>
            <a:endParaRPr lang="vi-VN"/>
          </a:p>
          <a:p>
            <a:r>
              <a:rPr lang="vi-VN" b="1"/>
              <a:t>2️⃣ </a:t>
            </a:r>
            <a:r>
              <a:rPr lang="vi-VN" sz="1200" b="1" kern="1200">
                <a:solidFill>
                  <a:schemeClr val="tx1"/>
                </a:solidFill>
                <a:latin typeface="+mn-lt"/>
                <a:ea typeface="+mn-ea"/>
                <a:cs typeface="+mn-cs"/>
              </a:rPr>
              <a:t>select(categories)</a:t>
            </a:r>
            <a:endParaRPr lang="vi-VN" b="1"/>
          </a:p>
          <a:p>
            <a:r>
              <a:rPr lang="vi-VN"/>
              <a:t>Đây là </a:t>
            </a:r>
            <a:r>
              <a:rPr lang="vi-VN" b="1"/>
              <a:t>câu lệnh truy vấn</a:t>
            </a:r>
            <a:r>
              <a:rPr lang="vi-VN"/>
              <a:t> được xây dựng bằng </a:t>
            </a:r>
            <a:r>
              <a:rPr lang="vi-VN" b="1"/>
              <a:t>API type-safe của Drift</a:t>
            </a:r>
            <a:r>
              <a:rPr lang="vi-VN"/>
              <a:t>.</a:t>
            </a:r>
          </a:p>
          <a:p>
            <a:r>
              <a:rPr lang="vi-VN" sz="1200" kern="1200">
                <a:solidFill>
                  <a:schemeClr val="tx1"/>
                </a:solidFill>
                <a:latin typeface="+mn-lt"/>
                <a:ea typeface="+mn-ea"/>
                <a:cs typeface="+mn-cs"/>
              </a:rPr>
              <a:t>select()</a:t>
            </a:r>
            <a:r>
              <a:rPr lang="vi-VN"/>
              <a:t> là hàm được Drift tự động sinh ra cho mỗi bảng bạn khai báo trong </a:t>
            </a:r>
            <a:r>
              <a:rPr lang="vi-VN" sz="1200" kern="1200">
                <a:solidFill>
                  <a:schemeClr val="tx1"/>
                </a:solidFill>
                <a:latin typeface="+mn-lt"/>
                <a:ea typeface="+mn-ea"/>
                <a:cs typeface="+mn-cs"/>
              </a:rPr>
              <a:t>@DriftDatabase</a:t>
            </a:r>
            <a:r>
              <a:rPr lang="vi-VN"/>
              <a:t>.</a:t>
            </a:r>
          </a:p>
          <a:p>
            <a:r>
              <a:rPr lang="vi-VN"/>
              <a:t>Giải thích:</a:t>
            </a:r>
          </a:p>
          <a:p>
            <a:r>
              <a:rPr lang="vi-VN" sz="1200" kern="1200">
                <a:solidFill>
                  <a:schemeClr val="tx1"/>
                </a:solidFill>
                <a:latin typeface="+mn-lt"/>
                <a:ea typeface="+mn-ea"/>
                <a:cs typeface="+mn-cs"/>
              </a:rPr>
              <a:t>categories</a:t>
            </a:r>
            <a:r>
              <a:rPr lang="vi-VN"/>
              <a:t> là </a:t>
            </a:r>
            <a:r>
              <a:rPr lang="vi-VN" b="1"/>
              <a:t>đối tượng bảng (TableInfo)</a:t>
            </a:r>
            <a:r>
              <a:rPr lang="vi-VN"/>
              <a:t>, được Drift tạo từ class </a:t>
            </a:r>
            <a:r>
              <a:rPr lang="vi-VN" sz="1200" kern="1200">
                <a:solidFill>
                  <a:schemeClr val="tx1"/>
                </a:solidFill>
                <a:latin typeface="+mn-lt"/>
                <a:ea typeface="+mn-ea"/>
                <a:cs typeface="+mn-cs"/>
              </a:rPr>
              <a:t>Categories</a:t>
            </a:r>
            <a:r>
              <a:rPr lang="vi-VN"/>
              <a:t> bạn định nghĩa trong </a:t>
            </a:r>
            <a:r>
              <a:rPr lang="vi-VN" sz="1200" kern="1200">
                <a:solidFill>
                  <a:schemeClr val="tx1"/>
                </a:solidFill>
                <a:latin typeface="+mn-lt"/>
                <a:ea typeface="+mn-ea"/>
                <a:cs typeface="+mn-cs"/>
              </a:rPr>
              <a:t>tables.dart</a:t>
            </a:r>
            <a:r>
              <a:rPr lang="vi-VN"/>
              <a:t>.</a:t>
            </a:r>
          </a:p>
          <a:p>
            <a:r>
              <a:rPr lang="vi-VN"/>
              <a:t>Khi bạn gọi </a:t>
            </a:r>
            <a:r>
              <a:rPr lang="vi-VN" sz="1200" kern="1200">
                <a:solidFill>
                  <a:schemeClr val="tx1"/>
                </a:solidFill>
                <a:latin typeface="+mn-lt"/>
                <a:ea typeface="+mn-ea"/>
                <a:cs typeface="+mn-cs"/>
              </a:rPr>
              <a:t>select(categories)</a:t>
            </a:r>
            <a:r>
              <a:rPr lang="vi-VN"/>
              <a:t>, Drift hiểu là:</a:t>
            </a:r>
          </a:p>
          <a:p>
            <a:r>
              <a:rPr lang="vi-VN"/>
              <a:t>“Tôi muốn truy vấn dữ liệu từ bảng </a:t>
            </a:r>
            <a:r>
              <a:rPr lang="vi-VN" sz="1200" kern="1200">
                <a:solidFill>
                  <a:schemeClr val="tx1"/>
                </a:solidFill>
                <a:latin typeface="+mn-lt"/>
                <a:ea typeface="+mn-ea"/>
                <a:cs typeface="+mn-cs"/>
              </a:rPr>
              <a:t>categories</a:t>
            </a:r>
            <a:r>
              <a:rPr lang="vi-VN"/>
              <a:t>.”</a:t>
            </a:r>
          </a:p>
          <a:p>
            <a:r>
              <a:rPr lang="vi-VN"/>
              <a:t>Kết quả của </a:t>
            </a:r>
            <a:r>
              <a:rPr lang="vi-VN" sz="1200" kern="1200">
                <a:solidFill>
                  <a:schemeClr val="tx1"/>
                </a:solidFill>
                <a:latin typeface="+mn-lt"/>
                <a:ea typeface="+mn-ea"/>
                <a:cs typeface="+mn-cs"/>
              </a:rPr>
              <a:t>select(categories)</a:t>
            </a:r>
            <a:r>
              <a:rPr lang="vi-VN"/>
              <a:t> là một </a:t>
            </a:r>
            <a:r>
              <a:rPr lang="vi-VN" b="1"/>
              <a:t>SelectStatement</a:t>
            </a:r>
            <a:r>
              <a:rPr lang="vi-VN"/>
              <a:t>, tức là một đối tượng đại diện cho câu lệnh </a:t>
            </a:r>
            <a:r>
              <a:rPr lang="vi-VN" sz="1200" kern="1200">
                <a:solidFill>
                  <a:schemeClr val="tx1"/>
                </a:solidFill>
                <a:latin typeface="+mn-lt"/>
                <a:ea typeface="+mn-ea"/>
                <a:cs typeface="+mn-cs"/>
              </a:rPr>
              <a:t>SELECT * FROM categories</a:t>
            </a:r>
            <a:r>
              <a:rPr lang="vi-VN"/>
              <a:t>.</a:t>
            </a:r>
          </a:p>
          <a:p>
            <a:r>
              <a:rPr lang="vi-VN" b="1"/>
              <a:t>3️⃣ </a:t>
            </a:r>
            <a:r>
              <a:rPr lang="vi-VN" sz="1200" b="1" kern="1200">
                <a:solidFill>
                  <a:schemeClr val="tx1"/>
                </a:solidFill>
                <a:latin typeface="+mn-lt"/>
                <a:ea typeface="+mn-ea"/>
                <a:cs typeface="+mn-cs"/>
              </a:rPr>
              <a:t>.get()</a:t>
            </a:r>
            <a:endParaRPr lang="vi-VN" b="1"/>
          </a:p>
          <a:p>
            <a:r>
              <a:rPr lang="vi-VN"/>
              <a:t>Phương thức </a:t>
            </a:r>
            <a:r>
              <a:rPr lang="vi-VN" sz="1200" kern="1200">
                <a:solidFill>
                  <a:schemeClr val="tx1"/>
                </a:solidFill>
                <a:latin typeface="+mn-lt"/>
                <a:ea typeface="+mn-ea"/>
                <a:cs typeface="+mn-cs"/>
              </a:rPr>
              <a:t>.get()</a:t>
            </a:r>
            <a:r>
              <a:rPr lang="vi-VN"/>
              <a:t> dùng để </a:t>
            </a:r>
            <a:r>
              <a:rPr lang="vi-VN" b="1"/>
              <a:t>thực thi câu truy vấn</a:t>
            </a:r>
            <a:r>
              <a:rPr lang="vi-VN"/>
              <a:t> và lấy </a:t>
            </a:r>
            <a:r>
              <a:rPr lang="vi-VN" b="1"/>
              <a:t>toàn bộ kết quả</a:t>
            </a:r>
            <a:r>
              <a:rPr lang="vi-VN"/>
              <a:t>.</a:t>
            </a:r>
          </a:p>
          <a:p>
            <a:r>
              <a:rPr lang="vi-VN"/>
              <a:t>Nó trả về một </a:t>
            </a:r>
            <a:r>
              <a:rPr lang="vi-VN" sz="1200" kern="1200">
                <a:solidFill>
                  <a:schemeClr val="tx1"/>
                </a:solidFill>
                <a:latin typeface="+mn-lt"/>
                <a:ea typeface="+mn-ea"/>
                <a:cs typeface="+mn-cs"/>
              </a:rPr>
              <a:t>Future&lt;List&lt;Category&gt;&gt;</a:t>
            </a:r>
            <a:r>
              <a:rPr lang="vi-VN"/>
              <a:t>.</a:t>
            </a:r>
          </a:p>
          <a:p>
            <a:r>
              <a:rPr lang="vi-VN"/>
              <a:t>Tức là:</a:t>
            </a:r>
          </a:p>
          <a:p>
            <a:r>
              <a:rPr lang="vi-VN" sz="1200" kern="1200">
                <a:solidFill>
                  <a:schemeClr val="tx1"/>
                </a:solidFill>
                <a:latin typeface="+mn-lt"/>
                <a:ea typeface="+mn-ea"/>
                <a:cs typeface="+mn-cs"/>
              </a:rPr>
              <a:t>.get()</a:t>
            </a:r>
            <a:r>
              <a:rPr lang="vi-VN"/>
              <a:t> sẽ chạy SQL tương đương với </a:t>
            </a:r>
            <a:r>
              <a:rPr lang="vi-VN" sz="1200" kern="1200">
                <a:solidFill>
                  <a:schemeClr val="tx1"/>
                </a:solidFill>
                <a:latin typeface="+mn-lt"/>
                <a:ea typeface="+mn-ea"/>
                <a:cs typeface="+mn-cs"/>
              </a:rPr>
              <a:t>SELECT * FROM categories</a:t>
            </a:r>
            <a:endParaRPr lang="vi-VN"/>
          </a:p>
          <a:p>
            <a:r>
              <a:rPr lang="vi-VN"/>
              <a:t>Sau đó Drift </a:t>
            </a:r>
            <a:r>
              <a:rPr lang="vi-VN" b="1"/>
              <a:t>tự động ánh xạ (map)</a:t>
            </a:r>
            <a:r>
              <a:rPr lang="vi-VN"/>
              <a:t> từng hàng kết quả thành một đối tượng </a:t>
            </a:r>
            <a:r>
              <a:rPr lang="vi-VN" sz="1200" kern="1200">
                <a:solidFill>
                  <a:schemeClr val="tx1"/>
                </a:solidFill>
                <a:latin typeface="+mn-lt"/>
                <a:ea typeface="+mn-ea"/>
                <a:cs typeface="+mn-cs"/>
              </a:rPr>
              <a:t>Category</a:t>
            </a:r>
            <a:r>
              <a:rPr lang="vi-VN"/>
              <a:t> (vì bạn có </a:t>
            </a:r>
            <a:r>
              <a:rPr lang="vi-VN" sz="1200" kern="1200">
                <a:solidFill>
                  <a:schemeClr val="tx1"/>
                </a:solidFill>
                <a:latin typeface="+mn-lt"/>
                <a:ea typeface="+mn-ea"/>
                <a:cs typeface="+mn-cs"/>
              </a:rPr>
              <a:t>@DataClassName('Category')</a:t>
            </a:r>
            <a:r>
              <a:rPr lang="vi-VN"/>
              <a:t> trong </a:t>
            </a:r>
            <a:r>
              <a:rPr lang="vi-VN" sz="1200" kern="1200">
                <a:solidFill>
                  <a:schemeClr val="tx1"/>
                </a:solidFill>
                <a:latin typeface="+mn-lt"/>
                <a:ea typeface="+mn-ea"/>
                <a:cs typeface="+mn-cs"/>
              </a:rPr>
              <a:t>tables.dart</a:t>
            </a:r>
            <a:r>
              <a:rPr lang="vi-VN"/>
              <a:t>).</a:t>
            </a:r>
          </a:p>
          <a:p>
            <a:r>
              <a:rPr lang="vi-VN" b="1"/>
              <a:t>4️⃣ </a:t>
            </a:r>
            <a:r>
              <a:rPr lang="vi-VN" sz="1200" b="1" kern="1200">
                <a:solidFill>
                  <a:schemeClr val="tx1"/>
                </a:solidFill>
                <a:latin typeface="+mn-lt"/>
                <a:ea typeface="+mn-ea"/>
                <a:cs typeface="+mn-cs"/>
              </a:rPr>
              <a:t>=&gt;</a:t>
            </a:r>
            <a:r>
              <a:rPr lang="vi-VN" b="1"/>
              <a:t> (arrow function)</a:t>
            </a:r>
          </a:p>
          <a:p>
            <a:r>
              <a:rPr lang="vi-VN"/>
              <a:t>Cú pháp rút gọn của hàm:</a:t>
            </a:r>
          </a:p>
          <a:p>
            <a:pPr rtl="0"/>
            <a:r>
              <a:rPr lang="vi-VN" sz="1200" kern="1200">
                <a:solidFill>
                  <a:schemeClr val="tx1"/>
                </a:solidFill>
                <a:latin typeface="+mn-lt"/>
                <a:ea typeface="+mn-ea"/>
                <a:cs typeface="+mn-cs"/>
              </a:rPr>
              <a:t>Future&lt;List&lt;Category&gt;&gt; getAllCategories() {</a:t>
            </a:r>
          </a:p>
          <a:p>
            <a:pPr rtl="0"/>
            <a:r>
              <a:rPr lang="vi-VN" sz="1200" kern="1200">
                <a:solidFill>
                  <a:schemeClr val="tx1"/>
                </a:solidFill>
                <a:latin typeface="+mn-lt"/>
                <a:ea typeface="+mn-ea"/>
                <a:cs typeface="+mn-cs"/>
              </a:rPr>
              <a:t>  return select(categories).get();</a:t>
            </a:r>
          </a:p>
          <a:p>
            <a:pPr rtl="0"/>
            <a:r>
              <a:rPr lang="vi-VN" sz="1200" kern="1200">
                <a:solidFill>
                  <a:schemeClr val="tx1"/>
                </a:solidFill>
                <a:latin typeface="+mn-lt"/>
                <a:ea typeface="+mn-ea"/>
                <a:cs typeface="+mn-cs"/>
              </a:rPr>
              <a:t>}</a:t>
            </a:r>
          </a:p>
          <a:p>
            <a:r>
              <a:rPr lang="vi-VN"/>
              <a:t>Hai cách này </a:t>
            </a:r>
            <a:r>
              <a:rPr lang="vi-VN" b="1"/>
              <a:t>tương đương nhau</a:t>
            </a:r>
            <a:r>
              <a:rPr lang="vi-VN"/>
              <a:t>, nhưng dùng </a:t>
            </a:r>
            <a:r>
              <a:rPr lang="vi-VN" sz="1200" kern="1200">
                <a:solidFill>
                  <a:schemeClr val="tx1"/>
                </a:solidFill>
                <a:latin typeface="+mn-lt"/>
                <a:ea typeface="+mn-ea"/>
                <a:cs typeface="+mn-cs"/>
              </a:rPr>
              <a:t>=&gt;</a:t>
            </a:r>
            <a:r>
              <a:rPr lang="vi-VN"/>
              <a:t> giúp viết ngắn gọn hơn.</a:t>
            </a:r>
          </a:p>
          <a:p>
            <a:r>
              <a:rPr lang="en-US" b="1"/>
              <a:t>🔍 </a:t>
            </a:r>
            <a:r>
              <a:rPr lang="vi-VN" b="1"/>
              <a:t>Quy trình khi hàm này chạy</a:t>
            </a:r>
          </a:p>
          <a:p>
            <a:r>
              <a:rPr lang="vi-VN"/>
              <a:t>Gọi </a:t>
            </a:r>
            <a:r>
              <a:rPr lang="vi-VN" sz="1200" kern="1200">
                <a:solidFill>
                  <a:schemeClr val="tx1"/>
                </a:solidFill>
                <a:latin typeface="+mn-lt"/>
                <a:ea typeface="+mn-ea"/>
                <a:cs typeface="+mn-cs"/>
              </a:rPr>
              <a:t>select(categories)</a:t>
            </a:r>
            <a:r>
              <a:rPr lang="vi-VN"/>
              <a:t> để </a:t>
            </a:r>
            <a:r>
              <a:rPr lang="vi-VN" b="1"/>
              <a:t>chuẩn bị truy vấn</a:t>
            </a:r>
            <a:r>
              <a:rPr lang="vi-VN"/>
              <a:t>.</a:t>
            </a:r>
          </a:p>
          <a:p>
            <a:r>
              <a:rPr lang="vi-VN"/>
              <a:t>Gọi </a:t>
            </a:r>
            <a:r>
              <a:rPr lang="vi-VN" sz="1200" kern="1200">
                <a:solidFill>
                  <a:schemeClr val="tx1"/>
                </a:solidFill>
                <a:latin typeface="+mn-lt"/>
                <a:ea typeface="+mn-ea"/>
                <a:cs typeface="+mn-cs"/>
              </a:rPr>
              <a:t>.get()</a:t>
            </a:r>
            <a:r>
              <a:rPr lang="vi-VN"/>
              <a:t> để </a:t>
            </a:r>
            <a:r>
              <a:rPr lang="vi-VN" b="1"/>
              <a:t>chạy truy vấn và đọc dữ liệu</a:t>
            </a:r>
            <a:r>
              <a:rPr lang="vi-VN"/>
              <a:t>.</a:t>
            </a:r>
          </a:p>
          <a:p>
            <a:r>
              <a:rPr lang="vi-VN"/>
              <a:t>Drift </a:t>
            </a:r>
            <a:r>
              <a:rPr lang="vi-VN" b="1"/>
              <a:t>tự động ánh xạ</a:t>
            </a:r>
            <a:r>
              <a:rPr lang="vi-VN"/>
              <a:t> kết quả SQL thành danh sách </a:t>
            </a:r>
            <a:r>
              <a:rPr lang="vi-VN" sz="1200" kern="1200">
                <a:solidFill>
                  <a:schemeClr val="tx1"/>
                </a:solidFill>
                <a:latin typeface="+mn-lt"/>
                <a:ea typeface="+mn-ea"/>
                <a:cs typeface="+mn-cs"/>
              </a:rPr>
              <a:t>Category</a:t>
            </a:r>
            <a:r>
              <a:rPr lang="vi-VN"/>
              <a:t>.</a:t>
            </a:r>
          </a:p>
          <a:p>
            <a:r>
              <a:rPr lang="vi-VN"/>
              <a:t>Hàm </a:t>
            </a:r>
            <a:r>
              <a:rPr lang="vi-VN" b="1"/>
              <a:t>trả về</a:t>
            </a:r>
            <a:r>
              <a:rPr lang="vi-VN"/>
              <a:t> </a:t>
            </a:r>
            <a:r>
              <a:rPr lang="vi-VN" sz="1200" kern="1200">
                <a:solidFill>
                  <a:schemeClr val="tx1"/>
                </a:solidFill>
                <a:latin typeface="+mn-lt"/>
                <a:ea typeface="+mn-ea"/>
                <a:cs typeface="+mn-cs"/>
              </a:rPr>
              <a:t>Future&lt;List&lt;Category&gt;&gt;</a:t>
            </a:r>
            <a:r>
              <a:rPr lang="vi-VN"/>
              <a:t>.</a:t>
            </a:r>
          </a:p>
          <a:p>
            <a:r>
              <a:rPr lang="en-US" b="1"/>
              <a:t>------------------------------------------------------------------------------------------------------------------------------------------------</a:t>
            </a:r>
          </a:p>
          <a:p>
            <a:endParaRPr lang="en-US"/>
          </a:p>
        </p:txBody>
      </p:sp>
      <p:sp>
        <p:nvSpPr>
          <p:cNvPr id="4" name="Slide Number Placeholder 3">
            <a:extLst>
              <a:ext uri="{FF2B5EF4-FFF2-40B4-BE49-F238E27FC236}">
                <a16:creationId xmlns:a16="http://schemas.microsoft.com/office/drawing/2014/main" id="{924966B0-44B9-BA4C-955E-27E7ADDAA706}"/>
              </a:ext>
            </a:extLst>
          </p:cNvPr>
          <p:cNvSpPr>
            <a:spLocks noGrp="1"/>
          </p:cNvSpPr>
          <p:nvPr>
            <p:ph type="sldNum" sz="quarter" idx="5"/>
          </p:nvPr>
        </p:nvSpPr>
        <p:spPr/>
        <p:txBody>
          <a:bodyPr/>
          <a:lstStyle/>
          <a:p>
            <a:fld id="{1983A999-5E0E-42CA-8400-604AE921FF7C}" type="slidenum">
              <a:rPr lang="en-US" smtClean="0"/>
              <a:t>39</a:t>
            </a:fld>
            <a:endParaRPr lang="en-US"/>
          </a:p>
        </p:txBody>
      </p:sp>
    </p:spTree>
    <p:extLst>
      <p:ext uri="{BB962C8B-B14F-4D97-AF65-F5344CB8AC3E}">
        <p14:creationId xmlns:p14="http://schemas.microsoft.com/office/powerpoint/2010/main" val="33562190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AECDF-A811-8CAB-8BDA-98F7D860A6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CFEFB0-D1E3-6354-FAE5-0E4710771B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65687A-FA22-5C42-D591-B603899F32E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int? selectedCategory;</a:t>
            </a: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List&lt;Product&gt; allProducts = [];</a:t>
            </a: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List&lt;Map&lt;String, dynamic&gt;&gt; displayedProducts = [];</a:t>
            </a: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List&lt;Category&gt; allCategories = [];</a:t>
            </a: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String searchText = "";</a:t>
            </a: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int filterCategory = 0; </a:t>
            </a:r>
            <a:r>
              <a:rPr lang="en-US" sz="1200" i="1" kern="1200">
                <a:solidFill>
                  <a:schemeClr val="tx1"/>
                </a:solidFill>
                <a:effectLst/>
                <a:latin typeface="+mn-lt"/>
                <a:ea typeface="+mn-ea"/>
                <a:cs typeface="+mn-cs"/>
              </a:rPr>
              <a:t>// 0 = All</a:t>
            </a:r>
            <a:endParaRPr lang="en-US" sz="1200" kern="1200">
              <a:solidFill>
                <a:schemeClr val="tx1"/>
              </a:solidFill>
              <a:effectLst/>
              <a:latin typeface="+mn-lt"/>
              <a:ea typeface="+mn-ea"/>
              <a:cs typeface="+mn-cs"/>
            </a:endParaRPr>
          </a:p>
          <a:p>
            <a:r>
              <a:rPr lang="en-US" sz="1200" kern="1200">
                <a:solidFill>
                  <a:schemeClr val="tx1"/>
                </a:solidFill>
                <a:latin typeface="+mn-lt"/>
                <a:ea typeface="+mn-ea"/>
                <a:cs typeface="+mn-cs"/>
              </a:rPr>
              <a:t>=&gt;</a:t>
            </a:r>
          </a:p>
          <a:p>
            <a:r>
              <a:rPr lang="en-US" sz="1200" kern="1200">
                <a:solidFill>
                  <a:schemeClr val="tx1"/>
                </a:solidFill>
                <a:latin typeface="+mn-lt"/>
                <a:ea typeface="+mn-ea"/>
                <a:cs typeface="+mn-cs"/>
              </a:rPr>
              <a:t>selectedCategory</a:t>
            </a:r>
            <a:r>
              <a:rPr lang="en-US"/>
              <a:t> để lựa danh mục trong form.</a:t>
            </a:r>
          </a:p>
          <a:p>
            <a:r>
              <a:rPr lang="en-US" sz="1200" kern="1200">
                <a:solidFill>
                  <a:schemeClr val="tx1"/>
                </a:solidFill>
                <a:latin typeface="+mn-lt"/>
                <a:ea typeface="+mn-ea"/>
                <a:cs typeface="+mn-cs"/>
              </a:rPr>
              <a:t>displayedProducts</a:t>
            </a:r>
            <a:r>
              <a:rPr lang="en-US"/>
              <a:t> là danh sách (Map) từ </a:t>
            </a:r>
            <a:r>
              <a:rPr lang="en-US" sz="1200" kern="1200">
                <a:solidFill>
                  <a:schemeClr val="tx1"/>
                </a:solidFill>
                <a:latin typeface="+mn-lt"/>
                <a:ea typeface="+mn-ea"/>
                <a:cs typeface="+mn-cs"/>
              </a:rPr>
              <a:t>getProductsWithCategory()</a:t>
            </a:r>
            <a:r>
              <a:rPr lang="en-US"/>
              <a:t> dùng trực tiếp cho UI (vì có </a:t>
            </a:r>
            <a:r>
              <a:rPr lang="en-US" sz="1200" kern="1200">
                <a:solidFill>
                  <a:schemeClr val="tx1"/>
                </a:solidFill>
                <a:latin typeface="+mn-lt"/>
                <a:ea typeface="+mn-ea"/>
                <a:cs typeface="+mn-cs"/>
              </a:rPr>
              <a:t>category_name</a:t>
            </a:r>
            <a:r>
              <a:rPr lang="en-US"/>
              <a:t>).</a:t>
            </a:r>
          </a:p>
          <a:p>
            <a:r>
              <a:rPr lang="en-US" sz="1200" kern="1200">
                <a:solidFill>
                  <a:schemeClr val="tx1"/>
                </a:solidFill>
                <a:latin typeface="+mn-lt"/>
                <a:ea typeface="+mn-ea"/>
                <a:cs typeface="+mn-cs"/>
              </a:rPr>
              <a:t>filterCategory == 0</a:t>
            </a:r>
            <a:r>
              <a:rPr lang="en-US"/>
              <a:t> biểu thị show all.</a:t>
            </a:r>
          </a:p>
          <a:p>
            <a:r>
              <a:rPr lang="en-US"/>
              <a:t>--------------------------------------------------------------------------------------------------</a:t>
            </a:r>
          </a:p>
          <a:p>
            <a:r>
              <a:rPr lang="vi-VN"/>
              <a:t>Từ </a:t>
            </a:r>
            <a:r>
              <a:rPr lang="vi-VN" b="1"/>
              <a:t>"query"</a:t>
            </a:r>
            <a:r>
              <a:rPr lang="vi-VN"/>
              <a:t> trong lập trình (đặc biệt là khi làm việc với cơ sở dữ liệu như </a:t>
            </a:r>
            <a:r>
              <a:rPr lang="vi-VN" b="1"/>
              <a:t>SQLite</a:t>
            </a:r>
            <a:r>
              <a:rPr lang="vi-VN"/>
              <a:t>, </a:t>
            </a:r>
            <a:r>
              <a:rPr lang="vi-VN" b="1"/>
              <a:t>Drift</a:t>
            </a:r>
            <a:r>
              <a:rPr lang="vi-VN"/>
              <a:t>, </a:t>
            </a:r>
            <a:r>
              <a:rPr lang="vi-VN" b="1"/>
              <a:t>MySQL</a:t>
            </a:r>
            <a:r>
              <a:rPr lang="vi-VN"/>
              <a:t>, v.v.) có nghĩa là </a:t>
            </a:r>
            <a:r>
              <a:rPr lang="vi-VN" b="1"/>
              <a:t>truy vấn dữ liệu</a:t>
            </a:r>
            <a:r>
              <a:rPr lang="vi-VN"/>
              <a:t> — tức là </a:t>
            </a:r>
            <a:r>
              <a:rPr lang="vi-VN" b="1"/>
              <a:t>một yêu cầu (yêu cầu truy vấn)</a:t>
            </a:r>
            <a:r>
              <a:rPr lang="vi-VN"/>
              <a:t> mà chương trình gửi đến </a:t>
            </a:r>
            <a:r>
              <a:rPr lang="vi-VN" b="1"/>
              <a:t>cơ sở dữ liệu</a:t>
            </a:r>
            <a:r>
              <a:rPr lang="vi-VN"/>
              <a:t> để:</a:t>
            </a:r>
          </a:p>
          <a:p>
            <a:r>
              <a:rPr lang="vi-VN" b="1"/>
              <a:t>lấy, thêm, sửa, hoặc xóa</a:t>
            </a:r>
            <a:r>
              <a:rPr lang="vi-VN"/>
              <a:t> dữ liệu trong bảng.</a:t>
            </a:r>
          </a:p>
          <a:p>
            <a:r>
              <a:rPr lang="en-US" b="1"/>
              <a:t>💡 </a:t>
            </a:r>
            <a:r>
              <a:rPr lang="vi-VN" b="1"/>
              <a:t>Nói ngắn gọn:</a:t>
            </a:r>
          </a:p>
          <a:p>
            <a:r>
              <a:rPr lang="en-US"/>
              <a:t>👉 </a:t>
            </a:r>
            <a:r>
              <a:rPr lang="vi-VN" b="1"/>
              <a:t>Query = câu lệnh giao tiếp với cơ sở dữ liệu.</a:t>
            </a:r>
            <a:endParaRPr lang="vi-VN"/>
          </a:p>
          <a:p>
            <a:r>
              <a:rPr lang="en-US" b="1"/>
              <a:t>🧩 </a:t>
            </a:r>
            <a:r>
              <a:rPr lang="vi-VN" b="1"/>
              <a:t>Ví dụ thực tế:</a:t>
            </a:r>
          </a:p>
          <a:p>
            <a:r>
              <a:rPr lang="vi-VN" b="1"/>
              <a:t>1. Trong SQL thuần:</a:t>
            </a:r>
          </a:p>
          <a:p>
            <a:pPr rtl="0"/>
            <a:r>
              <a:rPr lang="vi-VN" sz="1200" kern="1200">
                <a:solidFill>
                  <a:schemeClr val="tx1"/>
                </a:solidFill>
                <a:latin typeface="+mn-lt"/>
                <a:ea typeface="+mn-ea"/>
                <a:cs typeface="+mn-cs"/>
              </a:rPr>
              <a:t>SELECT * FROM products;</a:t>
            </a:r>
          </a:p>
          <a:p>
            <a:r>
              <a:rPr lang="vi-VN"/>
              <a:t>➡️ Đây là một </a:t>
            </a:r>
            <a:r>
              <a:rPr lang="vi-VN" b="1"/>
              <a:t>query</a:t>
            </a:r>
            <a:r>
              <a:rPr lang="vi-VN"/>
              <a:t> để </a:t>
            </a:r>
            <a:r>
              <a:rPr lang="vi-VN" b="1"/>
              <a:t>lấy tất cả sản phẩm</a:t>
            </a:r>
            <a:r>
              <a:rPr lang="vi-VN"/>
              <a:t> trong bảng </a:t>
            </a:r>
            <a:r>
              <a:rPr lang="vi-VN" sz="1200" kern="1200">
                <a:solidFill>
                  <a:schemeClr val="tx1"/>
                </a:solidFill>
                <a:latin typeface="+mn-lt"/>
                <a:ea typeface="+mn-ea"/>
                <a:cs typeface="+mn-cs"/>
              </a:rPr>
              <a:t>products</a:t>
            </a:r>
            <a:r>
              <a:rPr lang="vi-VN"/>
              <a:t>.</a:t>
            </a:r>
          </a:p>
          <a:p>
            <a:r>
              <a:rPr lang="vi-VN" b="1"/>
              <a:t>2. Trong Flutter (với SQLite):</a:t>
            </a:r>
          </a:p>
          <a:p>
            <a:pPr rtl="0"/>
            <a:r>
              <a:rPr lang="vi-VN" sz="1200" kern="1200">
                <a:solidFill>
                  <a:schemeClr val="tx1"/>
                </a:solidFill>
                <a:latin typeface="+mn-lt"/>
                <a:ea typeface="+mn-ea"/>
                <a:cs typeface="+mn-cs"/>
              </a:rPr>
              <a:t>final List&lt;Map&lt;String, dynamic&gt;&gt; result = await db.query('products');</a:t>
            </a:r>
          </a:p>
          <a:p>
            <a:r>
              <a:rPr lang="vi-VN"/>
              <a:t>➡️ </a:t>
            </a:r>
            <a:r>
              <a:rPr lang="vi-VN" sz="1200" kern="1200">
                <a:solidFill>
                  <a:schemeClr val="tx1"/>
                </a:solidFill>
                <a:latin typeface="+mn-lt"/>
                <a:ea typeface="+mn-ea"/>
                <a:cs typeface="+mn-cs"/>
              </a:rPr>
              <a:t>db.query('products')</a:t>
            </a:r>
            <a:r>
              <a:rPr lang="vi-VN"/>
              <a:t> là lời gọi hàm để </a:t>
            </a:r>
            <a:r>
              <a:rPr lang="vi-VN" b="1"/>
              <a:t>truy vấn dữ liệu từ bảng </a:t>
            </a:r>
            <a:r>
              <a:rPr lang="vi-VN" sz="1200" b="1" kern="1200">
                <a:solidFill>
                  <a:schemeClr val="tx1"/>
                </a:solidFill>
                <a:latin typeface="+mn-lt"/>
                <a:ea typeface="+mn-ea"/>
                <a:cs typeface="+mn-cs"/>
              </a:rPr>
              <a:t>products</a:t>
            </a:r>
            <a:r>
              <a:rPr lang="vi-VN"/>
              <a:t>.</a:t>
            </a:r>
          </a:p>
          <a:p>
            <a:r>
              <a:rPr lang="vi-VN" b="1"/>
              <a:t>3. Trong Drift:</a:t>
            </a:r>
          </a:p>
          <a:p>
            <a:pPr rtl="0"/>
            <a:r>
              <a:rPr lang="vi-VN" sz="1200" kern="1200">
                <a:solidFill>
                  <a:schemeClr val="tx1"/>
                </a:solidFill>
                <a:latin typeface="+mn-lt"/>
                <a:ea typeface="+mn-ea"/>
                <a:cs typeface="+mn-cs"/>
              </a:rPr>
              <a:t>final products = await (select(productsTable)</a:t>
            </a:r>
          </a:p>
          <a:p>
            <a:pPr rtl="0"/>
            <a:r>
              <a:rPr lang="vi-VN" sz="1200" kern="1200">
                <a:solidFill>
                  <a:schemeClr val="tx1"/>
                </a:solidFill>
                <a:latin typeface="+mn-lt"/>
                <a:ea typeface="+mn-ea"/>
                <a:cs typeface="+mn-cs"/>
              </a:rPr>
              <a:t>  ..where((tbl) =&gt; tbl.price.isBiggerThanValue(1000)))</a:t>
            </a:r>
          </a:p>
          <a:p>
            <a:pPr rtl="0"/>
            <a:r>
              <a:rPr lang="vi-VN" sz="1200" kern="1200">
                <a:solidFill>
                  <a:schemeClr val="tx1"/>
                </a:solidFill>
                <a:latin typeface="+mn-lt"/>
                <a:ea typeface="+mn-ea"/>
                <a:cs typeface="+mn-cs"/>
              </a:rPr>
              <a:t>  .get();</a:t>
            </a:r>
          </a:p>
          <a:p>
            <a:r>
              <a:rPr lang="vi-VN"/>
              <a:t>➡️ Đây cũng là một </a:t>
            </a:r>
            <a:r>
              <a:rPr lang="vi-VN" b="1"/>
              <a:t>query</a:t>
            </a:r>
            <a:r>
              <a:rPr lang="vi-VN"/>
              <a:t>, nhưng viết bằng </a:t>
            </a:r>
            <a:r>
              <a:rPr lang="vi-VN" b="1"/>
              <a:t>cú pháp Dart</a:t>
            </a:r>
            <a:r>
              <a:rPr lang="vi-VN"/>
              <a:t> (ORM) thay vì SQL.</a:t>
            </a:r>
          </a:p>
          <a:p>
            <a:r>
              <a:rPr lang="en-US" b="1"/>
              <a:t>🧠 </a:t>
            </a:r>
            <a:r>
              <a:rPr lang="vi-VN" b="1"/>
              <a:t>Các loại query thường gặp:</a:t>
            </a:r>
          </a:p>
          <a:p>
            <a:r>
              <a:rPr lang="vi-VN"/>
              <a:t>Loại truy vấn</a:t>
            </a:r>
            <a:r>
              <a:rPr lang="en-US"/>
              <a:t>		</a:t>
            </a:r>
            <a:r>
              <a:rPr lang="vi-VN"/>
              <a:t>Mục đích</a:t>
            </a:r>
            <a:r>
              <a:rPr lang="en-US"/>
              <a:t>	</a:t>
            </a:r>
            <a:r>
              <a:rPr lang="vi-VN"/>
              <a:t>Ví dụ SQL</a:t>
            </a:r>
            <a:endParaRPr lang="en-US"/>
          </a:p>
          <a:p>
            <a:r>
              <a:rPr lang="vi-VN" b="1"/>
              <a:t>SELECT</a:t>
            </a:r>
            <a:r>
              <a:rPr lang="en-US" b="1"/>
              <a:t>		</a:t>
            </a:r>
            <a:r>
              <a:rPr lang="vi-VN"/>
              <a:t>Lấy dữ liệu</a:t>
            </a:r>
            <a:r>
              <a:rPr lang="en-US"/>
              <a:t>	</a:t>
            </a:r>
            <a:r>
              <a:rPr lang="vi-VN" sz="1200" kern="1200">
                <a:solidFill>
                  <a:schemeClr val="tx1"/>
                </a:solidFill>
                <a:latin typeface="+mn-lt"/>
                <a:ea typeface="+mn-ea"/>
                <a:cs typeface="+mn-cs"/>
              </a:rPr>
              <a:t>SELECT * FROM users;</a:t>
            </a:r>
            <a:endParaRPr lang="en-US" sz="1200" kern="1200">
              <a:solidFill>
                <a:schemeClr val="tx1"/>
              </a:solidFill>
              <a:latin typeface="+mn-lt"/>
              <a:ea typeface="+mn-ea"/>
              <a:cs typeface="+mn-cs"/>
            </a:endParaRPr>
          </a:p>
          <a:p>
            <a:r>
              <a:rPr lang="vi-VN" b="1"/>
              <a:t>INSERT</a:t>
            </a:r>
            <a:r>
              <a:rPr lang="en-US" b="1"/>
              <a:t>		</a:t>
            </a:r>
            <a:r>
              <a:rPr lang="vi-VN"/>
              <a:t>Thêm dữ liệu</a:t>
            </a:r>
            <a:r>
              <a:rPr lang="en-US"/>
              <a:t>	</a:t>
            </a:r>
            <a:r>
              <a:rPr lang="vi-VN" sz="1200" kern="1200">
                <a:solidFill>
                  <a:schemeClr val="tx1"/>
                </a:solidFill>
                <a:latin typeface="+mn-lt"/>
                <a:ea typeface="+mn-ea"/>
                <a:cs typeface="+mn-cs"/>
              </a:rPr>
              <a:t>INSERT INTO users(name, age) VALUES('Nam', 22);</a:t>
            </a:r>
            <a:endParaRPr lang="en-US" sz="1200" kern="1200">
              <a:solidFill>
                <a:schemeClr val="tx1"/>
              </a:solidFill>
              <a:latin typeface="+mn-lt"/>
              <a:ea typeface="+mn-ea"/>
              <a:cs typeface="+mn-cs"/>
            </a:endParaRPr>
          </a:p>
          <a:p>
            <a:r>
              <a:rPr lang="vi-VN" b="1"/>
              <a:t>UPDATE</a:t>
            </a:r>
            <a:r>
              <a:rPr lang="en-US" b="1"/>
              <a:t>		</a:t>
            </a:r>
            <a:r>
              <a:rPr lang="vi-VN"/>
              <a:t>Sửa dữ liệu</a:t>
            </a:r>
            <a:r>
              <a:rPr lang="en-US"/>
              <a:t>	</a:t>
            </a:r>
            <a:r>
              <a:rPr lang="vi-VN" sz="1200" kern="1200">
                <a:solidFill>
                  <a:schemeClr val="tx1"/>
                </a:solidFill>
                <a:latin typeface="+mn-lt"/>
                <a:ea typeface="+mn-ea"/>
                <a:cs typeface="+mn-cs"/>
              </a:rPr>
              <a:t>UPDATE users SET age = 23 WHERE id = 1;</a:t>
            </a:r>
            <a:endParaRPr lang="en-US" sz="1200" kern="1200">
              <a:solidFill>
                <a:schemeClr val="tx1"/>
              </a:solidFill>
              <a:latin typeface="+mn-lt"/>
              <a:ea typeface="+mn-ea"/>
              <a:cs typeface="+mn-cs"/>
            </a:endParaRPr>
          </a:p>
          <a:p>
            <a:r>
              <a:rPr lang="vi-VN" b="1"/>
              <a:t>DELETE</a:t>
            </a:r>
            <a:r>
              <a:rPr lang="en-US" b="1"/>
              <a:t>		</a:t>
            </a:r>
            <a:r>
              <a:rPr lang="vi-VN"/>
              <a:t>Xóa dữ liệu</a:t>
            </a:r>
            <a:r>
              <a:rPr lang="en-US"/>
              <a:t>	</a:t>
            </a:r>
            <a:r>
              <a:rPr lang="vi-VN" sz="1200" kern="1200">
                <a:solidFill>
                  <a:schemeClr val="tx1"/>
                </a:solidFill>
                <a:latin typeface="+mn-lt"/>
                <a:ea typeface="+mn-ea"/>
                <a:cs typeface="+mn-cs"/>
              </a:rPr>
              <a:t>DELETE FROM users WHERE id = 1;</a:t>
            </a:r>
            <a:endParaRPr lang="vi-VN"/>
          </a:p>
          <a:p>
            <a:r>
              <a:rPr lang="en-US" b="1"/>
              <a:t>🧰 </a:t>
            </a:r>
            <a:r>
              <a:rPr lang="vi-VN" b="1"/>
              <a:t>Tóm lại:</a:t>
            </a:r>
          </a:p>
          <a:p>
            <a:r>
              <a:rPr lang="vi-VN"/>
              <a:t>Thuật ngữ</a:t>
            </a:r>
            <a:r>
              <a:rPr lang="en-US"/>
              <a:t>		</a:t>
            </a:r>
            <a:r>
              <a:rPr lang="vi-VN"/>
              <a:t>Nghĩa đơn giản</a:t>
            </a:r>
            <a:endParaRPr lang="en-US"/>
          </a:p>
          <a:p>
            <a:r>
              <a:rPr lang="vi-VN" b="1"/>
              <a:t>Query</a:t>
            </a:r>
            <a:r>
              <a:rPr lang="en-US" b="1"/>
              <a:t>		</a:t>
            </a:r>
            <a:r>
              <a:rPr lang="vi-VN"/>
              <a:t>Câu truy vấn dữ liệu</a:t>
            </a:r>
            <a:endParaRPr lang="en-US"/>
          </a:p>
          <a:p>
            <a:r>
              <a:rPr lang="vi-VN" b="1"/>
              <a:t>Execute query</a:t>
            </a:r>
            <a:r>
              <a:rPr lang="en-US" b="1"/>
              <a:t>	</a:t>
            </a:r>
            <a:r>
              <a:rPr lang="vi-VN"/>
              <a:t>Thực thi truy vấn trên database</a:t>
            </a:r>
            <a:endParaRPr lang="en-US"/>
          </a:p>
          <a:p>
            <a:r>
              <a:rPr lang="vi-VN" b="1"/>
              <a:t>Query builder</a:t>
            </a:r>
            <a:r>
              <a:rPr lang="en-US" b="1"/>
              <a:t>		</a:t>
            </a:r>
            <a:r>
              <a:rPr lang="vi-VN"/>
              <a:t>Công cụ tạo query bằng code thay vì viết SQL trực tiếp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a:t>
            </a:r>
          </a:p>
          <a:p>
            <a:r>
              <a:rPr lang="en-US" b="1"/>
              <a:t>🧩 1️⃣ </a:t>
            </a:r>
            <a:r>
              <a:rPr lang="vi-VN" b="1"/>
              <a:t>Hàm </a:t>
            </a:r>
            <a:r>
              <a:rPr lang="vi-VN" sz="1200" b="1" kern="1200">
                <a:solidFill>
                  <a:schemeClr val="tx1"/>
                </a:solidFill>
                <a:latin typeface="+mn-lt"/>
                <a:ea typeface="+mn-ea"/>
                <a:cs typeface="+mn-cs"/>
              </a:rPr>
              <a:t>_loadData()</a:t>
            </a:r>
            <a:endParaRPr lang="vi-VN" b="1"/>
          </a:p>
          <a:p>
            <a:pPr rtl="0"/>
            <a:r>
              <a:rPr lang="vi-VN" sz="1200" kern="1200">
                <a:solidFill>
                  <a:schemeClr val="tx1"/>
                </a:solidFill>
                <a:latin typeface="+mn-lt"/>
                <a:ea typeface="+mn-ea"/>
                <a:cs typeface="+mn-cs"/>
              </a:rPr>
              <a:t>Future&lt;void&gt; _loadData() async {</a:t>
            </a:r>
          </a:p>
          <a:p>
            <a:pPr rtl="0"/>
            <a:r>
              <a:rPr lang="vi-VN" sz="1200" kern="1200">
                <a:solidFill>
                  <a:schemeClr val="tx1"/>
                </a:solidFill>
                <a:latin typeface="+mn-lt"/>
                <a:ea typeface="+mn-ea"/>
                <a:cs typeface="+mn-cs"/>
              </a:rPr>
              <a:t>  final cats = await DBHelper.getAllCategories();</a:t>
            </a:r>
          </a:p>
          <a:p>
            <a:pPr rtl="0"/>
            <a:r>
              <a:rPr lang="vi-VN" sz="1200" kern="1200">
                <a:solidFill>
                  <a:schemeClr val="tx1"/>
                </a:solidFill>
                <a:latin typeface="+mn-lt"/>
                <a:ea typeface="+mn-ea"/>
                <a:cs typeface="+mn-cs"/>
              </a:rPr>
              <a:t>  final products = await DBHelper.getProductsWithCategory();</a:t>
            </a:r>
          </a:p>
          <a:p>
            <a:pPr rtl="0"/>
            <a:r>
              <a:rPr lang="vi-VN" sz="1200" kern="1200">
                <a:solidFill>
                  <a:schemeClr val="tx1"/>
                </a:solidFill>
                <a:latin typeface="+mn-lt"/>
                <a:ea typeface="+mn-ea"/>
                <a:cs typeface="+mn-cs"/>
              </a:rPr>
              <a:t>  setState(() {</a:t>
            </a:r>
          </a:p>
          <a:p>
            <a:pPr rtl="0"/>
            <a:r>
              <a:rPr lang="vi-VN" sz="1200" kern="1200">
                <a:solidFill>
                  <a:schemeClr val="tx1"/>
                </a:solidFill>
                <a:latin typeface="+mn-lt"/>
                <a:ea typeface="+mn-ea"/>
                <a:cs typeface="+mn-cs"/>
              </a:rPr>
              <a:t>    allCategories = cats;</a:t>
            </a:r>
          </a:p>
          <a:p>
            <a:pPr rtl="0"/>
            <a:r>
              <a:rPr lang="vi-VN" sz="1200" kern="1200">
                <a:solidFill>
                  <a:schemeClr val="tx1"/>
                </a:solidFill>
                <a:latin typeface="+mn-lt"/>
                <a:ea typeface="+mn-ea"/>
                <a:cs typeface="+mn-cs"/>
              </a:rPr>
              <a:t>    displayedProducts = products;</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a:t>
            </a:r>
            <a:endParaRPr lang="vi-VN"/>
          </a:p>
          <a:p>
            <a:r>
              <a:rPr lang="en-US" b="1"/>
              <a:t>✅ </a:t>
            </a:r>
            <a:r>
              <a:rPr lang="vi-VN" b="1"/>
              <a:t>Mục đích</a:t>
            </a:r>
          </a:p>
          <a:p>
            <a:r>
              <a:rPr lang="vi-VN"/>
              <a:t>Hàm này dùng để </a:t>
            </a:r>
            <a:r>
              <a:rPr lang="vi-VN" b="1"/>
              <a:t>lấy toàn bộ dữ liệu danh mục (categories)</a:t>
            </a:r>
            <a:r>
              <a:rPr lang="vi-VN"/>
              <a:t> và </a:t>
            </a:r>
            <a:r>
              <a:rPr lang="vi-VN" b="1"/>
              <a:t>sản phẩm (products)</a:t>
            </a:r>
            <a:r>
              <a:rPr lang="vi-VN"/>
              <a:t> từ database SQLite,</a:t>
            </a:r>
            <a:br>
              <a:rPr lang="vi-VN"/>
            </a:br>
            <a:r>
              <a:rPr lang="vi-VN"/>
              <a:t>sau đó </a:t>
            </a:r>
            <a:r>
              <a:rPr lang="vi-VN" b="1"/>
              <a:t>lưu vào biến trong State</a:t>
            </a:r>
            <a:r>
              <a:rPr lang="vi-VN"/>
              <a:t> để hiển thị ra giao diện.</a:t>
            </a:r>
          </a:p>
          <a:p>
            <a:r>
              <a:rPr lang="en-US" b="1"/>
              <a:t>🧠 </a:t>
            </a:r>
            <a:r>
              <a:rPr lang="vi-VN" b="1"/>
              <a:t>Giải thích từng dòng</a:t>
            </a:r>
          </a:p>
          <a:p>
            <a:r>
              <a:rPr lang="vi-VN"/>
              <a:t>Dòng</a:t>
            </a:r>
            <a:r>
              <a:rPr lang="en-US"/>
              <a:t>							</a:t>
            </a:r>
            <a:r>
              <a:rPr lang="vi-VN"/>
              <a:t>Giải thích</a:t>
            </a:r>
            <a:endParaRPr lang="en-US"/>
          </a:p>
          <a:p>
            <a:r>
              <a:rPr lang="vi-VN" sz="1200" kern="1200">
                <a:solidFill>
                  <a:schemeClr val="tx1"/>
                </a:solidFill>
                <a:latin typeface="+mn-lt"/>
                <a:ea typeface="+mn-ea"/>
                <a:cs typeface="+mn-cs"/>
              </a:rPr>
              <a:t>Future&lt;void&gt; _loadData() async {</a:t>
            </a:r>
            <a:r>
              <a:rPr lang="en-US" sz="1200" kern="1200">
                <a:solidFill>
                  <a:schemeClr val="tx1"/>
                </a:solidFill>
                <a:latin typeface="+mn-lt"/>
                <a:ea typeface="+mn-ea"/>
                <a:cs typeface="+mn-cs"/>
              </a:rPr>
              <a:t>			</a:t>
            </a:r>
            <a:r>
              <a:rPr lang="vi-VN"/>
              <a:t>Định nghĩa một hàm bất đồng bộ (asynchronous function) — vì việc đọc database mất thời gian. </a:t>
            </a:r>
            <a:r>
              <a:rPr lang="en-US"/>
              <a:t>					</a:t>
            </a:r>
            <a:r>
              <a:rPr lang="vi-VN" sz="1200" kern="1200">
                <a:solidFill>
                  <a:schemeClr val="tx1"/>
                </a:solidFill>
                <a:latin typeface="+mn-lt"/>
                <a:ea typeface="+mn-ea"/>
                <a:cs typeface="+mn-cs"/>
              </a:rPr>
              <a:t>Future&lt;void&gt;</a:t>
            </a:r>
            <a:r>
              <a:rPr lang="vi-VN"/>
              <a:t> nghĩa là hàm này chạy xong </a:t>
            </a:r>
            <a:r>
              <a:rPr lang="vi-VN" b="1"/>
              <a:t>không trả giá trị</a:t>
            </a:r>
            <a:r>
              <a:rPr lang="vi-VN"/>
              <a:t>, chỉ thực hiện hành động.</a:t>
            </a:r>
            <a:endParaRPr lang="en-US"/>
          </a:p>
          <a:p>
            <a:r>
              <a:rPr lang="en-US" sz="1200" kern="1200">
                <a:solidFill>
                  <a:schemeClr val="tx1"/>
                </a:solidFill>
                <a:latin typeface="+mn-lt"/>
                <a:ea typeface="+mn-ea"/>
                <a:cs typeface="+mn-cs"/>
              </a:rPr>
              <a:t> </a:t>
            </a:r>
            <a:r>
              <a:rPr lang="vi-VN" sz="1200" kern="1200">
                <a:solidFill>
                  <a:schemeClr val="tx1"/>
                </a:solidFill>
                <a:latin typeface="+mn-lt"/>
                <a:ea typeface="+mn-ea"/>
                <a:cs typeface="+mn-cs"/>
              </a:rPr>
              <a:t>final cats = await DBHelper.getAllCategories();</a:t>
            </a:r>
            <a:r>
              <a:rPr lang="en-US" sz="1200" kern="1200">
                <a:solidFill>
                  <a:schemeClr val="tx1"/>
                </a:solidFill>
                <a:latin typeface="+mn-lt"/>
                <a:ea typeface="+mn-ea"/>
                <a:cs typeface="+mn-cs"/>
              </a:rPr>
              <a:t>		</a:t>
            </a:r>
            <a:r>
              <a:rPr lang="vi-VN"/>
              <a:t>Gọi đến hàm </a:t>
            </a:r>
            <a:r>
              <a:rPr lang="vi-VN" sz="1200" kern="1200">
                <a:solidFill>
                  <a:schemeClr val="tx1"/>
                </a:solidFill>
                <a:latin typeface="+mn-lt"/>
                <a:ea typeface="+mn-ea"/>
                <a:cs typeface="+mn-cs"/>
              </a:rPr>
              <a:t>DBHelper.getAllCategories()</a:t>
            </a:r>
            <a:r>
              <a:rPr lang="vi-VN"/>
              <a:t> để lấy </a:t>
            </a:r>
            <a:r>
              <a:rPr lang="vi-VN" b="1"/>
              <a:t>danh sách các danh mục</a:t>
            </a:r>
            <a:r>
              <a:rPr lang="vi-VN"/>
              <a:t> từ bảng </a:t>
            </a:r>
            <a:r>
              <a:rPr lang="vi-VN" sz="1200" kern="1200">
                <a:solidFill>
                  <a:schemeClr val="tx1"/>
                </a:solidFill>
                <a:latin typeface="+mn-lt"/>
                <a:ea typeface="+mn-ea"/>
                <a:cs typeface="+mn-cs"/>
              </a:rPr>
              <a:t>categories</a:t>
            </a:r>
            <a:r>
              <a:rPr lang="vi-VN"/>
              <a:t>. </a:t>
            </a:r>
            <a:br>
              <a:rPr lang="vi-VN"/>
            </a:br>
            <a:r>
              <a:rPr lang="en-US"/>
              <a:t>					</a:t>
            </a:r>
            <a:r>
              <a:rPr lang="vi-VN"/>
              <a:t>– </a:t>
            </a:r>
            <a:r>
              <a:rPr lang="vi-VN" sz="1200" kern="1200">
                <a:solidFill>
                  <a:schemeClr val="tx1"/>
                </a:solidFill>
                <a:latin typeface="+mn-lt"/>
                <a:ea typeface="+mn-ea"/>
                <a:cs typeface="+mn-cs"/>
              </a:rPr>
              <a:t>await</a:t>
            </a:r>
            <a:r>
              <a:rPr lang="vi-VN"/>
              <a:t> giúp </a:t>
            </a:r>
            <a:r>
              <a:rPr lang="vi-VN" b="1"/>
              <a:t>chờ dữ liệu được lấy xong</a:t>
            </a:r>
            <a:r>
              <a:rPr lang="vi-VN"/>
              <a:t> trước khi chạy dòng tiếp theo. </a:t>
            </a:r>
            <a:br>
              <a:rPr lang="vi-VN"/>
            </a:br>
            <a:r>
              <a:rPr lang="en-US"/>
              <a:t>					</a:t>
            </a:r>
            <a:r>
              <a:rPr lang="vi-VN"/>
              <a:t>– Kết quả là </a:t>
            </a:r>
            <a:r>
              <a:rPr lang="vi-VN" sz="1200" kern="1200">
                <a:solidFill>
                  <a:schemeClr val="tx1"/>
                </a:solidFill>
                <a:latin typeface="+mn-lt"/>
                <a:ea typeface="+mn-ea"/>
                <a:cs typeface="+mn-cs"/>
              </a:rPr>
              <a:t>List&lt;Category&gt;</a:t>
            </a:r>
            <a:r>
              <a:rPr lang="vi-VN"/>
              <a:t> gán vào </a:t>
            </a:r>
            <a:r>
              <a:rPr lang="vi-VN" sz="1200" kern="1200">
                <a:solidFill>
                  <a:schemeClr val="tx1"/>
                </a:solidFill>
                <a:latin typeface="+mn-lt"/>
                <a:ea typeface="+mn-ea"/>
                <a:cs typeface="+mn-cs"/>
              </a:rPr>
              <a:t>cats</a:t>
            </a:r>
            <a:r>
              <a:rPr lang="vi-VN"/>
              <a:t>.</a:t>
            </a:r>
            <a:endParaRPr lang="en-US"/>
          </a:p>
          <a:p>
            <a:r>
              <a:rPr lang="vi-VN" sz="1200" kern="1200">
                <a:solidFill>
                  <a:schemeClr val="tx1"/>
                </a:solidFill>
                <a:latin typeface="+mn-lt"/>
                <a:ea typeface="+mn-ea"/>
                <a:cs typeface="+mn-cs"/>
              </a:rPr>
              <a:t>final products = await DBHelper.getProductsWithCategory()</a:t>
            </a:r>
            <a:r>
              <a:rPr lang="en-US" sz="1200" kern="1200">
                <a:solidFill>
                  <a:schemeClr val="tx1"/>
                </a:solidFill>
                <a:latin typeface="+mn-lt"/>
                <a:ea typeface="+mn-ea"/>
                <a:cs typeface="+mn-cs"/>
              </a:rPr>
              <a:t>	</a:t>
            </a:r>
            <a:r>
              <a:rPr lang="vi-VN" sz="1200" kern="1200">
                <a:solidFill>
                  <a:schemeClr val="tx1"/>
                </a:solidFill>
                <a:latin typeface="+mn-lt"/>
                <a:ea typeface="+mn-ea"/>
                <a:cs typeface="+mn-cs"/>
              </a:rPr>
              <a:t>;</a:t>
            </a:r>
            <a:r>
              <a:rPr lang="vi-VN"/>
              <a:t>Gọi hàm </a:t>
            </a:r>
            <a:r>
              <a:rPr lang="vi-VN" sz="1200" kern="1200">
                <a:solidFill>
                  <a:schemeClr val="tx1"/>
                </a:solidFill>
                <a:latin typeface="+mn-lt"/>
                <a:ea typeface="+mn-ea"/>
                <a:cs typeface="+mn-cs"/>
              </a:rPr>
              <a:t>getProductsWithCategory()</a:t>
            </a:r>
            <a:r>
              <a:rPr lang="vi-VN"/>
              <a:t> (JOIN hai bảng) để lấy danh sách sản phẩm kèm tên danh </a:t>
            </a:r>
            <a:r>
              <a:rPr lang="en-US"/>
              <a:t>					</a:t>
            </a:r>
            <a:r>
              <a:rPr lang="vi-VN"/>
              <a:t>mục. </a:t>
            </a:r>
            <a:br>
              <a:rPr lang="vi-VN"/>
            </a:br>
            <a:r>
              <a:rPr lang="en-US"/>
              <a:t>					</a:t>
            </a:r>
            <a:r>
              <a:rPr lang="vi-VN"/>
              <a:t>Kết quả là </a:t>
            </a:r>
            <a:r>
              <a:rPr lang="vi-VN" sz="1200" kern="1200">
                <a:solidFill>
                  <a:schemeClr val="tx1"/>
                </a:solidFill>
                <a:latin typeface="+mn-lt"/>
                <a:ea typeface="+mn-ea"/>
                <a:cs typeface="+mn-cs"/>
              </a:rPr>
              <a:t>List&lt;Map&lt;String, dynamic&gt;&gt;</a:t>
            </a:r>
            <a:r>
              <a:rPr lang="vi-VN"/>
              <a:t>, gán vào </a:t>
            </a:r>
            <a:r>
              <a:rPr lang="vi-VN" sz="1200" kern="1200">
                <a:solidFill>
                  <a:schemeClr val="tx1"/>
                </a:solidFill>
                <a:latin typeface="+mn-lt"/>
                <a:ea typeface="+mn-ea"/>
                <a:cs typeface="+mn-cs"/>
              </a:rPr>
              <a:t>products</a:t>
            </a:r>
            <a:r>
              <a:rPr lang="vi-VN"/>
              <a:t>.</a:t>
            </a:r>
            <a:endParaRPr lang="en-US"/>
          </a:p>
          <a:p>
            <a:r>
              <a:rPr lang="vi-VN" sz="1200" kern="1200">
                <a:solidFill>
                  <a:schemeClr val="tx1"/>
                </a:solidFill>
                <a:latin typeface="+mn-lt"/>
                <a:ea typeface="+mn-ea"/>
                <a:cs typeface="+mn-cs"/>
              </a:rPr>
              <a:t>setState(() { ... });</a:t>
            </a:r>
            <a:r>
              <a:rPr lang="en-US" sz="1200" kern="1200">
                <a:solidFill>
                  <a:schemeClr val="tx1"/>
                </a:solidFill>
                <a:latin typeface="+mn-lt"/>
                <a:ea typeface="+mn-ea"/>
                <a:cs typeface="+mn-cs"/>
              </a:rPr>
              <a:t>				</a:t>
            </a:r>
            <a:r>
              <a:rPr lang="vi-VN"/>
              <a:t>Gọi hàm này để </a:t>
            </a:r>
            <a:r>
              <a:rPr lang="vi-VN" b="1"/>
              <a:t>báo cho Flutter biết rằng dữ liệu trong State đã thay đổi</a:t>
            </a:r>
            <a:r>
              <a:rPr lang="vi-VN"/>
              <a:t>, và yêu cầu giao diện </a:t>
            </a:r>
            <a:r>
              <a:rPr lang="en-US"/>
              <a:t>					</a:t>
            </a:r>
            <a:r>
              <a:rPr lang="vi-VN"/>
              <a:t>(UI) </a:t>
            </a:r>
            <a:r>
              <a:rPr lang="vi-VN" b="1"/>
              <a:t>render lại</a:t>
            </a:r>
            <a:r>
              <a:rPr lang="vi-VN"/>
              <a:t> với dữ liệu mới.</a:t>
            </a:r>
            <a:endParaRPr lang="en-US"/>
          </a:p>
          <a:p>
            <a:r>
              <a:rPr lang="vi-VN" sz="1200" kern="1200">
                <a:solidFill>
                  <a:schemeClr val="tx1"/>
                </a:solidFill>
                <a:latin typeface="+mn-lt"/>
                <a:ea typeface="+mn-ea"/>
                <a:cs typeface="+mn-cs"/>
              </a:rPr>
              <a:t>allCategories = cats;</a:t>
            </a:r>
            <a:r>
              <a:rPr lang="en-US" sz="1200" kern="1200">
                <a:solidFill>
                  <a:schemeClr val="tx1"/>
                </a:solidFill>
                <a:latin typeface="+mn-lt"/>
                <a:ea typeface="+mn-ea"/>
                <a:cs typeface="+mn-cs"/>
              </a:rPr>
              <a:t>				</a:t>
            </a:r>
            <a:r>
              <a:rPr lang="vi-VN"/>
              <a:t>Cập nhật biến </a:t>
            </a:r>
            <a:r>
              <a:rPr lang="vi-VN" sz="1200" kern="1200">
                <a:solidFill>
                  <a:schemeClr val="tx1"/>
                </a:solidFill>
                <a:latin typeface="+mn-lt"/>
                <a:ea typeface="+mn-ea"/>
                <a:cs typeface="+mn-cs"/>
              </a:rPr>
              <a:t>allCategories</a:t>
            </a:r>
            <a:r>
              <a:rPr lang="vi-VN"/>
              <a:t> (được khai báo trong State) để chứa toàn bộ danh mục vừa tải về.</a:t>
            </a:r>
            <a:endParaRPr lang="en-US"/>
          </a:p>
          <a:p>
            <a:r>
              <a:rPr lang="vi-VN" sz="1200" kern="1200">
                <a:solidFill>
                  <a:schemeClr val="tx1"/>
                </a:solidFill>
                <a:latin typeface="+mn-lt"/>
                <a:ea typeface="+mn-ea"/>
                <a:cs typeface="+mn-cs"/>
              </a:rPr>
              <a:t>displayedProducts = products;</a:t>
            </a:r>
            <a:r>
              <a:rPr lang="en-US" sz="1200" kern="1200">
                <a:solidFill>
                  <a:schemeClr val="tx1"/>
                </a:solidFill>
                <a:latin typeface="+mn-lt"/>
                <a:ea typeface="+mn-ea"/>
                <a:cs typeface="+mn-cs"/>
              </a:rPr>
              <a:t>			</a:t>
            </a:r>
            <a:r>
              <a:rPr lang="vi-VN"/>
              <a:t>Gán danh sách sản phẩm (có cả category name) vào biến hiển thị </a:t>
            </a:r>
            <a:r>
              <a:rPr lang="vi-VN" sz="1200" kern="1200">
                <a:solidFill>
                  <a:schemeClr val="tx1"/>
                </a:solidFill>
                <a:latin typeface="+mn-lt"/>
                <a:ea typeface="+mn-ea"/>
                <a:cs typeface="+mn-cs"/>
              </a:rPr>
              <a:t>displayedProducts</a:t>
            </a:r>
            <a:r>
              <a:rPr lang="vi-VN"/>
              <a:t>, để ListView </a:t>
            </a:r>
            <a:r>
              <a:rPr lang="en-US"/>
              <a:t>					</a:t>
            </a:r>
            <a:r>
              <a:rPr lang="vi-VN"/>
              <a:t>trong UI sử dụng.</a:t>
            </a:r>
          </a:p>
          <a:p>
            <a:br>
              <a:rPr lang="vi-VN"/>
            </a:br>
            <a:endParaRPr lang="vi-VN"/>
          </a:p>
          <a:p>
            <a:r>
              <a:rPr lang="en-US" b="1"/>
              <a:t>📊 </a:t>
            </a:r>
            <a:r>
              <a:rPr lang="vi-VN" b="1"/>
              <a:t>Tóm tắt:</a:t>
            </a:r>
          </a:p>
          <a:p>
            <a:r>
              <a:rPr lang="vi-VN" b="1"/>
              <a:t>Lấy dữ liệu gốc từ DB</a:t>
            </a:r>
            <a:endParaRPr lang="vi-VN"/>
          </a:p>
          <a:p>
            <a:r>
              <a:rPr lang="vi-VN" b="1"/>
              <a:t>Lưu vào biến State</a:t>
            </a:r>
            <a:endParaRPr lang="vi-VN"/>
          </a:p>
          <a:p>
            <a:r>
              <a:rPr lang="vi-VN" b="1"/>
              <a:t>Gọi </a:t>
            </a:r>
            <a:r>
              <a:rPr lang="vi-VN" sz="1200" b="1" kern="1200">
                <a:solidFill>
                  <a:schemeClr val="tx1"/>
                </a:solidFill>
                <a:latin typeface="+mn-lt"/>
                <a:ea typeface="+mn-ea"/>
                <a:cs typeface="+mn-cs"/>
              </a:rPr>
              <a:t>setState()</a:t>
            </a:r>
            <a:r>
              <a:rPr lang="vi-VN" b="1"/>
              <a:t> để cập nhật UI</a:t>
            </a:r>
            <a:endParaRPr lang="vi-VN"/>
          </a:p>
          <a:p>
            <a:endParaRPr lang="vi-VN"/>
          </a:p>
          <a:p>
            <a:r>
              <a:rPr lang="en-US" b="1"/>
              <a:t>🧩 2️⃣ </a:t>
            </a:r>
            <a:r>
              <a:rPr lang="vi-VN" b="1"/>
              <a:t>Hàm </a:t>
            </a:r>
            <a:r>
              <a:rPr lang="vi-VN" sz="1200" b="1" kern="1200">
                <a:solidFill>
                  <a:schemeClr val="tx1"/>
                </a:solidFill>
                <a:latin typeface="+mn-lt"/>
                <a:ea typeface="+mn-ea"/>
                <a:cs typeface="+mn-cs"/>
              </a:rPr>
              <a:t>_applyFilters()</a:t>
            </a:r>
            <a:endParaRPr lang="vi-VN" b="1"/>
          </a:p>
          <a:p>
            <a:pPr rtl="0"/>
            <a:r>
              <a:rPr lang="vi-VN" sz="1200" kern="1200">
                <a:solidFill>
                  <a:schemeClr val="tx1"/>
                </a:solidFill>
                <a:latin typeface="+mn-lt"/>
                <a:ea typeface="+mn-ea"/>
                <a:cs typeface="+mn-cs"/>
              </a:rPr>
              <a:t>void _applyFilters() async {</a:t>
            </a:r>
          </a:p>
          <a:p>
            <a:pPr rtl="0"/>
            <a:r>
              <a:rPr lang="vi-VN" sz="1200" kern="1200">
                <a:solidFill>
                  <a:schemeClr val="tx1"/>
                </a:solidFill>
                <a:latin typeface="+mn-lt"/>
                <a:ea typeface="+mn-ea"/>
                <a:cs typeface="+mn-cs"/>
              </a:rPr>
              <a:t>  final dbData = await DBHelper.getProductsWithCategory();</a:t>
            </a:r>
          </a:p>
          <a:p>
            <a:pPr rtl="0"/>
            <a:r>
              <a:rPr lang="vi-VN" sz="1200" kern="1200">
                <a:solidFill>
                  <a:schemeClr val="tx1"/>
                </a:solidFill>
                <a:latin typeface="+mn-lt"/>
                <a:ea typeface="+mn-ea"/>
                <a:cs typeface="+mn-cs"/>
              </a:rPr>
              <a:t>  setState(() {</a:t>
            </a:r>
          </a:p>
          <a:p>
            <a:pPr rtl="0"/>
            <a:r>
              <a:rPr lang="vi-VN" sz="1200" kern="1200">
                <a:solidFill>
                  <a:schemeClr val="tx1"/>
                </a:solidFill>
                <a:latin typeface="+mn-lt"/>
                <a:ea typeface="+mn-ea"/>
                <a:cs typeface="+mn-cs"/>
              </a:rPr>
              <a:t>    displayedProducts = dbData.where((p) {</a:t>
            </a:r>
          </a:p>
          <a:p>
            <a:pPr rtl="0"/>
            <a:r>
              <a:rPr lang="vi-VN" sz="1200" kern="1200">
                <a:solidFill>
                  <a:schemeClr val="tx1"/>
                </a:solidFill>
                <a:latin typeface="+mn-lt"/>
                <a:ea typeface="+mn-ea"/>
                <a:cs typeface="+mn-cs"/>
              </a:rPr>
              <a:t>      final matchCategory =</a:t>
            </a:r>
          </a:p>
          <a:p>
            <a:pPr rtl="0"/>
            <a:r>
              <a:rPr lang="vi-VN" sz="1200" kern="1200">
                <a:solidFill>
                  <a:schemeClr val="tx1"/>
                </a:solidFill>
                <a:latin typeface="+mn-lt"/>
                <a:ea typeface="+mn-ea"/>
                <a:cs typeface="+mn-cs"/>
              </a:rPr>
              <a:t>          (filterCategory == 0 || p['category_id'] == filterCategory);</a:t>
            </a:r>
          </a:p>
          <a:p>
            <a:pPr rtl="0"/>
            <a:r>
              <a:rPr lang="vi-VN" sz="1200" kern="1200">
                <a:solidFill>
                  <a:schemeClr val="tx1"/>
                </a:solidFill>
                <a:latin typeface="+mn-lt"/>
                <a:ea typeface="+mn-ea"/>
                <a:cs typeface="+mn-cs"/>
              </a:rPr>
              <a:t>      final matchSearch = p['name']</a:t>
            </a:r>
          </a:p>
          <a:p>
            <a:pPr rtl="0"/>
            <a:r>
              <a:rPr lang="vi-VN" sz="1200" kern="1200">
                <a:solidFill>
                  <a:schemeClr val="tx1"/>
                </a:solidFill>
                <a:latin typeface="+mn-lt"/>
                <a:ea typeface="+mn-ea"/>
                <a:cs typeface="+mn-cs"/>
              </a:rPr>
              <a:t>          .toString()</a:t>
            </a:r>
          </a:p>
          <a:p>
            <a:pPr rtl="0"/>
            <a:r>
              <a:rPr lang="vi-VN" sz="1200" kern="1200">
                <a:solidFill>
                  <a:schemeClr val="tx1"/>
                </a:solidFill>
                <a:latin typeface="+mn-lt"/>
                <a:ea typeface="+mn-ea"/>
                <a:cs typeface="+mn-cs"/>
              </a:rPr>
              <a:t>          .toLowerCase()</a:t>
            </a:r>
          </a:p>
          <a:p>
            <a:pPr rtl="0"/>
            <a:r>
              <a:rPr lang="vi-VN" sz="1200" kern="1200">
                <a:solidFill>
                  <a:schemeClr val="tx1"/>
                </a:solidFill>
                <a:latin typeface="+mn-lt"/>
                <a:ea typeface="+mn-ea"/>
                <a:cs typeface="+mn-cs"/>
              </a:rPr>
              <a:t>          .contains(searchText.toLowerCase());</a:t>
            </a:r>
          </a:p>
          <a:p>
            <a:pPr rtl="0"/>
            <a:r>
              <a:rPr lang="vi-VN" sz="1200" kern="1200">
                <a:solidFill>
                  <a:schemeClr val="tx1"/>
                </a:solidFill>
                <a:latin typeface="+mn-lt"/>
                <a:ea typeface="+mn-ea"/>
                <a:cs typeface="+mn-cs"/>
              </a:rPr>
              <a:t>      return matchCategory &amp;&amp; matchSearch;</a:t>
            </a:r>
          </a:p>
          <a:p>
            <a:pPr rtl="0"/>
            <a:r>
              <a:rPr lang="vi-VN" sz="1200" kern="1200">
                <a:solidFill>
                  <a:schemeClr val="tx1"/>
                </a:solidFill>
                <a:latin typeface="+mn-lt"/>
                <a:ea typeface="+mn-ea"/>
                <a:cs typeface="+mn-cs"/>
              </a:rPr>
              <a:t>    }).toList();</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a:t>
            </a:r>
          </a:p>
          <a:p>
            <a:endParaRPr lang="vi-VN"/>
          </a:p>
          <a:p>
            <a:r>
              <a:rPr lang="en-US" b="1"/>
              <a:t>✅ </a:t>
            </a:r>
            <a:r>
              <a:rPr lang="vi-VN" b="1"/>
              <a:t>Mục đích</a:t>
            </a:r>
          </a:p>
          <a:p>
            <a:r>
              <a:rPr lang="vi-VN"/>
              <a:t>Hàm này dùng để </a:t>
            </a:r>
            <a:r>
              <a:rPr lang="vi-VN" b="1"/>
              <a:t>lọc danh sách sản phẩm</a:t>
            </a:r>
            <a:r>
              <a:rPr lang="vi-VN"/>
              <a:t> theo:</a:t>
            </a:r>
          </a:p>
          <a:p>
            <a:r>
              <a:rPr lang="vi-VN" b="1"/>
              <a:t>Danh mục đang chọn (</a:t>
            </a:r>
            <a:r>
              <a:rPr lang="vi-VN" sz="1200" b="1" kern="1200">
                <a:solidFill>
                  <a:schemeClr val="tx1"/>
                </a:solidFill>
                <a:latin typeface="+mn-lt"/>
                <a:ea typeface="+mn-ea"/>
                <a:cs typeface="+mn-cs"/>
              </a:rPr>
              <a:t>filterCategory</a:t>
            </a:r>
            <a:r>
              <a:rPr lang="vi-VN" b="1"/>
              <a:t>)</a:t>
            </a:r>
            <a:r>
              <a:rPr lang="vi-VN"/>
              <a:t>, và</a:t>
            </a:r>
          </a:p>
          <a:p>
            <a:r>
              <a:rPr lang="vi-VN" b="1"/>
              <a:t>Từ khóa tìm kiếm (</a:t>
            </a:r>
            <a:r>
              <a:rPr lang="vi-VN" sz="1200" b="1" kern="1200">
                <a:solidFill>
                  <a:schemeClr val="tx1"/>
                </a:solidFill>
                <a:latin typeface="+mn-lt"/>
                <a:ea typeface="+mn-ea"/>
                <a:cs typeface="+mn-cs"/>
              </a:rPr>
              <a:t>searchText</a:t>
            </a:r>
            <a:r>
              <a:rPr lang="vi-VN" b="1"/>
              <a:t>)</a:t>
            </a:r>
            <a:r>
              <a:rPr lang="vi-VN"/>
              <a:t>.</a:t>
            </a:r>
          </a:p>
          <a:p>
            <a:r>
              <a:rPr lang="vi-VN"/>
              <a:t>Sau khi lọc xong, cập nhật lại </a:t>
            </a:r>
            <a:r>
              <a:rPr lang="vi-VN" sz="1200" kern="1200">
                <a:solidFill>
                  <a:schemeClr val="tx1"/>
                </a:solidFill>
                <a:latin typeface="+mn-lt"/>
                <a:ea typeface="+mn-ea"/>
                <a:cs typeface="+mn-cs"/>
              </a:rPr>
              <a:t>displayedProducts</a:t>
            </a:r>
            <a:r>
              <a:rPr lang="vi-VN"/>
              <a:t> để UI hiển thị danh sách phù hợp.</a:t>
            </a:r>
          </a:p>
          <a:p>
            <a:br>
              <a:rPr lang="vi-VN"/>
            </a:br>
            <a:endParaRPr lang="vi-VN"/>
          </a:p>
          <a:p>
            <a:r>
              <a:rPr lang="en-US" b="1"/>
              <a:t>🧠 </a:t>
            </a:r>
            <a:r>
              <a:rPr lang="vi-VN" b="1"/>
              <a:t>Giải thích từng dòng</a:t>
            </a:r>
          </a:p>
          <a:p>
            <a:r>
              <a:rPr lang="vi-VN"/>
              <a:t>Dòng</a:t>
            </a:r>
            <a:r>
              <a:rPr lang="en-US"/>
              <a:t>					</a:t>
            </a:r>
            <a:r>
              <a:rPr lang="vi-VN"/>
              <a:t>Giải thích</a:t>
            </a:r>
            <a:endParaRPr lang="en-US"/>
          </a:p>
          <a:p>
            <a:r>
              <a:rPr lang="vi-VN" sz="1200" kern="1200">
                <a:solidFill>
                  <a:schemeClr val="tx1"/>
                </a:solidFill>
                <a:latin typeface="+mn-lt"/>
                <a:ea typeface="+mn-ea"/>
                <a:cs typeface="+mn-cs"/>
              </a:rPr>
              <a:t>void _applyFilters() async {</a:t>
            </a:r>
            <a:r>
              <a:rPr lang="en-US" sz="1200" kern="1200">
                <a:solidFill>
                  <a:schemeClr val="tx1"/>
                </a:solidFill>
                <a:latin typeface="+mn-lt"/>
                <a:ea typeface="+mn-ea"/>
                <a:cs typeface="+mn-cs"/>
              </a:rPr>
              <a:t>				</a:t>
            </a:r>
            <a:r>
              <a:rPr lang="vi-VN"/>
              <a:t>Hàm bất đồng bộ (có thể chờ truy vấn DB), không trả giá trị.</a:t>
            </a:r>
            <a:endParaRPr lang="en-US"/>
          </a:p>
          <a:p>
            <a:r>
              <a:rPr lang="vi-VN" sz="1200" kern="1200">
                <a:solidFill>
                  <a:schemeClr val="tx1"/>
                </a:solidFill>
                <a:latin typeface="+mn-lt"/>
                <a:ea typeface="+mn-ea"/>
                <a:cs typeface="+mn-cs"/>
              </a:rPr>
              <a:t>final dbData = await DBHelper.getProductsWithCategory();</a:t>
            </a:r>
            <a:r>
              <a:rPr lang="en-US" sz="1200" kern="1200">
                <a:solidFill>
                  <a:schemeClr val="tx1"/>
                </a:solidFill>
                <a:latin typeface="+mn-lt"/>
                <a:ea typeface="+mn-ea"/>
                <a:cs typeface="+mn-cs"/>
              </a:rPr>
              <a:t>		</a:t>
            </a:r>
            <a:r>
              <a:rPr lang="vi-VN"/>
              <a:t>Gọi lại hàm JOIN ở DBHelper để lấy </a:t>
            </a:r>
            <a:r>
              <a:rPr lang="vi-VN" b="1"/>
              <a:t>toàn bộ dữ liệu mới nhất</a:t>
            </a:r>
            <a:r>
              <a:rPr lang="vi-VN"/>
              <a:t> (phòng trường hợp vừa thêm, sửa, </a:t>
            </a:r>
            <a:r>
              <a:rPr lang="en-US"/>
              <a:t>					</a:t>
            </a:r>
            <a:r>
              <a:rPr lang="vi-VN"/>
              <a:t>xóa).</a:t>
            </a:r>
            <a:endParaRPr lang="en-US"/>
          </a:p>
          <a:p>
            <a:r>
              <a:rPr lang="vi-VN" sz="1200" kern="1200">
                <a:solidFill>
                  <a:schemeClr val="tx1"/>
                </a:solidFill>
                <a:latin typeface="+mn-lt"/>
                <a:ea typeface="+mn-ea"/>
                <a:cs typeface="+mn-cs"/>
              </a:rPr>
              <a:t>setState(() { ... });</a:t>
            </a:r>
            <a:r>
              <a:rPr lang="en-US" sz="1200" kern="1200">
                <a:solidFill>
                  <a:schemeClr val="tx1"/>
                </a:solidFill>
                <a:latin typeface="+mn-lt"/>
                <a:ea typeface="+mn-ea"/>
                <a:cs typeface="+mn-cs"/>
              </a:rPr>
              <a:t>				</a:t>
            </a:r>
            <a:r>
              <a:rPr lang="vi-VN"/>
              <a:t>Cập nhật State để làm mới giao diện. Mọi thay đổi bên trong sẽ khiến UI vẽ lại danh sách sản phẩm.</a:t>
            </a:r>
            <a:endParaRPr lang="en-US"/>
          </a:p>
          <a:p>
            <a:r>
              <a:rPr lang="vi-VN" sz="1200" kern="1200">
                <a:solidFill>
                  <a:schemeClr val="tx1"/>
                </a:solidFill>
                <a:latin typeface="+mn-lt"/>
                <a:ea typeface="+mn-ea"/>
                <a:cs typeface="+mn-cs"/>
              </a:rPr>
              <a:t>displayedProducts = dbData.where((p) { ... }).toList();</a:t>
            </a:r>
            <a:r>
              <a:rPr lang="en-US" sz="1200" kern="1200">
                <a:solidFill>
                  <a:schemeClr val="tx1"/>
                </a:solidFill>
                <a:latin typeface="+mn-lt"/>
                <a:ea typeface="+mn-ea"/>
                <a:cs typeface="+mn-cs"/>
              </a:rPr>
              <a:t>		</a:t>
            </a:r>
            <a:r>
              <a:rPr lang="vi-VN"/>
              <a:t>Lọc (</a:t>
            </a:r>
            <a:r>
              <a:rPr lang="vi-VN" sz="1200" kern="1200">
                <a:solidFill>
                  <a:schemeClr val="tx1"/>
                </a:solidFill>
                <a:latin typeface="+mn-lt"/>
                <a:ea typeface="+mn-ea"/>
                <a:cs typeface="+mn-cs"/>
              </a:rPr>
              <a:t>where</a:t>
            </a:r>
            <a:r>
              <a:rPr lang="vi-VN"/>
              <a:t>) danh sách </a:t>
            </a:r>
            <a:r>
              <a:rPr lang="vi-VN" sz="1200" kern="1200">
                <a:solidFill>
                  <a:schemeClr val="tx1"/>
                </a:solidFill>
                <a:latin typeface="+mn-lt"/>
                <a:ea typeface="+mn-ea"/>
                <a:cs typeface="+mn-cs"/>
              </a:rPr>
              <a:t>dbData</a:t>
            </a:r>
            <a:r>
              <a:rPr lang="vi-VN"/>
              <a:t> theo điều kiện, sau đó chuyển kết quả về dạng </a:t>
            </a:r>
            <a:r>
              <a:rPr lang="vi-VN" sz="1200" kern="1200">
                <a:solidFill>
                  <a:schemeClr val="tx1"/>
                </a:solidFill>
                <a:latin typeface="+mn-lt"/>
                <a:ea typeface="+mn-ea"/>
                <a:cs typeface="+mn-cs"/>
              </a:rPr>
              <a:t>List</a:t>
            </a:r>
            <a:r>
              <a:rPr lang="vi-VN"/>
              <a:t>.</a:t>
            </a:r>
            <a:endParaRPr lang="en-US"/>
          </a:p>
          <a:p>
            <a:r>
              <a:rPr lang="vi-VN"/>
              <a:t>`final matchCategory = (filterCategory == 0</a:t>
            </a:r>
            <a:endParaRPr lang="en-US"/>
          </a:p>
          <a:p>
            <a:r>
              <a:rPr lang="vi-VN" sz="1200" kern="1200">
                <a:solidFill>
                  <a:schemeClr val="tx1"/>
                </a:solidFill>
                <a:latin typeface="+mn-lt"/>
                <a:ea typeface="+mn-ea"/>
                <a:cs typeface="+mn-cs"/>
              </a:rPr>
              <a:t>final matchSearch = p['name'].toString().toLowerCase().contains(searchText.toLowerCase());</a:t>
            </a:r>
            <a:r>
              <a:rPr lang="en-US" sz="1200" kern="1200">
                <a:solidFill>
                  <a:schemeClr val="tx1"/>
                </a:solidFill>
                <a:latin typeface="+mn-lt"/>
                <a:ea typeface="+mn-ea"/>
                <a:cs typeface="+mn-cs"/>
              </a:rPr>
              <a:t>	</a:t>
            </a:r>
            <a:r>
              <a:rPr lang="vi-VN"/>
              <a:t>Kiểm tra xem tên sản phẩm có chứa từ khóa người dùng gõ trong ô </a:t>
            </a:r>
            <a:r>
              <a:rPr lang="en-US"/>
              <a:t>							</a:t>
            </a:r>
            <a:r>
              <a:rPr lang="vi-VN"/>
              <a:t>tìm kiếm không. </a:t>
            </a:r>
            <a:br>
              <a:rPr lang="vi-VN"/>
            </a:br>
            <a:r>
              <a:rPr lang="en-US"/>
              <a:t>							</a:t>
            </a:r>
            <a:r>
              <a:rPr lang="vi-VN"/>
              <a:t>– </a:t>
            </a:r>
            <a:r>
              <a:rPr lang="vi-VN" sz="1200" kern="1200">
                <a:solidFill>
                  <a:schemeClr val="tx1"/>
                </a:solidFill>
                <a:latin typeface="+mn-lt"/>
                <a:ea typeface="+mn-ea"/>
                <a:cs typeface="+mn-cs"/>
              </a:rPr>
              <a:t>.toLowerCase()</a:t>
            </a:r>
            <a:r>
              <a:rPr lang="vi-VN"/>
              <a:t> giúp không phân biệt hoa thường. </a:t>
            </a:r>
            <a:br>
              <a:rPr lang="vi-VN"/>
            </a:br>
            <a:r>
              <a:rPr lang="en-US"/>
              <a:t>							</a:t>
            </a:r>
            <a:r>
              <a:rPr lang="vi-VN"/>
              <a:t>– Nếu </a:t>
            </a:r>
            <a:r>
              <a:rPr lang="vi-VN" sz="1200" kern="1200">
                <a:solidFill>
                  <a:schemeClr val="tx1"/>
                </a:solidFill>
                <a:latin typeface="+mn-lt"/>
                <a:ea typeface="+mn-ea"/>
                <a:cs typeface="+mn-cs"/>
              </a:rPr>
              <a:t>searchText</a:t>
            </a:r>
            <a:r>
              <a:rPr lang="vi-VN"/>
              <a:t> rỗng (</a:t>
            </a:r>
            <a:r>
              <a:rPr lang="vi-VN" sz="1200" kern="1200">
                <a:solidFill>
                  <a:schemeClr val="tx1"/>
                </a:solidFill>
                <a:latin typeface="+mn-lt"/>
                <a:ea typeface="+mn-ea"/>
                <a:cs typeface="+mn-cs"/>
              </a:rPr>
              <a:t>""</a:t>
            </a:r>
            <a:r>
              <a:rPr lang="vi-VN"/>
              <a:t>), </a:t>
            </a:r>
            <a:r>
              <a:rPr lang="vi-VN" sz="1200" kern="1200">
                <a:solidFill>
                  <a:schemeClr val="tx1"/>
                </a:solidFill>
                <a:latin typeface="+mn-lt"/>
                <a:ea typeface="+mn-ea"/>
                <a:cs typeface="+mn-cs"/>
              </a:rPr>
              <a:t>contains('')</a:t>
            </a:r>
            <a:r>
              <a:rPr lang="vi-VN"/>
              <a:t> sẽ </a:t>
            </a:r>
            <a:r>
              <a:rPr lang="vi-VN" b="1"/>
              <a:t>luôn trả về true</a:t>
            </a:r>
            <a:r>
              <a:rPr lang="vi-VN"/>
              <a:t>, tức là </a:t>
            </a:r>
            <a:r>
              <a:rPr lang="en-US"/>
              <a:t>							</a:t>
            </a:r>
            <a:r>
              <a:rPr lang="vi-VN"/>
              <a:t>hiển thị tất cả sản phẩm — hành vi này hoàn toàn hợp lý.</a:t>
            </a:r>
            <a:endParaRPr lang="en-US"/>
          </a:p>
          <a:p>
            <a:r>
              <a:rPr lang="vi-VN" sz="1200" kern="1200">
                <a:solidFill>
                  <a:schemeClr val="tx1"/>
                </a:solidFill>
                <a:latin typeface="+mn-lt"/>
                <a:ea typeface="+mn-ea"/>
                <a:cs typeface="+mn-cs"/>
              </a:rPr>
              <a:t>return matchCategory &amp;&amp; matchSearch;</a:t>
            </a:r>
            <a:r>
              <a:rPr lang="en-US" sz="1200" kern="1200">
                <a:solidFill>
                  <a:schemeClr val="tx1"/>
                </a:solidFill>
                <a:latin typeface="+mn-lt"/>
                <a:ea typeface="+mn-ea"/>
                <a:cs typeface="+mn-cs"/>
              </a:rPr>
              <a:t>			</a:t>
            </a:r>
            <a:r>
              <a:rPr lang="vi-VN"/>
              <a:t>Chỉ giữ lại những sản phẩm </a:t>
            </a:r>
            <a:r>
              <a:rPr lang="vi-VN" b="1"/>
              <a:t>thỏa mãn cả hai điều kiện</a:t>
            </a:r>
            <a:r>
              <a:rPr lang="vi-VN"/>
              <a:t>: đúng danh mục </a:t>
            </a:r>
            <a:r>
              <a:rPr lang="vi-VN" b="1"/>
              <a:t>và</a:t>
            </a:r>
            <a:r>
              <a:rPr lang="vi-VN"/>
              <a:t> khớp từ khóa tìm </a:t>
            </a:r>
            <a:r>
              <a:rPr lang="en-US"/>
              <a:t>					</a:t>
            </a:r>
            <a:r>
              <a:rPr lang="vi-VN"/>
              <a:t>kiếm.</a:t>
            </a:r>
          </a:p>
          <a:p>
            <a:r>
              <a:rPr lang="en-US"/>
              <a:t>-------------------------------------------------------------------------------------------------------------------------------------------------------------------------</a:t>
            </a:r>
          </a:p>
          <a:p>
            <a:r>
              <a:rPr lang="en-US" b="1"/>
              <a:t>🧩 </a:t>
            </a:r>
            <a:r>
              <a:rPr lang="vi-VN" b="1"/>
              <a:t>Toàn bộ đoạn code</a:t>
            </a:r>
          </a:p>
          <a:p>
            <a:pPr rtl="0"/>
            <a:r>
              <a:rPr lang="vi-VN" sz="1200" kern="1200">
                <a:solidFill>
                  <a:schemeClr val="tx1"/>
                </a:solidFill>
                <a:latin typeface="+mn-lt"/>
                <a:ea typeface="+mn-ea"/>
                <a:cs typeface="+mn-cs"/>
              </a:rPr>
              <a:t>setState(() {</a:t>
            </a:r>
          </a:p>
          <a:p>
            <a:pPr rtl="0"/>
            <a:r>
              <a:rPr lang="vi-VN" sz="1200" kern="1200">
                <a:solidFill>
                  <a:schemeClr val="tx1"/>
                </a:solidFill>
                <a:latin typeface="+mn-lt"/>
                <a:ea typeface="+mn-ea"/>
                <a:cs typeface="+mn-cs"/>
              </a:rPr>
              <a:t>  displayedProducts = dbData.where((p) {</a:t>
            </a:r>
          </a:p>
          <a:p>
            <a:pPr rtl="0"/>
            <a:r>
              <a:rPr lang="vi-VN" sz="1200" kern="1200">
                <a:solidFill>
                  <a:schemeClr val="tx1"/>
                </a:solidFill>
                <a:latin typeface="+mn-lt"/>
                <a:ea typeface="+mn-ea"/>
                <a:cs typeface="+mn-cs"/>
              </a:rPr>
              <a:t>    final matchCategory =</a:t>
            </a:r>
          </a:p>
          <a:p>
            <a:pPr rtl="0"/>
            <a:r>
              <a:rPr lang="vi-VN" sz="1200" kern="1200">
                <a:solidFill>
                  <a:schemeClr val="tx1"/>
                </a:solidFill>
                <a:latin typeface="+mn-lt"/>
                <a:ea typeface="+mn-ea"/>
                <a:cs typeface="+mn-cs"/>
              </a:rPr>
              <a:t>        (filterCategory == 0 || p['category_id'] == filterCategory);</a:t>
            </a:r>
          </a:p>
          <a:p>
            <a:pPr rtl="0"/>
            <a:r>
              <a:rPr lang="vi-VN" sz="1200" kern="1200">
                <a:solidFill>
                  <a:schemeClr val="tx1"/>
                </a:solidFill>
                <a:latin typeface="+mn-lt"/>
                <a:ea typeface="+mn-ea"/>
                <a:cs typeface="+mn-cs"/>
              </a:rPr>
              <a:t>    final matchSearch = p['name']</a:t>
            </a:r>
          </a:p>
          <a:p>
            <a:pPr rtl="0"/>
            <a:r>
              <a:rPr lang="vi-VN" sz="1200" kern="1200">
                <a:solidFill>
                  <a:schemeClr val="tx1"/>
                </a:solidFill>
                <a:latin typeface="+mn-lt"/>
                <a:ea typeface="+mn-ea"/>
                <a:cs typeface="+mn-cs"/>
              </a:rPr>
              <a:t>        .toString()</a:t>
            </a:r>
          </a:p>
          <a:p>
            <a:pPr rtl="0"/>
            <a:r>
              <a:rPr lang="vi-VN" sz="1200" kern="1200">
                <a:solidFill>
                  <a:schemeClr val="tx1"/>
                </a:solidFill>
                <a:latin typeface="+mn-lt"/>
                <a:ea typeface="+mn-ea"/>
                <a:cs typeface="+mn-cs"/>
              </a:rPr>
              <a:t>        .toLowerCase()</a:t>
            </a:r>
          </a:p>
          <a:p>
            <a:pPr rtl="0"/>
            <a:r>
              <a:rPr lang="vi-VN" sz="1200" kern="1200">
                <a:solidFill>
                  <a:schemeClr val="tx1"/>
                </a:solidFill>
                <a:latin typeface="+mn-lt"/>
                <a:ea typeface="+mn-ea"/>
                <a:cs typeface="+mn-cs"/>
              </a:rPr>
              <a:t>        .contains(searchText.toLowerCase());</a:t>
            </a:r>
          </a:p>
          <a:p>
            <a:pPr rtl="0"/>
            <a:r>
              <a:rPr lang="vi-VN" sz="1200" kern="1200">
                <a:solidFill>
                  <a:schemeClr val="tx1"/>
                </a:solidFill>
                <a:latin typeface="+mn-lt"/>
                <a:ea typeface="+mn-ea"/>
                <a:cs typeface="+mn-cs"/>
              </a:rPr>
              <a:t>    return matchCategory &amp;&amp; matchSearch;</a:t>
            </a:r>
          </a:p>
          <a:p>
            <a:pPr rtl="0"/>
            <a:r>
              <a:rPr lang="vi-VN" sz="1200" kern="1200">
                <a:solidFill>
                  <a:schemeClr val="tx1"/>
                </a:solidFill>
                <a:latin typeface="+mn-lt"/>
                <a:ea typeface="+mn-ea"/>
                <a:cs typeface="+mn-cs"/>
              </a:rPr>
              <a:t>  }).toList();</a:t>
            </a:r>
          </a:p>
          <a:p>
            <a:pPr rtl="0"/>
            <a:r>
              <a:rPr lang="vi-VN" sz="1200" kern="1200">
                <a:solidFill>
                  <a:schemeClr val="tx1"/>
                </a:solidFill>
                <a:latin typeface="+mn-lt"/>
                <a:ea typeface="+mn-ea"/>
                <a:cs typeface="+mn-cs"/>
              </a:rPr>
              <a:t>});</a:t>
            </a:r>
          </a:p>
          <a:p>
            <a:endParaRPr lang="vi-VN"/>
          </a:p>
          <a:p>
            <a:r>
              <a:rPr lang="en-US" b="1"/>
              <a:t>🧠 1️⃣ </a:t>
            </a:r>
            <a:r>
              <a:rPr lang="vi-VN" sz="1200" b="1" kern="1200">
                <a:solidFill>
                  <a:schemeClr val="tx1"/>
                </a:solidFill>
                <a:latin typeface="+mn-lt"/>
                <a:ea typeface="+mn-ea"/>
                <a:cs typeface="+mn-cs"/>
              </a:rPr>
              <a:t>setState(() { ... });</a:t>
            </a:r>
            <a:r>
              <a:rPr lang="vi-VN" b="1"/>
              <a:t> là gì?</a:t>
            </a:r>
          </a:p>
          <a:p>
            <a:r>
              <a:rPr lang="vi-VN" sz="1200" kern="1200">
                <a:solidFill>
                  <a:schemeClr val="tx1"/>
                </a:solidFill>
                <a:latin typeface="+mn-lt"/>
                <a:ea typeface="+mn-ea"/>
                <a:cs typeface="+mn-cs"/>
              </a:rPr>
              <a:t>setState()</a:t>
            </a:r>
            <a:r>
              <a:rPr lang="vi-VN"/>
              <a:t> là </a:t>
            </a:r>
            <a:r>
              <a:rPr lang="vi-VN" b="1"/>
              <a:t>hàm của Flutter</a:t>
            </a:r>
            <a:r>
              <a:rPr lang="vi-VN"/>
              <a:t> (thuộc </a:t>
            </a:r>
            <a:r>
              <a:rPr lang="vi-VN" sz="1200" kern="1200">
                <a:solidFill>
                  <a:schemeClr val="tx1"/>
                </a:solidFill>
                <a:latin typeface="+mn-lt"/>
                <a:ea typeface="+mn-ea"/>
                <a:cs typeface="+mn-cs"/>
              </a:rPr>
              <a:t>StatefulWidget</a:t>
            </a:r>
            <a:r>
              <a:rPr lang="vi-VN"/>
              <a:t>).</a:t>
            </a:r>
          </a:p>
          <a:p>
            <a:r>
              <a:rPr lang="vi-VN"/>
              <a:t>Nó báo cho framework biết rằng </a:t>
            </a:r>
            <a:r>
              <a:rPr lang="vi-VN" b="1"/>
              <a:t>dữ liệu (state)</a:t>
            </a:r>
            <a:r>
              <a:rPr lang="vi-VN"/>
              <a:t> trong widget đã thay đổi.</a:t>
            </a:r>
          </a:p>
          <a:p>
            <a:r>
              <a:rPr lang="vi-VN"/>
              <a:t>Sau khi chạy xong, </a:t>
            </a:r>
            <a:r>
              <a:rPr lang="vi-VN" b="1"/>
              <a:t>Flutter sẽ tự động vẽ lại UI (gọi build() lại)</a:t>
            </a:r>
            <a:r>
              <a:rPr lang="vi-VN"/>
              <a:t> để hiển thị dữ liệu mới.</a:t>
            </a:r>
          </a:p>
          <a:p>
            <a:r>
              <a:rPr lang="en-US"/>
              <a:t>👉 </a:t>
            </a:r>
            <a:r>
              <a:rPr lang="vi-VN"/>
              <a:t>Nếu bạn thay đổi dữ liệu mà không gọi </a:t>
            </a:r>
            <a:r>
              <a:rPr lang="vi-VN" sz="1200" kern="1200">
                <a:solidFill>
                  <a:schemeClr val="tx1"/>
                </a:solidFill>
                <a:latin typeface="+mn-lt"/>
                <a:ea typeface="+mn-ea"/>
                <a:cs typeface="+mn-cs"/>
              </a:rPr>
              <a:t>setState</a:t>
            </a:r>
            <a:r>
              <a:rPr lang="vi-VN"/>
              <a:t>, UI sẽ </a:t>
            </a:r>
            <a:r>
              <a:rPr lang="vi-VN" b="1"/>
              <a:t>không cập nhật</a:t>
            </a:r>
            <a:r>
              <a:rPr lang="vi-VN"/>
              <a:t>.</a:t>
            </a:r>
          </a:p>
          <a:p>
            <a:r>
              <a:rPr lang="en-US" b="1"/>
              <a:t>🧠 2️⃣ </a:t>
            </a:r>
            <a:r>
              <a:rPr lang="vi-VN" sz="1200" b="1" kern="1200">
                <a:solidFill>
                  <a:schemeClr val="tx1"/>
                </a:solidFill>
                <a:latin typeface="+mn-lt"/>
                <a:ea typeface="+mn-ea"/>
                <a:cs typeface="+mn-cs"/>
              </a:rPr>
              <a:t>displayedProducts = dbData.where((p) { ... }).toList();</a:t>
            </a:r>
            <a:endParaRPr lang="vi-VN" b="1"/>
          </a:p>
          <a:p>
            <a:r>
              <a:rPr lang="vi-VN" sz="1200" kern="1200">
                <a:solidFill>
                  <a:schemeClr val="tx1"/>
                </a:solidFill>
                <a:latin typeface="+mn-lt"/>
                <a:ea typeface="+mn-ea"/>
                <a:cs typeface="+mn-cs"/>
              </a:rPr>
              <a:t>dbData</a:t>
            </a:r>
            <a:r>
              <a:rPr lang="vi-VN"/>
              <a:t> là danh sách dữ liệu lấy từ database, kiểu:</a:t>
            </a:r>
            <a:br>
              <a:rPr lang="vi-VN"/>
            </a:br>
            <a:r>
              <a:rPr lang="vi-VN" sz="1200" kern="1200">
                <a:solidFill>
                  <a:schemeClr val="tx1"/>
                </a:solidFill>
                <a:latin typeface="+mn-lt"/>
                <a:ea typeface="+mn-ea"/>
                <a:cs typeface="+mn-cs"/>
              </a:rPr>
              <a:t>List&lt;Map&lt;String, dynamic&gt;&gt;</a:t>
            </a:r>
            <a:r>
              <a:rPr lang="vi-VN"/>
              <a:t> (mỗi </a:t>
            </a:r>
            <a:r>
              <a:rPr lang="vi-VN" sz="1200" kern="1200">
                <a:solidFill>
                  <a:schemeClr val="tx1"/>
                </a:solidFill>
                <a:latin typeface="+mn-lt"/>
                <a:ea typeface="+mn-ea"/>
                <a:cs typeface="+mn-cs"/>
              </a:rPr>
              <a:t>Map</a:t>
            </a:r>
            <a:r>
              <a:rPr lang="vi-VN"/>
              <a:t> là một sản phẩm).</a:t>
            </a:r>
          </a:p>
          <a:p>
            <a:r>
              <a:rPr lang="vi-VN" sz="1200" kern="1200">
                <a:solidFill>
                  <a:schemeClr val="tx1"/>
                </a:solidFill>
                <a:latin typeface="+mn-lt"/>
                <a:ea typeface="+mn-ea"/>
                <a:cs typeface="+mn-cs"/>
              </a:rPr>
              <a:t>.where((p) { ... })</a:t>
            </a:r>
            <a:r>
              <a:rPr lang="vi-VN"/>
              <a:t> là </a:t>
            </a:r>
            <a:r>
              <a:rPr lang="vi-VN" b="1"/>
              <a:t>hàm lọc</a:t>
            </a:r>
            <a:r>
              <a:rPr lang="vi-VN"/>
              <a:t> trong Dart:</a:t>
            </a:r>
          </a:p>
          <a:p>
            <a:pPr lvl="1"/>
            <a:r>
              <a:rPr lang="vi-VN"/>
              <a:t>Nó duyệt qua </a:t>
            </a:r>
            <a:r>
              <a:rPr lang="vi-VN" b="1"/>
              <a:t>từng phần tử </a:t>
            </a:r>
            <a:r>
              <a:rPr lang="vi-VN" sz="1200" b="1" kern="1200">
                <a:solidFill>
                  <a:schemeClr val="tx1"/>
                </a:solidFill>
                <a:latin typeface="+mn-lt"/>
                <a:ea typeface="+mn-ea"/>
                <a:cs typeface="+mn-cs"/>
              </a:rPr>
              <a:t>p</a:t>
            </a:r>
            <a:r>
              <a:rPr lang="vi-VN"/>
              <a:t> trong danh sách </a:t>
            </a:r>
            <a:r>
              <a:rPr lang="vi-VN" sz="1200" kern="1200">
                <a:solidFill>
                  <a:schemeClr val="tx1"/>
                </a:solidFill>
                <a:latin typeface="+mn-lt"/>
                <a:ea typeface="+mn-ea"/>
                <a:cs typeface="+mn-cs"/>
              </a:rPr>
              <a:t>dbData</a:t>
            </a:r>
            <a:r>
              <a:rPr lang="vi-VN"/>
              <a:t>.</a:t>
            </a:r>
          </a:p>
          <a:p>
            <a:pPr lvl="1"/>
            <a:r>
              <a:rPr lang="vi-VN"/>
              <a:t>Với mỗi </a:t>
            </a:r>
            <a:r>
              <a:rPr lang="vi-VN" sz="1200" kern="1200">
                <a:solidFill>
                  <a:schemeClr val="tx1"/>
                </a:solidFill>
                <a:latin typeface="+mn-lt"/>
                <a:ea typeface="+mn-ea"/>
                <a:cs typeface="+mn-cs"/>
              </a:rPr>
              <a:t>p</a:t>
            </a:r>
            <a:r>
              <a:rPr lang="vi-VN"/>
              <a:t>, nó kiểm tra điều kiện trong </a:t>
            </a:r>
            <a:r>
              <a:rPr lang="vi-VN" sz="1200" kern="1200">
                <a:solidFill>
                  <a:schemeClr val="tx1"/>
                </a:solidFill>
                <a:latin typeface="+mn-lt"/>
                <a:ea typeface="+mn-ea"/>
                <a:cs typeface="+mn-cs"/>
              </a:rPr>
              <a:t>{ ... }</a:t>
            </a:r>
            <a:r>
              <a:rPr lang="vi-VN"/>
              <a:t>.</a:t>
            </a:r>
          </a:p>
          <a:p>
            <a:pPr lvl="1"/>
            <a:r>
              <a:rPr lang="vi-VN"/>
              <a:t>Nếu điều kiện trả về </a:t>
            </a:r>
            <a:r>
              <a:rPr lang="vi-VN" sz="1200" kern="1200">
                <a:solidFill>
                  <a:schemeClr val="tx1"/>
                </a:solidFill>
                <a:latin typeface="+mn-lt"/>
                <a:ea typeface="+mn-ea"/>
                <a:cs typeface="+mn-cs"/>
              </a:rPr>
              <a:t>true</a:t>
            </a:r>
            <a:r>
              <a:rPr lang="vi-VN"/>
              <a:t> → phần tử đó được giữ lại.</a:t>
            </a:r>
          </a:p>
          <a:p>
            <a:pPr lvl="1"/>
            <a:r>
              <a:rPr lang="vi-VN"/>
              <a:t>Nếu </a:t>
            </a:r>
            <a:r>
              <a:rPr lang="vi-VN" sz="1200" kern="1200">
                <a:solidFill>
                  <a:schemeClr val="tx1"/>
                </a:solidFill>
                <a:latin typeface="+mn-lt"/>
                <a:ea typeface="+mn-ea"/>
                <a:cs typeface="+mn-cs"/>
              </a:rPr>
              <a:t>false</a:t>
            </a:r>
            <a:r>
              <a:rPr lang="vi-VN"/>
              <a:t> → bị loại bỏ.</a:t>
            </a:r>
          </a:p>
          <a:p>
            <a:r>
              <a:rPr lang="vi-VN"/>
              <a:t>Cuối cùng </a:t>
            </a:r>
            <a:r>
              <a:rPr lang="vi-VN" sz="1200" kern="1200">
                <a:solidFill>
                  <a:schemeClr val="tx1"/>
                </a:solidFill>
                <a:latin typeface="+mn-lt"/>
                <a:ea typeface="+mn-ea"/>
                <a:cs typeface="+mn-cs"/>
              </a:rPr>
              <a:t>.toList()</a:t>
            </a:r>
            <a:r>
              <a:rPr lang="vi-VN"/>
              <a:t> chuyển kết quả lọc (kiểu Iterable) thành một </a:t>
            </a:r>
            <a:r>
              <a:rPr lang="vi-VN" sz="1200" kern="1200">
                <a:solidFill>
                  <a:schemeClr val="tx1"/>
                </a:solidFill>
                <a:latin typeface="+mn-lt"/>
                <a:ea typeface="+mn-ea"/>
                <a:cs typeface="+mn-cs"/>
              </a:rPr>
              <a:t>List</a:t>
            </a:r>
            <a:r>
              <a:rPr lang="vi-VN"/>
              <a:t> bình thường.</a:t>
            </a:r>
          </a:p>
          <a:p>
            <a:r>
              <a:rPr lang="en-US" b="1"/>
              <a:t>🧠 3️⃣ </a:t>
            </a:r>
            <a:r>
              <a:rPr lang="vi-VN" b="1"/>
              <a:t>Bên trong </a:t>
            </a:r>
            <a:r>
              <a:rPr lang="vi-VN" sz="1200" b="1" kern="1200">
                <a:solidFill>
                  <a:schemeClr val="tx1"/>
                </a:solidFill>
                <a:latin typeface="+mn-lt"/>
                <a:ea typeface="+mn-ea"/>
                <a:cs typeface="+mn-cs"/>
              </a:rPr>
              <a:t>(p) { ... }</a:t>
            </a:r>
            <a:endParaRPr lang="vi-VN" b="1"/>
          </a:p>
          <a:p>
            <a:r>
              <a:rPr lang="vi-VN"/>
              <a:t>Đây là phần </a:t>
            </a:r>
            <a:r>
              <a:rPr lang="vi-VN" b="1"/>
              <a:t>điều kiện lọc</a:t>
            </a:r>
            <a:r>
              <a:rPr lang="vi-VN"/>
              <a:t> sản phẩm — gồm 2 điều kiện nhỏ:</a:t>
            </a:r>
          </a:p>
          <a:p>
            <a:r>
              <a:rPr lang="en-US" b="1"/>
              <a:t>🔹 (</a:t>
            </a:r>
            <a:r>
              <a:rPr lang="vi-VN" b="1"/>
              <a:t>a) Lọc theo danh mục:</a:t>
            </a:r>
          </a:p>
          <a:p>
            <a:pPr rtl="0"/>
            <a:r>
              <a:rPr lang="vi-VN" sz="1200" kern="1200">
                <a:solidFill>
                  <a:schemeClr val="tx1"/>
                </a:solidFill>
                <a:latin typeface="+mn-lt"/>
                <a:ea typeface="+mn-ea"/>
                <a:cs typeface="+mn-cs"/>
              </a:rPr>
              <a:t>final matchCategory =</a:t>
            </a:r>
          </a:p>
          <a:p>
            <a:pPr rtl="0"/>
            <a:r>
              <a:rPr lang="vi-VN" sz="1200" kern="1200">
                <a:solidFill>
                  <a:schemeClr val="tx1"/>
                </a:solidFill>
                <a:latin typeface="+mn-lt"/>
                <a:ea typeface="+mn-ea"/>
                <a:cs typeface="+mn-cs"/>
              </a:rPr>
              <a:t>    (filterCategory == 0 || p['category_id'] == filterCategory);</a:t>
            </a:r>
          </a:p>
          <a:p>
            <a:r>
              <a:rPr lang="vi-VN" sz="1200" kern="1200">
                <a:solidFill>
                  <a:schemeClr val="tx1"/>
                </a:solidFill>
                <a:latin typeface="+mn-lt"/>
                <a:ea typeface="+mn-ea"/>
                <a:cs typeface="+mn-cs"/>
              </a:rPr>
              <a:t>filterCategory</a:t>
            </a:r>
            <a:r>
              <a:rPr lang="vi-VN"/>
              <a:t> là </a:t>
            </a:r>
            <a:r>
              <a:rPr lang="vi-VN" b="1"/>
              <a:t>ID danh mục đang chọn trên UI</a:t>
            </a:r>
            <a:r>
              <a:rPr lang="vi-VN"/>
              <a:t>:</a:t>
            </a:r>
          </a:p>
          <a:p>
            <a:pPr lvl="1"/>
            <a:r>
              <a:rPr lang="vi-VN"/>
              <a:t>Nếu </a:t>
            </a:r>
            <a:r>
              <a:rPr lang="vi-VN" sz="1200" kern="1200">
                <a:solidFill>
                  <a:schemeClr val="tx1"/>
                </a:solidFill>
                <a:latin typeface="+mn-lt"/>
                <a:ea typeface="+mn-ea"/>
                <a:cs typeface="+mn-cs"/>
              </a:rPr>
              <a:t>filterCategory == 0</a:t>
            </a:r>
            <a:r>
              <a:rPr lang="vi-VN"/>
              <a:t> nghĩa là chọn “All” → không lọc danh mục nào cả.</a:t>
            </a:r>
          </a:p>
          <a:p>
            <a:pPr lvl="1"/>
            <a:r>
              <a:rPr lang="vi-VN"/>
              <a:t>Còn nếu khác 0 → chỉ lấy sản phẩm có </a:t>
            </a:r>
            <a:r>
              <a:rPr lang="vi-VN" sz="1200" kern="1200">
                <a:solidFill>
                  <a:schemeClr val="tx1"/>
                </a:solidFill>
                <a:latin typeface="+mn-lt"/>
                <a:ea typeface="+mn-ea"/>
                <a:cs typeface="+mn-cs"/>
              </a:rPr>
              <a:t>p['category_id']</a:t>
            </a:r>
            <a:r>
              <a:rPr lang="vi-VN"/>
              <a:t> đúng bằng giá trị đó.</a:t>
            </a:r>
          </a:p>
          <a:p>
            <a:r>
              <a:rPr lang="en-US"/>
              <a:t>✅ </a:t>
            </a:r>
            <a:r>
              <a:rPr lang="vi-VN"/>
              <a:t>Kết quả:</a:t>
            </a:r>
          </a:p>
          <a:p>
            <a:r>
              <a:rPr lang="vi-VN" sz="1200" kern="1200">
                <a:solidFill>
                  <a:schemeClr val="tx1"/>
                </a:solidFill>
                <a:latin typeface="+mn-lt"/>
                <a:ea typeface="+mn-ea"/>
                <a:cs typeface="+mn-cs"/>
              </a:rPr>
              <a:t>matchCategory = true</a:t>
            </a:r>
            <a:r>
              <a:rPr lang="vi-VN"/>
              <a:t> → sản phẩm hợp danh mục.</a:t>
            </a:r>
          </a:p>
          <a:p>
            <a:r>
              <a:rPr lang="vi-VN" sz="1200" kern="1200">
                <a:solidFill>
                  <a:schemeClr val="tx1"/>
                </a:solidFill>
                <a:latin typeface="+mn-lt"/>
                <a:ea typeface="+mn-ea"/>
                <a:cs typeface="+mn-cs"/>
              </a:rPr>
              <a:t>matchCategory = false</a:t>
            </a:r>
            <a:r>
              <a:rPr lang="vi-VN"/>
              <a:t> → sản phẩm bị loại.</a:t>
            </a:r>
          </a:p>
          <a:p>
            <a:r>
              <a:rPr lang="en-US" b="1"/>
              <a:t>🔹 (</a:t>
            </a:r>
            <a:r>
              <a:rPr lang="vi-VN" b="1"/>
              <a:t>b) Lọc theo ô tìm kiếm:</a:t>
            </a:r>
          </a:p>
          <a:p>
            <a:pPr rtl="0"/>
            <a:r>
              <a:rPr lang="vi-VN" sz="1200" kern="1200">
                <a:solidFill>
                  <a:schemeClr val="tx1"/>
                </a:solidFill>
                <a:latin typeface="+mn-lt"/>
                <a:ea typeface="+mn-ea"/>
                <a:cs typeface="+mn-cs"/>
              </a:rPr>
              <a:t>final matchSearch = p['name']</a:t>
            </a:r>
          </a:p>
          <a:p>
            <a:pPr rtl="0"/>
            <a:r>
              <a:rPr lang="vi-VN" sz="1200" kern="1200">
                <a:solidFill>
                  <a:schemeClr val="tx1"/>
                </a:solidFill>
                <a:latin typeface="+mn-lt"/>
                <a:ea typeface="+mn-ea"/>
                <a:cs typeface="+mn-cs"/>
              </a:rPr>
              <a:t>    .toString()</a:t>
            </a:r>
          </a:p>
          <a:p>
            <a:pPr rtl="0"/>
            <a:r>
              <a:rPr lang="vi-VN" sz="1200" kern="1200">
                <a:solidFill>
                  <a:schemeClr val="tx1"/>
                </a:solidFill>
                <a:latin typeface="+mn-lt"/>
                <a:ea typeface="+mn-ea"/>
                <a:cs typeface="+mn-cs"/>
              </a:rPr>
              <a:t>    .toLowerCase()</a:t>
            </a:r>
          </a:p>
          <a:p>
            <a:pPr rtl="0"/>
            <a:r>
              <a:rPr lang="vi-VN" sz="1200" kern="1200">
                <a:solidFill>
                  <a:schemeClr val="tx1"/>
                </a:solidFill>
                <a:latin typeface="+mn-lt"/>
                <a:ea typeface="+mn-ea"/>
                <a:cs typeface="+mn-cs"/>
              </a:rPr>
              <a:t>    .contains(searchText.toLowerCase());</a:t>
            </a:r>
          </a:p>
          <a:p>
            <a:r>
              <a:rPr lang="vi-VN" sz="1200" kern="1200">
                <a:solidFill>
                  <a:schemeClr val="tx1"/>
                </a:solidFill>
                <a:latin typeface="+mn-lt"/>
                <a:ea typeface="+mn-ea"/>
                <a:cs typeface="+mn-cs"/>
              </a:rPr>
              <a:t>p['name']</a:t>
            </a:r>
            <a:r>
              <a:rPr lang="vi-VN"/>
              <a:t>: lấy tên sản phẩm từ map.</a:t>
            </a:r>
          </a:p>
          <a:p>
            <a:r>
              <a:rPr lang="vi-VN" sz="1200" kern="1200">
                <a:solidFill>
                  <a:schemeClr val="tx1"/>
                </a:solidFill>
                <a:latin typeface="+mn-lt"/>
                <a:ea typeface="+mn-ea"/>
                <a:cs typeface="+mn-cs"/>
              </a:rPr>
              <a:t>.toString()</a:t>
            </a:r>
            <a:r>
              <a:rPr lang="vi-VN"/>
              <a:t>: đảm bảo kiểu chuỗi.</a:t>
            </a:r>
          </a:p>
          <a:p>
            <a:r>
              <a:rPr lang="vi-VN" sz="1200" kern="1200">
                <a:solidFill>
                  <a:schemeClr val="tx1"/>
                </a:solidFill>
                <a:latin typeface="+mn-lt"/>
                <a:ea typeface="+mn-ea"/>
                <a:cs typeface="+mn-cs"/>
              </a:rPr>
              <a:t>.toLowerCase()</a:t>
            </a:r>
            <a:r>
              <a:rPr lang="vi-VN"/>
              <a:t>: chuyển hết thành chữ thường → để so sánh </a:t>
            </a:r>
            <a:r>
              <a:rPr lang="vi-VN" b="1"/>
              <a:t>không phân biệt hoa/thường</a:t>
            </a:r>
            <a:r>
              <a:rPr lang="vi-VN"/>
              <a:t>.</a:t>
            </a:r>
          </a:p>
          <a:p>
            <a:r>
              <a:rPr lang="vi-VN" sz="1200" kern="1200">
                <a:solidFill>
                  <a:schemeClr val="tx1"/>
                </a:solidFill>
                <a:latin typeface="+mn-lt"/>
                <a:ea typeface="+mn-ea"/>
                <a:cs typeface="+mn-cs"/>
              </a:rPr>
              <a:t>.contains(searchText.toLowerCase())</a:t>
            </a:r>
            <a:r>
              <a:rPr lang="vi-VN"/>
              <a:t>: kiểm tra xem tên sản phẩm có chứa chuỗi người dùng đang tìm không.</a:t>
            </a:r>
          </a:p>
          <a:p>
            <a:endParaRPr lang="en-US"/>
          </a:p>
          <a:p>
            <a:endParaRPr lang="en-US"/>
          </a:p>
        </p:txBody>
      </p:sp>
      <p:sp>
        <p:nvSpPr>
          <p:cNvPr id="4" name="Slide Number Placeholder 3">
            <a:extLst>
              <a:ext uri="{FF2B5EF4-FFF2-40B4-BE49-F238E27FC236}">
                <a16:creationId xmlns:a16="http://schemas.microsoft.com/office/drawing/2014/main" id="{E616788C-322A-B5D1-B77E-C316DD61614C}"/>
              </a:ext>
            </a:extLst>
          </p:cNvPr>
          <p:cNvSpPr>
            <a:spLocks noGrp="1"/>
          </p:cNvSpPr>
          <p:nvPr>
            <p:ph type="sldNum" sz="quarter" idx="5"/>
          </p:nvPr>
        </p:nvSpPr>
        <p:spPr/>
        <p:txBody>
          <a:bodyPr/>
          <a:lstStyle/>
          <a:p>
            <a:fld id="{1983A999-5E0E-42CA-8400-604AE921FF7C}" type="slidenum">
              <a:rPr lang="en-US" smtClean="0"/>
              <a:t>40</a:t>
            </a:fld>
            <a:endParaRPr lang="en-US"/>
          </a:p>
        </p:txBody>
      </p:sp>
    </p:spTree>
    <p:extLst>
      <p:ext uri="{BB962C8B-B14F-4D97-AF65-F5344CB8AC3E}">
        <p14:creationId xmlns:p14="http://schemas.microsoft.com/office/powerpoint/2010/main" val="119949804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EEDBA-1B3A-F99D-F018-0D789D1926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636011-448C-22B1-BFFE-933CC68F07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D9689-BB27-D41A-0893-B5BCFD71081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int? selectedCategory;</a:t>
            </a: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List&lt;Product&gt; allProducts = [];</a:t>
            </a: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List&lt;Map&lt;String, dynamic&gt;&gt; displayedProducts = [];</a:t>
            </a: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List&lt;Category&gt; allCategories = [];</a:t>
            </a: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String searchText = "";</a:t>
            </a: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int filterCategory = 0; </a:t>
            </a:r>
            <a:r>
              <a:rPr lang="en-US" sz="1200" i="1" kern="1200">
                <a:solidFill>
                  <a:schemeClr val="tx1"/>
                </a:solidFill>
                <a:effectLst/>
                <a:latin typeface="+mn-lt"/>
                <a:ea typeface="+mn-ea"/>
                <a:cs typeface="+mn-cs"/>
              </a:rPr>
              <a:t>// 0 = All</a:t>
            </a:r>
            <a:endParaRPr lang="en-US" sz="1200" kern="1200">
              <a:solidFill>
                <a:schemeClr val="tx1"/>
              </a:solidFill>
              <a:effectLst/>
              <a:latin typeface="+mn-lt"/>
              <a:ea typeface="+mn-ea"/>
              <a:cs typeface="+mn-cs"/>
            </a:endParaRPr>
          </a:p>
          <a:p>
            <a:r>
              <a:rPr lang="en-US" sz="1200" kern="1200">
                <a:solidFill>
                  <a:schemeClr val="tx1"/>
                </a:solidFill>
                <a:latin typeface="+mn-lt"/>
                <a:ea typeface="+mn-ea"/>
                <a:cs typeface="+mn-cs"/>
              </a:rPr>
              <a:t>=&gt;</a:t>
            </a:r>
          </a:p>
          <a:p>
            <a:r>
              <a:rPr lang="en-US" sz="1200" kern="1200">
                <a:solidFill>
                  <a:schemeClr val="tx1"/>
                </a:solidFill>
                <a:latin typeface="+mn-lt"/>
                <a:ea typeface="+mn-ea"/>
                <a:cs typeface="+mn-cs"/>
              </a:rPr>
              <a:t>selectedCategory</a:t>
            </a:r>
            <a:r>
              <a:rPr lang="en-US"/>
              <a:t> để lựa danh mục trong form.</a:t>
            </a:r>
          </a:p>
          <a:p>
            <a:r>
              <a:rPr lang="en-US" sz="1200" kern="1200">
                <a:solidFill>
                  <a:schemeClr val="tx1"/>
                </a:solidFill>
                <a:latin typeface="+mn-lt"/>
                <a:ea typeface="+mn-ea"/>
                <a:cs typeface="+mn-cs"/>
              </a:rPr>
              <a:t>displayedProducts</a:t>
            </a:r>
            <a:r>
              <a:rPr lang="en-US"/>
              <a:t> là danh sách (Map) từ </a:t>
            </a:r>
            <a:r>
              <a:rPr lang="en-US" sz="1200" kern="1200">
                <a:solidFill>
                  <a:schemeClr val="tx1"/>
                </a:solidFill>
                <a:latin typeface="+mn-lt"/>
                <a:ea typeface="+mn-ea"/>
                <a:cs typeface="+mn-cs"/>
              </a:rPr>
              <a:t>getProductsWithCategory()</a:t>
            </a:r>
            <a:r>
              <a:rPr lang="en-US"/>
              <a:t> dùng trực tiếp cho UI (vì có </a:t>
            </a:r>
            <a:r>
              <a:rPr lang="en-US" sz="1200" kern="1200">
                <a:solidFill>
                  <a:schemeClr val="tx1"/>
                </a:solidFill>
                <a:latin typeface="+mn-lt"/>
                <a:ea typeface="+mn-ea"/>
                <a:cs typeface="+mn-cs"/>
              </a:rPr>
              <a:t>category_name</a:t>
            </a:r>
            <a:r>
              <a:rPr lang="en-US"/>
              <a:t>).</a:t>
            </a:r>
          </a:p>
          <a:p>
            <a:r>
              <a:rPr lang="en-US" sz="1200" kern="1200">
                <a:solidFill>
                  <a:schemeClr val="tx1"/>
                </a:solidFill>
                <a:latin typeface="+mn-lt"/>
                <a:ea typeface="+mn-ea"/>
                <a:cs typeface="+mn-cs"/>
              </a:rPr>
              <a:t>filterCategory == 0</a:t>
            </a:r>
            <a:r>
              <a:rPr lang="en-US"/>
              <a:t> biểu thị show all.</a:t>
            </a:r>
          </a:p>
          <a:p>
            <a:r>
              <a:rPr lang="en-US"/>
              <a:t>--------------------------------------------------------------------------------------------------</a:t>
            </a:r>
          </a:p>
          <a:p>
            <a:r>
              <a:rPr lang="vi-VN"/>
              <a:t>Từ </a:t>
            </a:r>
            <a:r>
              <a:rPr lang="vi-VN" b="1"/>
              <a:t>"query"</a:t>
            </a:r>
            <a:r>
              <a:rPr lang="vi-VN"/>
              <a:t> trong lập trình (đặc biệt là khi làm việc với cơ sở dữ liệu như </a:t>
            </a:r>
            <a:r>
              <a:rPr lang="vi-VN" b="1"/>
              <a:t>SQLite</a:t>
            </a:r>
            <a:r>
              <a:rPr lang="vi-VN"/>
              <a:t>, </a:t>
            </a:r>
            <a:r>
              <a:rPr lang="vi-VN" b="1"/>
              <a:t>Drift</a:t>
            </a:r>
            <a:r>
              <a:rPr lang="vi-VN"/>
              <a:t>, </a:t>
            </a:r>
            <a:r>
              <a:rPr lang="vi-VN" b="1"/>
              <a:t>MySQL</a:t>
            </a:r>
            <a:r>
              <a:rPr lang="vi-VN"/>
              <a:t>, v.v.) có nghĩa là </a:t>
            </a:r>
            <a:r>
              <a:rPr lang="vi-VN" b="1"/>
              <a:t>truy vấn dữ liệu</a:t>
            </a:r>
            <a:r>
              <a:rPr lang="vi-VN"/>
              <a:t> — tức là </a:t>
            </a:r>
            <a:r>
              <a:rPr lang="vi-VN" b="1"/>
              <a:t>một yêu cầu (yêu cầu truy vấn)</a:t>
            </a:r>
            <a:r>
              <a:rPr lang="vi-VN"/>
              <a:t> mà chương trình gửi đến </a:t>
            </a:r>
            <a:r>
              <a:rPr lang="vi-VN" b="1"/>
              <a:t>cơ sở dữ liệu</a:t>
            </a:r>
            <a:r>
              <a:rPr lang="vi-VN"/>
              <a:t> để:</a:t>
            </a:r>
          </a:p>
          <a:p>
            <a:r>
              <a:rPr lang="vi-VN" b="1"/>
              <a:t>lấy, thêm, sửa, hoặc xóa</a:t>
            </a:r>
            <a:r>
              <a:rPr lang="vi-VN"/>
              <a:t> dữ liệu trong bảng.</a:t>
            </a:r>
          </a:p>
          <a:p>
            <a:r>
              <a:rPr lang="en-US" b="1"/>
              <a:t>💡 </a:t>
            </a:r>
            <a:r>
              <a:rPr lang="vi-VN" b="1"/>
              <a:t>Nói ngắn gọn:</a:t>
            </a:r>
          </a:p>
          <a:p>
            <a:r>
              <a:rPr lang="en-US"/>
              <a:t>👉 </a:t>
            </a:r>
            <a:r>
              <a:rPr lang="vi-VN" b="1"/>
              <a:t>Query = câu lệnh giao tiếp với cơ sở dữ liệu.</a:t>
            </a:r>
            <a:endParaRPr lang="vi-VN"/>
          </a:p>
          <a:p>
            <a:r>
              <a:rPr lang="en-US" b="1"/>
              <a:t>🧩 </a:t>
            </a:r>
            <a:r>
              <a:rPr lang="vi-VN" b="1"/>
              <a:t>Ví dụ thực tế:</a:t>
            </a:r>
          </a:p>
          <a:p>
            <a:r>
              <a:rPr lang="vi-VN" b="1"/>
              <a:t>1. Trong SQL thuần:</a:t>
            </a:r>
          </a:p>
          <a:p>
            <a:pPr rtl="0"/>
            <a:r>
              <a:rPr lang="vi-VN" sz="1200" kern="1200">
                <a:solidFill>
                  <a:schemeClr val="tx1"/>
                </a:solidFill>
                <a:latin typeface="+mn-lt"/>
                <a:ea typeface="+mn-ea"/>
                <a:cs typeface="+mn-cs"/>
              </a:rPr>
              <a:t>SELECT * FROM products;</a:t>
            </a:r>
          </a:p>
          <a:p>
            <a:r>
              <a:rPr lang="vi-VN"/>
              <a:t>➡️ Đây là một </a:t>
            </a:r>
            <a:r>
              <a:rPr lang="vi-VN" b="1"/>
              <a:t>query</a:t>
            </a:r>
            <a:r>
              <a:rPr lang="vi-VN"/>
              <a:t> để </a:t>
            </a:r>
            <a:r>
              <a:rPr lang="vi-VN" b="1"/>
              <a:t>lấy tất cả sản phẩm</a:t>
            </a:r>
            <a:r>
              <a:rPr lang="vi-VN"/>
              <a:t> trong bảng </a:t>
            </a:r>
            <a:r>
              <a:rPr lang="vi-VN" sz="1200" kern="1200">
                <a:solidFill>
                  <a:schemeClr val="tx1"/>
                </a:solidFill>
                <a:latin typeface="+mn-lt"/>
                <a:ea typeface="+mn-ea"/>
                <a:cs typeface="+mn-cs"/>
              </a:rPr>
              <a:t>products</a:t>
            </a:r>
            <a:r>
              <a:rPr lang="vi-VN"/>
              <a:t>.</a:t>
            </a:r>
          </a:p>
          <a:p>
            <a:r>
              <a:rPr lang="vi-VN" b="1"/>
              <a:t>2. Trong Flutter (với SQLite):</a:t>
            </a:r>
          </a:p>
          <a:p>
            <a:pPr rtl="0"/>
            <a:r>
              <a:rPr lang="vi-VN" sz="1200" kern="1200">
                <a:solidFill>
                  <a:schemeClr val="tx1"/>
                </a:solidFill>
                <a:latin typeface="+mn-lt"/>
                <a:ea typeface="+mn-ea"/>
                <a:cs typeface="+mn-cs"/>
              </a:rPr>
              <a:t>final List&lt;Map&lt;String, dynamic&gt;&gt; result = await db.query('products');</a:t>
            </a:r>
          </a:p>
          <a:p>
            <a:r>
              <a:rPr lang="vi-VN"/>
              <a:t>➡️ </a:t>
            </a:r>
            <a:r>
              <a:rPr lang="vi-VN" sz="1200" kern="1200">
                <a:solidFill>
                  <a:schemeClr val="tx1"/>
                </a:solidFill>
                <a:latin typeface="+mn-lt"/>
                <a:ea typeface="+mn-ea"/>
                <a:cs typeface="+mn-cs"/>
              </a:rPr>
              <a:t>db.query('products')</a:t>
            </a:r>
            <a:r>
              <a:rPr lang="vi-VN"/>
              <a:t> là lời gọi hàm để </a:t>
            </a:r>
            <a:r>
              <a:rPr lang="vi-VN" b="1"/>
              <a:t>truy vấn dữ liệu từ bảng </a:t>
            </a:r>
            <a:r>
              <a:rPr lang="vi-VN" sz="1200" b="1" kern="1200">
                <a:solidFill>
                  <a:schemeClr val="tx1"/>
                </a:solidFill>
                <a:latin typeface="+mn-lt"/>
                <a:ea typeface="+mn-ea"/>
                <a:cs typeface="+mn-cs"/>
              </a:rPr>
              <a:t>products</a:t>
            </a:r>
            <a:r>
              <a:rPr lang="vi-VN"/>
              <a:t>.</a:t>
            </a:r>
          </a:p>
          <a:p>
            <a:r>
              <a:rPr lang="vi-VN" b="1"/>
              <a:t>3. Trong Drift:</a:t>
            </a:r>
          </a:p>
          <a:p>
            <a:pPr rtl="0"/>
            <a:r>
              <a:rPr lang="vi-VN" sz="1200" kern="1200">
                <a:solidFill>
                  <a:schemeClr val="tx1"/>
                </a:solidFill>
                <a:latin typeface="+mn-lt"/>
                <a:ea typeface="+mn-ea"/>
                <a:cs typeface="+mn-cs"/>
              </a:rPr>
              <a:t>final products = await (select(productsTable)</a:t>
            </a:r>
          </a:p>
          <a:p>
            <a:pPr rtl="0"/>
            <a:r>
              <a:rPr lang="vi-VN" sz="1200" kern="1200">
                <a:solidFill>
                  <a:schemeClr val="tx1"/>
                </a:solidFill>
                <a:latin typeface="+mn-lt"/>
                <a:ea typeface="+mn-ea"/>
                <a:cs typeface="+mn-cs"/>
              </a:rPr>
              <a:t>  ..where((tbl) =&gt; tbl.price.isBiggerThanValue(1000)))</a:t>
            </a:r>
          </a:p>
          <a:p>
            <a:pPr rtl="0"/>
            <a:r>
              <a:rPr lang="vi-VN" sz="1200" kern="1200">
                <a:solidFill>
                  <a:schemeClr val="tx1"/>
                </a:solidFill>
                <a:latin typeface="+mn-lt"/>
                <a:ea typeface="+mn-ea"/>
                <a:cs typeface="+mn-cs"/>
              </a:rPr>
              <a:t>  .get();</a:t>
            </a:r>
          </a:p>
          <a:p>
            <a:r>
              <a:rPr lang="vi-VN"/>
              <a:t>➡️ Đây cũng là một </a:t>
            </a:r>
            <a:r>
              <a:rPr lang="vi-VN" b="1"/>
              <a:t>query</a:t>
            </a:r>
            <a:r>
              <a:rPr lang="vi-VN"/>
              <a:t>, nhưng viết bằng </a:t>
            </a:r>
            <a:r>
              <a:rPr lang="vi-VN" b="1"/>
              <a:t>cú pháp Dart</a:t>
            </a:r>
            <a:r>
              <a:rPr lang="vi-VN"/>
              <a:t> (ORM) thay vì SQL.</a:t>
            </a:r>
          </a:p>
          <a:p>
            <a:r>
              <a:rPr lang="en-US" b="1"/>
              <a:t>🧠 </a:t>
            </a:r>
            <a:r>
              <a:rPr lang="vi-VN" b="1"/>
              <a:t>Các loại query thường gặp:</a:t>
            </a:r>
          </a:p>
          <a:p>
            <a:r>
              <a:rPr lang="vi-VN"/>
              <a:t>Loại truy vấn</a:t>
            </a:r>
            <a:r>
              <a:rPr lang="en-US"/>
              <a:t>		</a:t>
            </a:r>
            <a:r>
              <a:rPr lang="vi-VN"/>
              <a:t>Mục đích</a:t>
            </a:r>
            <a:r>
              <a:rPr lang="en-US"/>
              <a:t>	</a:t>
            </a:r>
            <a:r>
              <a:rPr lang="vi-VN"/>
              <a:t>Ví dụ SQL</a:t>
            </a:r>
            <a:endParaRPr lang="en-US"/>
          </a:p>
          <a:p>
            <a:r>
              <a:rPr lang="vi-VN" b="1"/>
              <a:t>SELECT</a:t>
            </a:r>
            <a:r>
              <a:rPr lang="en-US" b="1"/>
              <a:t>		</a:t>
            </a:r>
            <a:r>
              <a:rPr lang="vi-VN"/>
              <a:t>Lấy dữ liệu</a:t>
            </a:r>
            <a:r>
              <a:rPr lang="en-US"/>
              <a:t>	</a:t>
            </a:r>
            <a:r>
              <a:rPr lang="vi-VN" sz="1200" kern="1200">
                <a:solidFill>
                  <a:schemeClr val="tx1"/>
                </a:solidFill>
                <a:latin typeface="+mn-lt"/>
                <a:ea typeface="+mn-ea"/>
                <a:cs typeface="+mn-cs"/>
              </a:rPr>
              <a:t>SELECT * FROM users;</a:t>
            </a:r>
            <a:endParaRPr lang="en-US" sz="1200" kern="1200">
              <a:solidFill>
                <a:schemeClr val="tx1"/>
              </a:solidFill>
              <a:latin typeface="+mn-lt"/>
              <a:ea typeface="+mn-ea"/>
              <a:cs typeface="+mn-cs"/>
            </a:endParaRPr>
          </a:p>
          <a:p>
            <a:r>
              <a:rPr lang="vi-VN" b="1"/>
              <a:t>INSERT</a:t>
            </a:r>
            <a:r>
              <a:rPr lang="en-US" b="1"/>
              <a:t>		</a:t>
            </a:r>
            <a:r>
              <a:rPr lang="vi-VN"/>
              <a:t>Thêm dữ liệu</a:t>
            </a:r>
            <a:r>
              <a:rPr lang="en-US"/>
              <a:t>	</a:t>
            </a:r>
            <a:r>
              <a:rPr lang="vi-VN" sz="1200" kern="1200">
                <a:solidFill>
                  <a:schemeClr val="tx1"/>
                </a:solidFill>
                <a:latin typeface="+mn-lt"/>
                <a:ea typeface="+mn-ea"/>
                <a:cs typeface="+mn-cs"/>
              </a:rPr>
              <a:t>INSERT INTO users(name, age) VALUES('Nam', 22);</a:t>
            </a:r>
            <a:endParaRPr lang="en-US" sz="1200" kern="1200">
              <a:solidFill>
                <a:schemeClr val="tx1"/>
              </a:solidFill>
              <a:latin typeface="+mn-lt"/>
              <a:ea typeface="+mn-ea"/>
              <a:cs typeface="+mn-cs"/>
            </a:endParaRPr>
          </a:p>
          <a:p>
            <a:r>
              <a:rPr lang="vi-VN" b="1"/>
              <a:t>UPDATE</a:t>
            </a:r>
            <a:r>
              <a:rPr lang="en-US" b="1"/>
              <a:t>		</a:t>
            </a:r>
            <a:r>
              <a:rPr lang="vi-VN"/>
              <a:t>Sửa dữ liệu</a:t>
            </a:r>
            <a:r>
              <a:rPr lang="en-US"/>
              <a:t>	</a:t>
            </a:r>
            <a:r>
              <a:rPr lang="vi-VN" sz="1200" kern="1200">
                <a:solidFill>
                  <a:schemeClr val="tx1"/>
                </a:solidFill>
                <a:latin typeface="+mn-lt"/>
                <a:ea typeface="+mn-ea"/>
                <a:cs typeface="+mn-cs"/>
              </a:rPr>
              <a:t>UPDATE users SET age = 23 WHERE id = 1;</a:t>
            </a:r>
            <a:endParaRPr lang="en-US" sz="1200" kern="1200">
              <a:solidFill>
                <a:schemeClr val="tx1"/>
              </a:solidFill>
              <a:latin typeface="+mn-lt"/>
              <a:ea typeface="+mn-ea"/>
              <a:cs typeface="+mn-cs"/>
            </a:endParaRPr>
          </a:p>
          <a:p>
            <a:r>
              <a:rPr lang="vi-VN" b="1"/>
              <a:t>DELETE</a:t>
            </a:r>
            <a:r>
              <a:rPr lang="en-US" b="1"/>
              <a:t>		</a:t>
            </a:r>
            <a:r>
              <a:rPr lang="vi-VN"/>
              <a:t>Xóa dữ liệu</a:t>
            </a:r>
            <a:r>
              <a:rPr lang="en-US"/>
              <a:t>	</a:t>
            </a:r>
            <a:r>
              <a:rPr lang="vi-VN" sz="1200" kern="1200">
                <a:solidFill>
                  <a:schemeClr val="tx1"/>
                </a:solidFill>
                <a:latin typeface="+mn-lt"/>
                <a:ea typeface="+mn-ea"/>
                <a:cs typeface="+mn-cs"/>
              </a:rPr>
              <a:t>DELETE FROM users WHERE id = 1;</a:t>
            </a:r>
            <a:endParaRPr lang="vi-VN"/>
          </a:p>
          <a:p>
            <a:r>
              <a:rPr lang="en-US" b="1"/>
              <a:t>🧰 </a:t>
            </a:r>
            <a:r>
              <a:rPr lang="vi-VN" b="1"/>
              <a:t>Tóm lại:</a:t>
            </a:r>
          </a:p>
          <a:p>
            <a:r>
              <a:rPr lang="vi-VN"/>
              <a:t>Thuật ngữ</a:t>
            </a:r>
            <a:r>
              <a:rPr lang="en-US"/>
              <a:t>		</a:t>
            </a:r>
            <a:r>
              <a:rPr lang="vi-VN"/>
              <a:t>Nghĩa đơn giản</a:t>
            </a:r>
            <a:endParaRPr lang="en-US"/>
          </a:p>
          <a:p>
            <a:r>
              <a:rPr lang="vi-VN" b="1"/>
              <a:t>Query</a:t>
            </a:r>
            <a:r>
              <a:rPr lang="en-US" b="1"/>
              <a:t>		</a:t>
            </a:r>
            <a:r>
              <a:rPr lang="vi-VN"/>
              <a:t>Câu truy vấn dữ liệu</a:t>
            </a:r>
            <a:endParaRPr lang="en-US"/>
          </a:p>
          <a:p>
            <a:r>
              <a:rPr lang="vi-VN" b="1"/>
              <a:t>Execute query</a:t>
            </a:r>
            <a:r>
              <a:rPr lang="en-US" b="1"/>
              <a:t>	</a:t>
            </a:r>
            <a:r>
              <a:rPr lang="vi-VN"/>
              <a:t>Thực thi truy vấn trên database</a:t>
            </a:r>
            <a:endParaRPr lang="en-US"/>
          </a:p>
          <a:p>
            <a:r>
              <a:rPr lang="vi-VN" b="1"/>
              <a:t>Query builder</a:t>
            </a:r>
            <a:r>
              <a:rPr lang="en-US" b="1"/>
              <a:t>		</a:t>
            </a:r>
            <a:r>
              <a:rPr lang="vi-VN"/>
              <a:t>Công cụ tạo query bằng code thay vì viết SQL trực tiếp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a:t>
            </a:r>
          </a:p>
          <a:p>
            <a:r>
              <a:rPr lang="en-US" b="1"/>
              <a:t>🧩 1️⃣ </a:t>
            </a:r>
            <a:r>
              <a:rPr lang="vi-VN" b="1"/>
              <a:t>Hàm </a:t>
            </a:r>
            <a:r>
              <a:rPr lang="vi-VN" sz="1200" b="1" kern="1200">
                <a:solidFill>
                  <a:schemeClr val="tx1"/>
                </a:solidFill>
                <a:latin typeface="+mn-lt"/>
                <a:ea typeface="+mn-ea"/>
                <a:cs typeface="+mn-cs"/>
              </a:rPr>
              <a:t>_loadData()</a:t>
            </a:r>
            <a:endParaRPr lang="vi-VN" b="1"/>
          </a:p>
          <a:p>
            <a:pPr rtl="0"/>
            <a:r>
              <a:rPr lang="vi-VN" sz="1200" kern="1200">
                <a:solidFill>
                  <a:schemeClr val="tx1"/>
                </a:solidFill>
                <a:latin typeface="+mn-lt"/>
                <a:ea typeface="+mn-ea"/>
                <a:cs typeface="+mn-cs"/>
              </a:rPr>
              <a:t>Future&lt;void&gt; _loadData() async {</a:t>
            </a:r>
          </a:p>
          <a:p>
            <a:pPr rtl="0"/>
            <a:r>
              <a:rPr lang="vi-VN" sz="1200" kern="1200">
                <a:solidFill>
                  <a:schemeClr val="tx1"/>
                </a:solidFill>
                <a:latin typeface="+mn-lt"/>
                <a:ea typeface="+mn-ea"/>
                <a:cs typeface="+mn-cs"/>
              </a:rPr>
              <a:t>  final cats = await DBHelper.getAllCategories();</a:t>
            </a:r>
          </a:p>
          <a:p>
            <a:pPr rtl="0"/>
            <a:r>
              <a:rPr lang="vi-VN" sz="1200" kern="1200">
                <a:solidFill>
                  <a:schemeClr val="tx1"/>
                </a:solidFill>
                <a:latin typeface="+mn-lt"/>
                <a:ea typeface="+mn-ea"/>
                <a:cs typeface="+mn-cs"/>
              </a:rPr>
              <a:t>  final products = await DBHelper.getProductsWithCategory();</a:t>
            </a:r>
          </a:p>
          <a:p>
            <a:pPr rtl="0"/>
            <a:r>
              <a:rPr lang="vi-VN" sz="1200" kern="1200">
                <a:solidFill>
                  <a:schemeClr val="tx1"/>
                </a:solidFill>
                <a:latin typeface="+mn-lt"/>
                <a:ea typeface="+mn-ea"/>
                <a:cs typeface="+mn-cs"/>
              </a:rPr>
              <a:t>  setState(() {</a:t>
            </a:r>
          </a:p>
          <a:p>
            <a:pPr rtl="0"/>
            <a:r>
              <a:rPr lang="vi-VN" sz="1200" kern="1200">
                <a:solidFill>
                  <a:schemeClr val="tx1"/>
                </a:solidFill>
                <a:latin typeface="+mn-lt"/>
                <a:ea typeface="+mn-ea"/>
                <a:cs typeface="+mn-cs"/>
              </a:rPr>
              <a:t>    allCategories = cats;</a:t>
            </a:r>
          </a:p>
          <a:p>
            <a:pPr rtl="0"/>
            <a:r>
              <a:rPr lang="vi-VN" sz="1200" kern="1200">
                <a:solidFill>
                  <a:schemeClr val="tx1"/>
                </a:solidFill>
                <a:latin typeface="+mn-lt"/>
                <a:ea typeface="+mn-ea"/>
                <a:cs typeface="+mn-cs"/>
              </a:rPr>
              <a:t>    displayedProducts = products;</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a:t>
            </a:r>
          </a:p>
          <a:p>
            <a:br>
              <a:rPr lang="vi-VN"/>
            </a:br>
            <a:endParaRPr lang="vi-VN"/>
          </a:p>
          <a:p>
            <a:r>
              <a:rPr lang="en-US" b="1"/>
              <a:t>✅ </a:t>
            </a:r>
            <a:r>
              <a:rPr lang="vi-VN" b="1"/>
              <a:t>Mục đích</a:t>
            </a:r>
          </a:p>
          <a:p>
            <a:r>
              <a:rPr lang="vi-VN"/>
              <a:t>Hàm này dùng để </a:t>
            </a:r>
            <a:r>
              <a:rPr lang="vi-VN" b="1"/>
              <a:t>lấy toàn bộ dữ liệu danh mục (categories)</a:t>
            </a:r>
            <a:r>
              <a:rPr lang="vi-VN"/>
              <a:t> và </a:t>
            </a:r>
            <a:r>
              <a:rPr lang="vi-VN" b="1"/>
              <a:t>sản phẩm (products)</a:t>
            </a:r>
            <a:r>
              <a:rPr lang="vi-VN"/>
              <a:t> từ database SQLite,</a:t>
            </a:r>
            <a:br>
              <a:rPr lang="vi-VN"/>
            </a:br>
            <a:r>
              <a:rPr lang="vi-VN"/>
              <a:t>sau đó </a:t>
            </a:r>
            <a:r>
              <a:rPr lang="vi-VN" b="1"/>
              <a:t>lưu vào biến trong State</a:t>
            </a:r>
            <a:r>
              <a:rPr lang="vi-VN"/>
              <a:t> để hiển thị ra giao diện.</a:t>
            </a:r>
          </a:p>
          <a:p>
            <a:br>
              <a:rPr lang="vi-VN"/>
            </a:br>
            <a:endParaRPr lang="vi-VN"/>
          </a:p>
          <a:p>
            <a:r>
              <a:rPr lang="en-US" b="1"/>
              <a:t>🧠 </a:t>
            </a:r>
            <a:r>
              <a:rPr lang="vi-VN" b="1"/>
              <a:t>Giải thích từng dòng</a:t>
            </a:r>
          </a:p>
          <a:p>
            <a:r>
              <a:rPr lang="vi-VN"/>
              <a:t>Dòng</a:t>
            </a:r>
            <a:r>
              <a:rPr lang="en-US"/>
              <a:t>							</a:t>
            </a:r>
            <a:r>
              <a:rPr lang="vi-VN"/>
              <a:t>Giải thích</a:t>
            </a:r>
            <a:endParaRPr lang="en-US"/>
          </a:p>
          <a:p>
            <a:r>
              <a:rPr lang="vi-VN" sz="1200" kern="1200">
                <a:solidFill>
                  <a:schemeClr val="tx1"/>
                </a:solidFill>
                <a:latin typeface="+mn-lt"/>
                <a:ea typeface="+mn-ea"/>
                <a:cs typeface="+mn-cs"/>
              </a:rPr>
              <a:t>Future&lt;void&gt; _loadData() async {</a:t>
            </a:r>
            <a:r>
              <a:rPr lang="en-US" sz="1200" kern="1200">
                <a:solidFill>
                  <a:schemeClr val="tx1"/>
                </a:solidFill>
                <a:latin typeface="+mn-lt"/>
                <a:ea typeface="+mn-ea"/>
                <a:cs typeface="+mn-cs"/>
              </a:rPr>
              <a:t>			</a:t>
            </a:r>
            <a:r>
              <a:rPr lang="vi-VN"/>
              <a:t>Định nghĩa một hàm bất đồng bộ (asynchronous function) — vì việc đọc database mất thời gian. </a:t>
            </a:r>
            <a:r>
              <a:rPr lang="en-US"/>
              <a:t>					</a:t>
            </a:r>
            <a:r>
              <a:rPr lang="vi-VN" sz="1200" kern="1200">
                <a:solidFill>
                  <a:schemeClr val="tx1"/>
                </a:solidFill>
                <a:latin typeface="+mn-lt"/>
                <a:ea typeface="+mn-ea"/>
                <a:cs typeface="+mn-cs"/>
              </a:rPr>
              <a:t>Future&lt;void&gt;</a:t>
            </a:r>
            <a:r>
              <a:rPr lang="vi-VN"/>
              <a:t> nghĩa là hàm này chạy xong </a:t>
            </a:r>
            <a:r>
              <a:rPr lang="vi-VN" b="1"/>
              <a:t>không trả giá trị</a:t>
            </a:r>
            <a:r>
              <a:rPr lang="vi-VN"/>
              <a:t>, chỉ thực hiện hành động.</a:t>
            </a:r>
            <a:endParaRPr lang="en-US"/>
          </a:p>
          <a:p>
            <a:r>
              <a:rPr lang="en-US" sz="1200" kern="1200">
                <a:solidFill>
                  <a:schemeClr val="tx1"/>
                </a:solidFill>
                <a:latin typeface="+mn-lt"/>
                <a:ea typeface="+mn-ea"/>
                <a:cs typeface="+mn-cs"/>
              </a:rPr>
              <a:t> </a:t>
            </a:r>
            <a:r>
              <a:rPr lang="vi-VN" sz="1200" kern="1200">
                <a:solidFill>
                  <a:schemeClr val="tx1"/>
                </a:solidFill>
                <a:latin typeface="+mn-lt"/>
                <a:ea typeface="+mn-ea"/>
                <a:cs typeface="+mn-cs"/>
              </a:rPr>
              <a:t>final cats = await DBHelper.getAllCategories();</a:t>
            </a:r>
            <a:r>
              <a:rPr lang="en-US" sz="1200" kern="1200">
                <a:solidFill>
                  <a:schemeClr val="tx1"/>
                </a:solidFill>
                <a:latin typeface="+mn-lt"/>
                <a:ea typeface="+mn-ea"/>
                <a:cs typeface="+mn-cs"/>
              </a:rPr>
              <a:t>		</a:t>
            </a:r>
            <a:r>
              <a:rPr lang="vi-VN"/>
              <a:t>Gọi đến hàm </a:t>
            </a:r>
            <a:r>
              <a:rPr lang="vi-VN" sz="1200" kern="1200">
                <a:solidFill>
                  <a:schemeClr val="tx1"/>
                </a:solidFill>
                <a:latin typeface="+mn-lt"/>
                <a:ea typeface="+mn-ea"/>
                <a:cs typeface="+mn-cs"/>
              </a:rPr>
              <a:t>DBHelper.getAllCategories()</a:t>
            </a:r>
            <a:r>
              <a:rPr lang="vi-VN"/>
              <a:t> để lấy </a:t>
            </a:r>
            <a:r>
              <a:rPr lang="vi-VN" b="1"/>
              <a:t>danh sách các danh mục</a:t>
            </a:r>
            <a:r>
              <a:rPr lang="vi-VN"/>
              <a:t> từ bảng </a:t>
            </a:r>
            <a:r>
              <a:rPr lang="vi-VN" sz="1200" kern="1200">
                <a:solidFill>
                  <a:schemeClr val="tx1"/>
                </a:solidFill>
                <a:latin typeface="+mn-lt"/>
                <a:ea typeface="+mn-ea"/>
                <a:cs typeface="+mn-cs"/>
              </a:rPr>
              <a:t>categories</a:t>
            </a:r>
            <a:r>
              <a:rPr lang="vi-VN"/>
              <a:t>. </a:t>
            </a:r>
            <a:br>
              <a:rPr lang="vi-VN"/>
            </a:br>
            <a:r>
              <a:rPr lang="en-US"/>
              <a:t>					</a:t>
            </a:r>
            <a:r>
              <a:rPr lang="vi-VN"/>
              <a:t>– </a:t>
            </a:r>
            <a:r>
              <a:rPr lang="vi-VN" sz="1200" kern="1200">
                <a:solidFill>
                  <a:schemeClr val="tx1"/>
                </a:solidFill>
                <a:latin typeface="+mn-lt"/>
                <a:ea typeface="+mn-ea"/>
                <a:cs typeface="+mn-cs"/>
              </a:rPr>
              <a:t>await</a:t>
            </a:r>
            <a:r>
              <a:rPr lang="vi-VN"/>
              <a:t> giúp </a:t>
            </a:r>
            <a:r>
              <a:rPr lang="vi-VN" b="1"/>
              <a:t>chờ dữ liệu được lấy xong</a:t>
            </a:r>
            <a:r>
              <a:rPr lang="vi-VN"/>
              <a:t> trước khi chạy dòng tiếp theo. </a:t>
            </a:r>
            <a:br>
              <a:rPr lang="vi-VN"/>
            </a:br>
            <a:r>
              <a:rPr lang="en-US"/>
              <a:t>					</a:t>
            </a:r>
            <a:r>
              <a:rPr lang="vi-VN"/>
              <a:t>– Kết quả là </a:t>
            </a:r>
            <a:r>
              <a:rPr lang="vi-VN" sz="1200" kern="1200">
                <a:solidFill>
                  <a:schemeClr val="tx1"/>
                </a:solidFill>
                <a:latin typeface="+mn-lt"/>
                <a:ea typeface="+mn-ea"/>
                <a:cs typeface="+mn-cs"/>
              </a:rPr>
              <a:t>List&lt;Category&gt;</a:t>
            </a:r>
            <a:r>
              <a:rPr lang="vi-VN"/>
              <a:t> gán vào </a:t>
            </a:r>
            <a:r>
              <a:rPr lang="vi-VN" sz="1200" kern="1200">
                <a:solidFill>
                  <a:schemeClr val="tx1"/>
                </a:solidFill>
                <a:latin typeface="+mn-lt"/>
                <a:ea typeface="+mn-ea"/>
                <a:cs typeface="+mn-cs"/>
              </a:rPr>
              <a:t>cats</a:t>
            </a:r>
            <a:r>
              <a:rPr lang="vi-VN"/>
              <a:t>.</a:t>
            </a:r>
            <a:endParaRPr lang="en-US"/>
          </a:p>
          <a:p>
            <a:r>
              <a:rPr lang="vi-VN" sz="1200" kern="1200">
                <a:solidFill>
                  <a:schemeClr val="tx1"/>
                </a:solidFill>
                <a:latin typeface="+mn-lt"/>
                <a:ea typeface="+mn-ea"/>
                <a:cs typeface="+mn-cs"/>
              </a:rPr>
              <a:t>final products = await DBHelper.getProductsWithCategory()</a:t>
            </a:r>
            <a:r>
              <a:rPr lang="en-US" sz="1200" kern="1200">
                <a:solidFill>
                  <a:schemeClr val="tx1"/>
                </a:solidFill>
                <a:latin typeface="+mn-lt"/>
                <a:ea typeface="+mn-ea"/>
                <a:cs typeface="+mn-cs"/>
              </a:rPr>
              <a:t>	</a:t>
            </a:r>
            <a:r>
              <a:rPr lang="vi-VN" sz="1200" kern="1200">
                <a:solidFill>
                  <a:schemeClr val="tx1"/>
                </a:solidFill>
                <a:latin typeface="+mn-lt"/>
                <a:ea typeface="+mn-ea"/>
                <a:cs typeface="+mn-cs"/>
              </a:rPr>
              <a:t>;</a:t>
            </a:r>
            <a:r>
              <a:rPr lang="vi-VN"/>
              <a:t>Gọi hàm </a:t>
            </a:r>
            <a:r>
              <a:rPr lang="vi-VN" sz="1200" kern="1200">
                <a:solidFill>
                  <a:schemeClr val="tx1"/>
                </a:solidFill>
                <a:latin typeface="+mn-lt"/>
                <a:ea typeface="+mn-ea"/>
                <a:cs typeface="+mn-cs"/>
              </a:rPr>
              <a:t>getProductsWithCategory()</a:t>
            </a:r>
            <a:r>
              <a:rPr lang="vi-VN"/>
              <a:t> (JOIN hai bảng) để lấy danh sách sản phẩm kèm tên danh </a:t>
            </a:r>
            <a:r>
              <a:rPr lang="en-US"/>
              <a:t>					</a:t>
            </a:r>
            <a:r>
              <a:rPr lang="vi-VN"/>
              <a:t>mục. </a:t>
            </a:r>
            <a:br>
              <a:rPr lang="vi-VN"/>
            </a:br>
            <a:r>
              <a:rPr lang="en-US"/>
              <a:t>					</a:t>
            </a:r>
            <a:r>
              <a:rPr lang="vi-VN"/>
              <a:t>Kết quả là </a:t>
            </a:r>
            <a:r>
              <a:rPr lang="vi-VN" sz="1200" kern="1200">
                <a:solidFill>
                  <a:schemeClr val="tx1"/>
                </a:solidFill>
                <a:latin typeface="+mn-lt"/>
                <a:ea typeface="+mn-ea"/>
                <a:cs typeface="+mn-cs"/>
              </a:rPr>
              <a:t>List&lt;Map&lt;String, dynamic&gt;&gt;</a:t>
            </a:r>
            <a:r>
              <a:rPr lang="vi-VN"/>
              <a:t>, gán vào </a:t>
            </a:r>
            <a:r>
              <a:rPr lang="vi-VN" sz="1200" kern="1200">
                <a:solidFill>
                  <a:schemeClr val="tx1"/>
                </a:solidFill>
                <a:latin typeface="+mn-lt"/>
                <a:ea typeface="+mn-ea"/>
                <a:cs typeface="+mn-cs"/>
              </a:rPr>
              <a:t>products</a:t>
            </a:r>
            <a:r>
              <a:rPr lang="vi-VN"/>
              <a:t>.</a:t>
            </a:r>
            <a:endParaRPr lang="en-US"/>
          </a:p>
          <a:p>
            <a:r>
              <a:rPr lang="vi-VN" sz="1200" kern="1200">
                <a:solidFill>
                  <a:schemeClr val="tx1"/>
                </a:solidFill>
                <a:latin typeface="+mn-lt"/>
                <a:ea typeface="+mn-ea"/>
                <a:cs typeface="+mn-cs"/>
              </a:rPr>
              <a:t>setState(() { ... });</a:t>
            </a:r>
            <a:r>
              <a:rPr lang="en-US" sz="1200" kern="1200">
                <a:solidFill>
                  <a:schemeClr val="tx1"/>
                </a:solidFill>
                <a:latin typeface="+mn-lt"/>
                <a:ea typeface="+mn-ea"/>
                <a:cs typeface="+mn-cs"/>
              </a:rPr>
              <a:t>				</a:t>
            </a:r>
            <a:r>
              <a:rPr lang="vi-VN"/>
              <a:t>Gọi hàm này để </a:t>
            </a:r>
            <a:r>
              <a:rPr lang="vi-VN" b="1"/>
              <a:t>báo cho Flutter biết rằng dữ liệu trong State đã thay đổi</a:t>
            </a:r>
            <a:r>
              <a:rPr lang="vi-VN"/>
              <a:t>, và yêu cầu giao diện </a:t>
            </a:r>
            <a:r>
              <a:rPr lang="en-US"/>
              <a:t>					</a:t>
            </a:r>
            <a:r>
              <a:rPr lang="vi-VN"/>
              <a:t>(UI) </a:t>
            </a:r>
            <a:r>
              <a:rPr lang="vi-VN" b="1"/>
              <a:t>render lại</a:t>
            </a:r>
            <a:r>
              <a:rPr lang="vi-VN"/>
              <a:t> với dữ liệu mới.</a:t>
            </a:r>
            <a:endParaRPr lang="en-US"/>
          </a:p>
          <a:p>
            <a:r>
              <a:rPr lang="vi-VN" sz="1200" kern="1200">
                <a:solidFill>
                  <a:schemeClr val="tx1"/>
                </a:solidFill>
                <a:latin typeface="+mn-lt"/>
                <a:ea typeface="+mn-ea"/>
                <a:cs typeface="+mn-cs"/>
              </a:rPr>
              <a:t>allCategories = cats;</a:t>
            </a:r>
            <a:r>
              <a:rPr lang="en-US" sz="1200" kern="1200">
                <a:solidFill>
                  <a:schemeClr val="tx1"/>
                </a:solidFill>
                <a:latin typeface="+mn-lt"/>
                <a:ea typeface="+mn-ea"/>
                <a:cs typeface="+mn-cs"/>
              </a:rPr>
              <a:t>				</a:t>
            </a:r>
            <a:r>
              <a:rPr lang="vi-VN"/>
              <a:t>Cập nhật biến </a:t>
            </a:r>
            <a:r>
              <a:rPr lang="vi-VN" sz="1200" kern="1200">
                <a:solidFill>
                  <a:schemeClr val="tx1"/>
                </a:solidFill>
                <a:latin typeface="+mn-lt"/>
                <a:ea typeface="+mn-ea"/>
                <a:cs typeface="+mn-cs"/>
              </a:rPr>
              <a:t>allCategories</a:t>
            </a:r>
            <a:r>
              <a:rPr lang="vi-VN"/>
              <a:t> (được khai báo trong State) để chứa toàn bộ danh mục vừa tải về.</a:t>
            </a:r>
            <a:endParaRPr lang="en-US"/>
          </a:p>
          <a:p>
            <a:r>
              <a:rPr lang="vi-VN" sz="1200" kern="1200">
                <a:solidFill>
                  <a:schemeClr val="tx1"/>
                </a:solidFill>
                <a:latin typeface="+mn-lt"/>
                <a:ea typeface="+mn-ea"/>
                <a:cs typeface="+mn-cs"/>
              </a:rPr>
              <a:t>displayedProducts = products;</a:t>
            </a:r>
            <a:r>
              <a:rPr lang="en-US" sz="1200" kern="1200">
                <a:solidFill>
                  <a:schemeClr val="tx1"/>
                </a:solidFill>
                <a:latin typeface="+mn-lt"/>
                <a:ea typeface="+mn-ea"/>
                <a:cs typeface="+mn-cs"/>
              </a:rPr>
              <a:t>			</a:t>
            </a:r>
            <a:r>
              <a:rPr lang="vi-VN"/>
              <a:t>Gán danh sách sản phẩm (có cả category name) vào biến hiển thị </a:t>
            </a:r>
            <a:r>
              <a:rPr lang="vi-VN" sz="1200" kern="1200">
                <a:solidFill>
                  <a:schemeClr val="tx1"/>
                </a:solidFill>
                <a:latin typeface="+mn-lt"/>
                <a:ea typeface="+mn-ea"/>
                <a:cs typeface="+mn-cs"/>
              </a:rPr>
              <a:t>displayedProducts</a:t>
            </a:r>
            <a:r>
              <a:rPr lang="vi-VN"/>
              <a:t>, để ListView </a:t>
            </a:r>
            <a:r>
              <a:rPr lang="en-US"/>
              <a:t>					</a:t>
            </a:r>
            <a:r>
              <a:rPr lang="vi-VN"/>
              <a:t>trong UI sử dụng.</a:t>
            </a:r>
          </a:p>
          <a:p>
            <a:br>
              <a:rPr lang="vi-VN"/>
            </a:br>
            <a:endParaRPr lang="vi-VN"/>
          </a:p>
          <a:p>
            <a:r>
              <a:rPr lang="en-US" b="1"/>
              <a:t>📊 </a:t>
            </a:r>
            <a:r>
              <a:rPr lang="vi-VN" b="1"/>
              <a:t>Tóm tắt:</a:t>
            </a:r>
          </a:p>
          <a:p>
            <a:r>
              <a:rPr lang="vi-VN" b="1"/>
              <a:t>Lấy dữ liệu gốc từ DB</a:t>
            </a:r>
            <a:endParaRPr lang="vi-VN"/>
          </a:p>
          <a:p>
            <a:r>
              <a:rPr lang="vi-VN" b="1"/>
              <a:t>Lưu vào biến State</a:t>
            </a:r>
            <a:endParaRPr lang="vi-VN"/>
          </a:p>
          <a:p>
            <a:r>
              <a:rPr lang="vi-VN" b="1"/>
              <a:t>Gọi </a:t>
            </a:r>
            <a:r>
              <a:rPr lang="vi-VN" sz="1200" b="1" kern="1200">
                <a:solidFill>
                  <a:schemeClr val="tx1"/>
                </a:solidFill>
                <a:latin typeface="+mn-lt"/>
                <a:ea typeface="+mn-ea"/>
                <a:cs typeface="+mn-cs"/>
              </a:rPr>
              <a:t>setState()</a:t>
            </a:r>
            <a:r>
              <a:rPr lang="vi-VN" b="1"/>
              <a:t> để cập nhật UI</a:t>
            </a:r>
            <a:endParaRPr lang="vi-VN"/>
          </a:p>
          <a:p>
            <a:br>
              <a:rPr lang="vi-VN"/>
            </a:br>
            <a:endParaRPr lang="vi-VN"/>
          </a:p>
          <a:p>
            <a:r>
              <a:rPr lang="en-US" b="1"/>
              <a:t>🧩 2️⃣ </a:t>
            </a:r>
            <a:r>
              <a:rPr lang="vi-VN" b="1"/>
              <a:t>Hàm </a:t>
            </a:r>
            <a:r>
              <a:rPr lang="vi-VN" sz="1200" b="1" kern="1200">
                <a:solidFill>
                  <a:schemeClr val="tx1"/>
                </a:solidFill>
                <a:latin typeface="+mn-lt"/>
                <a:ea typeface="+mn-ea"/>
                <a:cs typeface="+mn-cs"/>
              </a:rPr>
              <a:t>_applyFilters()</a:t>
            </a:r>
            <a:endParaRPr lang="vi-VN" b="1"/>
          </a:p>
          <a:p>
            <a:pPr rtl="0"/>
            <a:r>
              <a:rPr lang="vi-VN" sz="1200" kern="1200">
                <a:solidFill>
                  <a:schemeClr val="tx1"/>
                </a:solidFill>
                <a:latin typeface="+mn-lt"/>
                <a:ea typeface="+mn-ea"/>
                <a:cs typeface="+mn-cs"/>
              </a:rPr>
              <a:t>void _applyFilters() async {</a:t>
            </a:r>
          </a:p>
          <a:p>
            <a:pPr rtl="0"/>
            <a:r>
              <a:rPr lang="vi-VN" sz="1200" kern="1200">
                <a:solidFill>
                  <a:schemeClr val="tx1"/>
                </a:solidFill>
                <a:latin typeface="+mn-lt"/>
                <a:ea typeface="+mn-ea"/>
                <a:cs typeface="+mn-cs"/>
              </a:rPr>
              <a:t>  final dbData = await DBHelper.getProductsWithCategory();</a:t>
            </a:r>
          </a:p>
          <a:p>
            <a:pPr rtl="0"/>
            <a:r>
              <a:rPr lang="vi-VN" sz="1200" kern="1200">
                <a:solidFill>
                  <a:schemeClr val="tx1"/>
                </a:solidFill>
                <a:latin typeface="+mn-lt"/>
                <a:ea typeface="+mn-ea"/>
                <a:cs typeface="+mn-cs"/>
              </a:rPr>
              <a:t>  setState(() {</a:t>
            </a:r>
          </a:p>
          <a:p>
            <a:pPr rtl="0"/>
            <a:r>
              <a:rPr lang="vi-VN" sz="1200" kern="1200">
                <a:solidFill>
                  <a:schemeClr val="tx1"/>
                </a:solidFill>
                <a:latin typeface="+mn-lt"/>
                <a:ea typeface="+mn-ea"/>
                <a:cs typeface="+mn-cs"/>
              </a:rPr>
              <a:t>    displayedProducts = dbData.where((p) {</a:t>
            </a:r>
          </a:p>
          <a:p>
            <a:pPr rtl="0"/>
            <a:r>
              <a:rPr lang="vi-VN" sz="1200" kern="1200">
                <a:solidFill>
                  <a:schemeClr val="tx1"/>
                </a:solidFill>
                <a:latin typeface="+mn-lt"/>
                <a:ea typeface="+mn-ea"/>
                <a:cs typeface="+mn-cs"/>
              </a:rPr>
              <a:t>      final matchCategory =</a:t>
            </a:r>
          </a:p>
          <a:p>
            <a:pPr rtl="0"/>
            <a:r>
              <a:rPr lang="vi-VN" sz="1200" kern="1200">
                <a:solidFill>
                  <a:schemeClr val="tx1"/>
                </a:solidFill>
                <a:latin typeface="+mn-lt"/>
                <a:ea typeface="+mn-ea"/>
                <a:cs typeface="+mn-cs"/>
              </a:rPr>
              <a:t>          (filterCategory == 0 || p['category_id'] == filterCategory);</a:t>
            </a:r>
          </a:p>
          <a:p>
            <a:pPr rtl="0"/>
            <a:r>
              <a:rPr lang="vi-VN" sz="1200" kern="1200">
                <a:solidFill>
                  <a:schemeClr val="tx1"/>
                </a:solidFill>
                <a:latin typeface="+mn-lt"/>
                <a:ea typeface="+mn-ea"/>
                <a:cs typeface="+mn-cs"/>
              </a:rPr>
              <a:t>      final matchSearch = p['name']</a:t>
            </a:r>
          </a:p>
          <a:p>
            <a:pPr rtl="0"/>
            <a:r>
              <a:rPr lang="vi-VN" sz="1200" kern="1200">
                <a:solidFill>
                  <a:schemeClr val="tx1"/>
                </a:solidFill>
                <a:latin typeface="+mn-lt"/>
                <a:ea typeface="+mn-ea"/>
                <a:cs typeface="+mn-cs"/>
              </a:rPr>
              <a:t>          .toString()</a:t>
            </a:r>
          </a:p>
          <a:p>
            <a:pPr rtl="0"/>
            <a:r>
              <a:rPr lang="vi-VN" sz="1200" kern="1200">
                <a:solidFill>
                  <a:schemeClr val="tx1"/>
                </a:solidFill>
                <a:latin typeface="+mn-lt"/>
                <a:ea typeface="+mn-ea"/>
                <a:cs typeface="+mn-cs"/>
              </a:rPr>
              <a:t>          .toLowerCase()</a:t>
            </a:r>
          </a:p>
          <a:p>
            <a:pPr rtl="0"/>
            <a:r>
              <a:rPr lang="vi-VN" sz="1200" kern="1200">
                <a:solidFill>
                  <a:schemeClr val="tx1"/>
                </a:solidFill>
                <a:latin typeface="+mn-lt"/>
                <a:ea typeface="+mn-ea"/>
                <a:cs typeface="+mn-cs"/>
              </a:rPr>
              <a:t>          .contains(searchText.toLowerCase());</a:t>
            </a:r>
          </a:p>
          <a:p>
            <a:pPr rtl="0"/>
            <a:r>
              <a:rPr lang="vi-VN" sz="1200" kern="1200">
                <a:solidFill>
                  <a:schemeClr val="tx1"/>
                </a:solidFill>
                <a:latin typeface="+mn-lt"/>
                <a:ea typeface="+mn-ea"/>
                <a:cs typeface="+mn-cs"/>
              </a:rPr>
              <a:t>      return matchCategory &amp;&amp; matchSearch;</a:t>
            </a:r>
          </a:p>
          <a:p>
            <a:pPr rtl="0"/>
            <a:r>
              <a:rPr lang="vi-VN" sz="1200" kern="1200">
                <a:solidFill>
                  <a:schemeClr val="tx1"/>
                </a:solidFill>
                <a:latin typeface="+mn-lt"/>
                <a:ea typeface="+mn-ea"/>
                <a:cs typeface="+mn-cs"/>
              </a:rPr>
              <a:t>    }).toList();</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a:t>
            </a:r>
          </a:p>
          <a:p>
            <a:br>
              <a:rPr lang="vi-VN"/>
            </a:br>
            <a:endParaRPr lang="vi-VN"/>
          </a:p>
          <a:p>
            <a:r>
              <a:rPr lang="en-US" b="1"/>
              <a:t>✅ </a:t>
            </a:r>
            <a:r>
              <a:rPr lang="vi-VN" b="1"/>
              <a:t>Mục đích</a:t>
            </a:r>
          </a:p>
          <a:p>
            <a:r>
              <a:rPr lang="vi-VN"/>
              <a:t>Hàm này dùng để </a:t>
            </a:r>
            <a:r>
              <a:rPr lang="vi-VN" b="1"/>
              <a:t>lọc danh sách sản phẩm</a:t>
            </a:r>
            <a:r>
              <a:rPr lang="vi-VN"/>
              <a:t> theo:</a:t>
            </a:r>
          </a:p>
          <a:p>
            <a:r>
              <a:rPr lang="vi-VN" b="1"/>
              <a:t>Danh mục đang chọn (</a:t>
            </a:r>
            <a:r>
              <a:rPr lang="vi-VN" sz="1200" b="1" kern="1200">
                <a:solidFill>
                  <a:schemeClr val="tx1"/>
                </a:solidFill>
                <a:latin typeface="+mn-lt"/>
                <a:ea typeface="+mn-ea"/>
                <a:cs typeface="+mn-cs"/>
              </a:rPr>
              <a:t>filterCategory</a:t>
            </a:r>
            <a:r>
              <a:rPr lang="vi-VN" b="1"/>
              <a:t>)</a:t>
            </a:r>
            <a:r>
              <a:rPr lang="vi-VN"/>
              <a:t>, và</a:t>
            </a:r>
          </a:p>
          <a:p>
            <a:r>
              <a:rPr lang="vi-VN" b="1"/>
              <a:t>Từ khóa tìm kiếm (</a:t>
            </a:r>
            <a:r>
              <a:rPr lang="vi-VN" sz="1200" b="1" kern="1200">
                <a:solidFill>
                  <a:schemeClr val="tx1"/>
                </a:solidFill>
                <a:latin typeface="+mn-lt"/>
                <a:ea typeface="+mn-ea"/>
                <a:cs typeface="+mn-cs"/>
              </a:rPr>
              <a:t>searchText</a:t>
            </a:r>
            <a:r>
              <a:rPr lang="vi-VN" b="1"/>
              <a:t>)</a:t>
            </a:r>
            <a:r>
              <a:rPr lang="vi-VN"/>
              <a:t>.</a:t>
            </a:r>
          </a:p>
          <a:p>
            <a:r>
              <a:rPr lang="vi-VN"/>
              <a:t>Sau khi lọc xong, cập nhật lại </a:t>
            </a:r>
            <a:r>
              <a:rPr lang="vi-VN" sz="1200" kern="1200">
                <a:solidFill>
                  <a:schemeClr val="tx1"/>
                </a:solidFill>
                <a:latin typeface="+mn-lt"/>
                <a:ea typeface="+mn-ea"/>
                <a:cs typeface="+mn-cs"/>
              </a:rPr>
              <a:t>displayedProducts</a:t>
            </a:r>
            <a:r>
              <a:rPr lang="vi-VN"/>
              <a:t> để UI hiển thị danh sách phù hợp.</a:t>
            </a:r>
          </a:p>
          <a:p>
            <a:br>
              <a:rPr lang="vi-VN"/>
            </a:br>
            <a:endParaRPr lang="vi-VN"/>
          </a:p>
          <a:p>
            <a:r>
              <a:rPr lang="en-US" b="1"/>
              <a:t>🧠 </a:t>
            </a:r>
            <a:r>
              <a:rPr lang="vi-VN" b="1"/>
              <a:t>Giải thích từng dòng</a:t>
            </a:r>
          </a:p>
          <a:p>
            <a:r>
              <a:rPr lang="vi-VN"/>
              <a:t>Dòng</a:t>
            </a:r>
            <a:r>
              <a:rPr lang="en-US"/>
              <a:t>					</a:t>
            </a:r>
            <a:r>
              <a:rPr lang="vi-VN"/>
              <a:t>Giải thích</a:t>
            </a:r>
            <a:endParaRPr lang="en-US"/>
          </a:p>
          <a:p>
            <a:r>
              <a:rPr lang="vi-VN" sz="1200" kern="1200">
                <a:solidFill>
                  <a:schemeClr val="tx1"/>
                </a:solidFill>
                <a:latin typeface="+mn-lt"/>
                <a:ea typeface="+mn-ea"/>
                <a:cs typeface="+mn-cs"/>
              </a:rPr>
              <a:t>void _applyFilters() async {</a:t>
            </a:r>
            <a:r>
              <a:rPr lang="en-US" sz="1200" kern="1200">
                <a:solidFill>
                  <a:schemeClr val="tx1"/>
                </a:solidFill>
                <a:latin typeface="+mn-lt"/>
                <a:ea typeface="+mn-ea"/>
                <a:cs typeface="+mn-cs"/>
              </a:rPr>
              <a:t>				</a:t>
            </a:r>
            <a:r>
              <a:rPr lang="vi-VN"/>
              <a:t>Hàm bất đồng bộ (có thể chờ truy vấn DB), không trả giá trị.</a:t>
            </a:r>
            <a:endParaRPr lang="en-US"/>
          </a:p>
          <a:p>
            <a:r>
              <a:rPr lang="vi-VN" sz="1200" kern="1200">
                <a:solidFill>
                  <a:schemeClr val="tx1"/>
                </a:solidFill>
                <a:latin typeface="+mn-lt"/>
                <a:ea typeface="+mn-ea"/>
                <a:cs typeface="+mn-cs"/>
              </a:rPr>
              <a:t>final dbData = await DBHelper.getProductsWithCategory();</a:t>
            </a:r>
            <a:r>
              <a:rPr lang="en-US" sz="1200" kern="1200">
                <a:solidFill>
                  <a:schemeClr val="tx1"/>
                </a:solidFill>
                <a:latin typeface="+mn-lt"/>
                <a:ea typeface="+mn-ea"/>
                <a:cs typeface="+mn-cs"/>
              </a:rPr>
              <a:t>		</a:t>
            </a:r>
            <a:r>
              <a:rPr lang="vi-VN"/>
              <a:t>Gọi lại hàm JOIN ở DBHelper để lấy </a:t>
            </a:r>
            <a:r>
              <a:rPr lang="vi-VN" b="1"/>
              <a:t>toàn bộ dữ liệu mới nhất</a:t>
            </a:r>
            <a:r>
              <a:rPr lang="vi-VN"/>
              <a:t> (phòng trường hợp vừa thêm, sửa, </a:t>
            </a:r>
            <a:r>
              <a:rPr lang="en-US"/>
              <a:t>					</a:t>
            </a:r>
            <a:r>
              <a:rPr lang="vi-VN"/>
              <a:t>xóa).</a:t>
            </a:r>
            <a:endParaRPr lang="en-US"/>
          </a:p>
          <a:p>
            <a:r>
              <a:rPr lang="vi-VN" sz="1200" kern="1200">
                <a:solidFill>
                  <a:schemeClr val="tx1"/>
                </a:solidFill>
                <a:latin typeface="+mn-lt"/>
                <a:ea typeface="+mn-ea"/>
                <a:cs typeface="+mn-cs"/>
              </a:rPr>
              <a:t>setState(() { ... });</a:t>
            </a:r>
            <a:r>
              <a:rPr lang="en-US" sz="1200" kern="1200">
                <a:solidFill>
                  <a:schemeClr val="tx1"/>
                </a:solidFill>
                <a:latin typeface="+mn-lt"/>
                <a:ea typeface="+mn-ea"/>
                <a:cs typeface="+mn-cs"/>
              </a:rPr>
              <a:t>				</a:t>
            </a:r>
            <a:r>
              <a:rPr lang="vi-VN"/>
              <a:t>Cập nhật State để làm mới giao diện. Mọi thay đổi bên trong sẽ khiến UI vẽ lại danh sách sản phẩm.</a:t>
            </a:r>
            <a:endParaRPr lang="en-US"/>
          </a:p>
          <a:p>
            <a:r>
              <a:rPr lang="vi-VN" sz="1200" kern="1200">
                <a:solidFill>
                  <a:schemeClr val="tx1"/>
                </a:solidFill>
                <a:latin typeface="+mn-lt"/>
                <a:ea typeface="+mn-ea"/>
                <a:cs typeface="+mn-cs"/>
              </a:rPr>
              <a:t>displayedProducts = dbData.where((p) { ... }).toList();</a:t>
            </a:r>
            <a:r>
              <a:rPr lang="en-US" sz="1200" kern="1200">
                <a:solidFill>
                  <a:schemeClr val="tx1"/>
                </a:solidFill>
                <a:latin typeface="+mn-lt"/>
                <a:ea typeface="+mn-ea"/>
                <a:cs typeface="+mn-cs"/>
              </a:rPr>
              <a:t>		</a:t>
            </a:r>
            <a:r>
              <a:rPr lang="vi-VN"/>
              <a:t>Lọc (</a:t>
            </a:r>
            <a:r>
              <a:rPr lang="vi-VN" sz="1200" kern="1200">
                <a:solidFill>
                  <a:schemeClr val="tx1"/>
                </a:solidFill>
                <a:latin typeface="+mn-lt"/>
                <a:ea typeface="+mn-ea"/>
                <a:cs typeface="+mn-cs"/>
              </a:rPr>
              <a:t>where</a:t>
            </a:r>
            <a:r>
              <a:rPr lang="vi-VN"/>
              <a:t>) danh sách </a:t>
            </a:r>
            <a:r>
              <a:rPr lang="vi-VN" sz="1200" kern="1200">
                <a:solidFill>
                  <a:schemeClr val="tx1"/>
                </a:solidFill>
                <a:latin typeface="+mn-lt"/>
                <a:ea typeface="+mn-ea"/>
                <a:cs typeface="+mn-cs"/>
              </a:rPr>
              <a:t>dbData</a:t>
            </a:r>
            <a:r>
              <a:rPr lang="vi-VN"/>
              <a:t> theo điều kiện, sau đó chuyển kết quả về dạng </a:t>
            </a:r>
            <a:r>
              <a:rPr lang="vi-VN" sz="1200" kern="1200">
                <a:solidFill>
                  <a:schemeClr val="tx1"/>
                </a:solidFill>
                <a:latin typeface="+mn-lt"/>
                <a:ea typeface="+mn-ea"/>
                <a:cs typeface="+mn-cs"/>
              </a:rPr>
              <a:t>List</a:t>
            </a:r>
            <a:r>
              <a:rPr lang="vi-VN"/>
              <a:t>.</a:t>
            </a:r>
            <a:endParaRPr lang="en-US"/>
          </a:p>
          <a:p>
            <a:r>
              <a:rPr lang="vi-VN"/>
              <a:t>`final matchCategory = (filterCategory == 0</a:t>
            </a:r>
            <a:endParaRPr lang="en-US"/>
          </a:p>
          <a:p>
            <a:r>
              <a:rPr lang="vi-VN" sz="1200" kern="1200">
                <a:solidFill>
                  <a:schemeClr val="tx1"/>
                </a:solidFill>
                <a:latin typeface="+mn-lt"/>
                <a:ea typeface="+mn-ea"/>
                <a:cs typeface="+mn-cs"/>
              </a:rPr>
              <a:t>final matchSearch = p['name'].toString().toLowerCase().contains(searchText.toLowerCase());</a:t>
            </a:r>
            <a:r>
              <a:rPr lang="en-US" sz="1200" kern="1200">
                <a:solidFill>
                  <a:schemeClr val="tx1"/>
                </a:solidFill>
                <a:latin typeface="+mn-lt"/>
                <a:ea typeface="+mn-ea"/>
                <a:cs typeface="+mn-cs"/>
              </a:rPr>
              <a:t>	</a:t>
            </a:r>
            <a:r>
              <a:rPr lang="vi-VN"/>
              <a:t>Kiểm tra xem tên sản phẩm có chứa từ khóa người dùng gõ trong ô </a:t>
            </a:r>
            <a:r>
              <a:rPr lang="en-US"/>
              <a:t>							</a:t>
            </a:r>
            <a:r>
              <a:rPr lang="vi-VN"/>
              <a:t>tìm kiếm không. </a:t>
            </a:r>
            <a:br>
              <a:rPr lang="vi-VN"/>
            </a:br>
            <a:r>
              <a:rPr lang="en-US"/>
              <a:t>							</a:t>
            </a:r>
            <a:r>
              <a:rPr lang="vi-VN"/>
              <a:t>– </a:t>
            </a:r>
            <a:r>
              <a:rPr lang="vi-VN" sz="1200" kern="1200">
                <a:solidFill>
                  <a:schemeClr val="tx1"/>
                </a:solidFill>
                <a:latin typeface="+mn-lt"/>
                <a:ea typeface="+mn-ea"/>
                <a:cs typeface="+mn-cs"/>
              </a:rPr>
              <a:t>.toLowerCase()</a:t>
            </a:r>
            <a:r>
              <a:rPr lang="vi-VN"/>
              <a:t> giúp không phân biệt hoa thường. </a:t>
            </a:r>
            <a:br>
              <a:rPr lang="vi-VN"/>
            </a:br>
            <a:r>
              <a:rPr lang="en-US"/>
              <a:t>							</a:t>
            </a:r>
            <a:r>
              <a:rPr lang="vi-VN"/>
              <a:t>– Nếu </a:t>
            </a:r>
            <a:r>
              <a:rPr lang="vi-VN" sz="1200" kern="1200">
                <a:solidFill>
                  <a:schemeClr val="tx1"/>
                </a:solidFill>
                <a:latin typeface="+mn-lt"/>
                <a:ea typeface="+mn-ea"/>
                <a:cs typeface="+mn-cs"/>
              </a:rPr>
              <a:t>searchText</a:t>
            </a:r>
            <a:r>
              <a:rPr lang="vi-VN"/>
              <a:t> rỗng (</a:t>
            </a:r>
            <a:r>
              <a:rPr lang="vi-VN" sz="1200" kern="1200">
                <a:solidFill>
                  <a:schemeClr val="tx1"/>
                </a:solidFill>
                <a:latin typeface="+mn-lt"/>
                <a:ea typeface="+mn-ea"/>
                <a:cs typeface="+mn-cs"/>
              </a:rPr>
              <a:t>""</a:t>
            </a:r>
            <a:r>
              <a:rPr lang="vi-VN"/>
              <a:t>), </a:t>
            </a:r>
            <a:r>
              <a:rPr lang="vi-VN" sz="1200" kern="1200">
                <a:solidFill>
                  <a:schemeClr val="tx1"/>
                </a:solidFill>
                <a:latin typeface="+mn-lt"/>
                <a:ea typeface="+mn-ea"/>
                <a:cs typeface="+mn-cs"/>
              </a:rPr>
              <a:t>contains('')</a:t>
            </a:r>
            <a:r>
              <a:rPr lang="vi-VN"/>
              <a:t> sẽ </a:t>
            </a:r>
            <a:r>
              <a:rPr lang="vi-VN" b="1"/>
              <a:t>luôn trả về true</a:t>
            </a:r>
            <a:r>
              <a:rPr lang="vi-VN"/>
              <a:t>, tức là </a:t>
            </a:r>
            <a:r>
              <a:rPr lang="en-US"/>
              <a:t>							</a:t>
            </a:r>
            <a:r>
              <a:rPr lang="vi-VN"/>
              <a:t>hiển thị tất cả sản phẩm — hành vi này hoàn toàn hợp lý.</a:t>
            </a:r>
            <a:endParaRPr lang="en-US"/>
          </a:p>
          <a:p>
            <a:r>
              <a:rPr lang="vi-VN" sz="1200" kern="1200">
                <a:solidFill>
                  <a:schemeClr val="tx1"/>
                </a:solidFill>
                <a:latin typeface="+mn-lt"/>
                <a:ea typeface="+mn-ea"/>
                <a:cs typeface="+mn-cs"/>
              </a:rPr>
              <a:t>return matchCategory &amp;&amp; matchSearch;</a:t>
            </a:r>
            <a:r>
              <a:rPr lang="en-US" sz="1200" kern="1200">
                <a:solidFill>
                  <a:schemeClr val="tx1"/>
                </a:solidFill>
                <a:latin typeface="+mn-lt"/>
                <a:ea typeface="+mn-ea"/>
                <a:cs typeface="+mn-cs"/>
              </a:rPr>
              <a:t>			</a:t>
            </a:r>
            <a:r>
              <a:rPr lang="vi-VN"/>
              <a:t>Chỉ giữ lại những sản phẩm </a:t>
            </a:r>
            <a:r>
              <a:rPr lang="vi-VN" b="1"/>
              <a:t>thỏa mãn cả hai điều kiện</a:t>
            </a:r>
            <a:r>
              <a:rPr lang="vi-VN"/>
              <a:t>: đúng danh mục </a:t>
            </a:r>
            <a:r>
              <a:rPr lang="vi-VN" b="1"/>
              <a:t>và</a:t>
            </a:r>
            <a:r>
              <a:rPr lang="vi-VN"/>
              <a:t> khớp từ khóa tìm </a:t>
            </a:r>
            <a:r>
              <a:rPr lang="en-US"/>
              <a:t>					</a:t>
            </a:r>
            <a:r>
              <a:rPr lang="vi-VN"/>
              <a:t>kiếm.</a:t>
            </a:r>
          </a:p>
          <a:p>
            <a:r>
              <a:rPr lang="en-US"/>
              <a:t>-------------------------------------------------------------------------------------------------------------------------------------------------------------------------</a:t>
            </a:r>
          </a:p>
          <a:p>
            <a:r>
              <a:rPr lang="en-US" b="1"/>
              <a:t>🧩 </a:t>
            </a:r>
            <a:r>
              <a:rPr lang="vi-VN" b="1"/>
              <a:t>Toàn bộ đoạn code</a:t>
            </a:r>
          </a:p>
          <a:p>
            <a:pPr rtl="0"/>
            <a:r>
              <a:rPr lang="vi-VN" sz="1200" kern="1200">
                <a:solidFill>
                  <a:schemeClr val="tx1"/>
                </a:solidFill>
                <a:latin typeface="+mn-lt"/>
                <a:ea typeface="+mn-ea"/>
                <a:cs typeface="+mn-cs"/>
              </a:rPr>
              <a:t>setState(() {</a:t>
            </a:r>
          </a:p>
          <a:p>
            <a:pPr rtl="0"/>
            <a:r>
              <a:rPr lang="vi-VN" sz="1200" kern="1200">
                <a:solidFill>
                  <a:schemeClr val="tx1"/>
                </a:solidFill>
                <a:latin typeface="+mn-lt"/>
                <a:ea typeface="+mn-ea"/>
                <a:cs typeface="+mn-cs"/>
              </a:rPr>
              <a:t>  displayedProducts = dbData.where((p) {</a:t>
            </a:r>
          </a:p>
          <a:p>
            <a:pPr rtl="0"/>
            <a:r>
              <a:rPr lang="vi-VN" sz="1200" kern="1200">
                <a:solidFill>
                  <a:schemeClr val="tx1"/>
                </a:solidFill>
                <a:latin typeface="+mn-lt"/>
                <a:ea typeface="+mn-ea"/>
                <a:cs typeface="+mn-cs"/>
              </a:rPr>
              <a:t>    final matchCategory =</a:t>
            </a:r>
          </a:p>
          <a:p>
            <a:pPr rtl="0"/>
            <a:r>
              <a:rPr lang="vi-VN" sz="1200" kern="1200">
                <a:solidFill>
                  <a:schemeClr val="tx1"/>
                </a:solidFill>
                <a:latin typeface="+mn-lt"/>
                <a:ea typeface="+mn-ea"/>
                <a:cs typeface="+mn-cs"/>
              </a:rPr>
              <a:t>        (filterCategory == 0 || p['category_id'] == filterCategory);</a:t>
            </a:r>
          </a:p>
          <a:p>
            <a:pPr rtl="0"/>
            <a:r>
              <a:rPr lang="vi-VN" sz="1200" kern="1200">
                <a:solidFill>
                  <a:schemeClr val="tx1"/>
                </a:solidFill>
                <a:latin typeface="+mn-lt"/>
                <a:ea typeface="+mn-ea"/>
                <a:cs typeface="+mn-cs"/>
              </a:rPr>
              <a:t>    final matchSearch = p['name']</a:t>
            </a:r>
          </a:p>
          <a:p>
            <a:pPr rtl="0"/>
            <a:r>
              <a:rPr lang="vi-VN" sz="1200" kern="1200">
                <a:solidFill>
                  <a:schemeClr val="tx1"/>
                </a:solidFill>
                <a:latin typeface="+mn-lt"/>
                <a:ea typeface="+mn-ea"/>
                <a:cs typeface="+mn-cs"/>
              </a:rPr>
              <a:t>        .toString()</a:t>
            </a:r>
          </a:p>
          <a:p>
            <a:pPr rtl="0"/>
            <a:r>
              <a:rPr lang="vi-VN" sz="1200" kern="1200">
                <a:solidFill>
                  <a:schemeClr val="tx1"/>
                </a:solidFill>
                <a:latin typeface="+mn-lt"/>
                <a:ea typeface="+mn-ea"/>
                <a:cs typeface="+mn-cs"/>
              </a:rPr>
              <a:t>        .toLowerCase()</a:t>
            </a:r>
          </a:p>
          <a:p>
            <a:pPr rtl="0"/>
            <a:r>
              <a:rPr lang="vi-VN" sz="1200" kern="1200">
                <a:solidFill>
                  <a:schemeClr val="tx1"/>
                </a:solidFill>
                <a:latin typeface="+mn-lt"/>
                <a:ea typeface="+mn-ea"/>
                <a:cs typeface="+mn-cs"/>
              </a:rPr>
              <a:t>        .contains(searchText.toLowerCase());</a:t>
            </a:r>
          </a:p>
          <a:p>
            <a:pPr rtl="0"/>
            <a:r>
              <a:rPr lang="vi-VN" sz="1200" kern="1200">
                <a:solidFill>
                  <a:schemeClr val="tx1"/>
                </a:solidFill>
                <a:latin typeface="+mn-lt"/>
                <a:ea typeface="+mn-ea"/>
                <a:cs typeface="+mn-cs"/>
              </a:rPr>
              <a:t>    return matchCategory &amp;&amp; matchSearch;</a:t>
            </a:r>
          </a:p>
          <a:p>
            <a:pPr rtl="0"/>
            <a:r>
              <a:rPr lang="vi-VN" sz="1200" kern="1200">
                <a:solidFill>
                  <a:schemeClr val="tx1"/>
                </a:solidFill>
                <a:latin typeface="+mn-lt"/>
                <a:ea typeface="+mn-ea"/>
                <a:cs typeface="+mn-cs"/>
              </a:rPr>
              <a:t>  }).toList();</a:t>
            </a:r>
          </a:p>
          <a:p>
            <a:pPr rtl="0"/>
            <a:r>
              <a:rPr lang="vi-VN" sz="1200" kern="1200">
                <a:solidFill>
                  <a:schemeClr val="tx1"/>
                </a:solidFill>
                <a:latin typeface="+mn-lt"/>
                <a:ea typeface="+mn-ea"/>
                <a:cs typeface="+mn-cs"/>
              </a:rPr>
              <a:t>});</a:t>
            </a:r>
          </a:p>
          <a:p>
            <a:endParaRPr lang="vi-VN"/>
          </a:p>
          <a:p>
            <a:r>
              <a:rPr lang="en-US" b="1"/>
              <a:t>🧠 1️⃣ </a:t>
            </a:r>
            <a:r>
              <a:rPr lang="vi-VN" sz="1200" b="1" kern="1200">
                <a:solidFill>
                  <a:schemeClr val="tx1"/>
                </a:solidFill>
                <a:latin typeface="+mn-lt"/>
                <a:ea typeface="+mn-ea"/>
                <a:cs typeface="+mn-cs"/>
              </a:rPr>
              <a:t>setState(() { ... });</a:t>
            </a:r>
            <a:r>
              <a:rPr lang="vi-VN" b="1"/>
              <a:t> là gì?</a:t>
            </a:r>
          </a:p>
          <a:p>
            <a:r>
              <a:rPr lang="vi-VN" sz="1200" kern="1200">
                <a:solidFill>
                  <a:schemeClr val="tx1"/>
                </a:solidFill>
                <a:latin typeface="+mn-lt"/>
                <a:ea typeface="+mn-ea"/>
                <a:cs typeface="+mn-cs"/>
              </a:rPr>
              <a:t>setState()</a:t>
            </a:r>
            <a:r>
              <a:rPr lang="vi-VN"/>
              <a:t> là </a:t>
            </a:r>
            <a:r>
              <a:rPr lang="vi-VN" b="1"/>
              <a:t>hàm của Flutter</a:t>
            </a:r>
            <a:r>
              <a:rPr lang="vi-VN"/>
              <a:t> (thuộc </a:t>
            </a:r>
            <a:r>
              <a:rPr lang="vi-VN" sz="1200" kern="1200">
                <a:solidFill>
                  <a:schemeClr val="tx1"/>
                </a:solidFill>
                <a:latin typeface="+mn-lt"/>
                <a:ea typeface="+mn-ea"/>
                <a:cs typeface="+mn-cs"/>
              </a:rPr>
              <a:t>StatefulWidget</a:t>
            </a:r>
            <a:r>
              <a:rPr lang="vi-VN"/>
              <a:t>).</a:t>
            </a:r>
          </a:p>
          <a:p>
            <a:r>
              <a:rPr lang="vi-VN"/>
              <a:t>Nó báo cho framework biết rằng </a:t>
            </a:r>
            <a:r>
              <a:rPr lang="vi-VN" b="1"/>
              <a:t>dữ liệu (state)</a:t>
            </a:r>
            <a:r>
              <a:rPr lang="vi-VN"/>
              <a:t> trong widget đã thay đổi.</a:t>
            </a:r>
          </a:p>
          <a:p>
            <a:r>
              <a:rPr lang="vi-VN"/>
              <a:t>Sau khi chạy xong, </a:t>
            </a:r>
            <a:r>
              <a:rPr lang="vi-VN" b="1"/>
              <a:t>Flutter sẽ tự động vẽ lại UI (gọi build() lại)</a:t>
            </a:r>
            <a:r>
              <a:rPr lang="vi-VN"/>
              <a:t> để hiển thị dữ liệu mới.</a:t>
            </a:r>
          </a:p>
          <a:p>
            <a:r>
              <a:rPr lang="en-US"/>
              <a:t>👉 </a:t>
            </a:r>
            <a:r>
              <a:rPr lang="vi-VN"/>
              <a:t>Nếu bạn thay đổi dữ liệu mà không gọi </a:t>
            </a:r>
            <a:r>
              <a:rPr lang="vi-VN" sz="1200" kern="1200">
                <a:solidFill>
                  <a:schemeClr val="tx1"/>
                </a:solidFill>
                <a:latin typeface="+mn-lt"/>
                <a:ea typeface="+mn-ea"/>
                <a:cs typeface="+mn-cs"/>
              </a:rPr>
              <a:t>setState</a:t>
            </a:r>
            <a:r>
              <a:rPr lang="vi-VN"/>
              <a:t>, UI sẽ </a:t>
            </a:r>
            <a:r>
              <a:rPr lang="vi-VN" b="1"/>
              <a:t>không cập nhật</a:t>
            </a:r>
            <a:r>
              <a:rPr lang="vi-VN"/>
              <a:t>.</a:t>
            </a:r>
          </a:p>
          <a:p>
            <a:r>
              <a:rPr lang="en-US" b="1"/>
              <a:t>🧠 2️⃣ </a:t>
            </a:r>
            <a:r>
              <a:rPr lang="vi-VN" sz="1200" b="1" kern="1200">
                <a:solidFill>
                  <a:schemeClr val="tx1"/>
                </a:solidFill>
                <a:latin typeface="+mn-lt"/>
                <a:ea typeface="+mn-ea"/>
                <a:cs typeface="+mn-cs"/>
              </a:rPr>
              <a:t>displayedProducts = dbData.where((p) { ... }).toList();</a:t>
            </a:r>
            <a:endParaRPr lang="vi-VN" b="1"/>
          </a:p>
          <a:p>
            <a:r>
              <a:rPr lang="vi-VN" sz="1200" kern="1200">
                <a:solidFill>
                  <a:schemeClr val="tx1"/>
                </a:solidFill>
                <a:latin typeface="+mn-lt"/>
                <a:ea typeface="+mn-ea"/>
                <a:cs typeface="+mn-cs"/>
              </a:rPr>
              <a:t>dbData</a:t>
            </a:r>
            <a:r>
              <a:rPr lang="vi-VN"/>
              <a:t> là danh sách dữ liệu lấy từ database, kiểu:</a:t>
            </a:r>
            <a:br>
              <a:rPr lang="vi-VN"/>
            </a:br>
            <a:r>
              <a:rPr lang="vi-VN" sz="1200" kern="1200">
                <a:solidFill>
                  <a:schemeClr val="tx1"/>
                </a:solidFill>
                <a:latin typeface="+mn-lt"/>
                <a:ea typeface="+mn-ea"/>
                <a:cs typeface="+mn-cs"/>
              </a:rPr>
              <a:t>List&lt;Map&lt;String, dynamic&gt;&gt;</a:t>
            </a:r>
            <a:r>
              <a:rPr lang="vi-VN"/>
              <a:t> (mỗi </a:t>
            </a:r>
            <a:r>
              <a:rPr lang="vi-VN" sz="1200" kern="1200">
                <a:solidFill>
                  <a:schemeClr val="tx1"/>
                </a:solidFill>
                <a:latin typeface="+mn-lt"/>
                <a:ea typeface="+mn-ea"/>
                <a:cs typeface="+mn-cs"/>
              </a:rPr>
              <a:t>Map</a:t>
            </a:r>
            <a:r>
              <a:rPr lang="vi-VN"/>
              <a:t> là một sản phẩm).</a:t>
            </a:r>
          </a:p>
          <a:p>
            <a:r>
              <a:rPr lang="vi-VN" sz="1200" kern="1200">
                <a:solidFill>
                  <a:schemeClr val="tx1"/>
                </a:solidFill>
                <a:latin typeface="+mn-lt"/>
                <a:ea typeface="+mn-ea"/>
                <a:cs typeface="+mn-cs"/>
              </a:rPr>
              <a:t>.where((p) { ... })</a:t>
            </a:r>
            <a:r>
              <a:rPr lang="vi-VN"/>
              <a:t> là </a:t>
            </a:r>
            <a:r>
              <a:rPr lang="vi-VN" b="1"/>
              <a:t>hàm lọc</a:t>
            </a:r>
            <a:r>
              <a:rPr lang="vi-VN"/>
              <a:t> trong Dart:</a:t>
            </a:r>
          </a:p>
          <a:p>
            <a:pPr lvl="1"/>
            <a:r>
              <a:rPr lang="vi-VN"/>
              <a:t>Nó duyệt qua </a:t>
            </a:r>
            <a:r>
              <a:rPr lang="vi-VN" b="1"/>
              <a:t>từng phần tử </a:t>
            </a:r>
            <a:r>
              <a:rPr lang="vi-VN" sz="1200" b="1" kern="1200">
                <a:solidFill>
                  <a:schemeClr val="tx1"/>
                </a:solidFill>
                <a:latin typeface="+mn-lt"/>
                <a:ea typeface="+mn-ea"/>
                <a:cs typeface="+mn-cs"/>
              </a:rPr>
              <a:t>p</a:t>
            </a:r>
            <a:r>
              <a:rPr lang="vi-VN"/>
              <a:t> trong danh sách </a:t>
            </a:r>
            <a:r>
              <a:rPr lang="vi-VN" sz="1200" kern="1200">
                <a:solidFill>
                  <a:schemeClr val="tx1"/>
                </a:solidFill>
                <a:latin typeface="+mn-lt"/>
                <a:ea typeface="+mn-ea"/>
                <a:cs typeface="+mn-cs"/>
              </a:rPr>
              <a:t>dbData</a:t>
            </a:r>
            <a:r>
              <a:rPr lang="vi-VN"/>
              <a:t>.</a:t>
            </a:r>
          </a:p>
          <a:p>
            <a:pPr lvl="1"/>
            <a:r>
              <a:rPr lang="vi-VN"/>
              <a:t>Với mỗi </a:t>
            </a:r>
            <a:r>
              <a:rPr lang="vi-VN" sz="1200" kern="1200">
                <a:solidFill>
                  <a:schemeClr val="tx1"/>
                </a:solidFill>
                <a:latin typeface="+mn-lt"/>
                <a:ea typeface="+mn-ea"/>
                <a:cs typeface="+mn-cs"/>
              </a:rPr>
              <a:t>p</a:t>
            </a:r>
            <a:r>
              <a:rPr lang="vi-VN"/>
              <a:t>, nó kiểm tra điều kiện trong </a:t>
            </a:r>
            <a:r>
              <a:rPr lang="vi-VN" sz="1200" kern="1200">
                <a:solidFill>
                  <a:schemeClr val="tx1"/>
                </a:solidFill>
                <a:latin typeface="+mn-lt"/>
                <a:ea typeface="+mn-ea"/>
                <a:cs typeface="+mn-cs"/>
              </a:rPr>
              <a:t>{ ... }</a:t>
            </a:r>
            <a:r>
              <a:rPr lang="vi-VN"/>
              <a:t>.</a:t>
            </a:r>
          </a:p>
          <a:p>
            <a:pPr lvl="1"/>
            <a:r>
              <a:rPr lang="vi-VN"/>
              <a:t>Nếu điều kiện trả về </a:t>
            </a:r>
            <a:r>
              <a:rPr lang="vi-VN" sz="1200" kern="1200">
                <a:solidFill>
                  <a:schemeClr val="tx1"/>
                </a:solidFill>
                <a:latin typeface="+mn-lt"/>
                <a:ea typeface="+mn-ea"/>
                <a:cs typeface="+mn-cs"/>
              </a:rPr>
              <a:t>true</a:t>
            </a:r>
            <a:r>
              <a:rPr lang="vi-VN"/>
              <a:t> → phần tử đó được giữ lại.</a:t>
            </a:r>
          </a:p>
          <a:p>
            <a:pPr lvl="1"/>
            <a:r>
              <a:rPr lang="vi-VN"/>
              <a:t>Nếu </a:t>
            </a:r>
            <a:r>
              <a:rPr lang="vi-VN" sz="1200" kern="1200">
                <a:solidFill>
                  <a:schemeClr val="tx1"/>
                </a:solidFill>
                <a:latin typeface="+mn-lt"/>
                <a:ea typeface="+mn-ea"/>
                <a:cs typeface="+mn-cs"/>
              </a:rPr>
              <a:t>false</a:t>
            </a:r>
            <a:r>
              <a:rPr lang="vi-VN"/>
              <a:t> → bị loại bỏ.</a:t>
            </a:r>
          </a:p>
          <a:p>
            <a:r>
              <a:rPr lang="vi-VN"/>
              <a:t>Cuối cùng </a:t>
            </a:r>
            <a:r>
              <a:rPr lang="vi-VN" sz="1200" kern="1200">
                <a:solidFill>
                  <a:schemeClr val="tx1"/>
                </a:solidFill>
                <a:latin typeface="+mn-lt"/>
                <a:ea typeface="+mn-ea"/>
                <a:cs typeface="+mn-cs"/>
              </a:rPr>
              <a:t>.toList()</a:t>
            </a:r>
            <a:r>
              <a:rPr lang="vi-VN"/>
              <a:t> chuyển kết quả lọc (kiểu Iterable) thành một </a:t>
            </a:r>
            <a:r>
              <a:rPr lang="vi-VN" sz="1200" kern="1200">
                <a:solidFill>
                  <a:schemeClr val="tx1"/>
                </a:solidFill>
                <a:latin typeface="+mn-lt"/>
                <a:ea typeface="+mn-ea"/>
                <a:cs typeface="+mn-cs"/>
              </a:rPr>
              <a:t>List</a:t>
            </a:r>
            <a:r>
              <a:rPr lang="vi-VN"/>
              <a:t> bình thường.</a:t>
            </a:r>
          </a:p>
          <a:p>
            <a:r>
              <a:rPr lang="en-US" b="1"/>
              <a:t>🧠 3️⃣ </a:t>
            </a:r>
            <a:r>
              <a:rPr lang="vi-VN" b="1"/>
              <a:t>Bên trong </a:t>
            </a:r>
            <a:r>
              <a:rPr lang="vi-VN" sz="1200" b="1" kern="1200">
                <a:solidFill>
                  <a:schemeClr val="tx1"/>
                </a:solidFill>
                <a:latin typeface="+mn-lt"/>
                <a:ea typeface="+mn-ea"/>
                <a:cs typeface="+mn-cs"/>
              </a:rPr>
              <a:t>(p) { ... }</a:t>
            </a:r>
            <a:endParaRPr lang="vi-VN" b="1"/>
          </a:p>
          <a:p>
            <a:r>
              <a:rPr lang="vi-VN"/>
              <a:t>Đây là phần </a:t>
            </a:r>
            <a:r>
              <a:rPr lang="vi-VN" b="1"/>
              <a:t>điều kiện lọc</a:t>
            </a:r>
            <a:r>
              <a:rPr lang="vi-VN"/>
              <a:t> sản phẩm — gồm 2 điều kiện nhỏ:</a:t>
            </a:r>
          </a:p>
          <a:p>
            <a:r>
              <a:rPr lang="en-US" b="1"/>
              <a:t>🔹 (</a:t>
            </a:r>
            <a:r>
              <a:rPr lang="vi-VN" b="1"/>
              <a:t>a) Lọc theo danh mục:</a:t>
            </a:r>
          </a:p>
          <a:p>
            <a:pPr rtl="0"/>
            <a:r>
              <a:rPr lang="vi-VN" sz="1200" kern="1200">
                <a:solidFill>
                  <a:schemeClr val="tx1"/>
                </a:solidFill>
                <a:latin typeface="+mn-lt"/>
                <a:ea typeface="+mn-ea"/>
                <a:cs typeface="+mn-cs"/>
              </a:rPr>
              <a:t>final matchCategory =</a:t>
            </a:r>
          </a:p>
          <a:p>
            <a:pPr rtl="0"/>
            <a:r>
              <a:rPr lang="vi-VN" sz="1200" kern="1200">
                <a:solidFill>
                  <a:schemeClr val="tx1"/>
                </a:solidFill>
                <a:latin typeface="+mn-lt"/>
                <a:ea typeface="+mn-ea"/>
                <a:cs typeface="+mn-cs"/>
              </a:rPr>
              <a:t>    (filterCategory == 0 || p['category_id'] == filterCategory);</a:t>
            </a:r>
          </a:p>
          <a:p>
            <a:r>
              <a:rPr lang="vi-VN" sz="1200" kern="1200">
                <a:solidFill>
                  <a:schemeClr val="tx1"/>
                </a:solidFill>
                <a:latin typeface="+mn-lt"/>
                <a:ea typeface="+mn-ea"/>
                <a:cs typeface="+mn-cs"/>
              </a:rPr>
              <a:t>filterCategory</a:t>
            </a:r>
            <a:r>
              <a:rPr lang="vi-VN"/>
              <a:t> là </a:t>
            </a:r>
            <a:r>
              <a:rPr lang="vi-VN" b="1"/>
              <a:t>ID danh mục đang chọn trên UI</a:t>
            </a:r>
            <a:r>
              <a:rPr lang="vi-VN"/>
              <a:t>:</a:t>
            </a:r>
          </a:p>
          <a:p>
            <a:pPr lvl="1"/>
            <a:r>
              <a:rPr lang="vi-VN"/>
              <a:t>Nếu </a:t>
            </a:r>
            <a:r>
              <a:rPr lang="vi-VN" sz="1200" kern="1200">
                <a:solidFill>
                  <a:schemeClr val="tx1"/>
                </a:solidFill>
                <a:latin typeface="+mn-lt"/>
                <a:ea typeface="+mn-ea"/>
                <a:cs typeface="+mn-cs"/>
              </a:rPr>
              <a:t>filterCategory == 0</a:t>
            </a:r>
            <a:r>
              <a:rPr lang="vi-VN"/>
              <a:t> nghĩa là chọn “All” → không lọc danh mục nào cả.</a:t>
            </a:r>
          </a:p>
          <a:p>
            <a:pPr lvl="1"/>
            <a:r>
              <a:rPr lang="vi-VN"/>
              <a:t>Còn nếu khác 0 → chỉ lấy sản phẩm có </a:t>
            </a:r>
            <a:r>
              <a:rPr lang="vi-VN" sz="1200" kern="1200">
                <a:solidFill>
                  <a:schemeClr val="tx1"/>
                </a:solidFill>
                <a:latin typeface="+mn-lt"/>
                <a:ea typeface="+mn-ea"/>
                <a:cs typeface="+mn-cs"/>
              </a:rPr>
              <a:t>p['category_id']</a:t>
            </a:r>
            <a:r>
              <a:rPr lang="vi-VN"/>
              <a:t> đúng bằng giá trị đó.</a:t>
            </a:r>
          </a:p>
          <a:p>
            <a:r>
              <a:rPr lang="en-US"/>
              <a:t>✅ </a:t>
            </a:r>
            <a:r>
              <a:rPr lang="vi-VN"/>
              <a:t>Kết quả:</a:t>
            </a:r>
          </a:p>
          <a:p>
            <a:r>
              <a:rPr lang="vi-VN" sz="1200" kern="1200">
                <a:solidFill>
                  <a:schemeClr val="tx1"/>
                </a:solidFill>
                <a:latin typeface="+mn-lt"/>
                <a:ea typeface="+mn-ea"/>
                <a:cs typeface="+mn-cs"/>
              </a:rPr>
              <a:t>matchCategory = true</a:t>
            </a:r>
            <a:r>
              <a:rPr lang="vi-VN"/>
              <a:t> → sản phẩm hợp danh mục.</a:t>
            </a:r>
          </a:p>
          <a:p>
            <a:r>
              <a:rPr lang="vi-VN" sz="1200" kern="1200">
                <a:solidFill>
                  <a:schemeClr val="tx1"/>
                </a:solidFill>
                <a:latin typeface="+mn-lt"/>
                <a:ea typeface="+mn-ea"/>
                <a:cs typeface="+mn-cs"/>
              </a:rPr>
              <a:t>matchCategory = false</a:t>
            </a:r>
            <a:r>
              <a:rPr lang="vi-VN"/>
              <a:t> → sản phẩm bị loại.</a:t>
            </a:r>
          </a:p>
          <a:p>
            <a:r>
              <a:rPr lang="en-US" b="1"/>
              <a:t>🔹 (</a:t>
            </a:r>
            <a:r>
              <a:rPr lang="vi-VN" b="1"/>
              <a:t>b) Lọc theo ô tìm kiếm:</a:t>
            </a:r>
          </a:p>
          <a:p>
            <a:pPr rtl="0"/>
            <a:r>
              <a:rPr lang="vi-VN" sz="1200" kern="1200">
                <a:solidFill>
                  <a:schemeClr val="tx1"/>
                </a:solidFill>
                <a:latin typeface="+mn-lt"/>
                <a:ea typeface="+mn-ea"/>
                <a:cs typeface="+mn-cs"/>
              </a:rPr>
              <a:t>final matchSearch = p['name']</a:t>
            </a:r>
          </a:p>
          <a:p>
            <a:pPr rtl="0"/>
            <a:r>
              <a:rPr lang="vi-VN" sz="1200" kern="1200">
                <a:solidFill>
                  <a:schemeClr val="tx1"/>
                </a:solidFill>
                <a:latin typeface="+mn-lt"/>
                <a:ea typeface="+mn-ea"/>
                <a:cs typeface="+mn-cs"/>
              </a:rPr>
              <a:t>    .toString()</a:t>
            </a:r>
          </a:p>
          <a:p>
            <a:pPr rtl="0"/>
            <a:r>
              <a:rPr lang="vi-VN" sz="1200" kern="1200">
                <a:solidFill>
                  <a:schemeClr val="tx1"/>
                </a:solidFill>
                <a:latin typeface="+mn-lt"/>
                <a:ea typeface="+mn-ea"/>
                <a:cs typeface="+mn-cs"/>
              </a:rPr>
              <a:t>    .toLowerCase()</a:t>
            </a:r>
          </a:p>
          <a:p>
            <a:pPr rtl="0"/>
            <a:r>
              <a:rPr lang="vi-VN" sz="1200" kern="1200">
                <a:solidFill>
                  <a:schemeClr val="tx1"/>
                </a:solidFill>
                <a:latin typeface="+mn-lt"/>
                <a:ea typeface="+mn-ea"/>
                <a:cs typeface="+mn-cs"/>
              </a:rPr>
              <a:t>    .contains(searchText.toLowerCase());</a:t>
            </a:r>
          </a:p>
          <a:p>
            <a:r>
              <a:rPr lang="vi-VN" sz="1200" kern="1200">
                <a:solidFill>
                  <a:schemeClr val="tx1"/>
                </a:solidFill>
                <a:latin typeface="+mn-lt"/>
                <a:ea typeface="+mn-ea"/>
                <a:cs typeface="+mn-cs"/>
              </a:rPr>
              <a:t>p['name']</a:t>
            </a:r>
            <a:r>
              <a:rPr lang="vi-VN"/>
              <a:t>: lấy tên sản phẩm từ map.</a:t>
            </a:r>
          </a:p>
          <a:p>
            <a:r>
              <a:rPr lang="vi-VN" sz="1200" kern="1200">
                <a:solidFill>
                  <a:schemeClr val="tx1"/>
                </a:solidFill>
                <a:latin typeface="+mn-lt"/>
                <a:ea typeface="+mn-ea"/>
                <a:cs typeface="+mn-cs"/>
              </a:rPr>
              <a:t>.toString()</a:t>
            </a:r>
            <a:r>
              <a:rPr lang="vi-VN"/>
              <a:t>: đảm bảo kiểu chuỗi.</a:t>
            </a:r>
          </a:p>
          <a:p>
            <a:r>
              <a:rPr lang="vi-VN" sz="1200" kern="1200">
                <a:solidFill>
                  <a:schemeClr val="tx1"/>
                </a:solidFill>
                <a:latin typeface="+mn-lt"/>
                <a:ea typeface="+mn-ea"/>
                <a:cs typeface="+mn-cs"/>
              </a:rPr>
              <a:t>.toLowerCase()</a:t>
            </a:r>
            <a:r>
              <a:rPr lang="vi-VN"/>
              <a:t>: chuyển hết thành chữ thường → để so sánh </a:t>
            </a:r>
            <a:r>
              <a:rPr lang="vi-VN" b="1"/>
              <a:t>không phân biệt hoa/thường</a:t>
            </a:r>
            <a:r>
              <a:rPr lang="vi-VN"/>
              <a:t>.</a:t>
            </a:r>
          </a:p>
          <a:p>
            <a:r>
              <a:rPr lang="vi-VN" sz="1200" kern="1200">
                <a:solidFill>
                  <a:schemeClr val="tx1"/>
                </a:solidFill>
                <a:latin typeface="+mn-lt"/>
                <a:ea typeface="+mn-ea"/>
                <a:cs typeface="+mn-cs"/>
              </a:rPr>
              <a:t>.contains(searchText.toLowerCase())</a:t>
            </a:r>
            <a:r>
              <a:rPr lang="vi-VN"/>
              <a:t>: kiểm tra xem tên sản phẩm có chứa chuỗi người dùng đang tìm không.</a:t>
            </a:r>
          </a:p>
          <a:p>
            <a:endParaRPr lang="en-US"/>
          </a:p>
          <a:p>
            <a:endParaRPr lang="en-US"/>
          </a:p>
        </p:txBody>
      </p:sp>
      <p:sp>
        <p:nvSpPr>
          <p:cNvPr id="4" name="Slide Number Placeholder 3">
            <a:extLst>
              <a:ext uri="{FF2B5EF4-FFF2-40B4-BE49-F238E27FC236}">
                <a16:creationId xmlns:a16="http://schemas.microsoft.com/office/drawing/2014/main" id="{A5B8BCC6-F8C1-FA7D-1A9D-B101FFCF069D}"/>
              </a:ext>
            </a:extLst>
          </p:cNvPr>
          <p:cNvSpPr>
            <a:spLocks noGrp="1"/>
          </p:cNvSpPr>
          <p:nvPr>
            <p:ph type="sldNum" sz="quarter" idx="5"/>
          </p:nvPr>
        </p:nvSpPr>
        <p:spPr/>
        <p:txBody>
          <a:bodyPr/>
          <a:lstStyle/>
          <a:p>
            <a:fld id="{1983A999-5E0E-42CA-8400-604AE921FF7C}" type="slidenum">
              <a:rPr lang="en-US" smtClean="0"/>
              <a:t>41</a:t>
            </a:fld>
            <a:endParaRPr lang="en-US"/>
          </a:p>
        </p:txBody>
      </p:sp>
    </p:spTree>
    <p:extLst>
      <p:ext uri="{BB962C8B-B14F-4D97-AF65-F5344CB8AC3E}">
        <p14:creationId xmlns:p14="http://schemas.microsoft.com/office/powerpoint/2010/main" val="12435051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CEC34-BD5E-117B-DB55-0E641E8718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7C109E-5E41-A258-80D7-C72743B3BB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8092A1-5C09-4EE3-B595-47DFB4442AF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int? selectedCategory;</a:t>
            </a: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List&lt;Product&gt; allProducts = [];</a:t>
            </a: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List&lt;Map&lt;String, dynamic&gt;&gt; displayedProducts = [];</a:t>
            </a: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List&lt;Category&gt; allCategories = [];</a:t>
            </a: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String searchText = "";</a:t>
            </a: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int filterCategory = 0; </a:t>
            </a:r>
            <a:r>
              <a:rPr lang="en-US" sz="1200" i="1" kern="1200">
                <a:solidFill>
                  <a:schemeClr val="tx1"/>
                </a:solidFill>
                <a:effectLst/>
                <a:latin typeface="+mn-lt"/>
                <a:ea typeface="+mn-ea"/>
                <a:cs typeface="+mn-cs"/>
              </a:rPr>
              <a:t>// 0 = All</a:t>
            </a:r>
            <a:endParaRPr lang="en-US" sz="1200" kern="1200">
              <a:solidFill>
                <a:schemeClr val="tx1"/>
              </a:solidFill>
              <a:effectLst/>
              <a:latin typeface="+mn-lt"/>
              <a:ea typeface="+mn-ea"/>
              <a:cs typeface="+mn-cs"/>
            </a:endParaRPr>
          </a:p>
          <a:p>
            <a:r>
              <a:rPr lang="en-US" sz="1200" kern="1200">
                <a:solidFill>
                  <a:schemeClr val="tx1"/>
                </a:solidFill>
                <a:latin typeface="+mn-lt"/>
                <a:ea typeface="+mn-ea"/>
                <a:cs typeface="+mn-cs"/>
              </a:rPr>
              <a:t>=&gt;</a:t>
            </a:r>
          </a:p>
          <a:p>
            <a:r>
              <a:rPr lang="en-US" sz="1200" kern="1200">
                <a:solidFill>
                  <a:schemeClr val="tx1"/>
                </a:solidFill>
                <a:latin typeface="+mn-lt"/>
                <a:ea typeface="+mn-ea"/>
                <a:cs typeface="+mn-cs"/>
              </a:rPr>
              <a:t>selectedCategory</a:t>
            </a:r>
            <a:r>
              <a:rPr lang="en-US"/>
              <a:t> để lựa danh mục trong form.</a:t>
            </a:r>
          </a:p>
          <a:p>
            <a:r>
              <a:rPr lang="en-US" sz="1200" kern="1200">
                <a:solidFill>
                  <a:schemeClr val="tx1"/>
                </a:solidFill>
                <a:latin typeface="+mn-lt"/>
                <a:ea typeface="+mn-ea"/>
                <a:cs typeface="+mn-cs"/>
              </a:rPr>
              <a:t>displayedProducts</a:t>
            </a:r>
            <a:r>
              <a:rPr lang="en-US"/>
              <a:t> là danh sách (Map) từ </a:t>
            </a:r>
            <a:r>
              <a:rPr lang="en-US" sz="1200" kern="1200">
                <a:solidFill>
                  <a:schemeClr val="tx1"/>
                </a:solidFill>
                <a:latin typeface="+mn-lt"/>
                <a:ea typeface="+mn-ea"/>
                <a:cs typeface="+mn-cs"/>
              </a:rPr>
              <a:t>getProductsWithCategory()</a:t>
            </a:r>
            <a:r>
              <a:rPr lang="en-US"/>
              <a:t> dùng trực tiếp cho UI (vì có </a:t>
            </a:r>
            <a:r>
              <a:rPr lang="en-US" sz="1200" kern="1200">
                <a:solidFill>
                  <a:schemeClr val="tx1"/>
                </a:solidFill>
                <a:latin typeface="+mn-lt"/>
                <a:ea typeface="+mn-ea"/>
                <a:cs typeface="+mn-cs"/>
              </a:rPr>
              <a:t>category_name</a:t>
            </a:r>
            <a:r>
              <a:rPr lang="en-US"/>
              <a:t>).</a:t>
            </a:r>
          </a:p>
          <a:p>
            <a:r>
              <a:rPr lang="en-US" sz="1200" kern="1200">
                <a:solidFill>
                  <a:schemeClr val="tx1"/>
                </a:solidFill>
                <a:latin typeface="+mn-lt"/>
                <a:ea typeface="+mn-ea"/>
                <a:cs typeface="+mn-cs"/>
              </a:rPr>
              <a:t>filterCategory == 0</a:t>
            </a:r>
            <a:r>
              <a:rPr lang="en-US"/>
              <a:t> biểu thị show all.</a:t>
            </a:r>
          </a:p>
          <a:p>
            <a:r>
              <a:rPr lang="en-US"/>
              <a:t>--------------------------------------------------------------------------------------------------</a:t>
            </a:r>
          </a:p>
          <a:p>
            <a:r>
              <a:rPr lang="vi-VN"/>
              <a:t>Từ </a:t>
            </a:r>
            <a:r>
              <a:rPr lang="vi-VN" b="1"/>
              <a:t>"query"</a:t>
            </a:r>
            <a:r>
              <a:rPr lang="vi-VN"/>
              <a:t> trong lập trình (đặc biệt là khi làm việc với cơ sở dữ liệu như </a:t>
            </a:r>
            <a:r>
              <a:rPr lang="vi-VN" b="1"/>
              <a:t>SQLite</a:t>
            </a:r>
            <a:r>
              <a:rPr lang="vi-VN"/>
              <a:t>, </a:t>
            </a:r>
            <a:r>
              <a:rPr lang="vi-VN" b="1"/>
              <a:t>Drift</a:t>
            </a:r>
            <a:r>
              <a:rPr lang="vi-VN"/>
              <a:t>, </a:t>
            </a:r>
            <a:r>
              <a:rPr lang="vi-VN" b="1"/>
              <a:t>MySQL</a:t>
            </a:r>
            <a:r>
              <a:rPr lang="vi-VN"/>
              <a:t>, v.v.) có nghĩa là </a:t>
            </a:r>
            <a:r>
              <a:rPr lang="vi-VN" b="1"/>
              <a:t>truy vấn dữ liệu</a:t>
            </a:r>
            <a:r>
              <a:rPr lang="vi-VN"/>
              <a:t> — tức là </a:t>
            </a:r>
            <a:r>
              <a:rPr lang="vi-VN" b="1"/>
              <a:t>một yêu cầu (yêu cầu truy vấn)</a:t>
            </a:r>
            <a:r>
              <a:rPr lang="vi-VN"/>
              <a:t> mà chương trình gửi đến </a:t>
            </a:r>
            <a:r>
              <a:rPr lang="vi-VN" b="1"/>
              <a:t>cơ sở dữ liệu</a:t>
            </a:r>
            <a:r>
              <a:rPr lang="vi-VN"/>
              <a:t> để:</a:t>
            </a:r>
          </a:p>
          <a:p>
            <a:r>
              <a:rPr lang="vi-VN" b="1"/>
              <a:t>lấy, thêm, sửa, hoặc xóa</a:t>
            </a:r>
            <a:r>
              <a:rPr lang="vi-VN"/>
              <a:t> dữ liệu trong bảng.</a:t>
            </a:r>
          </a:p>
          <a:p>
            <a:r>
              <a:rPr lang="en-US" b="1"/>
              <a:t>💡 </a:t>
            </a:r>
            <a:r>
              <a:rPr lang="vi-VN" b="1"/>
              <a:t>Nói ngắn gọn:</a:t>
            </a:r>
          </a:p>
          <a:p>
            <a:r>
              <a:rPr lang="en-US"/>
              <a:t>👉 </a:t>
            </a:r>
            <a:r>
              <a:rPr lang="vi-VN" b="1"/>
              <a:t>Query = câu lệnh giao tiếp với cơ sở dữ liệu.</a:t>
            </a:r>
            <a:endParaRPr lang="vi-VN"/>
          </a:p>
          <a:p>
            <a:r>
              <a:rPr lang="en-US" b="1"/>
              <a:t>🧩 </a:t>
            </a:r>
            <a:r>
              <a:rPr lang="vi-VN" b="1"/>
              <a:t>Ví dụ thực tế:</a:t>
            </a:r>
          </a:p>
          <a:p>
            <a:r>
              <a:rPr lang="vi-VN" b="1"/>
              <a:t>1. Trong SQL thuần:</a:t>
            </a:r>
          </a:p>
          <a:p>
            <a:pPr rtl="0"/>
            <a:r>
              <a:rPr lang="vi-VN" sz="1200" kern="1200">
                <a:solidFill>
                  <a:schemeClr val="tx1"/>
                </a:solidFill>
                <a:latin typeface="+mn-lt"/>
                <a:ea typeface="+mn-ea"/>
                <a:cs typeface="+mn-cs"/>
              </a:rPr>
              <a:t>SELECT * FROM products;</a:t>
            </a:r>
          </a:p>
          <a:p>
            <a:r>
              <a:rPr lang="vi-VN"/>
              <a:t>➡️ Đây là một </a:t>
            </a:r>
            <a:r>
              <a:rPr lang="vi-VN" b="1"/>
              <a:t>query</a:t>
            </a:r>
            <a:r>
              <a:rPr lang="vi-VN"/>
              <a:t> để </a:t>
            </a:r>
            <a:r>
              <a:rPr lang="vi-VN" b="1"/>
              <a:t>lấy tất cả sản phẩm</a:t>
            </a:r>
            <a:r>
              <a:rPr lang="vi-VN"/>
              <a:t> trong bảng </a:t>
            </a:r>
            <a:r>
              <a:rPr lang="vi-VN" sz="1200" kern="1200">
                <a:solidFill>
                  <a:schemeClr val="tx1"/>
                </a:solidFill>
                <a:latin typeface="+mn-lt"/>
                <a:ea typeface="+mn-ea"/>
                <a:cs typeface="+mn-cs"/>
              </a:rPr>
              <a:t>products</a:t>
            </a:r>
            <a:r>
              <a:rPr lang="vi-VN"/>
              <a:t>.</a:t>
            </a:r>
          </a:p>
          <a:p>
            <a:r>
              <a:rPr lang="vi-VN" b="1"/>
              <a:t>2. Trong Flutter (với SQLite):</a:t>
            </a:r>
          </a:p>
          <a:p>
            <a:pPr rtl="0"/>
            <a:r>
              <a:rPr lang="vi-VN" sz="1200" kern="1200">
                <a:solidFill>
                  <a:schemeClr val="tx1"/>
                </a:solidFill>
                <a:latin typeface="+mn-lt"/>
                <a:ea typeface="+mn-ea"/>
                <a:cs typeface="+mn-cs"/>
              </a:rPr>
              <a:t>final List&lt;Map&lt;String, dynamic&gt;&gt; result = await db.query('products');</a:t>
            </a:r>
          </a:p>
          <a:p>
            <a:r>
              <a:rPr lang="vi-VN"/>
              <a:t>➡️ </a:t>
            </a:r>
            <a:r>
              <a:rPr lang="vi-VN" sz="1200" kern="1200">
                <a:solidFill>
                  <a:schemeClr val="tx1"/>
                </a:solidFill>
                <a:latin typeface="+mn-lt"/>
                <a:ea typeface="+mn-ea"/>
                <a:cs typeface="+mn-cs"/>
              </a:rPr>
              <a:t>db.query('products')</a:t>
            </a:r>
            <a:r>
              <a:rPr lang="vi-VN"/>
              <a:t> là lời gọi hàm để </a:t>
            </a:r>
            <a:r>
              <a:rPr lang="vi-VN" b="1"/>
              <a:t>truy vấn dữ liệu từ bảng </a:t>
            </a:r>
            <a:r>
              <a:rPr lang="vi-VN" sz="1200" b="1" kern="1200">
                <a:solidFill>
                  <a:schemeClr val="tx1"/>
                </a:solidFill>
                <a:latin typeface="+mn-lt"/>
                <a:ea typeface="+mn-ea"/>
                <a:cs typeface="+mn-cs"/>
              </a:rPr>
              <a:t>products</a:t>
            </a:r>
            <a:r>
              <a:rPr lang="vi-VN"/>
              <a:t>.</a:t>
            </a:r>
          </a:p>
          <a:p>
            <a:r>
              <a:rPr lang="vi-VN" b="1"/>
              <a:t>3. Trong Drift:</a:t>
            </a:r>
          </a:p>
          <a:p>
            <a:pPr rtl="0"/>
            <a:r>
              <a:rPr lang="vi-VN" sz="1200" kern="1200">
                <a:solidFill>
                  <a:schemeClr val="tx1"/>
                </a:solidFill>
                <a:latin typeface="+mn-lt"/>
                <a:ea typeface="+mn-ea"/>
                <a:cs typeface="+mn-cs"/>
              </a:rPr>
              <a:t>final products = await (select(productsTable)</a:t>
            </a:r>
          </a:p>
          <a:p>
            <a:pPr rtl="0"/>
            <a:r>
              <a:rPr lang="vi-VN" sz="1200" kern="1200">
                <a:solidFill>
                  <a:schemeClr val="tx1"/>
                </a:solidFill>
                <a:latin typeface="+mn-lt"/>
                <a:ea typeface="+mn-ea"/>
                <a:cs typeface="+mn-cs"/>
              </a:rPr>
              <a:t>  ..where((tbl) =&gt; tbl.price.isBiggerThanValue(1000)))</a:t>
            </a:r>
          </a:p>
          <a:p>
            <a:pPr rtl="0"/>
            <a:r>
              <a:rPr lang="vi-VN" sz="1200" kern="1200">
                <a:solidFill>
                  <a:schemeClr val="tx1"/>
                </a:solidFill>
                <a:latin typeface="+mn-lt"/>
                <a:ea typeface="+mn-ea"/>
                <a:cs typeface="+mn-cs"/>
              </a:rPr>
              <a:t>  .get();</a:t>
            </a:r>
          </a:p>
          <a:p>
            <a:r>
              <a:rPr lang="vi-VN"/>
              <a:t>➡️ Đây cũng là một </a:t>
            </a:r>
            <a:r>
              <a:rPr lang="vi-VN" b="1"/>
              <a:t>query</a:t>
            </a:r>
            <a:r>
              <a:rPr lang="vi-VN"/>
              <a:t>, nhưng viết bằng </a:t>
            </a:r>
            <a:r>
              <a:rPr lang="vi-VN" b="1"/>
              <a:t>cú pháp Dart</a:t>
            </a:r>
            <a:r>
              <a:rPr lang="vi-VN"/>
              <a:t> (ORM) thay vì SQL.</a:t>
            </a:r>
          </a:p>
          <a:p>
            <a:r>
              <a:rPr lang="en-US" b="1"/>
              <a:t>🧠 </a:t>
            </a:r>
            <a:r>
              <a:rPr lang="vi-VN" b="1"/>
              <a:t>Các loại query thường gặp:</a:t>
            </a:r>
          </a:p>
          <a:p>
            <a:r>
              <a:rPr lang="vi-VN"/>
              <a:t>Loại truy vấn</a:t>
            </a:r>
            <a:r>
              <a:rPr lang="en-US"/>
              <a:t>		</a:t>
            </a:r>
            <a:r>
              <a:rPr lang="vi-VN"/>
              <a:t>Mục đích</a:t>
            </a:r>
            <a:r>
              <a:rPr lang="en-US"/>
              <a:t>	</a:t>
            </a:r>
            <a:r>
              <a:rPr lang="vi-VN"/>
              <a:t>Ví dụ SQL</a:t>
            </a:r>
            <a:endParaRPr lang="en-US"/>
          </a:p>
          <a:p>
            <a:r>
              <a:rPr lang="vi-VN" b="1"/>
              <a:t>SELECT</a:t>
            </a:r>
            <a:r>
              <a:rPr lang="en-US" b="1"/>
              <a:t>		</a:t>
            </a:r>
            <a:r>
              <a:rPr lang="vi-VN"/>
              <a:t>Lấy dữ liệu</a:t>
            </a:r>
            <a:r>
              <a:rPr lang="en-US"/>
              <a:t>	</a:t>
            </a:r>
            <a:r>
              <a:rPr lang="vi-VN" sz="1200" kern="1200">
                <a:solidFill>
                  <a:schemeClr val="tx1"/>
                </a:solidFill>
                <a:latin typeface="+mn-lt"/>
                <a:ea typeface="+mn-ea"/>
                <a:cs typeface="+mn-cs"/>
              </a:rPr>
              <a:t>SELECT * FROM users;</a:t>
            </a:r>
            <a:endParaRPr lang="en-US" sz="1200" kern="1200">
              <a:solidFill>
                <a:schemeClr val="tx1"/>
              </a:solidFill>
              <a:latin typeface="+mn-lt"/>
              <a:ea typeface="+mn-ea"/>
              <a:cs typeface="+mn-cs"/>
            </a:endParaRPr>
          </a:p>
          <a:p>
            <a:r>
              <a:rPr lang="vi-VN" b="1"/>
              <a:t>INSERT</a:t>
            </a:r>
            <a:r>
              <a:rPr lang="en-US" b="1"/>
              <a:t>		</a:t>
            </a:r>
            <a:r>
              <a:rPr lang="vi-VN"/>
              <a:t>Thêm dữ liệu</a:t>
            </a:r>
            <a:r>
              <a:rPr lang="en-US"/>
              <a:t>	</a:t>
            </a:r>
            <a:r>
              <a:rPr lang="vi-VN" sz="1200" kern="1200">
                <a:solidFill>
                  <a:schemeClr val="tx1"/>
                </a:solidFill>
                <a:latin typeface="+mn-lt"/>
                <a:ea typeface="+mn-ea"/>
                <a:cs typeface="+mn-cs"/>
              </a:rPr>
              <a:t>INSERT INTO users(name, age) VALUES('Nam', 22);</a:t>
            </a:r>
            <a:endParaRPr lang="en-US" sz="1200" kern="1200">
              <a:solidFill>
                <a:schemeClr val="tx1"/>
              </a:solidFill>
              <a:latin typeface="+mn-lt"/>
              <a:ea typeface="+mn-ea"/>
              <a:cs typeface="+mn-cs"/>
            </a:endParaRPr>
          </a:p>
          <a:p>
            <a:r>
              <a:rPr lang="vi-VN" b="1"/>
              <a:t>UPDATE</a:t>
            </a:r>
            <a:r>
              <a:rPr lang="en-US" b="1"/>
              <a:t>		</a:t>
            </a:r>
            <a:r>
              <a:rPr lang="vi-VN"/>
              <a:t>Sửa dữ liệu</a:t>
            </a:r>
            <a:r>
              <a:rPr lang="en-US"/>
              <a:t>	</a:t>
            </a:r>
            <a:r>
              <a:rPr lang="vi-VN" sz="1200" kern="1200">
                <a:solidFill>
                  <a:schemeClr val="tx1"/>
                </a:solidFill>
                <a:latin typeface="+mn-lt"/>
                <a:ea typeface="+mn-ea"/>
                <a:cs typeface="+mn-cs"/>
              </a:rPr>
              <a:t>UPDATE users SET age = 23 WHERE id = 1;</a:t>
            </a:r>
            <a:endParaRPr lang="en-US" sz="1200" kern="1200">
              <a:solidFill>
                <a:schemeClr val="tx1"/>
              </a:solidFill>
              <a:latin typeface="+mn-lt"/>
              <a:ea typeface="+mn-ea"/>
              <a:cs typeface="+mn-cs"/>
            </a:endParaRPr>
          </a:p>
          <a:p>
            <a:r>
              <a:rPr lang="vi-VN" b="1"/>
              <a:t>DELETE</a:t>
            </a:r>
            <a:r>
              <a:rPr lang="en-US" b="1"/>
              <a:t>		</a:t>
            </a:r>
            <a:r>
              <a:rPr lang="vi-VN"/>
              <a:t>Xóa dữ liệu</a:t>
            </a:r>
            <a:r>
              <a:rPr lang="en-US"/>
              <a:t>	</a:t>
            </a:r>
            <a:r>
              <a:rPr lang="vi-VN" sz="1200" kern="1200">
                <a:solidFill>
                  <a:schemeClr val="tx1"/>
                </a:solidFill>
                <a:latin typeface="+mn-lt"/>
                <a:ea typeface="+mn-ea"/>
                <a:cs typeface="+mn-cs"/>
              </a:rPr>
              <a:t>DELETE FROM users WHERE id = 1;</a:t>
            </a:r>
            <a:endParaRPr lang="vi-VN"/>
          </a:p>
          <a:p>
            <a:r>
              <a:rPr lang="en-US" b="1"/>
              <a:t>🧰 </a:t>
            </a:r>
            <a:r>
              <a:rPr lang="vi-VN" b="1"/>
              <a:t>Tóm lại:</a:t>
            </a:r>
          </a:p>
          <a:p>
            <a:r>
              <a:rPr lang="vi-VN"/>
              <a:t>Thuật ngữ</a:t>
            </a:r>
            <a:r>
              <a:rPr lang="en-US"/>
              <a:t>		</a:t>
            </a:r>
            <a:r>
              <a:rPr lang="vi-VN"/>
              <a:t>Nghĩa đơn giản</a:t>
            </a:r>
            <a:endParaRPr lang="en-US"/>
          </a:p>
          <a:p>
            <a:r>
              <a:rPr lang="vi-VN" b="1"/>
              <a:t>Query</a:t>
            </a:r>
            <a:r>
              <a:rPr lang="en-US" b="1"/>
              <a:t>		</a:t>
            </a:r>
            <a:r>
              <a:rPr lang="vi-VN"/>
              <a:t>Câu truy vấn dữ liệu</a:t>
            </a:r>
            <a:endParaRPr lang="en-US"/>
          </a:p>
          <a:p>
            <a:r>
              <a:rPr lang="vi-VN" b="1"/>
              <a:t>Execute query</a:t>
            </a:r>
            <a:r>
              <a:rPr lang="en-US" b="1"/>
              <a:t>	</a:t>
            </a:r>
            <a:r>
              <a:rPr lang="vi-VN"/>
              <a:t>Thực thi truy vấn trên database</a:t>
            </a:r>
            <a:endParaRPr lang="en-US"/>
          </a:p>
          <a:p>
            <a:r>
              <a:rPr lang="vi-VN" b="1"/>
              <a:t>Query builder</a:t>
            </a:r>
            <a:r>
              <a:rPr lang="en-US" b="1"/>
              <a:t>		</a:t>
            </a:r>
            <a:r>
              <a:rPr lang="vi-VN"/>
              <a:t>Công cụ tạo query bằng code thay vì viết SQL trực tiếp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a:t>
            </a:r>
          </a:p>
          <a:p>
            <a:r>
              <a:rPr lang="en-US" b="1"/>
              <a:t>🧩 1️⃣ </a:t>
            </a:r>
            <a:r>
              <a:rPr lang="vi-VN" b="1"/>
              <a:t>Hàm </a:t>
            </a:r>
            <a:r>
              <a:rPr lang="vi-VN" sz="1200" b="1" kern="1200">
                <a:solidFill>
                  <a:schemeClr val="tx1"/>
                </a:solidFill>
                <a:latin typeface="+mn-lt"/>
                <a:ea typeface="+mn-ea"/>
                <a:cs typeface="+mn-cs"/>
              </a:rPr>
              <a:t>_loadData()</a:t>
            </a:r>
            <a:endParaRPr lang="vi-VN" b="1"/>
          </a:p>
          <a:p>
            <a:pPr rtl="0"/>
            <a:r>
              <a:rPr lang="vi-VN" sz="1200" kern="1200">
                <a:solidFill>
                  <a:schemeClr val="tx1"/>
                </a:solidFill>
                <a:latin typeface="+mn-lt"/>
                <a:ea typeface="+mn-ea"/>
                <a:cs typeface="+mn-cs"/>
              </a:rPr>
              <a:t>Future&lt;void&gt; _loadData() async {</a:t>
            </a:r>
          </a:p>
          <a:p>
            <a:pPr rtl="0"/>
            <a:r>
              <a:rPr lang="vi-VN" sz="1200" kern="1200">
                <a:solidFill>
                  <a:schemeClr val="tx1"/>
                </a:solidFill>
                <a:latin typeface="+mn-lt"/>
                <a:ea typeface="+mn-ea"/>
                <a:cs typeface="+mn-cs"/>
              </a:rPr>
              <a:t>  final cats = await DBHelper.getAllCategories();</a:t>
            </a:r>
          </a:p>
          <a:p>
            <a:pPr rtl="0"/>
            <a:r>
              <a:rPr lang="vi-VN" sz="1200" kern="1200">
                <a:solidFill>
                  <a:schemeClr val="tx1"/>
                </a:solidFill>
                <a:latin typeface="+mn-lt"/>
                <a:ea typeface="+mn-ea"/>
                <a:cs typeface="+mn-cs"/>
              </a:rPr>
              <a:t>  final products = await DBHelper.getProductsWithCategory();</a:t>
            </a:r>
          </a:p>
          <a:p>
            <a:pPr rtl="0"/>
            <a:r>
              <a:rPr lang="vi-VN" sz="1200" kern="1200">
                <a:solidFill>
                  <a:schemeClr val="tx1"/>
                </a:solidFill>
                <a:latin typeface="+mn-lt"/>
                <a:ea typeface="+mn-ea"/>
                <a:cs typeface="+mn-cs"/>
              </a:rPr>
              <a:t>  setState(() {</a:t>
            </a:r>
          </a:p>
          <a:p>
            <a:pPr rtl="0"/>
            <a:r>
              <a:rPr lang="vi-VN" sz="1200" kern="1200">
                <a:solidFill>
                  <a:schemeClr val="tx1"/>
                </a:solidFill>
                <a:latin typeface="+mn-lt"/>
                <a:ea typeface="+mn-ea"/>
                <a:cs typeface="+mn-cs"/>
              </a:rPr>
              <a:t>    allCategories = cats;</a:t>
            </a:r>
          </a:p>
          <a:p>
            <a:pPr rtl="0"/>
            <a:r>
              <a:rPr lang="vi-VN" sz="1200" kern="1200">
                <a:solidFill>
                  <a:schemeClr val="tx1"/>
                </a:solidFill>
                <a:latin typeface="+mn-lt"/>
                <a:ea typeface="+mn-ea"/>
                <a:cs typeface="+mn-cs"/>
              </a:rPr>
              <a:t>    displayedProducts = products;</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a:t>
            </a:r>
          </a:p>
          <a:p>
            <a:br>
              <a:rPr lang="vi-VN"/>
            </a:br>
            <a:endParaRPr lang="vi-VN"/>
          </a:p>
          <a:p>
            <a:r>
              <a:rPr lang="en-US" b="1"/>
              <a:t>✅ </a:t>
            </a:r>
            <a:r>
              <a:rPr lang="vi-VN" b="1"/>
              <a:t>Mục đích</a:t>
            </a:r>
          </a:p>
          <a:p>
            <a:r>
              <a:rPr lang="vi-VN"/>
              <a:t>Hàm này dùng để </a:t>
            </a:r>
            <a:r>
              <a:rPr lang="vi-VN" b="1"/>
              <a:t>lấy toàn bộ dữ liệu danh mục (categories)</a:t>
            </a:r>
            <a:r>
              <a:rPr lang="vi-VN"/>
              <a:t> và </a:t>
            </a:r>
            <a:r>
              <a:rPr lang="vi-VN" b="1"/>
              <a:t>sản phẩm (products)</a:t>
            </a:r>
            <a:r>
              <a:rPr lang="vi-VN"/>
              <a:t> từ database SQLite,</a:t>
            </a:r>
            <a:br>
              <a:rPr lang="vi-VN"/>
            </a:br>
            <a:r>
              <a:rPr lang="vi-VN"/>
              <a:t>sau đó </a:t>
            </a:r>
            <a:r>
              <a:rPr lang="vi-VN" b="1"/>
              <a:t>lưu vào biến trong State</a:t>
            </a:r>
            <a:r>
              <a:rPr lang="vi-VN"/>
              <a:t> để hiển thị ra giao diện.</a:t>
            </a:r>
          </a:p>
          <a:p>
            <a:br>
              <a:rPr lang="vi-VN"/>
            </a:br>
            <a:endParaRPr lang="vi-VN"/>
          </a:p>
          <a:p>
            <a:r>
              <a:rPr lang="en-US" b="1"/>
              <a:t>🧠 </a:t>
            </a:r>
            <a:r>
              <a:rPr lang="vi-VN" b="1"/>
              <a:t>Giải thích từng dòng</a:t>
            </a:r>
          </a:p>
          <a:p>
            <a:r>
              <a:rPr lang="vi-VN"/>
              <a:t>Dòng</a:t>
            </a:r>
            <a:r>
              <a:rPr lang="en-US"/>
              <a:t>							</a:t>
            </a:r>
            <a:r>
              <a:rPr lang="vi-VN"/>
              <a:t>Giải thích</a:t>
            </a:r>
            <a:endParaRPr lang="en-US"/>
          </a:p>
          <a:p>
            <a:r>
              <a:rPr lang="vi-VN" sz="1200" kern="1200">
                <a:solidFill>
                  <a:schemeClr val="tx1"/>
                </a:solidFill>
                <a:latin typeface="+mn-lt"/>
                <a:ea typeface="+mn-ea"/>
                <a:cs typeface="+mn-cs"/>
              </a:rPr>
              <a:t>Future&lt;void&gt; _loadData() async {</a:t>
            </a:r>
            <a:r>
              <a:rPr lang="en-US" sz="1200" kern="1200">
                <a:solidFill>
                  <a:schemeClr val="tx1"/>
                </a:solidFill>
                <a:latin typeface="+mn-lt"/>
                <a:ea typeface="+mn-ea"/>
                <a:cs typeface="+mn-cs"/>
              </a:rPr>
              <a:t>			</a:t>
            </a:r>
            <a:r>
              <a:rPr lang="vi-VN"/>
              <a:t>Định nghĩa một hàm bất đồng bộ (asynchronous function) — vì việc đọc database mất thời gian. </a:t>
            </a:r>
            <a:r>
              <a:rPr lang="en-US"/>
              <a:t>					</a:t>
            </a:r>
            <a:r>
              <a:rPr lang="vi-VN" sz="1200" kern="1200">
                <a:solidFill>
                  <a:schemeClr val="tx1"/>
                </a:solidFill>
                <a:latin typeface="+mn-lt"/>
                <a:ea typeface="+mn-ea"/>
                <a:cs typeface="+mn-cs"/>
              </a:rPr>
              <a:t>Future&lt;void&gt;</a:t>
            </a:r>
            <a:r>
              <a:rPr lang="vi-VN"/>
              <a:t> nghĩa là hàm này chạy xong </a:t>
            </a:r>
            <a:r>
              <a:rPr lang="vi-VN" b="1"/>
              <a:t>không trả giá trị</a:t>
            </a:r>
            <a:r>
              <a:rPr lang="vi-VN"/>
              <a:t>, chỉ thực hiện hành động.</a:t>
            </a:r>
            <a:endParaRPr lang="en-US"/>
          </a:p>
          <a:p>
            <a:r>
              <a:rPr lang="en-US" sz="1200" kern="1200">
                <a:solidFill>
                  <a:schemeClr val="tx1"/>
                </a:solidFill>
                <a:latin typeface="+mn-lt"/>
                <a:ea typeface="+mn-ea"/>
                <a:cs typeface="+mn-cs"/>
              </a:rPr>
              <a:t> </a:t>
            </a:r>
            <a:r>
              <a:rPr lang="vi-VN" sz="1200" kern="1200">
                <a:solidFill>
                  <a:schemeClr val="tx1"/>
                </a:solidFill>
                <a:latin typeface="+mn-lt"/>
                <a:ea typeface="+mn-ea"/>
                <a:cs typeface="+mn-cs"/>
              </a:rPr>
              <a:t>final cats = await DBHelper.getAllCategories();</a:t>
            </a:r>
            <a:r>
              <a:rPr lang="en-US" sz="1200" kern="1200">
                <a:solidFill>
                  <a:schemeClr val="tx1"/>
                </a:solidFill>
                <a:latin typeface="+mn-lt"/>
                <a:ea typeface="+mn-ea"/>
                <a:cs typeface="+mn-cs"/>
              </a:rPr>
              <a:t>		</a:t>
            </a:r>
            <a:r>
              <a:rPr lang="vi-VN"/>
              <a:t>Gọi đến hàm </a:t>
            </a:r>
            <a:r>
              <a:rPr lang="vi-VN" sz="1200" kern="1200">
                <a:solidFill>
                  <a:schemeClr val="tx1"/>
                </a:solidFill>
                <a:latin typeface="+mn-lt"/>
                <a:ea typeface="+mn-ea"/>
                <a:cs typeface="+mn-cs"/>
              </a:rPr>
              <a:t>DBHelper.getAllCategories()</a:t>
            </a:r>
            <a:r>
              <a:rPr lang="vi-VN"/>
              <a:t> để lấy </a:t>
            </a:r>
            <a:r>
              <a:rPr lang="vi-VN" b="1"/>
              <a:t>danh sách các danh mục</a:t>
            </a:r>
            <a:r>
              <a:rPr lang="vi-VN"/>
              <a:t> từ bảng </a:t>
            </a:r>
            <a:r>
              <a:rPr lang="vi-VN" sz="1200" kern="1200">
                <a:solidFill>
                  <a:schemeClr val="tx1"/>
                </a:solidFill>
                <a:latin typeface="+mn-lt"/>
                <a:ea typeface="+mn-ea"/>
                <a:cs typeface="+mn-cs"/>
              </a:rPr>
              <a:t>categories</a:t>
            </a:r>
            <a:r>
              <a:rPr lang="vi-VN"/>
              <a:t>. </a:t>
            </a:r>
            <a:br>
              <a:rPr lang="vi-VN"/>
            </a:br>
            <a:r>
              <a:rPr lang="en-US"/>
              <a:t>					</a:t>
            </a:r>
            <a:r>
              <a:rPr lang="vi-VN"/>
              <a:t>– </a:t>
            </a:r>
            <a:r>
              <a:rPr lang="vi-VN" sz="1200" kern="1200">
                <a:solidFill>
                  <a:schemeClr val="tx1"/>
                </a:solidFill>
                <a:latin typeface="+mn-lt"/>
                <a:ea typeface="+mn-ea"/>
                <a:cs typeface="+mn-cs"/>
              </a:rPr>
              <a:t>await</a:t>
            </a:r>
            <a:r>
              <a:rPr lang="vi-VN"/>
              <a:t> giúp </a:t>
            </a:r>
            <a:r>
              <a:rPr lang="vi-VN" b="1"/>
              <a:t>chờ dữ liệu được lấy xong</a:t>
            </a:r>
            <a:r>
              <a:rPr lang="vi-VN"/>
              <a:t> trước khi chạy dòng tiếp theo. </a:t>
            </a:r>
            <a:br>
              <a:rPr lang="vi-VN"/>
            </a:br>
            <a:r>
              <a:rPr lang="en-US"/>
              <a:t>					</a:t>
            </a:r>
            <a:r>
              <a:rPr lang="vi-VN"/>
              <a:t>– Kết quả là </a:t>
            </a:r>
            <a:r>
              <a:rPr lang="vi-VN" sz="1200" kern="1200">
                <a:solidFill>
                  <a:schemeClr val="tx1"/>
                </a:solidFill>
                <a:latin typeface="+mn-lt"/>
                <a:ea typeface="+mn-ea"/>
                <a:cs typeface="+mn-cs"/>
              </a:rPr>
              <a:t>List&lt;Category&gt;</a:t>
            </a:r>
            <a:r>
              <a:rPr lang="vi-VN"/>
              <a:t> gán vào </a:t>
            </a:r>
            <a:r>
              <a:rPr lang="vi-VN" sz="1200" kern="1200">
                <a:solidFill>
                  <a:schemeClr val="tx1"/>
                </a:solidFill>
                <a:latin typeface="+mn-lt"/>
                <a:ea typeface="+mn-ea"/>
                <a:cs typeface="+mn-cs"/>
              </a:rPr>
              <a:t>cats</a:t>
            </a:r>
            <a:r>
              <a:rPr lang="vi-VN"/>
              <a:t>.</a:t>
            </a:r>
            <a:endParaRPr lang="en-US"/>
          </a:p>
          <a:p>
            <a:r>
              <a:rPr lang="vi-VN" sz="1200" kern="1200">
                <a:solidFill>
                  <a:schemeClr val="tx1"/>
                </a:solidFill>
                <a:latin typeface="+mn-lt"/>
                <a:ea typeface="+mn-ea"/>
                <a:cs typeface="+mn-cs"/>
              </a:rPr>
              <a:t>final products = await DBHelper.getProductsWithCategory()</a:t>
            </a:r>
            <a:r>
              <a:rPr lang="en-US" sz="1200" kern="1200">
                <a:solidFill>
                  <a:schemeClr val="tx1"/>
                </a:solidFill>
                <a:latin typeface="+mn-lt"/>
                <a:ea typeface="+mn-ea"/>
                <a:cs typeface="+mn-cs"/>
              </a:rPr>
              <a:t>	</a:t>
            </a:r>
            <a:r>
              <a:rPr lang="vi-VN" sz="1200" kern="1200">
                <a:solidFill>
                  <a:schemeClr val="tx1"/>
                </a:solidFill>
                <a:latin typeface="+mn-lt"/>
                <a:ea typeface="+mn-ea"/>
                <a:cs typeface="+mn-cs"/>
              </a:rPr>
              <a:t>;</a:t>
            </a:r>
            <a:r>
              <a:rPr lang="vi-VN"/>
              <a:t>Gọi hàm </a:t>
            </a:r>
            <a:r>
              <a:rPr lang="vi-VN" sz="1200" kern="1200">
                <a:solidFill>
                  <a:schemeClr val="tx1"/>
                </a:solidFill>
                <a:latin typeface="+mn-lt"/>
                <a:ea typeface="+mn-ea"/>
                <a:cs typeface="+mn-cs"/>
              </a:rPr>
              <a:t>getProductsWithCategory()</a:t>
            </a:r>
            <a:r>
              <a:rPr lang="vi-VN"/>
              <a:t> (JOIN hai bảng) để lấy danh sách sản phẩm kèm tên danh </a:t>
            </a:r>
            <a:r>
              <a:rPr lang="en-US"/>
              <a:t>					</a:t>
            </a:r>
            <a:r>
              <a:rPr lang="vi-VN"/>
              <a:t>mục. </a:t>
            </a:r>
            <a:br>
              <a:rPr lang="vi-VN"/>
            </a:br>
            <a:r>
              <a:rPr lang="en-US"/>
              <a:t>					</a:t>
            </a:r>
            <a:r>
              <a:rPr lang="vi-VN"/>
              <a:t>Kết quả là </a:t>
            </a:r>
            <a:r>
              <a:rPr lang="vi-VN" sz="1200" kern="1200">
                <a:solidFill>
                  <a:schemeClr val="tx1"/>
                </a:solidFill>
                <a:latin typeface="+mn-lt"/>
                <a:ea typeface="+mn-ea"/>
                <a:cs typeface="+mn-cs"/>
              </a:rPr>
              <a:t>List&lt;Map&lt;String, dynamic&gt;&gt;</a:t>
            </a:r>
            <a:r>
              <a:rPr lang="vi-VN"/>
              <a:t>, gán vào </a:t>
            </a:r>
            <a:r>
              <a:rPr lang="vi-VN" sz="1200" kern="1200">
                <a:solidFill>
                  <a:schemeClr val="tx1"/>
                </a:solidFill>
                <a:latin typeface="+mn-lt"/>
                <a:ea typeface="+mn-ea"/>
                <a:cs typeface="+mn-cs"/>
              </a:rPr>
              <a:t>products</a:t>
            </a:r>
            <a:r>
              <a:rPr lang="vi-VN"/>
              <a:t>.</a:t>
            </a:r>
            <a:endParaRPr lang="en-US"/>
          </a:p>
          <a:p>
            <a:r>
              <a:rPr lang="vi-VN" sz="1200" kern="1200">
                <a:solidFill>
                  <a:schemeClr val="tx1"/>
                </a:solidFill>
                <a:latin typeface="+mn-lt"/>
                <a:ea typeface="+mn-ea"/>
                <a:cs typeface="+mn-cs"/>
              </a:rPr>
              <a:t>setState(() { ... });</a:t>
            </a:r>
            <a:r>
              <a:rPr lang="en-US" sz="1200" kern="1200">
                <a:solidFill>
                  <a:schemeClr val="tx1"/>
                </a:solidFill>
                <a:latin typeface="+mn-lt"/>
                <a:ea typeface="+mn-ea"/>
                <a:cs typeface="+mn-cs"/>
              </a:rPr>
              <a:t>				</a:t>
            </a:r>
            <a:r>
              <a:rPr lang="vi-VN"/>
              <a:t>Gọi hàm này để </a:t>
            </a:r>
            <a:r>
              <a:rPr lang="vi-VN" b="1"/>
              <a:t>báo cho Flutter biết rằng dữ liệu trong State đã thay đổi</a:t>
            </a:r>
            <a:r>
              <a:rPr lang="vi-VN"/>
              <a:t>, và yêu cầu giao diện </a:t>
            </a:r>
            <a:r>
              <a:rPr lang="en-US"/>
              <a:t>					</a:t>
            </a:r>
            <a:r>
              <a:rPr lang="vi-VN"/>
              <a:t>(UI) </a:t>
            </a:r>
            <a:r>
              <a:rPr lang="vi-VN" b="1"/>
              <a:t>render lại</a:t>
            </a:r>
            <a:r>
              <a:rPr lang="vi-VN"/>
              <a:t> với dữ liệu mới.</a:t>
            </a:r>
            <a:endParaRPr lang="en-US"/>
          </a:p>
          <a:p>
            <a:r>
              <a:rPr lang="vi-VN" sz="1200" kern="1200">
                <a:solidFill>
                  <a:schemeClr val="tx1"/>
                </a:solidFill>
                <a:latin typeface="+mn-lt"/>
                <a:ea typeface="+mn-ea"/>
                <a:cs typeface="+mn-cs"/>
              </a:rPr>
              <a:t>allCategories = cats;</a:t>
            </a:r>
            <a:r>
              <a:rPr lang="en-US" sz="1200" kern="1200">
                <a:solidFill>
                  <a:schemeClr val="tx1"/>
                </a:solidFill>
                <a:latin typeface="+mn-lt"/>
                <a:ea typeface="+mn-ea"/>
                <a:cs typeface="+mn-cs"/>
              </a:rPr>
              <a:t>				</a:t>
            </a:r>
            <a:r>
              <a:rPr lang="vi-VN"/>
              <a:t>Cập nhật biến </a:t>
            </a:r>
            <a:r>
              <a:rPr lang="vi-VN" sz="1200" kern="1200">
                <a:solidFill>
                  <a:schemeClr val="tx1"/>
                </a:solidFill>
                <a:latin typeface="+mn-lt"/>
                <a:ea typeface="+mn-ea"/>
                <a:cs typeface="+mn-cs"/>
              </a:rPr>
              <a:t>allCategories</a:t>
            </a:r>
            <a:r>
              <a:rPr lang="vi-VN"/>
              <a:t> (được khai báo trong State) để chứa toàn bộ danh mục vừa tải về.</a:t>
            </a:r>
            <a:endParaRPr lang="en-US"/>
          </a:p>
          <a:p>
            <a:r>
              <a:rPr lang="vi-VN" sz="1200" kern="1200">
                <a:solidFill>
                  <a:schemeClr val="tx1"/>
                </a:solidFill>
                <a:latin typeface="+mn-lt"/>
                <a:ea typeface="+mn-ea"/>
                <a:cs typeface="+mn-cs"/>
              </a:rPr>
              <a:t>displayedProducts = products;</a:t>
            </a:r>
            <a:r>
              <a:rPr lang="en-US" sz="1200" kern="1200">
                <a:solidFill>
                  <a:schemeClr val="tx1"/>
                </a:solidFill>
                <a:latin typeface="+mn-lt"/>
                <a:ea typeface="+mn-ea"/>
                <a:cs typeface="+mn-cs"/>
              </a:rPr>
              <a:t>			</a:t>
            </a:r>
            <a:r>
              <a:rPr lang="vi-VN"/>
              <a:t>Gán danh sách sản phẩm (có cả category name) vào biến hiển thị </a:t>
            </a:r>
            <a:r>
              <a:rPr lang="vi-VN" sz="1200" kern="1200">
                <a:solidFill>
                  <a:schemeClr val="tx1"/>
                </a:solidFill>
                <a:latin typeface="+mn-lt"/>
                <a:ea typeface="+mn-ea"/>
                <a:cs typeface="+mn-cs"/>
              </a:rPr>
              <a:t>displayedProducts</a:t>
            </a:r>
            <a:r>
              <a:rPr lang="vi-VN"/>
              <a:t>, để ListView </a:t>
            </a:r>
            <a:r>
              <a:rPr lang="en-US"/>
              <a:t>					</a:t>
            </a:r>
            <a:r>
              <a:rPr lang="vi-VN"/>
              <a:t>trong UI sử dụng.</a:t>
            </a:r>
          </a:p>
          <a:p>
            <a:br>
              <a:rPr lang="vi-VN"/>
            </a:br>
            <a:endParaRPr lang="vi-VN"/>
          </a:p>
          <a:p>
            <a:r>
              <a:rPr lang="en-US" b="1"/>
              <a:t>📊 </a:t>
            </a:r>
            <a:r>
              <a:rPr lang="vi-VN" b="1"/>
              <a:t>Tóm tắt:</a:t>
            </a:r>
          </a:p>
          <a:p>
            <a:r>
              <a:rPr lang="vi-VN" b="1"/>
              <a:t>Lấy dữ liệu gốc từ DB</a:t>
            </a:r>
            <a:endParaRPr lang="vi-VN"/>
          </a:p>
          <a:p>
            <a:r>
              <a:rPr lang="vi-VN" b="1"/>
              <a:t>Lưu vào biến State</a:t>
            </a:r>
            <a:endParaRPr lang="vi-VN"/>
          </a:p>
          <a:p>
            <a:r>
              <a:rPr lang="vi-VN" b="1"/>
              <a:t>Gọi </a:t>
            </a:r>
            <a:r>
              <a:rPr lang="vi-VN" sz="1200" b="1" kern="1200">
                <a:solidFill>
                  <a:schemeClr val="tx1"/>
                </a:solidFill>
                <a:latin typeface="+mn-lt"/>
                <a:ea typeface="+mn-ea"/>
                <a:cs typeface="+mn-cs"/>
              </a:rPr>
              <a:t>setState()</a:t>
            </a:r>
            <a:r>
              <a:rPr lang="vi-VN" b="1"/>
              <a:t> để cập nhật UI</a:t>
            </a:r>
            <a:endParaRPr lang="vi-VN"/>
          </a:p>
          <a:p>
            <a:br>
              <a:rPr lang="vi-VN"/>
            </a:br>
            <a:endParaRPr lang="vi-VN"/>
          </a:p>
          <a:p>
            <a:r>
              <a:rPr lang="en-US" b="1"/>
              <a:t>🧩 2️⃣ </a:t>
            </a:r>
            <a:r>
              <a:rPr lang="vi-VN" b="1"/>
              <a:t>Hàm </a:t>
            </a:r>
            <a:r>
              <a:rPr lang="vi-VN" sz="1200" b="1" kern="1200">
                <a:solidFill>
                  <a:schemeClr val="tx1"/>
                </a:solidFill>
                <a:latin typeface="+mn-lt"/>
                <a:ea typeface="+mn-ea"/>
                <a:cs typeface="+mn-cs"/>
              </a:rPr>
              <a:t>_applyFilters()</a:t>
            </a:r>
            <a:endParaRPr lang="vi-VN" b="1"/>
          </a:p>
          <a:p>
            <a:pPr rtl="0"/>
            <a:r>
              <a:rPr lang="vi-VN" sz="1200" kern="1200">
                <a:solidFill>
                  <a:schemeClr val="tx1"/>
                </a:solidFill>
                <a:latin typeface="+mn-lt"/>
                <a:ea typeface="+mn-ea"/>
                <a:cs typeface="+mn-cs"/>
              </a:rPr>
              <a:t>void _applyFilters() async {</a:t>
            </a:r>
          </a:p>
          <a:p>
            <a:pPr rtl="0"/>
            <a:r>
              <a:rPr lang="vi-VN" sz="1200" kern="1200">
                <a:solidFill>
                  <a:schemeClr val="tx1"/>
                </a:solidFill>
                <a:latin typeface="+mn-lt"/>
                <a:ea typeface="+mn-ea"/>
                <a:cs typeface="+mn-cs"/>
              </a:rPr>
              <a:t>  final dbData = await DBHelper.getProductsWithCategory();</a:t>
            </a:r>
          </a:p>
          <a:p>
            <a:pPr rtl="0"/>
            <a:r>
              <a:rPr lang="vi-VN" sz="1200" kern="1200">
                <a:solidFill>
                  <a:schemeClr val="tx1"/>
                </a:solidFill>
                <a:latin typeface="+mn-lt"/>
                <a:ea typeface="+mn-ea"/>
                <a:cs typeface="+mn-cs"/>
              </a:rPr>
              <a:t>  setState(() {</a:t>
            </a:r>
          </a:p>
          <a:p>
            <a:pPr rtl="0"/>
            <a:r>
              <a:rPr lang="vi-VN" sz="1200" kern="1200">
                <a:solidFill>
                  <a:schemeClr val="tx1"/>
                </a:solidFill>
                <a:latin typeface="+mn-lt"/>
                <a:ea typeface="+mn-ea"/>
                <a:cs typeface="+mn-cs"/>
              </a:rPr>
              <a:t>    displayedProducts = dbData.where((p) {</a:t>
            </a:r>
          </a:p>
          <a:p>
            <a:pPr rtl="0"/>
            <a:r>
              <a:rPr lang="vi-VN" sz="1200" kern="1200">
                <a:solidFill>
                  <a:schemeClr val="tx1"/>
                </a:solidFill>
                <a:latin typeface="+mn-lt"/>
                <a:ea typeface="+mn-ea"/>
                <a:cs typeface="+mn-cs"/>
              </a:rPr>
              <a:t>      final matchCategory =</a:t>
            </a:r>
          </a:p>
          <a:p>
            <a:pPr rtl="0"/>
            <a:r>
              <a:rPr lang="vi-VN" sz="1200" kern="1200">
                <a:solidFill>
                  <a:schemeClr val="tx1"/>
                </a:solidFill>
                <a:latin typeface="+mn-lt"/>
                <a:ea typeface="+mn-ea"/>
                <a:cs typeface="+mn-cs"/>
              </a:rPr>
              <a:t>          (filterCategory == 0 || p['category_id'] == filterCategory);</a:t>
            </a:r>
          </a:p>
          <a:p>
            <a:pPr rtl="0"/>
            <a:r>
              <a:rPr lang="vi-VN" sz="1200" kern="1200">
                <a:solidFill>
                  <a:schemeClr val="tx1"/>
                </a:solidFill>
                <a:latin typeface="+mn-lt"/>
                <a:ea typeface="+mn-ea"/>
                <a:cs typeface="+mn-cs"/>
              </a:rPr>
              <a:t>      final matchSearch = p['name']</a:t>
            </a:r>
          </a:p>
          <a:p>
            <a:pPr rtl="0"/>
            <a:r>
              <a:rPr lang="vi-VN" sz="1200" kern="1200">
                <a:solidFill>
                  <a:schemeClr val="tx1"/>
                </a:solidFill>
                <a:latin typeface="+mn-lt"/>
                <a:ea typeface="+mn-ea"/>
                <a:cs typeface="+mn-cs"/>
              </a:rPr>
              <a:t>          .toString()</a:t>
            </a:r>
          </a:p>
          <a:p>
            <a:pPr rtl="0"/>
            <a:r>
              <a:rPr lang="vi-VN" sz="1200" kern="1200">
                <a:solidFill>
                  <a:schemeClr val="tx1"/>
                </a:solidFill>
                <a:latin typeface="+mn-lt"/>
                <a:ea typeface="+mn-ea"/>
                <a:cs typeface="+mn-cs"/>
              </a:rPr>
              <a:t>          .toLowerCase()</a:t>
            </a:r>
          </a:p>
          <a:p>
            <a:pPr rtl="0"/>
            <a:r>
              <a:rPr lang="vi-VN" sz="1200" kern="1200">
                <a:solidFill>
                  <a:schemeClr val="tx1"/>
                </a:solidFill>
                <a:latin typeface="+mn-lt"/>
                <a:ea typeface="+mn-ea"/>
                <a:cs typeface="+mn-cs"/>
              </a:rPr>
              <a:t>          .contains(searchText.toLowerCase());</a:t>
            </a:r>
          </a:p>
          <a:p>
            <a:pPr rtl="0"/>
            <a:r>
              <a:rPr lang="vi-VN" sz="1200" kern="1200">
                <a:solidFill>
                  <a:schemeClr val="tx1"/>
                </a:solidFill>
                <a:latin typeface="+mn-lt"/>
                <a:ea typeface="+mn-ea"/>
                <a:cs typeface="+mn-cs"/>
              </a:rPr>
              <a:t>      return matchCategory &amp;&amp; matchSearch;</a:t>
            </a:r>
          </a:p>
          <a:p>
            <a:pPr rtl="0"/>
            <a:r>
              <a:rPr lang="vi-VN" sz="1200" kern="1200">
                <a:solidFill>
                  <a:schemeClr val="tx1"/>
                </a:solidFill>
                <a:latin typeface="+mn-lt"/>
                <a:ea typeface="+mn-ea"/>
                <a:cs typeface="+mn-cs"/>
              </a:rPr>
              <a:t>    }).toList();</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a:t>
            </a:r>
          </a:p>
          <a:p>
            <a:br>
              <a:rPr lang="vi-VN"/>
            </a:br>
            <a:endParaRPr lang="vi-VN"/>
          </a:p>
          <a:p>
            <a:r>
              <a:rPr lang="en-US" b="1"/>
              <a:t>✅ </a:t>
            </a:r>
            <a:r>
              <a:rPr lang="vi-VN" b="1"/>
              <a:t>Mục đích</a:t>
            </a:r>
          </a:p>
          <a:p>
            <a:r>
              <a:rPr lang="vi-VN"/>
              <a:t>Hàm này dùng để </a:t>
            </a:r>
            <a:r>
              <a:rPr lang="vi-VN" b="1"/>
              <a:t>lọc danh sách sản phẩm</a:t>
            </a:r>
            <a:r>
              <a:rPr lang="vi-VN"/>
              <a:t> theo:</a:t>
            </a:r>
          </a:p>
          <a:p>
            <a:r>
              <a:rPr lang="vi-VN" b="1"/>
              <a:t>Danh mục đang chọn (</a:t>
            </a:r>
            <a:r>
              <a:rPr lang="vi-VN" sz="1200" b="1" kern="1200">
                <a:solidFill>
                  <a:schemeClr val="tx1"/>
                </a:solidFill>
                <a:latin typeface="+mn-lt"/>
                <a:ea typeface="+mn-ea"/>
                <a:cs typeface="+mn-cs"/>
              </a:rPr>
              <a:t>filterCategory</a:t>
            </a:r>
            <a:r>
              <a:rPr lang="vi-VN" b="1"/>
              <a:t>)</a:t>
            </a:r>
            <a:r>
              <a:rPr lang="vi-VN"/>
              <a:t>, và</a:t>
            </a:r>
          </a:p>
          <a:p>
            <a:r>
              <a:rPr lang="vi-VN" b="1"/>
              <a:t>Từ khóa tìm kiếm (</a:t>
            </a:r>
            <a:r>
              <a:rPr lang="vi-VN" sz="1200" b="1" kern="1200">
                <a:solidFill>
                  <a:schemeClr val="tx1"/>
                </a:solidFill>
                <a:latin typeface="+mn-lt"/>
                <a:ea typeface="+mn-ea"/>
                <a:cs typeface="+mn-cs"/>
              </a:rPr>
              <a:t>searchText</a:t>
            </a:r>
            <a:r>
              <a:rPr lang="vi-VN" b="1"/>
              <a:t>)</a:t>
            </a:r>
            <a:r>
              <a:rPr lang="vi-VN"/>
              <a:t>.</a:t>
            </a:r>
          </a:p>
          <a:p>
            <a:r>
              <a:rPr lang="vi-VN"/>
              <a:t>Sau khi lọc xong, cập nhật lại </a:t>
            </a:r>
            <a:r>
              <a:rPr lang="vi-VN" sz="1200" kern="1200">
                <a:solidFill>
                  <a:schemeClr val="tx1"/>
                </a:solidFill>
                <a:latin typeface="+mn-lt"/>
                <a:ea typeface="+mn-ea"/>
                <a:cs typeface="+mn-cs"/>
              </a:rPr>
              <a:t>displayedProducts</a:t>
            </a:r>
            <a:r>
              <a:rPr lang="vi-VN"/>
              <a:t> để UI hiển thị danh sách phù hợp.</a:t>
            </a:r>
          </a:p>
          <a:p>
            <a:br>
              <a:rPr lang="vi-VN"/>
            </a:br>
            <a:endParaRPr lang="vi-VN"/>
          </a:p>
          <a:p>
            <a:r>
              <a:rPr lang="en-US" b="1"/>
              <a:t>🧠 </a:t>
            </a:r>
            <a:r>
              <a:rPr lang="vi-VN" b="1"/>
              <a:t>Giải thích từng dòng</a:t>
            </a:r>
          </a:p>
          <a:p>
            <a:r>
              <a:rPr lang="vi-VN"/>
              <a:t>Dòng</a:t>
            </a:r>
            <a:r>
              <a:rPr lang="en-US"/>
              <a:t>					</a:t>
            </a:r>
            <a:r>
              <a:rPr lang="vi-VN"/>
              <a:t>Giải thích</a:t>
            </a:r>
            <a:endParaRPr lang="en-US"/>
          </a:p>
          <a:p>
            <a:r>
              <a:rPr lang="vi-VN" sz="1200" kern="1200">
                <a:solidFill>
                  <a:schemeClr val="tx1"/>
                </a:solidFill>
                <a:latin typeface="+mn-lt"/>
                <a:ea typeface="+mn-ea"/>
                <a:cs typeface="+mn-cs"/>
              </a:rPr>
              <a:t>void _applyFilters() async {</a:t>
            </a:r>
            <a:r>
              <a:rPr lang="en-US" sz="1200" kern="1200">
                <a:solidFill>
                  <a:schemeClr val="tx1"/>
                </a:solidFill>
                <a:latin typeface="+mn-lt"/>
                <a:ea typeface="+mn-ea"/>
                <a:cs typeface="+mn-cs"/>
              </a:rPr>
              <a:t>				</a:t>
            </a:r>
            <a:r>
              <a:rPr lang="vi-VN"/>
              <a:t>Hàm bất đồng bộ (có thể chờ truy vấn DB), không trả giá trị.</a:t>
            </a:r>
            <a:endParaRPr lang="en-US"/>
          </a:p>
          <a:p>
            <a:r>
              <a:rPr lang="vi-VN" sz="1200" kern="1200">
                <a:solidFill>
                  <a:schemeClr val="tx1"/>
                </a:solidFill>
                <a:latin typeface="+mn-lt"/>
                <a:ea typeface="+mn-ea"/>
                <a:cs typeface="+mn-cs"/>
              </a:rPr>
              <a:t>final dbData = await DBHelper.getProductsWithCategory();</a:t>
            </a:r>
            <a:r>
              <a:rPr lang="en-US" sz="1200" kern="1200">
                <a:solidFill>
                  <a:schemeClr val="tx1"/>
                </a:solidFill>
                <a:latin typeface="+mn-lt"/>
                <a:ea typeface="+mn-ea"/>
                <a:cs typeface="+mn-cs"/>
              </a:rPr>
              <a:t>		</a:t>
            </a:r>
            <a:r>
              <a:rPr lang="vi-VN"/>
              <a:t>Gọi lại hàm JOIN ở DBHelper để lấy </a:t>
            </a:r>
            <a:r>
              <a:rPr lang="vi-VN" b="1"/>
              <a:t>toàn bộ dữ liệu mới nhất</a:t>
            </a:r>
            <a:r>
              <a:rPr lang="vi-VN"/>
              <a:t> (phòng trường hợp vừa thêm, sửa, </a:t>
            </a:r>
            <a:r>
              <a:rPr lang="en-US"/>
              <a:t>					</a:t>
            </a:r>
            <a:r>
              <a:rPr lang="vi-VN"/>
              <a:t>xóa).</a:t>
            </a:r>
            <a:endParaRPr lang="en-US"/>
          </a:p>
          <a:p>
            <a:r>
              <a:rPr lang="vi-VN" sz="1200" kern="1200">
                <a:solidFill>
                  <a:schemeClr val="tx1"/>
                </a:solidFill>
                <a:latin typeface="+mn-lt"/>
                <a:ea typeface="+mn-ea"/>
                <a:cs typeface="+mn-cs"/>
              </a:rPr>
              <a:t>setState(() { ... });</a:t>
            </a:r>
            <a:r>
              <a:rPr lang="en-US" sz="1200" kern="1200">
                <a:solidFill>
                  <a:schemeClr val="tx1"/>
                </a:solidFill>
                <a:latin typeface="+mn-lt"/>
                <a:ea typeface="+mn-ea"/>
                <a:cs typeface="+mn-cs"/>
              </a:rPr>
              <a:t>				</a:t>
            </a:r>
            <a:r>
              <a:rPr lang="vi-VN"/>
              <a:t>Cập nhật State để làm mới giao diện. Mọi thay đổi bên trong sẽ khiến UI vẽ lại danh sách sản phẩm.</a:t>
            </a:r>
            <a:endParaRPr lang="en-US"/>
          </a:p>
          <a:p>
            <a:r>
              <a:rPr lang="vi-VN" sz="1200" kern="1200">
                <a:solidFill>
                  <a:schemeClr val="tx1"/>
                </a:solidFill>
                <a:latin typeface="+mn-lt"/>
                <a:ea typeface="+mn-ea"/>
                <a:cs typeface="+mn-cs"/>
              </a:rPr>
              <a:t>displayedProducts = dbData.where((p) { ... }).toList();</a:t>
            </a:r>
            <a:r>
              <a:rPr lang="en-US" sz="1200" kern="1200">
                <a:solidFill>
                  <a:schemeClr val="tx1"/>
                </a:solidFill>
                <a:latin typeface="+mn-lt"/>
                <a:ea typeface="+mn-ea"/>
                <a:cs typeface="+mn-cs"/>
              </a:rPr>
              <a:t>		</a:t>
            </a:r>
            <a:r>
              <a:rPr lang="vi-VN"/>
              <a:t>Lọc (</a:t>
            </a:r>
            <a:r>
              <a:rPr lang="vi-VN" sz="1200" kern="1200">
                <a:solidFill>
                  <a:schemeClr val="tx1"/>
                </a:solidFill>
                <a:latin typeface="+mn-lt"/>
                <a:ea typeface="+mn-ea"/>
                <a:cs typeface="+mn-cs"/>
              </a:rPr>
              <a:t>where</a:t>
            </a:r>
            <a:r>
              <a:rPr lang="vi-VN"/>
              <a:t>) danh sách </a:t>
            </a:r>
            <a:r>
              <a:rPr lang="vi-VN" sz="1200" kern="1200">
                <a:solidFill>
                  <a:schemeClr val="tx1"/>
                </a:solidFill>
                <a:latin typeface="+mn-lt"/>
                <a:ea typeface="+mn-ea"/>
                <a:cs typeface="+mn-cs"/>
              </a:rPr>
              <a:t>dbData</a:t>
            </a:r>
            <a:r>
              <a:rPr lang="vi-VN"/>
              <a:t> theo điều kiện, sau đó chuyển kết quả về dạng </a:t>
            </a:r>
            <a:r>
              <a:rPr lang="vi-VN" sz="1200" kern="1200">
                <a:solidFill>
                  <a:schemeClr val="tx1"/>
                </a:solidFill>
                <a:latin typeface="+mn-lt"/>
                <a:ea typeface="+mn-ea"/>
                <a:cs typeface="+mn-cs"/>
              </a:rPr>
              <a:t>List</a:t>
            </a:r>
            <a:r>
              <a:rPr lang="vi-VN"/>
              <a:t>.</a:t>
            </a:r>
            <a:endParaRPr lang="en-US"/>
          </a:p>
          <a:p>
            <a:r>
              <a:rPr lang="vi-VN"/>
              <a:t>`final matchCategory = (filterCategory == 0</a:t>
            </a:r>
            <a:endParaRPr lang="en-US"/>
          </a:p>
          <a:p>
            <a:r>
              <a:rPr lang="vi-VN" sz="1200" kern="1200">
                <a:solidFill>
                  <a:schemeClr val="tx1"/>
                </a:solidFill>
                <a:latin typeface="+mn-lt"/>
                <a:ea typeface="+mn-ea"/>
                <a:cs typeface="+mn-cs"/>
              </a:rPr>
              <a:t>final matchSearch = p['name'].toString().toLowerCase().contains(searchText.toLowerCase());</a:t>
            </a:r>
            <a:r>
              <a:rPr lang="en-US" sz="1200" kern="1200">
                <a:solidFill>
                  <a:schemeClr val="tx1"/>
                </a:solidFill>
                <a:latin typeface="+mn-lt"/>
                <a:ea typeface="+mn-ea"/>
                <a:cs typeface="+mn-cs"/>
              </a:rPr>
              <a:t>	</a:t>
            </a:r>
            <a:r>
              <a:rPr lang="vi-VN"/>
              <a:t>Kiểm tra xem tên sản phẩm có chứa từ khóa người dùng gõ trong ô </a:t>
            </a:r>
            <a:r>
              <a:rPr lang="en-US"/>
              <a:t>							</a:t>
            </a:r>
            <a:r>
              <a:rPr lang="vi-VN"/>
              <a:t>tìm kiếm không. </a:t>
            </a:r>
            <a:br>
              <a:rPr lang="vi-VN"/>
            </a:br>
            <a:r>
              <a:rPr lang="en-US"/>
              <a:t>							</a:t>
            </a:r>
            <a:r>
              <a:rPr lang="vi-VN"/>
              <a:t>– </a:t>
            </a:r>
            <a:r>
              <a:rPr lang="vi-VN" sz="1200" kern="1200">
                <a:solidFill>
                  <a:schemeClr val="tx1"/>
                </a:solidFill>
                <a:latin typeface="+mn-lt"/>
                <a:ea typeface="+mn-ea"/>
                <a:cs typeface="+mn-cs"/>
              </a:rPr>
              <a:t>.toLowerCase()</a:t>
            </a:r>
            <a:r>
              <a:rPr lang="vi-VN"/>
              <a:t> giúp không phân biệt hoa thường. </a:t>
            </a:r>
            <a:br>
              <a:rPr lang="vi-VN"/>
            </a:br>
            <a:r>
              <a:rPr lang="en-US"/>
              <a:t>							</a:t>
            </a:r>
            <a:r>
              <a:rPr lang="vi-VN"/>
              <a:t>– Nếu </a:t>
            </a:r>
            <a:r>
              <a:rPr lang="vi-VN" sz="1200" kern="1200">
                <a:solidFill>
                  <a:schemeClr val="tx1"/>
                </a:solidFill>
                <a:latin typeface="+mn-lt"/>
                <a:ea typeface="+mn-ea"/>
                <a:cs typeface="+mn-cs"/>
              </a:rPr>
              <a:t>searchText</a:t>
            </a:r>
            <a:r>
              <a:rPr lang="vi-VN"/>
              <a:t> rỗng (</a:t>
            </a:r>
            <a:r>
              <a:rPr lang="vi-VN" sz="1200" kern="1200">
                <a:solidFill>
                  <a:schemeClr val="tx1"/>
                </a:solidFill>
                <a:latin typeface="+mn-lt"/>
                <a:ea typeface="+mn-ea"/>
                <a:cs typeface="+mn-cs"/>
              </a:rPr>
              <a:t>""</a:t>
            </a:r>
            <a:r>
              <a:rPr lang="vi-VN"/>
              <a:t>), </a:t>
            </a:r>
            <a:r>
              <a:rPr lang="vi-VN" sz="1200" kern="1200">
                <a:solidFill>
                  <a:schemeClr val="tx1"/>
                </a:solidFill>
                <a:latin typeface="+mn-lt"/>
                <a:ea typeface="+mn-ea"/>
                <a:cs typeface="+mn-cs"/>
              </a:rPr>
              <a:t>contains('')</a:t>
            </a:r>
            <a:r>
              <a:rPr lang="vi-VN"/>
              <a:t> sẽ </a:t>
            </a:r>
            <a:r>
              <a:rPr lang="vi-VN" b="1"/>
              <a:t>luôn trả về true</a:t>
            </a:r>
            <a:r>
              <a:rPr lang="vi-VN"/>
              <a:t>, tức là </a:t>
            </a:r>
            <a:r>
              <a:rPr lang="en-US"/>
              <a:t>							</a:t>
            </a:r>
            <a:r>
              <a:rPr lang="vi-VN"/>
              <a:t>hiển thị tất cả sản phẩm — hành vi này hoàn toàn hợp lý.</a:t>
            </a:r>
            <a:endParaRPr lang="en-US"/>
          </a:p>
          <a:p>
            <a:r>
              <a:rPr lang="vi-VN" sz="1200" kern="1200">
                <a:solidFill>
                  <a:schemeClr val="tx1"/>
                </a:solidFill>
                <a:latin typeface="+mn-lt"/>
                <a:ea typeface="+mn-ea"/>
                <a:cs typeface="+mn-cs"/>
              </a:rPr>
              <a:t>return matchCategory &amp;&amp; matchSearch;</a:t>
            </a:r>
            <a:r>
              <a:rPr lang="en-US" sz="1200" kern="1200">
                <a:solidFill>
                  <a:schemeClr val="tx1"/>
                </a:solidFill>
                <a:latin typeface="+mn-lt"/>
                <a:ea typeface="+mn-ea"/>
                <a:cs typeface="+mn-cs"/>
              </a:rPr>
              <a:t>			</a:t>
            </a:r>
            <a:r>
              <a:rPr lang="vi-VN"/>
              <a:t>Chỉ giữ lại những sản phẩm </a:t>
            </a:r>
            <a:r>
              <a:rPr lang="vi-VN" b="1"/>
              <a:t>thỏa mãn cả hai điều kiện</a:t>
            </a:r>
            <a:r>
              <a:rPr lang="vi-VN"/>
              <a:t>: đúng danh mục </a:t>
            </a:r>
            <a:r>
              <a:rPr lang="vi-VN" b="1"/>
              <a:t>và</a:t>
            </a:r>
            <a:r>
              <a:rPr lang="vi-VN"/>
              <a:t> khớp từ khóa tìm </a:t>
            </a:r>
            <a:r>
              <a:rPr lang="en-US"/>
              <a:t>					</a:t>
            </a:r>
            <a:r>
              <a:rPr lang="vi-VN"/>
              <a:t>kiếm.</a:t>
            </a:r>
          </a:p>
          <a:p>
            <a:r>
              <a:rPr lang="en-US"/>
              <a:t>-------------------------------------------------------------------------------------------------------------------------------------------------------------------------</a:t>
            </a:r>
          </a:p>
          <a:p>
            <a:r>
              <a:rPr lang="en-US" b="1"/>
              <a:t>🧩 </a:t>
            </a:r>
            <a:r>
              <a:rPr lang="vi-VN" b="1"/>
              <a:t>Toàn bộ đoạn code</a:t>
            </a:r>
          </a:p>
          <a:p>
            <a:pPr rtl="0"/>
            <a:r>
              <a:rPr lang="vi-VN" sz="1200" kern="1200">
                <a:solidFill>
                  <a:schemeClr val="tx1"/>
                </a:solidFill>
                <a:latin typeface="+mn-lt"/>
                <a:ea typeface="+mn-ea"/>
                <a:cs typeface="+mn-cs"/>
              </a:rPr>
              <a:t>setState(() {</a:t>
            </a:r>
          </a:p>
          <a:p>
            <a:pPr rtl="0"/>
            <a:r>
              <a:rPr lang="vi-VN" sz="1200" kern="1200">
                <a:solidFill>
                  <a:schemeClr val="tx1"/>
                </a:solidFill>
                <a:latin typeface="+mn-lt"/>
                <a:ea typeface="+mn-ea"/>
                <a:cs typeface="+mn-cs"/>
              </a:rPr>
              <a:t>  displayedProducts = dbData.where((p) {</a:t>
            </a:r>
          </a:p>
          <a:p>
            <a:pPr rtl="0"/>
            <a:r>
              <a:rPr lang="vi-VN" sz="1200" kern="1200">
                <a:solidFill>
                  <a:schemeClr val="tx1"/>
                </a:solidFill>
                <a:latin typeface="+mn-lt"/>
                <a:ea typeface="+mn-ea"/>
                <a:cs typeface="+mn-cs"/>
              </a:rPr>
              <a:t>    final matchCategory =</a:t>
            </a:r>
          </a:p>
          <a:p>
            <a:pPr rtl="0"/>
            <a:r>
              <a:rPr lang="vi-VN" sz="1200" kern="1200">
                <a:solidFill>
                  <a:schemeClr val="tx1"/>
                </a:solidFill>
                <a:latin typeface="+mn-lt"/>
                <a:ea typeface="+mn-ea"/>
                <a:cs typeface="+mn-cs"/>
              </a:rPr>
              <a:t>        (filterCategory == 0 || p['category_id'] == filterCategory);</a:t>
            </a:r>
          </a:p>
          <a:p>
            <a:pPr rtl="0"/>
            <a:r>
              <a:rPr lang="vi-VN" sz="1200" kern="1200">
                <a:solidFill>
                  <a:schemeClr val="tx1"/>
                </a:solidFill>
                <a:latin typeface="+mn-lt"/>
                <a:ea typeface="+mn-ea"/>
                <a:cs typeface="+mn-cs"/>
              </a:rPr>
              <a:t>    final matchSearch = p['name']</a:t>
            </a:r>
          </a:p>
          <a:p>
            <a:pPr rtl="0"/>
            <a:r>
              <a:rPr lang="vi-VN" sz="1200" kern="1200">
                <a:solidFill>
                  <a:schemeClr val="tx1"/>
                </a:solidFill>
                <a:latin typeface="+mn-lt"/>
                <a:ea typeface="+mn-ea"/>
                <a:cs typeface="+mn-cs"/>
              </a:rPr>
              <a:t>        .toString()</a:t>
            </a:r>
          </a:p>
          <a:p>
            <a:pPr rtl="0"/>
            <a:r>
              <a:rPr lang="vi-VN" sz="1200" kern="1200">
                <a:solidFill>
                  <a:schemeClr val="tx1"/>
                </a:solidFill>
                <a:latin typeface="+mn-lt"/>
                <a:ea typeface="+mn-ea"/>
                <a:cs typeface="+mn-cs"/>
              </a:rPr>
              <a:t>        .toLowerCase()</a:t>
            </a:r>
          </a:p>
          <a:p>
            <a:pPr rtl="0"/>
            <a:r>
              <a:rPr lang="vi-VN" sz="1200" kern="1200">
                <a:solidFill>
                  <a:schemeClr val="tx1"/>
                </a:solidFill>
                <a:latin typeface="+mn-lt"/>
                <a:ea typeface="+mn-ea"/>
                <a:cs typeface="+mn-cs"/>
              </a:rPr>
              <a:t>        .contains(searchText.toLowerCase());</a:t>
            </a:r>
          </a:p>
          <a:p>
            <a:pPr rtl="0"/>
            <a:r>
              <a:rPr lang="vi-VN" sz="1200" kern="1200">
                <a:solidFill>
                  <a:schemeClr val="tx1"/>
                </a:solidFill>
                <a:latin typeface="+mn-lt"/>
                <a:ea typeface="+mn-ea"/>
                <a:cs typeface="+mn-cs"/>
              </a:rPr>
              <a:t>    return matchCategory &amp;&amp; matchSearch;</a:t>
            </a:r>
          </a:p>
          <a:p>
            <a:pPr rtl="0"/>
            <a:r>
              <a:rPr lang="vi-VN" sz="1200" kern="1200">
                <a:solidFill>
                  <a:schemeClr val="tx1"/>
                </a:solidFill>
                <a:latin typeface="+mn-lt"/>
                <a:ea typeface="+mn-ea"/>
                <a:cs typeface="+mn-cs"/>
              </a:rPr>
              <a:t>  }).toList();</a:t>
            </a:r>
          </a:p>
          <a:p>
            <a:pPr rtl="0"/>
            <a:r>
              <a:rPr lang="vi-VN" sz="1200" kern="1200">
                <a:solidFill>
                  <a:schemeClr val="tx1"/>
                </a:solidFill>
                <a:latin typeface="+mn-lt"/>
                <a:ea typeface="+mn-ea"/>
                <a:cs typeface="+mn-cs"/>
              </a:rPr>
              <a:t>});</a:t>
            </a:r>
          </a:p>
          <a:p>
            <a:endParaRPr lang="vi-VN"/>
          </a:p>
          <a:p>
            <a:r>
              <a:rPr lang="en-US" b="1"/>
              <a:t>🧠 1️⃣ </a:t>
            </a:r>
            <a:r>
              <a:rPr lang="vi-VN" sz="1200" b="1" kern="1200">
                <a:solidFill>
                  <a:schemeClr val="tx1"/>
                </a:solidFill>
                <a:latin typeface="+mn-lt"/>
                <a:ea typeface="+mn-ea"/>
                <a:cs typeface="+mn-cs"/>
              </a:rPr>
              <a:t>setState(() { ... });</a:t>
            </a:r>
            <a:r>
              <a:rPr lang="vi-VN" b="1"/>
              <a:t> là gì?</a:t>
            </a:r>
          </a:p>
          <a:p>
            <a:r>
              <a:rPr lang="vi-VN" sz="1200" kern="1200">
                <a:solidFill>
                  <a:schemeClr val="tx1"/>
                </a:solidFill>
                <a:latin typeface="+mn-lt"/>
                <a:ea typeface="+mn-ea"/>
                <a:cs typeface="+mn-cs"/>
              </a:rPr>
              <a:t>setState()</a:t>
            </a:r>
            <a:r>
              <a:rPr lang="vi-VN"/>
              <a:t> là </a:t>
            </a:r>
            <a:r>
              <a:rPr lang="vi-VN" b="1"/>
              <a:t>hàm của Flutter</a:t>
            </a:r>
            <a:r>
              <a:rPr lang="vi-VN"/>
              <a:t> (thuộc </a:t>
            </a:r>
            <a:r>
              <a:rPr lang="vi-VN" sz="1200" kern="1200">
                <a:solidFill>
                  <a:schemeClr val="tx1"/>
                </a:solidFill>
                <a:latin typeface="+mn-lt"/>
                <a:ea typeface="+mn-ea"/>
                <a:cs typeface="+mn-cs"/>
              </a:rPr>
              <a:t>StatefulWidget</a:t>
            </a:r>
            <a:r>
              <a:rPr lang="vi-VN"/>
              <a:t>).</a:t>
            </a:r>
          </a:p>
          <a:p>
            <a:r>
              <a:rPr lang="vi-VN"/>
              <a:t>Nó báo cho framework biết rằng </a:t>
            </a:r>
            <a:r>
              <a:rPr lang="vi-VN" b="1"/>
              <a:t>dữ liệu (state)</a:t>
            </a:r>
            <a:r>
              <a:rPr lang="vi-VN"/>
              <a:t> trong widget đã thay đổi.</a:t>
            </a:r>
          </a:p>
          <a:p>
            <a:r>
              <a:rPr lang="vi-VN"/>
              <a:t>Sau khi chạy xong, </a:t>
            </a:r>
            <a:r>
              <a:rPr lang="vi-VN" b="1"/>
              <a:t>Flutter sẽ tự động vẽ lại UI (gọi build() lại)</a:t>
            </a:r>
            <a:r>
              <a:rPr lang="vi-VN"/>
              <a:t> để hiển thị dữ liệu mới.</a:t>
            </a:r>
          </a:p>
          <a:p>
            <a:r>
              <a:rPr lang="en-US"/>
              <a:t>👉 </a:t>
            </a:r>
            <a:r>
              <a:rPr lang="vi-VN"/>
              <a:t>Nếu bạn thay đổi dữ liệu mà không gọi </a:t>
            </a:r>
            <a:r>
              <a:rPr lang="vi-VN" sz="1200" kern="1200">
                <a:solidFill>
                  <a:schemeClr val="tx1"/>
                </a:solidFill>
                <a:latin typeface="+mn-lt"/>
                <a:ea typeface="+mn-ea"/>
                <a:cs typeface="+mn-cs"/>
              </a:rPr>
              <a:t>setState</a:t>
            </a:r>
            <a:r>
              <a:rPr lang="vi-VN"/>
              <a:t>, UI sẽ </a:t>
            </a:r>
            <a:r>
              <a:rPr lang="vi-VN" b="1"/>
              <a:t>không cập nhật</a:t>
            </a:r>
            <a:r>
              <a:rPr lang="vi-VN"/>
              <a:t>.</a:t>
            </a:r>
          </a:p>
          <a:p>
            <a:r>
              <a:rPr lang="en-US" b="1"/>
              <a:t>🧠 2️⃣ </a:t>
            </a:r>
            <a:r>
              <a:rPr lang="vi-VN" sz="1200" b="1" kern="1200">
                <a:solidFill>
                  <a:schemeClr val="tx1"/>
                </a:solidFill>
                <a:latin typeface="+mn-lt"/>
                <a:ea typeface="+mn-ea"/>
                <a:cs typeface="+mn-cs"/>
              </a:rPr>
              <a:t>displayedProducts = dbData.where((p) { ... }).toList();</a:t>
            </a:r>
            <a:endParaRPr lang="vi-VN" b="1"/>
          </a:p>
          <a:p>
            <a:r>
              <a:rPr lang="vi-VN" sz="1200" kern="1200">
                <a:solidFill>
                  <a:schemeClr val="tx1"/>
                </a:solidFill>
                <a:latin typeface="+mn-lt"/>
                <a:ea typeface="+mn-ea"/>
                <a:cs typeface="+mn-cs"/>
              </a:rPr>
              <a:t>dbData</a:t>
            </a:r>
            <a:r>
              <a:rPr lang="vi-VN"/>
              <a:t> là danh sách dữ liệu lấy từ database, kiểu:</a:t>
            </a:r>
            <a:br>
              <a:rPr lang="vi-VN"/>
            </a:br>
            <a:r>
              <a:rPr lang="vi-VN" sz="1200" kern="1200">
                <a:solidFill>
                  <a:schemeClr val="tx1"/>
                </a:solidFill>
                <a:latin typeface="+mn-lt"/>
                <a:ea typeface="+mn-ea"/>
                <a:cs typeface="+mn-cs"/>
              </a:rPr>
              <a:t>List&lt;Map&lt;String, dynamic&gt;&gt;</a:t>
            </a:r>
            <a:r>
              <a:rPr lang="vi-VN"/>
              <a:t> (mỗi </a:t>
            </a:r>
            <a:r>
              <a:rPr lang="vi-VN" sz="1200" kern="1200">
                <a:solidFill>
                  <a:schemeClr val="tx1"/>
                </a:solidFill>
                <a:latin typeface="+mn-lt"/>
                <a:ea typeface="+mn-ea"/>
                <a:cs typeface="+mn-cs"/>
              </a:rPr>
              <a:t>Map</a:t>
            </a:r>
            <a:r>
              <a:rPr lang="vi-VN"/>
              <a:t> là một sản phẩm).</a:t>
            </a:r>
          </a:p>
          <a:p>
            <a:r>
              <a:rPr lang="vi-VN" sz="1200" kern="1200">
                <a:solidFill>
                  <a:schemeClr val="tx1"/>
                </a:solidFill>
                <a:latin typeface="+mn-lt"/>
                <a:ea typeface="+mn-ea"/>
                <a:cs typeface="+mn-cs"/>
              </a:rPr>
              <a:t>.where((p) { ... })</a:t>
            </a:r>
            <a:r>
              <a:rPr lang="vi-VN"/>
              <a:t> là </a:t>
            </a:r>
            <a:r>
              <a:rPr lang="vi-VN" b="1"/>
              <a:t>hàm lọc</a:t>
            </a:r>
            <a:r>
              <a:rPr lang="vi-VN"/>
              <a:t> trong Dart:</a:t>
            </a:r>
          </a:p>
          <a:p>
            <a:pPr lvl="1"/>
            <a:r>
              <a:rPr lang="vi-VN"/>
              <a:t>Nó duyệt qua </a:t>
            </a:r>
            <a:r>
              <a:rPr lang="vi-VN" b="1"/>
              <a:t>từng phần tử </a:t>
            </a:r>
            <a:r>
              <a:rPr lang="vi-VN" sz="1200" b="1" kern="1200">
                <a:solidFill>
                  <a:schemeClr val="tx1"/>
                </a:solidFill>
                <a:latin typeface="+mn-lt"/>
                <a:ea typeface="+mn-ea"/>
                <a:cs typeface="+mn-cs"/>
              </a:rPr>
              <a:t>p</a:t>
            </a:r>
            <a:r>
              <a:rPr lang="vi-VN"/>
              <a:t> trong danh sách </a:t>
            </a:r>
            <a:r>
              <a:rPr lang="vi-VN" sz="1200" kern="1200">
                <a:solidFill>
                  <a:schemeClr val="tx1"/>
                </a:solidFill>
                <a:latin typeface="+mn-lt"/>
                <a:ea typeface="+mn-ea"/>
                <a:cs typeface="+mn-cs"/>
              </a:rPr>
              <a:t>dbData</a:t>
            </a:r>
            <a:r>
              <a:rPr lang="vi-VN"/>
              <a:t>.</a:t>
            </a:r>
          </a:p>
          <a:p>
            <a:pPr lvl="1"/>
            <a:r>
              <a:rPr lang="vi-VN"/>
              <a:t>Với mỗi </a:t>
            </a:r>
            <a:r>
              <a:rPr lang="vi-VN" sz="1200" kern="1200">
                <a:solidFill>
                  <a:schemeClr val="tx1"/>
                </a:solidFill>
                <a:latin typeface="+mn-lt"/>
                <a:ea typeface="+mn-ea"/>
                <a:cs typeface="+mn-cs"/>
              </a:rPr>
              <a:t>p</a:t>
            </a:r>
            <a:r>
              <a:rPr lang="vi-VN"/>
              <a:t>, nó kiểm tra điều kiện trong </a:t>
            </a:r>
            <a:r>
              <a:rPr lang="vi-VN" sz="1200" kern="1200">
                <a:solidFill>
                  <a:schemeClr val="tx1"/>
                </a:solidFill>
                <a:latin typeface="+mn-lt"/>
                <a:ea typeface="+mn-ea"/>
                <a:cs typeface="+mn-cs"/>
              </a:rPr>
              <a:t>{ ... }</a:t>
            </a:r>
            <a:r>
              <a:rPr lang="vi-VN"/>
              <a:t>.</a:t>
            </a:r>
          </a:p>
          <a:p>
            <a:pPr lvl="1"/>
            <a:r>
              <a:rPr lang="vi-VN"/>
              <a:t>Nếu điều kiện trả về </a:t>
            </a:r>
            <a:r>
              <a:rPr lang="vi-VN" sz="1200" kern="1200">
                <a:solidFill>
                  <a:schemeClr val="tx1"/>
                </a:solidFill>
                <a:latin typeface="+mn-lt"/>
                <a:ea typeface="+mn-ea"/>
                <a:cs typeface="+mn-cs"/>
              </a:rPr>
              <a:t>true</a:t>
            </a:r>
            <a:r>
              <a:rPr lang="vi-VN"/>
              <a:t> → phần tử đó được giữ lại.</a:t>
            </a:r>
          </a:p>
          <a:p>
            <a:pPr lvl="1"/>
            <a:r>
              <a:rPr lang="vi-VN"/>
              <a:t>Nếu </a:t>
            </a:r>
            <a:r>
              <a:rPr lang="vi-VN" sz="1200" kern="1200">
                <a:solidFill>
                  <a:schemeClr val="tx1"/>
                </a:solidFill>
                <a:latin typeface="+mn-lt"/>
                <a:ea typeface="+mn-ea"/>
                <a:cs typeface="+mn-cs"/>
              </a:rPr>
              <a:t>false</a:t>
            </a:r>
            <a:r>
              <a:rPr lang="vi-VN"/>
              <a:t> → bị loại bỏ.</a:t>
            </a:r>
          </a:p>
          <a:p>
            <a:r>
              <a:rPr lang="vi-VN"/>
              <a:t>Cuối cùng </a:t>
            </a:r>
            <a:r>
              <a:rPr lang="vi-VN" sz="1200" kern="1200">
                <a:solidFill>
                  <a:schemeClr val="tx1"/>
                </a:solidFill>
                <a:latin typeface="+mn-lt"/>
                <a:ea typeface="+mn-ea"/>
                <a:cs typeface="+mn-cs"/>
              </a:rPr>
              <a:t>.toList()</a:t>
            </a:r>
            <a:r>
              <a:rPr lang="vi-VN"/>
              <a:t> chuyển kết quả lọc (kiểu Iterable) thành một </a:t>
            </a:r>
            <a:r>
              <a:rPr lang="vi-VN" sz="1200" kern="1200">
                <a:solidFill>
                  <a:schemeClr val="tx1"/>
                </a:solidFill>
                <a:latin typeface="+mn-lt"/>
                <a:ea typeface="+mn-ea"/>
                <a:cs typeface="+mn-cs"/>
              </a:rPr>
              <a:t>List</a:t>
            </a:r>
            <a:r>
              <a:rPr lang="vi-VN"/>
              <a:t> bình thường.</a:t>
            </a:r>
          </a:p>
          <a:p>
            <a:r>
              <a:rPr lang="en-US" b="1"/>
              <a:t>🧠 3️⃣ </a:t>
            </a:r>
            <a:r>
              <a:rPr lang="vi-VN" b="1"/>
              <a:t>Bên trong </a:t>
            </a:r>
            <a:r>
              <a:rPr lang="vi-VN" sz="1200" b="1" kern="1200">
                <a:solidFill>
                  <a:schemeClr val="tx1"/>
                </a:solidFill>
                <a:latin typeface="+mn-lt"/>
                <a:ea typeface="+mn-ea"/>
                <a:cs typeface="+mn-cs"/>
              </a:rPr>
              <a:t>(p) { ... }</a:t>
            </a:r>
            <a:endParaRPr lang="vi-VN" b="1"/>
          </a:p>
          <a:p>
            <a:r>
              <a:rPr lang="vi-VN"/>
              <a:t>Đây là phần </a:t>
            </a:r>
            <a:r>
              <a:rPr lang="vi-VN" b="1"/>
              <a:t>điều kiện lọc</a:t>
            </a:r>
            <a:r>
              <a:rPr lang="vi-VN"/>
              <a:t> sản phẩm — gồm 2 điều kiện nhỏ:</a:t>
            </a:r>
          </a:p>
          <a:p>
            <a:r>
              <a:rPr lang="en-US" b="1"/>
              <a:t>🔹 (</a:t>
            </a:r>
            <a:r>
              <a:rPr lang="vi-VN" b="1"/>
              <a:t>a) Lọc theo danh mục:</a:t>
            </a:r>
          </a:p>
          <a:p>
            <a:pPr rtl="0"/>
            <a:r>
              <a:rPr lang="vi-VN" sz="1200" kern="1200">
                <a:solidFill>
                  <a:schemeClr val="tx1"/>
                </a:solidFill>
                <a:latin typeface="+mn-lt"/>
                <a:ea typeface="+mn-ea"/>
                <a:cs typeface="+mn-cs"/>
              </a:rPr>
              <a:t>final matchCategory =</a:t>
            </a:r>
          </a:p>
          <a:p>
            <a:pPr rtl="0"/>
            <a:r>
              <a:rPr lang="vi-VN" sz="1200" kern="1200">
                <a:solidFill>
                  <a:schemeClr val="tx1"/>
                </a:solidFill>
                <a:latin typeface="+mn-lt"/>
                <a:ea typeface="+mn-ea"/>
                <a:cs typeface="+mn-cs"/>
              </a:rPr>
              <a:t>    (filterCategory == 0 || p['category_id'] == filterCategory);</a:t>
            </a:r>
          </a:p>
          <a:p>
            <a:r>
              <a:rPr lang="vi-VN" sz="1200" kern="1200">
                <a:solidFill>
                  <a:schemeClr val="tx1"/>
                </a:solidFill>
                <a:latin typeface="+mn-lt"/>
                <a:ea typeface="+mn-ea"/>
                <a:cs typeface="+mn-cs"/>
              </a:rPr>
              <a:t>filterCategory</a:t>
            </a:r>
            <a:r>
              <a:rPr lang="vi-VN"/>
              <a:t> là </a:t>
            </a:r>
            <a:r>
              <a:rPr lang="vi-VN" b="1"/>
              <a:t>ID danh mục đang chọn trên UI</a:t>
            </a:r>
            <a:r>
              <a:rPr lang="vi-VN"/>
              <a:t>:</a:t>
            </a:r>
          </a:p>
          <a:p>
            <a:pPr lvl="1"/>
            <a:r>
              <a:rPr lang="vi-VN"/>
              <a:t>Nếu </a:t>
            </a:r>
            <a:r>
              <a:rPr lang="vi-VN" sz="1200" kern="1200">
                <a:solidFill>
                  <a:schemeClr val="tx1"/>
                </a:solidFill>
                <a:latin typeface="+mn-lt"/>
                <a:ea typeface="+mn-ea"/>
                <a:cs typeface="+mn-cs"/>
              </a:rPr>
              <a:t>filterCategory == 0</a:t>
            </a:r>
            <a:r>
              <a:rPr lang="vi-VN"/>
              <a:t> nghĩa là chọn “All” → không lọc danh mục nào cả.</a:t>
            </a:r>
          </a:p>
          <a:p>
            <a:pPr lvl="1"/>
            <a:r>
              <a:rPr lang="vi-VN"/>
              <a:t>Còn nếu khác 0 → chỉ lấy sản phẩm có </a:t>
            </a:r>
            <a:r>
              <a:rPr lang="vi-VN" sz="1200" kern="1200">
                <a:solidFill>
                  <a:schemeClr val="tx1"/>
                </a:solidFill>
                <a:latin typeface="+mn-lt"/>
                <a:ea typeface="+mn-ea"/>
                <a:cs typeface="+mn-cs"/>
              </a:rPr>
              <a:t>p['category_id']</a:t>
            </a:r>
            <a:r>
              <a:rPr lang="vi-VN"/>
              <a:t> đúng bằng giá trị đó.</a:t>
            </a:r>
          </a:p>
          <a:p>
            <a:r>
              <a:rPr lang="en-US"/>
              <a:t>✅ </a:t>
            </a:r>
            <a:r>
              <a:rPr lang="vi-VN"/>
              <a:t>Kết quả:</a:t>
            </a:r>
          </a:p>
          <a:p>
            <a:r>
              <a:rPr lang="vi-VN" sz="1200" kern="1200">
                <a:solidFill>
                  <a:schemeClr val="tx1"/>
                </a:solidFill>
                <a:latin typeface="+mn-lt"/>
                <a:ea typeface="+mn-ea"/>
                <a:cs typeface="+mn-cs"/>
              </a:rPr>
              <a:t>matchCategory = true</a:t>
            </a:r>
            <a:r>
              <a:rPr lang="vi-VN"/>
              <a:t> → sản phẩm hợp danh mục.</a:t>
            </a:r>
          </a:p>
          <a:p>
            <a:r>
              <a:rPr lang="vi-VN" sz="1200" kern="1200">
                <a:solidFill>
                  <a:schemeClr val="tx1"/>
                </a:solidFill>
                <a:latin typeface="+mn-lt"/>
                <a:ea typeface="+mn-ea"/>
                <a:cs typeface="+mn-cs"/>
              </a:rPr>
              <a:t>matchCategory = false</a:t>
            </a:r>
            <a:r>
              <a:rPr lang="vi-VN"/>
              <a:t> → sản phẩm bị loại.</a:t>
            </a:r>
          </a:p>
          <a:p>
            <a:r>
              <a:rPr lang="en-US" b="1"/>
              <a:t>🔹 (</a:t>
            </a:r>
            <a:r>
              <a:rPr lang="vi-VN" b="1"/>
              <a:t>b) Lọc theo ô tìm kiếm:</a:t>
            </a:r>
          </a:p>
          <a:p>
            <a:pPr rtl="0"/>
            <a:r>
              <a:rPr lang="vi-VN" sz="1200" kern="1200">
                <a:solidFill>
                  <a:schemeClr val="tx1"/>
                </a:solidFill>
                <a:latin typeface="+mn-lt"/>
                <a:ea typeface="+mn-ea"/>
                <a:cs typeface="+mn-cs"/>
              </a:rPr>
              <a:t>final matchSearch = p['name']</a:t>
            </a:r>
          </a:p>
          <a:p>
            <a:pPr rtl="0"/>
            <a:r>
              <a:rPr lang="vi-VN" sz="1200" kern="1200">
                <a:solidFill>
                  <a:schemeClr val="tx1"/>
                </a:solidFill>
                <a:latin typeface="+mn-lt"/>
                <a:ea typeface="+mn-ea"/>
                <a:cs typeface="+mn-cs"/>
              </a:rPr>
              <a:t>    .toString()</a:t>
            </a:r>
          </a:p>
          <a:p>
            <a:pPr rtl="0"/>
            <a:r>
              <a:rPr lang="vi-VN" sz="1200" kern="1200">
                <a:solidFill>
                  <a:schemeClr val="tx1"/>
                </a:solidFill>
                <a:latin typeface="+mn-lt"/>
                <a:ea typeface="+mn-ea"/>
                <a:cs typeface="+mn-cs"/>
              </a:rPr>
              <a:t>    .toLowerCase()</a:t>
            </a:r>
          </a:p>
          <a:p>
            <a:pPr rtl="0"/>
            <a:r>
              <a:rPr lang="vi-VN" sz="1200" kern="1200">
                <a:solidFill>
                  <a:schemeClr val="tx1"/>
                </a:solidFill>
                <a:latin typeface="+mn-lt"/>
                <a:ea typeface="+mn-ea"/>
                <a:cs typeface="+mn-cs"/>
              </a:rPr>
              <a:t>    .contains(searchText.toLowerCase());</a:t>
            </a:r>
          </a:p>
          <a:p>
            <a:r>
              <a:rPr lang="vi-VN" sz="1200" kern="1200">
                <a:solidFill>
                  <a:schemeClr val="tx1"/>
                </a:solidFill>
                <a:latin typeface="+mn-lt"/>
                <a:ea typeface="+mn-ea"/>
                <a:cs typeface="+mn-cs"/>
              </a:rPr>
              <a:t>p['name']</a:t>
            </a:r>
            <a:r>
              <a:rPr lang="vi-VN"/>
              <a:t>: lấy tên sản phẩm từ map.</a:t>
            </a:r>
          </a:p>
          <a:p>
            <a:r>
              <a:rPr lang="vi-VN" sz="1200" kern="1200">
                <a:solidFill>
                  <a:schemeClr val="tx1"/>
                </a:solidFill>
                <a:latin typeface="+mn-lt"/>
                <a:ea typeface="+mn-ea"/>
                <a:cs typeface="+mn-cs"/>
              </a:rPr>
              <a:t>.toString()</a:t>
            </a:r>
            <a:r>
              <a:rPr lang="vi-VN"/>
              <a:t>: đảm bảo kiểu chuỗi.</a:t>
            </a:r>
          </a:p>
          <a:p>
            <a:r>
              <a:rPr lang="vi-VN" sz="1200" kern="1200">
                <a:solidFill>
                  <a:schemeClr val="tx1"/>
                </a:solidFill>
                <a:latin typeface="+mn-lt"/>
                <a:ea typeface="+mn-ea"/>
                <a:cs typeface="+mn-cs"/>
              </a:rPr>
              <a:t>.toLowerCase()</a:t>
            </a:r>
            <a:r>
              <a:rPr lang="vi-VN"/>
              <a:t>: chuyển hết thành chữ thường → để so sánh </a:t>
            </a:r>
            <a:r>
              <a:rPr lang="vi-VN" b="1"/>
              <a:t>không phân biệt hoa/thường</a:t>
            </a:r>
            <a:r>
              <a:rPr lang="vi-VN"/>
              <a:t>.</a:t>
            </a:r>
          </a:p>
          <a:p>
            <a:r>
              <a:rPr lang="vi-VN" sz="1200" kern="1200">
                <a:solidFill>
                  <a:schemeClr val="tx1"/>
                </a:solidFill>
                <a:latin typeface="+mn-lt"/>
                <a:ea typeface="+mn-ea"/>
                <a:cs typeface="+mn-cs"/>
              </a:rPr>
              <a:t>.contains(searchText.toLowerCase())</a:t>
            </a:r>
            <a:r>
              <a:rPr lang="vi-VN"/>
              <a:t>: kiểm tra xem tên sản phẩm có chứa chuỗi người dùng đang tìm không.</a:t>
            </a:r>
          </a:p>
          <a:p>
            <a:endParaRPr lang="en-US"/>
          </a:p>
          <a:p>
            <a:endParaRPr lang="en-US"/>
          </a:p>
        </p:txBody>
      </p:sp>
      <p:sp>
        <p:nvSpPr>
          <p:cNvPr id="4" name="Slide Number Placeholder 3">
            <a:extLst>
              <a:ext uri="{FF2B5EF4-FFF2-40B4-BE49-F238E27FC236}">
                <a16:creationId xmlns:a16="http://schemas.microsoft.com/office/drawing/2014/main" id="{9BB5B418-A583-371E-86A4-D7A9135A5131}"/>
              </a:ext>
            </a:extLst>
          </p:cNvPr>
          <p:cNvSpPr>
            <a:spLocks noGrp="1"/>
          </p:cNvSpPr>
          <p:nvPr>
            <p:ph type="sldNum" sz="quarter" idx="5"/>
          </p:nvPr>
        </p:nvSpPr>
        <p:spPr/>
        <p:txBody>
          <a:bodyPr/>
          <a:lstStyle/>
          <a:p>
            <a:fld id="{1983A999-5E0E-42CA-8400-604AE921FF7C}" type="slidenum">
              <a:rPr lang="en-US" smtClean="0"/>
              <a:t>42</a:t>
            </a:fld>
            <a:endParaRPr lang="en-US"/>
          </a:p>
        </p:txBody>
      </p:sp>
    </p:spTree>
    <p:extLst>
      <p:ext uri="{BB962C8B-B14F-4D97-AF65-F5344CB8AC3E}">
        <p14:creationId xmlns:p14="http://schemas.microsoft.com/office/powerpoint/2010/main" val="426647473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9BA27-4E0F-2508-F793-1784AF90E8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CEA0AA-7351-A53D-2806-E970BE9714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FFF2DD-3FBF-3405-2454-41792C31DBE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int? selectedCategory;</a:t>
            </a: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List&lt;Product&gt; allProducts = [];</a:t>
            </a: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List&lt;Map&lt;String, dynamic&gt;&gt; displayedProducts = [];</a:t>
            </a: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List&lt;Category&gt; allCategories = [];</a:t>
            </a: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String searchText = "";</a:t>
            </a: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int filterCategory = 0; </a:t>
            </a:r>
            <a:r>
              <a:rPr lang="en-US" sz="1200" i="1" kern="1200">
                <a:solidFill>
                  <a:schemeClr val="tx1"/>
                </a:solidFill>
                <a:effectLst/>
                <a:latin typeface="+mn-lt"/>
                <a:ea typeface="+mn-ea"/>
                <a:cs typeface="+mn-cs"/>
              </a:rPr>
              <a:t>// 0 = All</a:t>
            </a:r>
            <a:endParaRPr lang="en-US" sz="1200" kern="1200">
              <a:solidFill>
                <a:schemeClr val="tx1"/>
              </a:solidFill>
              <a:effectLst/>
              <a:latin typeface="+mn-lt"/>
              <a:ea typeface="+mn-ea"/>
              <a:cs typeface="+mn-cs"/>
            </a:endParaRPr>
          </a:p>
          <a:p>
            <a:r>
              <a:rPr lang="en-US" sz="1200" kern="1200">
                <a:solidFill>
                  <a:schemeClr val="tx1"/>
                </a:solidFill>
                <a:latin typeface="+mn-lt"/>
                <a:ea typeface="+mn-ea"/>
                <a:cs typeface="+mn-cs"/>
              </a:rPr>
              <a:t>=&gt;</a:t>
            </a:r>
          </a:p>
          <a:p>
            <a:r>
              <a:rPr lang="en-US" sz="1200" kern="1200">
                <a:solidFill>
                  <a:schemeClr val="tx1"/>
                </a:solidFill>
                <a:latin typeface="+mn-lt"/>
                <a:ea typeface="+mn-ea"/>
                <a:cs typeface="+mn-cs"/>
              </a:rPr>
              <a:t>selectedCategory</a:t>
            </a:r>
            <a:r>
              <a:rPr lang="en-US"/>
              <a:t> để lựa danh mục trong form.</a:t>
            </a:r>
          </a:p>
          <a:p>
            <a:r>
              <a:rPr lang="en-US" sz="1200" kern="1200">
                <a:solidFill>
                  <a:schemeClr val="tx1"/>
                </a:solidFill>
                <a:latin typeface="+mn-lt"/>
                <a:ea typeface="+mn-ea"/>
                <a:cs typeface="+mn-cs"/>
              </a:rPr>
              <a:t>displayedProducts</a:t>
            </a:r>
            <a:r>
              <a:rPr lang="en-US"/>
              <a:t> là danh sách (Map) từ </a:t>
            </a:r>
            <a:r>
              <a:rPr lang="en-US" sz="1200" kern="1200">
                <a:solidFill>
                  <a:schemeClr val="tx1"/>
                </a:solidFill>
                <a:latin typeface="+mn-lt"/>
                <a:ea typeface="+mn-ea"/>
                <a:cs typeface="+mn-cs"/>
              </a:rPr>
              <a:t>getProductsWithCategory()</a:t>
            </a:r>
            <a:r>
              <a:rPr lang="en-US"/>
              <a:t> dùng trực tiếp cho UI (vì có </a:t>
            </a:r>
            <a:r>
              <a:rPr lang="en-US" sz="1200" kern="1200">
                <a:solidFill>
                  <a:schemeClr val="tx1"/>
                </a:solidFill>
                <a:latin typeface="+mn-lt"/>
                <a:ea typeface="+mn-ea"/>
                <a:cs typeface="+mn-cs"/>
              </a:rPr>
              <a:t>category_name</a:t>
            </a:r>
            <a:r>
              <a:rPr lang="en-US"/>
              <a:t>).</a:t>
            </a:r>
          </a:p>
          <a:p>
            <a:r>
              <a:rPr lang="en-US" sz="1200" kern="1200">
                <a:solidFill>
                  <a:schemeClr val="tx1"/>
                </a:solidFill>
                <a:latin typeface="+mn-lt"/>
                <a:ea typeface="+mn-ea"/>
                <a:cs typeface="+mn-cs"/>
              </a:rPr>
              <a:t>filterCategory == 0</a:t>
            </a:r>
            <a:r>
              <a:rPr lang="en-US"/>
              <a:t> biểu thị show all.</a:t>
            </a:r>
          </a:p>
          <a:p>
            <a:r>
              <a:rPr lang="en-US"/>
              <a:t>--------------------------------------------------------------------------------------------------</a:t>
            </a:r>
          </a:p>
          <a:p>
            <a:r>
              <a:rPr lang="vi-VN"/>
              <a:t>Từ </a:t>
            </a:r>
            <a:r>
              <a:rPr lang="vi-VN" b="1"/>
              <a:t>"query"</a:t>
            </a:r>
            <a:r>
              <a:rPr lang="vi-VN"/>
              <a:t> trong lập trình (đặc biệt là khi làm việc với cơ sở dữ liệu như </a:t>
            </a:r>
            <a:r>
              <a:rPr lang="vi-VN" b="1"/>
              <a:t>SQLite</a:t>
            </a:r>
            <a:r>
              <a:rPr lang="vi-VN"/>
              <a:t>, </a:t>
            </a:r>
            <a:r>
              <a:rPr lang="vi-VN" b="1"/>
              <a:t>Drift</a:t>
            </a:r>
            <a:r>
              <a:rPr lang="vi-VN"/>
              <a:t>, </a:t>
            </a:r>
            <a:r>
              <a:rPr lang="vi-VN" b="1"/>
              <a:t>MySQL</a:t>
            </a:r>
            <a:r>
              <a:rPr lang="vi-VN"/>
              <a:t>, v.v.) có nghĩa là </a:t>
            </a:r>
            <a:r>
              <a:rPr lang="vi-VN" b="1"/>
              <a:t>truy vấn dữ liệu</a:t>
            </a:r>
            <a:r>
              <a:rPr lang="vi-VN"/>
              <a:t> — tức là </a:t>
            </a:r>
            <a:r>
              <a:rPr lang="vi-VN" b="1"/>
              <a:t>một yêu cầu (yêu cầu truy vấn)</a:t>
            </a:r>
            <a:r>
              <a:rPr lang="vi-VN"/>
              <a:t> mà chương trình gửi đến </a:t>
            </a:r>
            <a:r>
              <a:rPr lang="vi-VN" b="1"/>
              <a:t>cơ sở dữ liệu</a:t>
            </a:r>
            <a:r>
              <a:rPr lang="vi-VN"/>
              <a:t> để:</a:t>
            </a:r>
          </a:p>
          <a:p>
            <a:r>
              <a:rPr lang="vi-VN" b="1"/>
              <a:t>lấy, thêm, sửa, hoặc xóa</a:t>
            </a:r>
            <a:r>
              <a:rPr lang="vi-VN"/>
              <a:t> dữ liệu trong bảng.</a:t>
            </a:r>
          </a:p>
          <a:p>
            <a:r>
              <a:rPr lang="en-US" b="1"/>
              <a:t>💡 </a:t>
            </a:r>
            <a:r>
              <a:rPr lang="vi-VN" b="1"/>
              <a:t>Nói ngắn gọn:</a:t>
            </a:r>
          </a:p>
          <a:p>
            <a:r>
              <a:rPr lang="en-US"/>
              <a:t>👉 </a:t>
            </a:r>
            <a:r>
              <a:rPr lang="vi-VN" b="1"/>
              <a:t>Query = câu lệnh giao tiếp với cơ sở dữ liệu.</a:t>
            </a:r>
            <a:endParaRPr lang="vi-VN"/>
          </a:p>
          <a:p>
            <a:r>
              <a:rPr lang="en-US" b="1"/>
              <a:t>🧩 </a:t>
            </a:r>
            <a:r>
              <a:rPr lang="vi-VN" b="1"/>
              <a:t>Ví dụ thực tế:</a:t>
            </a:r>
          </a:p>
          <a:p>
            <a:r>
              <a:rPr lang="vi-VN" b="1"/>
              <a:t>1. Trong SQL thuần:</a:t>
            </a:r>
          </a:p>
          <a:p>
            <a:pPr rtl="0"/>
            <a:r>
              <a:rPr lang="vi-VN" sz="1200" kern="1200">
                <a:solidFill>
                  <a:schemeClr val="tx1"/>
                </a:solidFill>
                <a:latin typeface="+mn-lt"/>
                <a:ea typeface="+mn-ea"/>
                <a:cs typeface="+mn-cs"/>
              </a:rPr>
              <a:t>SELECT * FROM products;</a:t>
            </a:r>
          </a:p>
          <a:p>
            <a:r>
              <a:rPr lang="vi-VN"/>
              <a:t>➡️ Đây là một </a:t>
            </a:r>
            <a:r>
              <a:rPr lang="vi-VN" b="1"/>
              <a:t>query</a:t>
            </a:r>
            <a:r>
              <a:rPr lang="vi-VN"/>
              <a:t> để </a:t>
            </a:r>
            <a:r>
              <a:rPr lang="vi-VN" b="1"/>
              <a:t>lấy tất cả sản phẩm</a:t>
            </a:r>
            <a:r>
              <a:rPr lang="vi-VN"/>
              <a:t> trong bảng </a:t>
            </a:r>
            <a:r>
              <a:rPr lang="vi-VN" sz="1200" kern="1200">
                <a:solidFill>
                  <a:schemeClr val="tx1"/>
                </a:solidFill>
                <a:latin typeface="+mn-lt"/>
                <a:ea typeface="+mn-ea"/>
                <a:cs typeface="+mn-cs"/>
              </a:rPr>
              <a:t>products</a:t>
            </a:r>
            <a:r>
              <a:rPr lang="vi-VN"/>
              <a:t>.</a:t>
            </a:r>
          </a:p>
          <a:p>
            <a:r>
              <a:rPr lang="vi-VN" b="1"/>
              <a:t>2. Trong Flutter (với SQLite):</a:t>
            </a:r>
          </a:p>
          <a:p>
            <a:pPr rtl="0"/>
            <a:r>
              <a:rPr lang="vi-VN" sz="1200" kern="1200">
                <a:solidFill>
                  <a:schemeClr val="tx1"/>
                </a:solidFill>
                <a:latin typeface="+mn-lt"/>
                <a:ea typeface="+mn-ea"/>
                <a:cs typeface="+mn-cs"/>
              </a:rPr>
              <a:t>final List&lt;Map&lt;String, dynamic&gt;&gt; result = await db.query('products');</a:t>
            </a:r>
          </a:p>
          <a:p>
            <a:r>
              <a:rPr lang="vi-VN"/>
              <a:t>➡️ </a:t>
            </a:r>
            <a:r>
              <a:rPr lang="vi-VN" sz="1200" kern="1200">
                <a:solidFill>
                  <a:schemeClr val="tx1"/>
                </a:solidFill>
                <a:latin typeface="+mn-lt"/>
                <a:ea typeface="+mn-ea"/>
                <a:cs typeface="+mn-cs"/>
              </a:rPr>
              <a:t>db.query('products')</a:t>
            </a:r>
            <a:r>
              <a:rPr lang="vi-VN"/>
              <a:t> là lời gọi hàm để </a:t>
            </a:r>
            <a:r>
              <a:rPr lang="vi-VN" b="1"/>
              <a:t>truy vấn dữ liệu từ bảng </a:t>
            </a:r>
            <a:r>
              <a:rPr lang="vi-VN" sz="1200" b="1" kern="1200">
                <a:solidFill>
                  <a:schemeClr val="tx1"/>
                </a:solidFill>
                <a:latin typeface="+mn-lt"/>
                <a:ea typeface="+mn-ea"/>
                <a:cs typeface="+mn-cs"/>
              </a:rPr>
              <a:t>products</a:t>
            </a:r>
            <a:r>
              <a:rPr lang="vi-VN"/>
              <a:t>.</a:t>
            </a:r>
          </a:p>
          <a:p>
            <a:r>
              <a:rPr lang="vi-VN" b="1"/>
              <a:t>3. Trong Drift:</a:t>
            </a:r>
          </a:p>
          <a:p>
            <a:pPr rtl="0"/>
            <a:r>
              <a:rPr lang="vi-VN" sz="1200" kern="1200">
                <a:solidFill>
                  <a:schemeClr val="tx1"/>
                </a:solidFill>
                <a:latin typeface="+mn-lt"/>
                <a:ea typeface="+mn-ea"/>
                <a:cs typeface="+mn-cs"/>
              </a:rPr>
              <a:t>final products = await (select(productsTable)</a:t>
            </a:r>
          </a:p>
          <a:p>
            <a:pPr rtl="0"/>
            <a:r>
              <a:rPr lang="vi-VN" sz="1200" kern="1200">
                <a:solidFill>
                  <a:schemeClr val="tx1"/>
                </a:solidFill>
                <a:latin typeface="+mn-lt"/>
                <a:ea typeface="+mn-ea"/>
                <a:cs typeface="+mn-cs"/>
              </a:rPr>
              <a:t>  ..where((tbl) =&gt; tbl.price.isBiggerThanValue(1000)))</a:t>
            </a:r>
          </a:p>
          <a:p>
            <a:pPr rtl="0"/>
            <a:r>
              <a:rPr lang="vi-VN" sz="1200" kern="1200">
                <a:solidFill>
                  <a:schemeClr val="tx1"/>
                </a:solidFill>
                <a:latin typeface="+mn-lt"/>
                <a:ea typeface="+mn-ea"/>
                <a:cs typeface="+mn-cs"/>
              </a:rPr>
              <a:t>  .get();</a:t>
            </a:r>
          </a:p>
          <a:p>
            <a:r>
              <a:rPr lang="vi-VN"/>
              <a:t>➡️ Đây cũng là một </a:t>
            </a:r>
            <a:r>
              <a:rPr lang="vi-VN" b="1"/>
              <a:t>query</a:t>
            </a:r>
            <a:r>
              <a:rPr lang="vi-VN"/>
              <a:t>, nhưng viết bằng </a:t>
            </a:r>
            <a:r>
              <a:rPr lang="vi-VN" b="1"/>
              <a:t>cú pháp Dart</a:t>
            </a:r>
            <a:r>
              <a:rPr lang="vi-VN"/>
              <a:t> (ORM) thay vì SQL.</a:t>
            </a:r>
          </a:p>
          <a:p>
            <a:r>
              <a:rPr lang="en-US" b="1"/>
              <a:t>🧠 </a:t>
            </a:r>
            <a:r>
              <a:rPr lang="vi-VN" b="1"/>
              <a:t>Các loại query thường gặp:</a:t>
            </a:r>
          </a:p>
          <a:p>
            <a:r>
              <a:rPr lang="vi-VN"/>
              <a:t>Loại truy vấn</a:t>
            </a:r>
            <a:r>
              <a:rPr lang="en-US"/>
              <a:t>		</a:t>
            </a:r>
            <a:r>
              <a:rPr lang="vi-VN"/>
              <a:t>Mục đích</a:t>
            </a:r>
            <a:r>
              <a:rPr lang="en-US"/>
              <a:t>	</a:t>
            </a:r>
            <a:r>
              <a:rPr lang="vi-VN"/>
              <a:t>Ví dụ SQL</a:t>
            </a:r>
            <a:endParaRPr lang="en-US"/>
          </a:p>
          <a:p>
            <a:r>
              <a:rPr lang="vi-VN" b="1"/>
              <a:t>SELECT</a:t>
            </a:r>
            <a:r>
              <a:rPr lang="en-US" b="1"/>
              <a:t>		</a:t>
            </a:r>
            <a:r>
              <a:rPr lang="vi-VN"/>
              <a:t>Lấy dữ liệu</a:t>
            </a:r>
            <a:r>
              <a:rPr lang="en-US"/>
              <a:t>	</a:t>
            </a:r>
            <a:r>
              <a:rPr lang="vi-VN" sz="1200" kern="1200">
                <a:solidFill>
                  <a:schemeClr val="tx1"/>
                </a:solidFill>
                <a:latin typeface="+mn-lt"/>
                <a:ea typeface="+mn-ea"/>
                <a:cs typeface="+mn-cs"/>
              </a:rPr>
              <a:t>SELECT * FROM users;</a:t>
            </a:r>
            <a:endParaRPr lang="en-US" sz="1200" kern="1200">
              <a:solidFill>
                <a:schemeClr val="tx1"/>
              </a:solidFill>
              <a:latin typeface="+mn-lt"/>
              <a:ea typeface="+mn-ea"/>
              <a:cs typeface="+mn-cs"/>
            </a:endParaRPr>
          </a:p>
          <a:p>
            <a:r>
              <a:rPr lang="vi-VN" b="1"/>
              <a:t>INSERT</a:t>
            </a:r>
            <a:r>
              <a:rPr lang="en-US" b="1"/>
              <a:t>		</a:t>
            </a:r>
            <a:r>
              <a:rPr lang="vi-VN"/>
              <a:t>Thêm dữ liệu</a:t>
            </a:r>
            <a:r>
              <a:rPr lang="en-US"/>
              <a:t>	</a:t>
            </a:r>
            <a:r>
              <a:rPr lang="vi-VN" sz="1200" kern="1200">
                <a:solidFill>
                  <a:schemeClr val="tx1"/>
                </a:solidFill>
                <a:latin typeface="+mn-lt"/>
                <a:ea typeface="+mn-ea"/>
                <a:cs typeface="+mn-cs"/>
              </a:rPr>
              <a:t>INSERT INTO users(name, age) VALUES('Nam', 22);</a:t>
            </a:r>
            <a:endParaRPr lang="en-US" sz="1200" kern="1200">
              <a:solidFill>
                <a:schemeClr val="tx1"/>
              </a:solidFill>
              <a:latin typeface="+mn-lt"/>
              <a:ea typeface="+mn-ea"/>
              <a:cs typeface="+mn-cs"/>
            </a:endParaRPr>
          </a:p>
          <a:p>
            <a:r>
              <a:rPr lang="vi-VN" b="1"/>
              <a:t>UPDATE</a:t>
            </a:r>
            <a:r>
              <a:rPr lang="en-US" b="1"/>
              <a:t>		</a:t>
            </a:r>
            <a:r>
              <a:rPr lang="vi-VN"/>
              <a:t>Sửa dữ liệu</a:t>
            </a:r>
            <a:r>
              <a:rPr lang="en-US"/>
              <a:t>	</a:t>
            </a:r>
            <a:r>
              <a:rPr lang="vi-VN" sz="1200" kern="1200">
                <a:solidFill>
                  <a:schemeClr val="tx1"/>
                </a:solidFill>
                <a:latin typeface="+mn-lt"/>
                <a:ea typeface="+mn-ea"/>
                <a:cs typeface="+mn-cs"/>
              </a:rPr>
              <a:t>UPDATE users SET age = 23 WHERE id = 1;</a:t>
            </a:r>
            <a:endParaRPr lang="en-US" sz="1200" kern="1200">
              <a:solidFill>
                <a:schemeClr val="tx1"/>
              </a:solidFill>
              <a:latin typeface="+mn-lt"/>
              <a:ea typeface="+mn-ea"/>
              <a:cs typeface="+mn-cs"/>
            </a:endParaRPr>
          </a:p>
          <a:p>
            <a:r>
              <a:rPr lang="vi-VN" b="1"/>
              <a:t>DELETE</a:t>
            </a:r>
            <a:r>
              <a:rPr lang="en-US" b="1"/>
              <a:t>		</a:t>
            </a:r>
            <a:r>
              <a:rPr lang="vi-VN"/>
              <a:t>Xóa dữ liệu</a:t>
            </a:r>
            <a:r>
              <a:rPr lang="en-US"/>
              <a:t>	</a:t>
            </a:r>
            <a:r>
              <a:rPr lang="vi-VN" sz="1200" kern="1200">
                <a:solidFill>
                  <a:schemeClr val="tx1"/>
                </a:solidFill>
                <a:latin typeface="+mn-lt"/>
                <a:ea typeface="+mn-ea"/>
                <a:cs typeface="+mn-cs"/>
              </a:rPr>
              <a:t>DELETE FROM users WHERE id = 1;</a:t>
            </a:r>
            <a:endParaRPr lang="vi-VN"/>
          </a:p>
          <a:p>
            <a:r>
              <a:rPr lang="en-US" b="1"/>
              <a:t>🧰 </a:t>
            </a:r>
            <a:r>
              <a:rPr lang="vi-VN" b="1"/>
              <a:t>Tóm lại:</a:t>
            </a:r>
          </a:p>
          <a:p>
            <a:r>
              <a:rPr lang="vi-VN"/>
              <a:t>Thuật ngữ</a:t>
            </a:r>
            <a:r>
              <a:rPr lang="en-US"/>
              <a:t>		</a:t>
            </a:r>
            <a:r>
              <a:rPr lang="vi-VN"/>
              <a:t>Nghĩa đơn giản</a:t>
            </a:r>
            <a:endParaRPr lang="en-US"/>
          </a:p>
          <a:p>
            <a:r>
              <a:rPr lang="vi-VN" b="1"/>
              <a:t>Query</a:t>
            </a:r>
            <a:r>
              <a:rPr lang="en-US" b="1"/>
              <a:t>		</a:t>
            </a:r>
            <a:r>
              <a:rPr lang="vi-VN"/>
              <a:t>Câu truy vấn dữ liệu</a:t>
            </a:r>
            <a:endParaRPr lang="en-US"/>
          </a:p>
          <a:p>
            <a:r>
              <a:rPr lang="vi-VN" b="1"/>
              <a:t>Execute query</a:t>
            </a:r>
            <a:r>
              <a:rPr lang="en-US" b="1"/>
              <a:t>	</a:t>
            </a:r>
            <a:r>
              <a:rPr lang="vi-VN"/>
              <a:t>Thực thi truy vấn trên database</a:t>
            </a:r>
            <a:endParaRPr lang="en-US"/>
          </a:p>
          <a:p>
            <a:r>
              <a:rPr lang="vi-VN" b="1"/>
              <a:t>Query builder</a:t>
            </a:r>
            <a:r>
              <a:rPr lang="en-US" b="1"/>
              <a:t>		</a:t>
            </a:r>
            <a:r>
              <a:rPr lang="vi-VN"/>
              <a:t>Công cụ tạo query bằng code thay vì viết SQL trực tiếp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a:t>
            </a:r>
          </a:p>
          <a:p>
            <a:r>
              <a:rPr lang="en-US" b="1"/>
              <a:t>🧩 1️⃣ </a:t>
            </a:r>
            <a:r>
              <a:rPr lang="vi-VN" b="1"/>
              <a:t>Hàm </a:t>
            </a:r>
            <a:r>
              <a:rPr lang="vi-VN" sz="1200" b="1" kern="1200">
                <a:solidFill>
                  <a:schemeClr val="tx1"/>
                </a:solidFill>
                <a:latin typeface="+mn-lt"/>
                <a:ea typeface="+mn-ea"/>
                <a:cs typeface="+mn-cs"/>
              </a:rPr>
              <a:t>_loadData()</a:t>
            </a:r>
            <a:endParaRPr lang="vi-VN" b="1"/>
          </a:p>
          <a:p>
            <a:pPr rtl="0"/>
            <a:r>
              <a:rPr lang="vi-VN" sz="1200" kern="1200">
                <a:solidFill>
                  <a:schemeClr val="tx1"/>
                </a:solidFill>
                <a:latin typeface="+mn-lt"/>
                <a:ea typeface="+mn-ea"/>
                <a:cs typeface="+mn-cs"/>
              </a:rPr>
              <a:t>Future&lt;void&gt; _loadData() async {</a:t>
            </a:r>
          </a:p>
          <a:p>
            <a:pPr rtl="0"/>
            <a:r>
              <a:rPr lang="vi-VN" sz="1200" kern="1200">
                <a:solidFill>
                  <a:schemeClr val="tx1"/>
                </a:solidFill>
                <a:latin typeface="+mn-lt"/>
                <a:ea typeface="+mn-ea"/>
                <a:cs typeface="+mn-cs"/>
              </a:rPr>
              <a:t>  final cats = await DBHelper.getAllCategories();</a:t>
            </a:r>
          </a:p>
          <a:p>
            <a:pPr rtl="0"/>
            <a:r>
              <a:rPr lang="vi-VN" sz="1200" kern="1200">
                <a:solidFill>
                  <a:schemeClr val="tx1"/>
                </a:solidFill>
                <a:latin typeface="+mn-lt"/>
                <a:ea typeface="+mn-ea"/>
                <a:cs typeface="+mn-cs"/>
              </a:rPr>
              <a:t>  final products = await DBHelper.getProductsWithCategory();</a:t>
            </a:r>
          </a:p>
          <a:p>
            <a:pPr rtl="0"/>
            <a:r>
              <a:rPr lang="vi-VN" sz="1200" kern="1200">
                <a:solidFill>
                  <a:schemeClr val="tx1"/>
                </a:solidFill>
                <a:latin typeface="+mn-lt"/>
                <a:ea typeface="+mn-ea"/>
                <a:cs typeface="+mn-cs"/>
              </a:rPr>
              <a:t>  setState(() {</a:t>
            </a:r>
          </a:p>
          <a:p>
            <a:pPr rtl="0"/>
            <a:r>
              <a:rPr lang="vi-VN" sz="1200" kern="1200">
                <a:solidFill>
                  <a:schemeClr val="tx1"/>
                </a:solidFill>
                <a:latin typeface="+mn-lt"/>
                <a:ea typeface="+mn-ea"/>
                <a:cs typeface="+mn-cs"/>
              </a:rPr>
              <a:t>    allCategories = cats;</a:t>
            </a:r>
          </a:p>
          <a:p>
            <a:pPr rtl="0"/>
            <a:r>
              <a:rPr lang="vi-VN" sz="1200" kern="1200">
                <a:solidFill>
                  <a:schemeClr val="tx1"/>
                </a:solidFill>
                <a:latin typeface="+mn-lt"/>
                <a:ea typeface="+mn-ea"/>
                <a:cs typeface="+mn-cs"/>
              </a:rPr>
              <a:t>    displayedProducts = products;</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a:t>
            </a:r>
          </a:p>
          <a:p>
            <a:br>
              <a:rPr lang="vi-VN"/>
            </a:br>
            <a:endParaRPr lang="vi-VN"/>
          </a:p>
          <a:p>
            <a:r>
              <a:rPr lang="en-US" b="1"/>
              <a:t>✅ </a:t>
            </a:r>
            <a:r>
              <a:rPr lang="vi-VN" b="1"/>
              <a:t>Mục đích</a:t>
            </a:r>
          </a:p>
          <a:p>
            <a:r>
              <a:rPr lang="vi-VN"/>
              <a:t>Hàm này dùng để </a:t>
            </a:r>
            <a:r>
              <a:rPr lang="vi-VN" b="1"/>
              <a:t>lấy toàn bộ dữ liệu danh mục (categories)</a:t>
            </a:r>
            <a:r>
              <a:rPr lang="vi-VN"/>
              <a:t> và </a:t>
            </a:r>
            <a:r>
              <a:rPr lang="vi-VN" b="1"/>
              <a:t>sản phẩm (products)</a:t>
            </a:r>
            <a:r>
              <a:rPr lang="vi-VN"/>
              <a:t> từ database SQLite,</a:t>
            </a:r>
            <a:br>
              <a:rPr lang="vi-VN"/>
            </a:br>
            <a:r>
              <a:rPr lang="vi-VN"/>
              <a:t>sau đó </a:t>
            </a:r>
            <a:r>
              <a:rPr lang="vi-VN" b="1"/>
              <a:t>lưu vào biến trong State</a:t>
            </a:r>
            <a:r>
              <a:rPr lang="vi-VN"/>
              <a:t> để hiển thị ra giao diện.</a:t>
            </a:r>
          </a:p>
          <a:p>
            <a:br>
              <a:rPr lang="vi-VN"/>
            </a:br>
            <a:endParaRPr lang="vi-VN"/>
          </a:p>
          <a:p>
            <a:r>
              <a:rPr lang="en-US" b="1"/>
              <a:t>🧠 </a:t>
            </a:r>
            <a:r>
              <a:rPr lang="vi-VN" b="1"/>
              <a:t>Giải thích từng dòng</a:t>
            </a:r>
          </a:p>
          <a:p>
            <a:r>
              <a:rPr lang="vi-VN"/>
              <a:t>Dòng</a:t>
            </a:r>
            <a:r>
              <a:rPr lang="en-US"/>
              <a:t>							</a:t>
            </a:r>
            <a:r>
              <a:rPr lang="vi-VN"/>
              <a:t>Giải thích</a:t>
            </a:r>
            <a:endParaRPr lang="en-US"/>
          </a:p>
          <a:p>
            <a:r>
              <a:rPr lang="vi-VN" sz="1200" kern="1200">
                <a:solidFill>
                  <a:schemeClr val="tx1"/>
                </a:solidFill>
                <a:latin typeface="+mn-lt"/>
                <a:ea typeface="+mn-ea"/>
                <a:cs typeface="+mn-cs"/>
              </a:rPr>
              <a:t>Future&lt;void&gt; _loadData() async {</a:t>
            </a:r>
            <a:r>
              <a:rPr lang="en-US" sz="1200" kern="1200">
                <a:solidFill>
                  <a:schemeClr val="tx1"/>
                </a:solidFill>
                <a:latin typeface="+mn-lt"/>
                <a:ea typeface="+mn-ea"/>
                <a:cs typeface="+mn-cs"/>
              </a:rPr>
              <a:t>			</a:t>
            </a:r>
            <a:r>
              <a:rPr lang="vi-VN"/>
              <a:t>Định nghĩa một hàm bất đồng bộ (asynchronous function) — vì việc đọc database mất thời gian. </a:t>
            </a:r>
            <a:r>
              <a:rPr lang="en-US"/>
              <a:t>					</a:t>
            </a:r>
            <a:r>
              <a:rPr lang="vi-VN" sz="1200" kern="1200">
                <a:solidFill>
                  <a:schemeClr val="tx1"/>
                </a:solidFill>
                <a:latin typeface="+mn-lt"/>
                <a:ea typeface="+mn-ea"/>
                <a:cs typeface="+mn-cs"/>
              </a:rPr>
              <a:t>Future&lt;void&gt;</a:t>
            </a:r>
            <a:r>
              <a:rPr lang="vi-VN"/>
              <a:t> nghĩa là hàm này chạy xong </a:t>
            </a:r>
            <a:r>
              <a:rPr lang="vi-VN" b="1"/>
              <a:t>không trả giá trị</a:t>
            </a:r>
            <a:r>
              <a:rPr lang="vi-VN"/>
              <a:t>, chỉ thực hiện hành động.</a:t>
            </a:r>
            <a:endParaRPr lang="en-US"/>
          </a:p>
          <a:p>
            <a:r>
              <a:rPr lang="en-US" sz="1200" kern="1200">
                <a:solidFill>
                  <a:schemeClr val="tx1"/>
                </a:solidFill>
                <a:latin typeface="+mn-lt"/>
                <a:ea typeface="+mn-ea"/>
                <a:cs typeface="+mn-cs"/>
              </a:rPr>
              <a:t> </a:t>
            </a:r>
            <a:r>
              <a:rPr lang="vi-VN" sz="1200" kern="1200">
                <a:solidFill>
                  <a:schemeClr val="tx1"/>
                </a:solidFill>
                <a:latin typeface="+mn-lt"/>
                <a:ea typeface="+mn-ea"/>
                <a:cs typeface="+mn-cs"/>
              </a:rPr>
              <a:t>final cats = await DBHelper.getAllCategories();</a:t>
            </a:r>
            <a:r>
              <a:rPr lang="en-US" sz="1200" kern="1200">
                <a:solidFill>
                  <a:schemeClr val="tx1"/>
                </a:solidFill>
                <a:latin typeface="+mn-lt"/>
                <a:ea typeface="+mn-ea"/>
                <a:cs typeface="+mn-cs"/>
              </a:rPr>
              <a:t>		</a:t>
            </a:r>
            <a:r>
              <a:rPr lang="vi-VN"/>
              <a:t>Gọi đến hàm </a:t>
            </a:r>
            <a:r>
              <a:rPr lang="vi-VN" sz="1200" kern="1200">
                <a:solidFill>
                  <a:schemeClr val="tx1"/>
                </a:solidFill>
                <a:latin typeface="+mn-lt"/>
                <a:ea typeface="+mn-ea"/>
                <a:cs typeface="+mn-cs"/>
              </a:rPr>
              <a:t>DBHelper.getAllCategories()</a:t>
            </a:r>
            <a:r>
              <a:rPr lang="vi-VN"/>
              <a:t> để lấy </a:t>
            </a:r>
            <a:r>
              <a:rPr lang="vi-VN" b="1"/>
              <a:t>danh sách các danh mục</a:t>
            </a:r>
            <a:r>
              <a:rPr lang="vi-VN"/>
              <a:t> từ bảng </a:t>
            </a:r>
            <a:r>
              <a:rPr lang="vi-VN" sz="1200" kern="1200">
                <a:solidFill>
                  <a:schemeClr val="tx1"/>
                </a:solidFill>
                <a:latin typeface="+mn-lt"/>
                <a:ea typeface="+mn-ea"/>
                <a:cs typeface="+mn-cs"/>
              </a:rPr>
              <a:t>categories</a:t>
            </a:r>
            <a:r>
              <a:rPr lang="vi-VN"/>
              <a:t>. </a:t>
            </a:r>
            <a:br>
              <a:rPr lang="vi-VN"/>
            </a:br>
            <a:r>
              <a:rPr lang="en-US"/>
              <a:t>					</a:t>
            </a:r>
            <a:r>
              <a:rPr lang="vi-VN"/>
              <a:t>– </a:t>
            </a:r>
            <a:r>
              <a:rPr lang="vi-VN" sz="1200" kern="1200">
                <a:solidFill>
                  <a:schemeClr val="tx1"/>
                </a:solidFill>
                <a:latin typeface="+mn-lt"/>
                <a:ea typeface="+mn-ea"/>
                <a:cs typeface="+mn-cs"/>
              </a:rPr>
              <a:t>await</a:t>
            </a:r>
            <a:r>
              <a:rPr lang="vi-VN"/>
              <a:t> giúp </a:t>
            </a:r>
            <a:r>
              <a:rPr lang="vi-VN" b="1"/>
              <a:t>chờ dữ liệu được lấy xong</a:t>
            </a:r>
            <a:r>
              <a:rPr lang="vi-VN"/>
              <a:t> trước khi chạy dòng tiếp theo. </a:t>
            </a:r>
            <a:br>
              <a:rPr lang="vi-VN"/>
            </a:br>
            <a:r>
              <a:rPr lang="en-US"/>
              <a:t>					</a:t>
            </a:r>
            <a:r>
              <a:rPr lang="vi-VN"/>
              <a:t>– Kết quả là </a:t>
            </a:r>
            <a:r>
              <a:rPr lang="vi-VN" sz="1200" kern="1200">
                <a:solidFill>
                  <a:schemeClr val="tx1"/>
                </a:solidFill>
                <a:latin typeface="+mn-lt"/>
                <a:ea typeface="+mn-ea"/>
                <a:cs typeface="+mn-cs"/>
              </a:rPr>
              <a:t>List&lt;Category&gt;</a:t>
            </a:r>
            <a:r>
              <a:rPr lang="vi-VN"/>
              <a:t> gán vào </a:t>
            </a:r>
            <a:r>
              <a:rPr lang="vi-VN" sz="1200" kern="1200">
                <a:solidFill>
                  <a:schemeClr val="tx1"/>
                </a:solidFill>
                <a:latin typeface="+mn-lt"/>
                <a:ea typeface="+mn-ea"/>
                <a:cs typeface="+mn-cs"/>
              </a:rPr>
              <a:t>cats</a:t>
            </a:r>
            <a:r>
              <a:rPr lang="vi-VN"/>
              <a:t>.</a:t>
            </a:r>
            <a:endParaRPr lang="en-US"/>
          </a:p>
          <a:p>
            <a:r>
              <a:rPr lang="vi-VN" sz="1200" kern="1200">
                <a:solidFill>
                  <a:schemeClr val="tx1"/>
                </a:solidFill>
                <a:latin typeface="+mn-lt"/>
                <a:ea typeface="+mn-ea"/>
                <a:cs typeface="+mn-cs"/>
              </a:rPr>
              <a:t>final products = await DBHelper.getProductsWithCategory()</a:t>
            </a:r>
            <a:r>
              <a:rPr lang="en-US" sz="1200" kern="1200">
                <a:solidFill>
                  <a:schemeClr val="tx1"/>
                </a:solidFill>
                <a:latin typeface="+mn-lt"/>
                <a:ea typeface="+mn-ea"/>
                <a:cs typeface="+mn-cs"/>
              </a:rPr>
              <a:t>	</a:t>
            </a:r>
            <a:r>
              <a:rPr lang="vi-VN" sz="1200" kern="1200">
                <a:solidFill>
                  <a:schemeClr val="tx1"/>
                </a:solidFill>
                <a:latin typeface="+mn-lt"/>
                <a:ea typeface="+mn-ea"/>
                <a:cs typeface="+mn-cs"/>
              </a:rPr>
              <a:t>;</a:t>
            </a:r>
            <a:r>
              <a:rPr lang="vi-VN"/>
              <a:t>Gọi hàm </a:t>
            </a:r>
            <a:r>
              <a:rPr lang="vi-VN" sz="1200" kern="1200">
                <a:solidFill>
                  <a:schemeClr val="tx1"/>
                </a:solidFill>
                <a:latin typeface="+mn-lt"/>
                <a:ea typeface="+mn-ea"/>
                <a:cs typeface="+mn-cs"/>
              </a:rPr>
              <a:t>getProductsWithCategory()</a:t>
            </a:r>
            <a:r>
              <a:rPr lang="vi-VN"/>
              <a:t> (JOIN hai bảng) để lấy danh sách sản phẩm kèm tên danh </a:t>
            </a:r>
            <a:r>
              <a:rPr lang="en-US"/>
              <a:t>					</a:t>
            </a:r>
            <a:r>
              <a:rPr lang="vi-VN"/>
              <a:t>mục. </a:t>
            </a:r>
            <a:br>
              <a:rPr lang="vi-VN"/>
            </a:br>
            <a:r>
              <a:rPr lang="en-US"/>
              <a:t>					</a:t>
            </a:r>
            <a:r>
              <a:rPr lang="vi-VN"/>
              <a:t>Kết quả là </a:t>
            </a:r>
            <a:r>
              <a:rPr lang="vi-VN" sz="1200" kern="1200">
                <a:solidFill>
                  <a:schemeClr val="tx1"/>
                </a:solidFill>
                <a:latin typeface="+mn-lt"/>
                <a:ea typeface="+mn-ea"/>
                <a:cs typeface="+mn-cs"/>
              </a:rPr>
              <a:t>List&lt;Map&lt;String, dynamic&gt;&gt;</a:t>
            </a:r>
            <a:r>
              <a:rPr lang="vi-VN"/>
              <a:t>, gán vào </a:t>
            </a:r>
            <a:r>
              <a:rPr lang="vi-VN" sz="1200" kern="1200">
                <a:solidFill>
                  <a:schemeClr val="tx1"/>
                </a:solidFill>
                <a:latin typeface="+mn-lt"/>
                <a:ea typeface="+mn-ea"/>
                <a:cs typeface="+mn-cs"/>
              </a:rPr>
              <a:t>products</a:t>
            </a:r>
            <a:r>
              <a:rPr lang="vi-VN"/>
              <a:t>.</a:t>
            </a:r>
            <a:endParaRPr lang="en-US"/>
          </a:p>
          <a:p>
            <a:r>
              <a:rPr lang="vi-VN" sz="1200" kern="1200">
                <a:solidFill>
                  <a:schemeClr val="tx1"/>
                </a:solidFill>
                <a:latin typeface="+mn-lt"/>
                <a:ea typeface="+mn-ea"/>
                <a:cs typeface="+mn-cs"/>
              </a:rPr>
              <a:t>setState(() { ... });</a:t>
            </a:r>
            <a:r>
              <a:rPr lang="en-US" sz="1200" kern="1200">
                <a:solidFill>
                  <a:schemeClr val="tx1"/>
                </a:solidFill>
                <a:latin typeface="+mn-lt"/>
                <a:ea typeface="+mn-ea"/>
                <a:cs typeface="+mn-cs"/>
              </a:rPr>
              <a:t>				</a:t>
            </a:r>
            <a:r>
              <a:rPr lang="vi-VN"/>
              <a:t>Gọi hàm này để </a:t>
            </a:r>
            <a:r>
              <a:rPr lang="vi-VN" b="1"/>
              <a:t>báo cho Flutter biết rằng dữ liệu trong State đã thay đổi</a:t>
            </a:r>
            <a:r>
              <a:rPr lang="vi-VN"/>
              <a:t>, và yêu cầu giao diện </a:t>
            </a:r>
            <a:r>
              <a:rPr lang="en-US"/>
              <a:t>					</a:t>
            </a:r>
            <a:r>
              <a:rPr lang="vi-VN"/>
              <a:t>(UI) </a:t>
            </a:r>
            <a:r>
              <a:rPr lang="vi-VN" b="1"/>
              <a:t>render lại</a:t>
            </a:r>
            <a:r>
              <a:rPr lang="vi-VN"/>
              <a:t> với dữ liệu mới.</a:t>
            </a:r>
            <a:endParaRPr lang="en-US"/>
          </a:p>
          <a:p>
            <a:r>
              <a:rPr lang="vi-VN" sz="1200" kern="1200">
                <a:solidFill>
                  <a:schemeClr val="tx1"/>
                </a:solidFill>
                <a:latin typeface="+mn-lt"/>
                <a:ea typeface="+mn-ea"/>
                <a:cs typeface="+mn-cs"/>
              </a:rPr>
              <a:t>allCategories = cats;</a:t>
            </a:r>
            <a:r>
              <a:rPr lang="en-US" sz="1200" kern="1200">
                <a:solidFill>
                  <a:schemeClr val="tx1"/>
                </a:solidFill>
                <a:latin typeface="+mn-lt"/>
                <a:ea typeface="+mn-ea"/>
                <a:cs typeface="+mn-cs"/>
              </a:rPr>
              <a:t>				</a:t>
            </a:r>
            <a:r>
              <a:rPr lang="vi-VN"/>
              <a:t>Cập nhật biến </a:t>
            </a:r>
            <a:r>
              <a:rPr lang="vi-VN" sz="1200" kern="1200">
                <a:solidFill>
                  <a:schemeClr val="tx1"/>
                </a:solidFill>
                <a:latin typeface="+mn-lt"/>
                <a:ea typeface="+mn-ea"/>
                <a:cs typeface="+mn-cs"/>
              </a:rPr>
              <a:t>allCategories</a:t>
            </a:r>
            <a:r>
              <a:rPr lang="vi-VN"/>
              <a:t> (được khai báo trong State) để chứa toàn bộ danh mục vừa tải về.</a:t>
            </a:r>
            <a:endParaRPr lang="en-US"/>
          </a:p>
          <a:p>
            <a:r>
              <a:rPr lang="vi-VN" sz="1200" kern="1200">
                <a:solidFill>
                  <a:schemeClr val="tx1"/>
                </a:solidFill>
                <a:latin typeface="+mn-lt"/>
                <a:ea typeface="+mn-ea"/>
                <a:cs typeface="+mn-cs"/>
              </a:rPr>
              <a:t>displayedProducts = products;</a:t>
            </a:r>
            <a:r>
              <a:rPr lang="en-US" sz="1200" kern="1200">
                <a:solidFill>
                  <a:schemeClr val="tx1"/>
                </a:solidFill>
                <a:latin typeface="+mn-lt"/>
                <a:ea typeface="+mn-ea"/>
                <a:cs typeface="+mn-cs"/>
              </a:rPr>
              <a:t>			</a:t>
            </a:r>
            <a:r>
              <a:rPr lang="vi-VN"/>
              <a:t>Gán danh sách sản phẩm (có cả category name) vào biến hiển thị </a:t>
            </a:r>
            <a:r>
              <a:rPr lang="vi-VN" sz="1200" kern="1200">
                <a:solidFill>
                  <a:schemeClr val="tx1"/>
                </a:solidFill>
                <a:latin typeface="+mn-lt"/>
                <a:ea typeface="+mn-ea"/>
                <a:cs typeface="+mn-cs"/>
              </a:rPr>
              <a:t>displayedProducts</a:t>
            </a:r>
            <a:r>
              <a:rPr lang="vi-VN"/>
              <a:t>, để ListView </a:t>
            </a:r>
            <a:r>
              <a:rPr lang="en-US"/>
              <a:t>					</a:t>
            </a:r>
            <a:r>
              <a:rPr lang="vi-VN"/>
              <a:t>trong UI sử dụng.</a:t>
            </a:r>
          </a:p>
          <a:p>
            <a:br>
              <a:rPr lang="vi-VN"/>
            </a:br>
            <a:endParaRPr lang="vi-VN"/>
          </a:p>
          <a:p>
            <a:r>
              <a:rPr lang="en-US" b="1"/>
              <a:t>📊 </a:t>
            </a:r>
            <a:r>
              <a:rPr lang="vi-VN" b="1"/>
              <a:t>Tóm tắt:</a:t>
            </a:r>
          </a:p>
          <a:p>
            <a:r>
              <a:rPr lang="vi-VN" b="1"/>
              <a:t>Lấy dữ liệu gốc từ DB</a:t>
            </a:r>
            <a:endParaRPr lang="vi-VN"/>
          </a:p>
          <a:p>
            <a:r>
              <a:rPr lang="vi-VN" b="1"/>
              <a:t>Lưu vào biến State</a:t>
            </a:r>
            <a:endParaRPr lang="vi-VN"/>
          </a:p>
          <a:p>
            <a:r>
              <a:rPr lang="vi-VN" b="1"/>
              <a:t>Gọi </a:t>
            </a:r>
            <a:r>
              <a:rPr lang="vi-VN" sz="1200" b="1" kern="1200">
                <a:solidFill>
                  <a:schemeClr val="tx1"/>
                </a:solidFill>
                <a:latin typeface="+mn-lt"/>
                <a:ea typeface="+mn-ea"/>
                <a:cs typeface="+mn-cs"/>
              </a:rPr>
              <a:t>setState()</a:t>
            </a:r>
            <a:r>
              <a:rPr lang="vi-VN" b="1"/>
              <a:t> để cập nhật UI</a:t>
            </a:r>
            <a:endParaRPr lang="vi-VN"/>
          </a:p>
          <a:p>
            <a:br>
              <a:rPr lang="vi-VN"/>
            </a:br>
            <a:endParaRPr lang="vi-VN"/>
          </a:p>
          <a:p>
            <a:r>
              <a:rPr lang="en-US" b="1"/>
              <a:t>🧩 2️⃣ </a:t>
            </a:r>
            <a:r>
              <a:rPr lang="vi-VN" b="1"/>
              <a:t>Hàm </a:t>
            </a:r>
            <a:r>
              <a:rPr lang="vi-VN" sz="1200" b="1" kern="1200">
                <a:solidFill>
                  <a:schemeClr val="tx1"/>
                </a:solidFill>
                <a:latin typeface="+mn-lt"/>
                <a:ea typeface="+mn-ea"/>
                <a:cs typeface="+mn-cs"/>
              </a:rPr>
              <a:t>_applyFilters()</a:t>
            </a:r>
            <a:endParaRPr lang="vi-VN" b="1"/>
          </a:p>
          <a:p>
            <a:pPr rtl="0"/>
            <a:r>
              <a:rPr lang="vi-VN" sz="1200" kern="1200">
                <a:solidFill>
                  <a:schemeClr val="tx1"/>
                </a:solidFill>
                <a:latin typeface="+mn-lt"/>
                <a:ea typeface="+mn-ea"/>
                <a:cs typeface="+mn-cs"/>
              </a:rPr>
              <a:t>void _applyFilters() async {</a:t>
            </a:r>
          </a:p>
          <a:p>
            <a:pPr rtl="0"/>
            <a:r>
              <a:rPr lang="vi-VN" sz="1200" kern="1200">
                <a:solidFill>
                  <a:schemeClr val="tx1"/>
                </a:solidFill>
                <a:latin typeface="+mn-lt"/>
                <a:ea typeface="+mn-ea"/>
                <a:cs typeface="+mn-cs"/>
              </a:rPr>
              <a:t>  final dbData = await DBHelper.getProductsWithCategory();</a:t>
            </a:r>
          </a:p>
          <a:p>
            <a:pPr rtl="0"/>
            <a:r>
              <a:rPr lang="vi-VN" sz="1200" kern="1200">
                <a:solidFill>
                  <a:schemeClr val="tx1"/>
                </a:solidFill>
                <a:latin typeface="+mn-lt"/>
                <a:ea typeface="+mn-ea"/>
                <a:cs typeface="+mn-cs"/>
              </a:rPr>
              <a:t>  setState(() {</a:t>
            </a:r>
          </a:p>
          <a:p>
            <a:pPr rtl="0"/>
            <a:r>
              <a:rPr lang="vi-VN" sz="1200" kern="1200">
                <a:solidFill>
                  <a:schemeClr val="tx1"/>
                </a:solidFill>
                <a:latin typeface="+mn-lt"/>
                <a:ea typeface="+mn-ea"/>
                <a:cs typeface="+mn-cs"/>
              </a:rPr>
              <a:t>    displayedProducts = dbData.where((p) {</a:t>
            </a:r>
          </a:p>
          <a:p>
            <a:pPr rtl="0"/>
            <a:r>
              <a:rPr lang="vi-VN" sz="1200" kern="1200">
                <a:solidFill>
                  <a:schemeClr val="tx1"/>
                </a:solidFill>
                <a:latin typeface="+mn-lt"/>
                <a:ea typeface="+mn-ea"/>
                <a:cs typeface="+mn-cs"/>
              </a:rPr>
              <a:t>      final matchCategory =</a:t>
            </a:r>
          </a:p>
          <a:p>
            <a:pPr rtl="0"/>
            <a:r>
              <a:rPr lang="vi-VN" sz="1200" kern="1200">
                <a:solidFill>
                  <a:schemeClr val="tx1"/>
                </a:solidFill>
                <a:latin typeface="+mn-lt"/>
                <a:ea typeface="+mn-ea"/>
                <a:cs typeface="+mn-cs"/>
              </a:rPr>
              <a:t>          (filterCategory == 0 || p['category_id'] == filterCategory);</a:t>
            </a:r>
          </a:p>
          <a:p>
            <a:pPr rtl="0"/>
            <a:r>
              <a:rPr lang="vi-VN" sz="1200" kern="1200">
                <a:solidFill>
                  <a:schemeClr val="tx1"/>
                </a:solidFill>
                <a:latin typeface="+mn-lt"/>
                <a:ea typeface="+mn-ea"/>
                <a:cs typeface="+mn-cs"/>
              </a:rPr>
              <a:t>      final matchSearch = p['name']</a:t>
            </a:r>
          </a:p>
          <a:p>
            <a:pPr rtl="0"/>
            <a:r>
              <a:rPr lang="vi-VN" sz="1200" kern="1200">
                <a:solidFill>
                  <a:schemeClr val="tx1"/>
                </a:solidFill>
                <a:latin typeface="+mn-lt"/>
                <a:ea typeface="+mn-ea"/>
                <a:cs typeface="+mn-cs"/>
              </a:rPr>
              <a:t>          .toString()</a:t>
            </a:r>
          </a:p>
          <a:p>
            <a:pPr rtl="0"/>
            <a:r>
              <a:rPr lang="vi-VN" sz="1200" kern="1200">
                <a:solidFill>
                  <a:schemeClr val="tx1"/>
                </a:solidFill>
                <a:latin typeface="+mn-lt"/>
                <a:ea typeface="+mn-ea"/>
                <a:cs typeface="+mn-cs"/>
              </a:rPr>
              <a:t>          .toLowerCase()</a:t>
            </a:r>
          </a:p>
          <a:p>
            <a:pPr rtl="0"/>
            <a:r>
              <a:rPr lang="vi-VN" sz="1200" kern="1200">
                <a:solidFill>
                  <a:schemeClr val="tx1"/>
                </a:solidFill>
                <a:latin typeface="+mn-lt"/>
                <a:ea typeface="+mn-ea"/>
                <a:cs typeface="+mn-cs"/>
              </a:rPr>
              <a:t>          .contains(searchText.toLowerCase());</a:t>
            </a:r>
          </a:p>
          <a:p>
            <a:pPr rtl="0"/>
            <a:r>
              <a:rPr lang="vi-VN" sz="1200" kern="1200">
                <a:solidFill>
                  <a:schemeClr val="tx1"/>
                </a:solidFill>
                <a:latin typeface="+mn-lt"/>
                <a:ea typeface="+mn-ea"/>
                <a:cs typeface="+mn-cs"/>
              </a:rPr>
              <a:t>      return matchCategory &amp;&amp; matchSearch;</a:t>
            </a:r>
          </a:p>
          <a:p>
            <a:pPr rtl="0"/>
            <a:r>
              <a:rPr lang="vi-VN" sz="1200" kern="1200">
                <a:solidFill>
                  <a:schemeClr val="tx1"/>
                </a:solidFill>
                <a:latin typeface="+mn-lt"/>
                <a:ea typeface="+mn-ea"/>
                <a:cs typeface="+mn-cs"/>
              </a:rPr>
              <a:t>    }).toList();</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a:t>
            </a:r>
          </a:p>
          <a:p>
            <a:br>
              <a:rPr lang="vi-VN"/>
            </a:br>
            <a:endParaRPr lang="vi-VN"/>
          </a:p>
          <a:p>
            <a:r>
              <a:rPr lang="en-US" b="1"/>
              <a:t>✅ </a:t>
            </a:r>
            <a:r>
              <a:rPr lang="vi-VN" b="1"/>
              <a:t>Mục đích</a:t>
            </a:r>
          </a:p>
          <a:p>
            <a:r>
              <a:rPr lang="vi-VN"/>
              <a:t>Hàm này dùng để </a:t>
            </a:r>
            <a:r>
              <a:rPr lang="vi-VN" b="1"/>
              <a:t>lọc danh sách sản phẩm</a:t>
            </a:r>
            <a:r>
              <a:rPr lang="vi-VN"/>
              <a:t> theo:</a:t>
            </a:r>
          </a:p>
          <a:p>
            <a:r>
              <a:rPr lang="vi-VN" b="1"/>
              <a:t>Danh mục đang chọn (</a:t>
            </a:r>
            <a:r>
              <a:rPr lang="vi-VN" sz="1200" b="1" kern="1200">
                <a:solidFill>
                  <a:schemeClr val="tx1"/>
                </a:solidFill>
                <a:latin typeface="+mn-lt"/>
                <a:ea typeface="+mn-ea"/>
                <a:cs typeface="+mn-cs"/>
              </a:rPr>
              <a:t>filterCategory</a:t>
            </a:r>
            <a:r>
              <a:rPr lang="vi-VN" b="1"/>
              <a:t>)</a:t>
            </a:r>
            <a:r>
              <a:rPr lang="vi-VN"/>
              <a:t>, và</a:t>
            </a:r>
          </a:p>
          <a:p>
            <a:r>
              <a:rPr lang="vi-VN" b="1"/>
              <a:t>Từ khóa tìm kiếm (</a:t>
            </a:r>
            <a:r>
              <a:rPr lang="vi-VN" sz="1200" b="1" kern="1200">
                <a:solidFill>
                  <a:schemeClr val="tx1"/>
                </a:solidFill>
                <a:latin typeface="+mn-lt"/>
                <a:ea typeface="+mn-ea"/>
                <a:cs typeface="+mn-cs"/>
              </a:rPr>
              <a:t>searchText</a:t>
            </a:r>
            <a:r>
              <a:rPr lang="vi-VN" b="1"/>
              <a:t>)</a:t>
            </a:r>
            <a:r>
              <a:rPr lang="vi-VN"/>
              <a:t>.</a:t>
            </a:r>
          </a:p>
          <a:p>
            <a:r>
              <a:rPr lang="vi-VN"/>
              <a:t>Sau khi lọc xong, cập nhật lại </a:t>
            </a:r>
            <a:r>
              <a:rPr lang="vi-VN" sz="1200" kern="1200">
                <a:solidFill>
                  <a:schemeClr val="tx1"/>
                </a:solidFill>
                <a:latin typeface="+mn-lt"/>
                <a:ea typeface="+mn-ea"/>
                <a:cs typeface="+mn-cs"/>
              </a:rPr>
              <a:t>displayedProducts</a:t>
            </a:r>
            <a:r>
              <a:rPr lang="vi-VN"/>
              <a:t> để UI hiển thị danh sách phù hợp.</a:t>
            </a:r>
          </a:p>
          <a:p>
            <a:br>
              <a:rPr lang="vi-VN"/>
            </a:br>
            <a:endParaRPr lang="vi-VN"/>
          </a:p>
          <a:p>
            <a:r>
              <a:rPr lang="en-US" b="1"/>
              <a:t>🧠 </a:t>
            </a:r>
            <a:r>
              <a:rPr lang="vi-VN" b="1"/>
              <a:t>Giải thích từng dòng</a:t>
            </a:r>
          </a:p>
          <a:p>
            <a:r>
              <a:rPr lang="vi-VN"/>
              <a:t>Dòng</a:t>
            </a:r>
            <a:r>
              <a:rPr lang="en-US"/>
              <a:t>					</a:t>
            </a:r>
            <a:r>
              <a:rPr lang="vi-VN"/>
              <a:t>Giải thích</a:t>
            </a:r>
            <a:endParaRPr lang="en-US"/>
          </a:p>
          <a:p>
            <a:r>
              <a:rPr lang="vi-VN" sz="1200" kern="1200">
                <a:solidFill>
                  <a:schemeClr val="tx1"/>
                </a:solidFill>
                <a:latin typeface="+mn-lt"/>
                <a:ea typeface="+mn-ea"/>
                <a:cs typeface="+mn-cs"/>
              </a:rPr>
              <a:t>void _applyFilters() async {</a:t>
            </a:r>
            <a:r>
              <a:rPr lang="en-US" sz="1200" kern="1200">
                <a:solidFill>
                  <a:schemeClr val="tx1"/>
                </a:solidFill>
                <a:latin typeface="+mn-lt"/>
                <a:ea typeface="+mn-ea"/>
                <a:cs typeface="+mn-cs"/>
              </a:rPr>
              <a:t>				</a:t>
            </a:r>
            <a:r>
              <a:rPr lang="vi-VN"/>
              <a:t>Hàm bất đồng bộ (có thể chờ truy vấn DB), không trả giá trị.</a:t>
            </a:r>
            <a:endParaRPr lang="en-US"/>
          </a:p>
          <a:p>
            <a:r>
              <a:rPr lang="vi-VN" sz="1200" kern="1200">
                <a:solidFill>
                  <a:schemeClr val="tx1"/>
                </a:solidFill>
                <a:latin typeface="+mn-lt"/>
                <a:ea typeface="+mn-ea"/>
                <a:cs typeface="+mn-cs"/>
              </a:rPr>
              <a:t>final dbData = await DBHelper.getProductsWithCategory();</a:t>
            </a:r>
            <a:r>
              <a:rPr lang="en-US" sz="1200" kern="1200">
                <a:solidFill>
                  <a:schemeClr val="tx1"/>
                </a:solidFill>
                <a:latin typeface="+mn-lt"/>
                <a:ea typeface="+mn-ea"/>
                <a:cs typeface="+mn-cs"/>
              </a:rPr>
              <a:t>		</a:t>
            </a:r>
            <a:r>
              <a:rPr lang="vi-VN"/>
              <a:t>Gọi lại hàm JOIN ở DBHelper để lấy </a:t>
            </a:r>
            <a:r>
              <a:rPr lang="vi-VN" b="1"/>
              <a:t>toàn bộ dữ liệu mới nhất</a:t>
            </a:r>
            <a:r>
              <a:rPr lang="vi-VN"/>
              <a:t> (phòng trường hợp vừa thêm, sửa, </a:t>
            </a:r>
            <a:r>
              <a:rPr lang="en-US"/>
              <a:t>					</a:t>
            </a:r>
            <a:r>
              <a:rPr lang="vi-VN"/>
              <a:t>xóa).</a:t>
            </a:r>
            <a:endParaRPr lang="en-US"/>
          </a:p>
          <a:p>
            <a:r>
              <a:rPr lang="vi-VN" sz="1200" kern="1200">
                <a:solidFill>
                  <a:schemeClr val="tx1"/>
                </a:solidFill>
                <a:latin typeface="+mn-lt"/>
                <a:ea typeface="+mn-ea"/>
                <a:cs typeface="+mn-cs"/>
              </a:rPr>
              <a:t>setState(() { ... });</a:t>
            </a:r>
            <a:r>
              <a:rPr lang="en-US" sz="1200" kern="1200">
                <a:solidFill>
                  <a:schemeClr val="tx1"/>
                </a:solidFill>
                <a:latin typeface="+mn-lt"/>
                <a:ea typeface="+mn-ea"/>
                <a:cs typeface="+mn-cs"/>
              </a:rPr>
              <a:t>				</a:t>
            </a:r>
            <a:r>
              <a:rPr lang="vi-VN"/>
              <a:t>Cập nhật State để làm mới giao diện. Mọi thay đổi bên trong sẽ khiến UI vẽ lại danh sách sản phẩm.</a:t>
            </a:r>
            <a:endParaRPr lang="en-US"/>
          </a:p>
          <a:p>
            <a:r>
              <a:rPr lang="vi-VN" sz="1200" kern="1200">
                <a:solidFill>
                  <a:schemeClr val="tx1"/>
                </a:solidFill>
                <a:latin typeface="+mn-lt"/>
                <a:ea typeface="+mn-ea"/>
                <a:cs typeface="+mn-cs"/>
              </a:rPr>
              <a:t>displayedProducts = dbData.where((p) { ... }).toList();</a:t>
            </a:r>
            <a:r>
              <a:rPr lang="en-US" sz="1200" kern="1200">
                <a:solidFill>
                  <a:schemeClr val="tx1"/>
                </a:solidFill>
                <a:latin typeface="+mn-lt"/>
                <a:ea typeface="+mn-ea"/>
                <a:cs typeface="+mn-cs"/>
              </a:rPr>
              <a:t>		</a:t>
            </a:r>
            <a:r>
              <a:rPr lang="vi-VN"/>
              <a:t>Lọc (</a:t>
            </a:r>
            <a:r>
              <a:rPr lang="vi-VN" sz="1200" kern="1200">
                <a:solidFill>
                  <a:schemeClr val="tx1"/>
                </a:solidFill>
                <a:latin typeface="+mn-lt"/>
                <a:ea typeface="+mn-ea"/>
                <a:cs typeface="+mn-cs"/>
              </a:rPr>
              <a:t>where</a:t>
            </a:r>
            <a:r>
              <a:rPr lang="vi-VN"/>
              <a:t>) danh sách </a:t>
            </a:r>
            <a:r>
              <a:rPr lang="vi-VN" sz="1200" kern="1200">
                <a:solidFill>
                  <a:schemeClr val="tx1"/>
                </a:solidFill>
                <a:latin typeface="+mn-lt"/>
                <a:ea typeface="+mn-ea"/>
                <a:cs typeface="+mn-cs"/>
              </a:rPr>
              <a:t>dbData</a:t>
            </a:r>
            <a:r>
              <a:rPr lang="vi-VN"/>
              <a:t> theo điều kiện, sau đó chuyển kết quả về dạng </a:t>
            </a:r>
            <a:r>
              <a:rPr lang="vi-VN" sz="1200" kern="1200">
                <a:solidFill>
                  <a:schemeClr val="tx1"/>
                </a:solidFill>
                <a:latin typeface="+mn-lt"/>
                <a:ea typeface="+mn-ea"/>
                <a:cs typeface="+mn-cs"/>
              </a:rPr>
              <a:t>List</a:t>
            </a:r>
            <a:r>
              <a:rPr lang="vi-VN"/>
              <a:t>.</a:t>
            </a:r>
            <a:endParaRPr lang="en-US"/>
          </a:p>
          <a:p>
            <a:r>
              <a:rPr lang="vi-VN"/>
              <a:t>`final matchCategory = (filterCategory == 0</a:t>
            </a:r>
            <a:endParaRPr lang="en-US"/>
          </a:p>
          <a:p>
            <a:r>
              <a:rPr lang="vi-VN" sz="1200" kern="1200">
                <a:solidFill>
                  <a:schemeClr val="tx1"/>
                </a:solidFill>
                <a:latin typeface="+mn-lt"/>
                <a:ea typeface="+mn-ea"/>
                <a:cs typeface="+mn-cs"/>
              </a:rPr>
              <a:t>final matchSearch = p['name'].toString().toLowerCase().contains(searchText.toLowerCase());</a:t>
            </a:r>
            <a:r>
              <a:rPr lang="en-US" sz="1200" kern="1200">
                <a:solidFill>
                  <a:schemeClr val="tx1"/>
                </a:solidFill>
                <a:latin typeface="+mn-lt"/>
                <a:ea typeface="+mn-ea"/>
                <a:cs typeface="+mn-cs"/>
              </a:rPr>
              <a:t>	</a:t>
            </a:r>
            <a:r>
              <a:rPr lang="vi-VN"/>
              <a:t>Kiểm tra xem tên sản phẩm có chứa từ khóa người dùng gõ trong ô </a:t>
            </a:r>
            <a:r>
              <a:rPr lang="en-US"/>
              <a:t>							</a:t>
            </a:r>
            <a:r>
              <a:rPr lang="vi-VN"/>
              <a:t>tìm kiếm không. </a:t>
            </a:r>
            <a:br>
              <a:rPr lang="vi-VN"/>
            </a:br>
            <a:r>
              <a:rPr lang="en-US"/>
              <a:t>							</a:t>
            </a:r>
            <a:r>
              <a:rPr lang="vi-VN"/>
              <a:t>– </a:t>
            </a:r>
            <a:r>
              <a:rPr lang="vi-VN" sz="1200" kern="1200">
                <a:solidFill>
                  <a:schemeClr val="tx1"/>
                </a:solidFill>
                <a:latin typeface="+mn-lt"/>
                <a:ea typeface="+mn-ea"/>
                <a:cs typeface="+mn-cs"/>
              </a:rPr>
              <a:t>.toLowerCase()</a:t>
            </a:r>
            <a:r>
              <a:rPr lang="vi-VN"/>
              <a:t> giúp không phân biệt hoa thường. </a:t>
            </a:r>
            <a:br>
              <a:rPr lang="vi-VN"/>
            </a:br>
            <a:r>
              <a:rPr lang="en-US"/>
              <a:t>							</a:t>
            </a:r>
            <a:r>
              <a:rPr lang="vi-VN"/>
              <a:t>– Nếu </a:t>
            </a:r>
            <a:r>
              <a:rPr lang="vi-VN" sz="1200" kern="1200">
                <a:solidFill>
                  <a:schemeClr val="tx1"/>
                </a:solidFill>
                <a:latin typeface="+mn-lt"/>
                <a:ea typeface="+mn-ea"/>
                <a:cs typeface="+mn-cs"/>
              </a:rPr>
              <a:t>searchText</a:t>
            </a:r>
            <a:r>
              <a:rPr lang="vi-VN"/>
              <a:t> rỗng (</a:t>
            </a:r>
            <a:r>
              <a:rPr lang="vi-VN" sz="1200" kern="1200">
                <a:solidFill>
                  <a:schemeClr val="tx1"/>
                </a:solidFill>
                <a:latin typeface="+mn-lt"/>
                <a:ea typeface="+mn-ea"/>
                <a:cs typeface="+mn-cs"/>
              </a:rPr>
              <a:t>""</a:t>
            </a:r>
            <a:r>
              <a:rPr lang="vi-VN"/>
              <a:t>), </a:t>
            </a:r>
            <a:r>
              <a:rPr lang="vi-VN" sz="1200" kern="1200">
                <a:solidFill>
                  <a:schemeClr val="tx1"/>
                </a:solidFill>
                <a:latin typeface="+mn-lt"/>
                <a:ea typeface="+mn-ea"/>
                <a:cs typeface="+mn-cs"/>
              </a:rPr>
              <a:t>contains('')</a:t>
            </a:r>
            <a:r>
              <a:rPr lang="vi-VN"/>
              <a:t> sẽ </a:t>
            </a:r>
            <a:r>
              <a:rPr lang="vi-VN" b="1"/>
              <a:t>luôn trả về true</a:t>
            </a:r>
            <a:r>
              <a:rPr lang="vi-VN"/>
              <a:t>, tức là </a:t>
            </a:r>
            <a:r>
              <a:rPr lang="en-US"/>
              <a:t>							</a:t>
            </a:r>
            <a:r>
              <a:rPr lang="vi-VN"/>
              <a:t>hiển thị tất cả sản phẩm — hành vi này hoàn toàn hợp lý.</a:t>
            </a:r>
            <a:endParaRPr lang="en-US"/>
          </a:p>
          <a:p>
            <a:r>
              <a:rPr lang="vi-VN" sz="1200" kern="1200">
                <a:solidFill>
                  <a:schemeClr val="tx1"/>
                </a:solidFill>
                <a:latin typeface="+mn-lt"/>
                <a:ea typeface="+mn-ea"/>
                <a:cs typeface="+mn-cs"/>
              </a:rPr>
              <a:t>return matchCategory &amp;&amp; matchSearch;</a:t>
            </a:r>
            <a:r>
              <a:rPr lang="en-US" sz="1200" kern="1200">
                <a:solidFill>
                  <a:schemeClr val="tx1"/>
                </a:solidFill>
                <a:latin typeface="+mn-lt"/>
                <a:ea typeface="+mn-ea"/>
                <a:cs typeface="+mn-cs"/>
              </a:rPr>
              <a:t>			</a:t>
            </a:r>
            <a:r>
              <a:rPr lang="vi-VN"/>
              <a:t>Chỉ giữ lại những sản phẩm </a:t>
            </a:r>
            <a:r>
              <a:rPr lang="vi-VN" b="1"/>
              <a:t>thỏa mãn cả hai điều kiện</a:t>
            </a:r>
            <a:r>
              <a:rPr lang="vi-VN"/>
              <a:t>: đúng danh mục </a:t>
            </a:r>
            <a:r>
              <a:rPr lang="vi-VN" b="1"/>
              <a:t>và</a:t>
            </a:r>
            <a:r>
              <a:rPr lang="vi-VN"/>
              <a:t> khớp từ khóa tìm </a:t>
            </a:r>
            <a:r>
              <a:rPr lang="en-US"/>
              <a:t>					</a:t>
            </a:r>
            <a:r>
              <a:rPr lang="vi-VN"/>
              <a:t>kiếm.</a:t>
            </a:r>
          </a:p>
          <a:p>
            <a:r>
              <a:rPr lang="en-US"/>
              <a:t>-------------------------------------------------------------------------------------------------------------------------------------------------------------------------</a:t>
            </a:r>
          </a:p>
          <a:p>
            <a:r>
              <a:rPr lang="en-US" b="1"/>
              <a:t>🧩 </a:t>
            </a:r>
            <a:r>
              <a:rPr lang="vi-VN" b="1"/>
              <a:t>Toàn bộ đoạn code</a:t>
            </a:r>
          </a:p>
          <a:p>
            <a:pPr rtl="0"/>
            <a:r>
              <a:rPr lang="vi-VN" sz="1200" kern="1200">
                <a:solidFill>
                  <a:schemeClr val="tx1"/>
                </a:solidFill>
                <a:latin typeface="+mn-lt"/>
                <a:ea typeface="+mn-ea"/>
                <a:cs typeface="+mn-cs"/>
              </a:rPr>
              <a:t>setState(() {</a:t>
            </a:r>
          </a:p>
          <a:p>
            <a:pPr rtl="0"/>
            <a:r>
              <a:rPr lang="vi-VN" sz="1200" kern="1200">
                <a:solidFill>
                  <a:schemeClr val="tx1"/>
                </a:solidFill>
                <a:latin typeface="+mn-lt"/>
                <a:ea typeface="+mn-ea"/>
                <a:cs typeface="+mn-cs"/>
              </a:rPr>
              <a:t>  displayedProducts = dbData.where((p) {</a:t>
            </a:r>
          </a:p>
          <a:p>
            <a:pPr rtl="0"/>
            <a:r>
              <a:rPr lang="vi-VN" sz="1200" kern="1200">
                <a:solidFill>
                  <a:schemeClr val="tx1"/>
                </a:solidFill>
                <a:latin typeface="+mn-lt"/>
                <a:ea typeface="+mn-ea"/>
                <a:cs typeface="+mn-cs"/>
              </a:rPr>
              <a:t>    final matchCategory =</a:t>
            </a:r>
          </a:p>
          <a:p>
            <a:pPr rtl="0"/>
            <a:r>
              <a:rPr lang="vi-VN" sz="1200" kern="1200">
                <a:solidFill>
                  <a:schemeClr val="tx1"/>
                </a:solidFill>
                <a:latin typeface="+mn-lt"/>
                <a:ea typeface="+mn-ea"/>
                <a:cs typeface="+mn-cs"/>
              </a:rPr>
              <a:t>        (filterCategory == 0 || p['category_id'] == filterCategory);</a:t>
            </a:r>
          </a:p>
          <a:p>
            <a:pPr rtl="0"/>
            <a:r>
              <a:rPr lang="vi-VN" sz="1200" kern="1200">
                <a:solidFill>
                  <a:schemeClr val="tx1"/>
                </a:solidFill>
                <a:latin typeface="+mn-lt"/>
                <a:ea typeface="+mn-ea"/>
                <a:cs typeface="+mn-cs"/>
              </a:rPr>
              <a:t>    final matchSearch = p['name']</a:t>
            </a:r>
          </a:p>
          <a:p>
            <a:pPr rtl="0"/>
            <a:r>
              <a:rPr lang="vi-VN" sz="1200" kern="1200">
                <a:solidFill>
                  <a:schemeClr val="tx1"/>
                </a:solidFill>
                <a:latin typeface="+mn-lt"/>
                <a:ea typeface="+mn-ea"/>
                <a:cs typeface="+mn-cs"/>
              </a:rPr>
              <a:t>        .toString()</a:t>
            </a:r>
          </a:p>
          <a:p>
            <a:pPr rtl="0"/>
            <a:r>
              <a:rPr lang="vi-VN" sz="1200" kern="1200">
                <a:solidFill>
                  <a:schemeClr val="tx1"/>
                </a:solidFill>
                <a:latin typeface="+mn-lt"/>
                <a:ea typeface="+mn-ea"/>
                <a:cs typeface="+mn-cs"/>
              </a:rPr>
              <a:t>        .toLowerCase()</a:t>
            </a:r>
          </a:p>
          <a:p>
            <a:pPr rtl="0"/>
            <a:r>
              <a:rPr lang="vi-VN" sz="1200" kern="1200">
                <a:solidFill>
                  <a:schemeClr val="tx1"/>
                </a:solidFill>
                <a:latin typeface="+mn-lt"/>
                <a:ea typeface="+mn-ea"/>
                <a:cs typeface="+mn-cs"/>
              </a:rPr>
              <a:t>        .contains(searchText.toLowerCase());</a:t>
            </a:r>
          </a:p>
          <a:p>
            <a:pPr rtl="0"/>
            <a:r>
              <a:rPr lang="vi-VN" sz="1200" kern="1200">
                <a:solidFill>
                  <a:schemeClr val="tx1"/>
                </a:solidFill>
                <a:latin typeface="+mn-lt"/>
                <a:ea typeface="+mn-ea"/>
                <a:cs typeface="+mn-cs"/>
              </a:rPr>
              <a:t>    return matchCategory &amp;&amp; matchSearch;</a:t>
            </a:r>
          </a:p>
          <a:p>
            <a:pPr rtl="0"/>
            <a:r>
              <a:rPr lang="vi-VN" sz="1200" kern="1200">
                <a:solidFill>
                  <a:schemeClr val="tx1"/>
                </a:solidFill>
                <a:latin typeface="+mn-lt"/>
                <a:ea typeface="+mn-ea"/>
                <a:cs typeface="+mn-cs"/>
              </a:rPr>
              <a:t>  }).toList();</a:t>
            </a:r>
          </a:p>
          <a:p>
            <a:pPr rtl="0"/>
            <a:r>
              <a:rPr lang="vi-VN" sz="1200" kern="1200">
                <a:solidFill>
                  <a:schemeClr val="tx1"/>
                </a:solidFill>
                <a:latin typeface="+mn-lt"/>
                <a:ea typeface="+mn-ea"/>
                <a:cs typeface="+mn-cs"/>
              </a:rPr>
              <a:t>});</a:t>
            </a:r>
          </a:p>
          <a:p>
            <a:endParaRPr lang="vi-VN"/>
          </a:p>
          <a:p>
            <a:r>
              <a:rPr lang="en-US" b="1"/>
              <a:t>🧠 1️⃣ </a:t>
            </a:r>
            <a:r>
              <a:rPr lang="vi-VN" sz="1200" b="1" kern="1200">
                <a:solidFill>
                  <a:schemeClr val="tx1"/>
                </a:solidFill>
                <a:latin typeface="+mn-lt"/>
                <a:ea typeface="+mn-ea"/>
                <a:cs typeface="+mn-cs"/>
              </a:rPr>
              <a:t>setState(() { ... });</a:t>
            </a:r>
            <a:r>
              <a:rPr lang="vi-VN" b="1"/>
              <a:t> là gì?</a:t>
            </a:r>
          </a:p>
          <a:p>
            <a:r>
              <a:rPr lang="vi-VN" sz="1200" kern="1200">
                <a:solidFill>
                  <a:schemeClr val="tx1"/>
                </a:solidFill>
                <a:latin typeface="+mn-lt"/>
                <a:ea typeface="+mn-ea"/>
                <a:cs typeface="+mn-cs"/>
              </a:rPr>
              <a:t>setState()</a:t>
            </a:r>
            <a:r>
              <a:rPr lang="vi-VN"/>
              <a:t> là </a:t>
            </a:r>
            <a:r>
              <a:rPr lang="vi-VN" b="1"/>
              <a:t>hàm của Flutter</a:t>
            </a:r>
            <a:r>
              <a:rPr lang="vi-VN"/>
              <a:t> (thuộc </a:t>
            </a:r>
            <a:r>
              <a:rPr lang="vi-VN" sz="1200" kern="1200">
                <a:solidFill>
                  <a:schemeClr val="tx1"/>
                </a:solidFill>
                <a:latin typeface="+mn-lt"/>
                <a:ea typeface="+mn-ea"/>
                <a:cs typeface="+mn-cs"/>
              </a:rPr>
              <a:t>StatefulWidget</a:t>
            </a:r>
            <a:r>
              <a:rPr lang="vi-VN"/>
              <a:t>).</a:t>
            </a:r>
          </a:p>
          <a:p>
            <a:r>
              <a:rPr lang="vi-VN"/>
              <a:t>Nó báo cho framework biết rằng </a:t>
            </a:r>
            <a:r>
              <a:rPr lang="vi-VN" b="1"/>
              <a:t>dữ liệu (state)</a:t>
            </a:r>
            <a:r>
              <a:rPr lang="vi-VN"/>
              <a:t> trong widget đã thay đổi.</a:t>
            </a:r>
          </a:p>
          <a:p>
            <a:r>
              <a:rPr lang="vi-VN"/>
              <a:t>Sau khi chạy xong, </a:t>
            </a:r>
            <a:r>
              <a:rPr lang="vi-VN" b="1"/>
              <a:t>Flutter sẽ tự động vẽ lại UI (gọi build() lại)</a:t>
            </a:r>
            <a:r>
              <a:rPr lang="vi-VN"/>
              <a:t> để hiển thị dữ liệu mới.</a:t>
            </a:r>
          </a:p>
          <a:p>
            <a:r>
              <a:rPr lang="en-US"/>
              <a:t>👉 </a:t>
            </a:r>
            <a:r>
              <a:rPr lang="vi-VN"/>
              <a:t>Nếu bạn thay đổi dữ liệu mà không gọi </a:t>
            </a:r>
            <a:r>
              <a:rPr lang="vi-VN" sz="1200" kern="1200">
                <a:solidFill>
                  <a:schemeClr val="tx1"/>
                </a:solidFill>
                <a:latin typeface="+mn-lt"/>
                <a:ea typeface="+mn-ea"/>
                <a:cs typeface="+mn-cs"/>
              </a:rPr>
              <a:t>setState</a:t>
            </a:r>
            <a:r>
              <a:rPr lang="vi-VN"/>
              <a:t>, UI sẽ </a:t>
            </a:r>
            <a:r>
              <a:rPr lang="vi-VN" b="1"/>
              <a:t>không cập nhật</a:t>
            </a:r>
            <a:r>
              <a:rPr lang="vi-VN"/>
              <a:t>.</a:t>
            </a:r>
          </a:p>
          <a:p>
            <a:r>
              <a:rPr lang="en-US" b="1"/>
              <a:t>🧠 2️⃣ </a:t>
            </a:r>
            <a:r>
              <a:rPr lang="vi-VN" sz="1200" b="1" kern="1200">
                <a:solidFill>
                  <a:schemeClr val="tx1"/>
                </a:solidFill>
                <a:latin typeface="+mn-lt"/>
                <a:ea typeface="+mn-ea"/>
                <a:cs typeface="+mn-cs"/>
              </a:rPr>
              <a:t>displayedProducts = dbData.where((p) { ... }).toList();</a:t>
            </a:r>
            <a:endParaRPr lang="vi-VN" b="1"/>
          </a:p>
          <a:p>
            <a:r>
              <a:rPr lang="vi-VN" sz="1200" kern="1200">
                <a:solidFill>
                  <a:schemeClr val="tx1"/>
                </a:solidFill>
                <a:latin typeface="+mn-lt"/>
                <a:ea typeface="+mn-ea"/>
                <a:cs typeface="+mn-cs"/>
              </a:rPr>
              <a:t>dbData</a:t>
            </a:r>
            <a:r>
              <a:rPr lang="vi-VN"/>
              <a:t> là danh sách dữ liệu lấy từ database, kiểu:</a:t>
            </a:r>
            <a:br>
              <a:rPr lang="vi-VN"/>
            </a:br>
            <a:r>
              <a:rPr lang="vi-VN" sz="1200" kern="1200">
                <a:solidFill>
                  <a:schemeClr val="tx1"/>
                </a:solidFill>
                <a:latin typeface="+mn-lt"/>
                <a:ea typeface="+mn-ea"/>
                <a:cs typeface="+mn-cs"/>
              </a:rPr>
              <a:t>List&lt;Map&lt;String, dynamic&gt;&gt;</a:t>
            </a:r>
            <a:r>
              <a:rPr lang="vi-VN"/>
              <a:t> (mỗi </a:t>
            </a:r>
            <a:r>
              <a:rPr lang="vi-VN" sz="1200" kern="1200">
                <a:solidFill>
                  <a:schemeClr val="tx1"/>
                </a:solidFill>
                <a:latin typeface="+mn-lt"/>
                <a:ea typeface="+mn-ea"/>
                <a:cs typeface="+mn-cs"/>
              </a:rPr>
              <a:t>Map</a:t>
            </a:r>
            <a:r>
              <a:rPr lang="vi-VN"/>
              <a:t> là một sản phẩm).</a:t>
            </a:r>
          </a:p>
          <a:p>
            <a:r>
              <a:rPr lang="vi-VN" sz="1200" kern="1200">
                <a:solidFill>
                  <a:schemeClr val="tx1"/>
                </a:solidFill>
                <a:latin typeface="+mn-lt"/>
                <a:ea typeface="+mn-ea"/>
                <a:cs typeface="+mn-cs"/>
              </a:rPr>
              <a:t>.where((p) { ... })</a:t>
            </a:r>
            <a:r>
              <a:rPr lang="vi-VN"/>
              <a:t> là </a:t>
            </a:r>
            <a:r>
              <a:rPr lang="vi-VN" b="1"/>
              <a:t>hàm lọc</a:t>
            </a:r>
            <a:r>
              <a:rPr lang="vi-VN"/>
              <a:t> trong Dart:</a:t>
            </a:r>
          </a:p>
          <a:p>
            <a:pPr lvl="1"/>
            <a:r>
              <a:rPr lang="vi-VN"/>
              <a:t>Nó duyệt qua </a:t>
            </a:r>
            <a:r>
              <a:rPr lang="vi-VN" b="1"/>
              <a:t>từng phần tử </a:t>
            </a:r>
            <a:r>
              <a:rPr lang="vi-VN" sz="1200" b="1" kern="1200">
                <a:solidFill>
                  <a:schemeClr val="tx1"/>
                </a:solidFill>
                <a:latin typeface="+mn-lt"/>
                <a:ea typeface="+mn-ea"/>
                <a:cs typeface="+mn-cs"/>
              </a:rPr>
              <a:t>p</a:t>
            </a:r>
            <a:r>
              <a:rPr lang="vi-VN"/>
              <a:t> trong danh sách </a:t>
            </a:r>
            <a:r>
              <a:rPr lang="vi-VN" sz="1200" kern="1200">
                <a:solidFill>
                  <a:schemeClr val="tx1"/>
                </a:solidFill>
                <a:latin typeface="+mn-lt"/>
                <a:ea typeface="+mn-ea"/>
                <a:cs typeface="+mn-cs"/>
              </a:rPr>
              <a:t>dbData</a:t>
            </a:r>
            <a:r>
              <a:rPr lang="vi-VN"/>
              <a:t>.</a:t>
            </a:r>
          </a:p>
          <a:p>
            <a:pPr lvl="1"/>
            <a:r>
              <a:rPr lang="vi-VN"/>
              <a:t>Với mỗi </a:t>
            </a:r>
            <a:r>
              <a:rPr lang="vi-VN" sz="1200" kern="1200">
                <a:solidFill>
                  <a:schemeClr val="tx1"/>
                </a:solidFill>
                <a:latin typeface="+mn-lt"/>
                <a:ea typeface="+mn-ea"/>
                <a:cs typeface="+mn-cs"/>
              </a:rPr>
              <a:t>p</a:t>
            </a:r>
            <a:r>
              <a:rPr lang="vi-VN"/>
              <a:t>, nó kiểm tra điều kiện trong </a:t>
            </a:r>
            <a:r>
              <a:rPr lang="vi-VN" sz="1200" kern="1200">
                <a:solidFill>
                  <a:schemeClr val="tx1"/>
                </a:solidFill>
                <a:latin typeface="+mn-lt"/>
                <a:ea typeface="+mn-ea"/>
                <a:cs typeface="+mn-cs"/>
              </a:rPr>
              <a:t>{ ... }</a:t>
            </a:r>
            <a:r>
              <a:rPr lang="vi-VN"/>
              <a:t>.</a:t>
            </a:r>
          </a:p>
          <a:p>
            <a:pPr lvl="1"/>
            <a:r>
              <a:rPr lang="vi-VN"/>
              <a:t>Nếu điều kiện trả về </a:t>
            </a:r>
            <a:r>
              <a:rPr lang="vi-VN" sz="1200" kern="1200">
                <a:solidFill>
                  <a:schemeClr val="tx1"/>
                </a:solidFill>
                <a:latin typeface="+mn-lt"/>
                <a:ea typeface="+mn-ea"/>
                <a:cs typeface="+mn-cs"/>
              </a:rPr>
              <a:t>true</a:t>
            </a:r>
            <a:r>
              <a:rPr lang="vi-VN"/>
              <a:t> → phần tử đó được giữ lại.</a:t>
            </a:r>
          </a:p>
          <a:p>
            <a:pPr lvl="1"/>
            <a:r>
              <a:rPr lang="vi-VN"/>
              <a:t>Nếu </a:t>
            </a:r>
            <a:r>
              <a:rPr lang="vi-VN" sz="1200" kern="1200">
                <a:solidFill>
                  <a:schemeClr val="tx1"/>
                </a:solidFill>
                <a:latin typeface="+mn-lt"/>
                <a:ea typeface="+mn-ea"/>
                <a:cs typeface="+mn-cs"/>
              </a:rPr>
              <a:t>false</a:t>
            </a:r>
            <a:r>
              <a:rPr lang="vi-VN"/>
              <a:t> → bị loại bỏ.</a:t>
            </a:r>
          </a:p>
          <a:p>
            <a:r>
              <a:rPr lang="vi-VN"/>
              <a:t>Cuối cùng </a:t>
            </a:r>
            <a:r>
              <a:rPr lang="vi-VN" sz="1200" kern="1200">
                <a:solidFill>
                  <a:schemeClr val="tx1"/>
                </a:solidFill>
                <a:latin typeface="+mn-lt"/>
                <a:ea typeface="+mn-ea"/>
                <a:cs typeface="+mn-cs"/>
              </a:rPr>
              <a:t>.toList()</a:t>
            </a:r>
            <a:r>
              <a:rPr lang="vi-VN"/>
              <a:t> chuyển kết quả lọc (kiểu Iterable) thành một </a:t>
            </a:r>
            <a:r>
              <a:rPr lang="vi-VN" sz="1200" kern="1200">
                <a:solidFill>
                  <a:schemeClr val="tx1"/>
                </a:solidFill>
                <a:latin typeface="+mn-lt"/>
                <a:ea typeface="+mn-ea"/>
                <a:cs typeface="+mn-cs"/>
              </a:rPr>
              <a:t>List</a:t>
            </a:r>
            <a:r>
              <a:rPr lang="vi-VN"/>
              <a:t> bình thường.</a:t>
            </a:r>
          </a:p>
          <a:p>
            <a:r>
              <a:rPr lang="en-US" b="1"/>
              <a:t>🧠 3️⃣ </a:t>
            </a:r>
            <a:r>
              <a:rPr lang="vi-VN" b="1"/>
              <a:t>Bên trong </a:t>
            </a:r>
            <a:r>
              <a:rPr lang="vi-VN" sz="1200" b="1" kern="1200">
                <a:solidFill>
                  <a:schemeClr val="tx1"/>
                </a:solidFill>
                <a:latin typeface="+mn-lt"/>
                <a:ea typeface="+mn-ea"/>
                <a:cs typeface="+mn-cs"/>
              </a:rPr>
              <a:t>(p) { ... }</a:t>
            </a:r>
            <a:endParaRPr lang="vi-VN" b="1"/>
          </a:p>
          <a:p>
            <a:r>
              <a:rPr lang="vi-VN"/>
              <a:t>Đây là phần </a:t>
            </a:r>
            <a:r>
              <a:rPr lang="vi-VN" b="1"/>
              <a:t>điều kiện lọc</a:t>
            </a:r>
            <a:r>
              <a:rPr lang="vi-VN"/>
              <a:t> sản phẩm — gồm 2 điều kiện nhỏ:</a:t>
            </a:r>
          </a:p>
          <a:p>
            <a:r>
              <a:rPr lang="en-US" b="1"/>
              <a:t>🔹 (</a:t>
            </a:r>
            <a:r>
              <a:rPr lang="vi-VN" b="1"/>
              <a:t>a) Lọc theo danh mục:</a:t>
            </a:r>
          </a:p>
          <a:p>
            <a:pPr rtl="0"/>
            <a:r>
              <a:rPr lang="vi-VN" sz="1200" kern="1200">
                <a:solidFill>
                  <a:schemeClr val="tx1"/>
                </a:solidFill>
                <a:latin typeface="+mn-lt"/>
                <a:ea typeface="+mn-ea"/>
                <a:cs typeface="+mn-cs"/>
              </a:rPr>
              <a:t>final matchCategory =</a:t>
            </a:r>
          </a:p>
          <a:p>
            <a:pPr rtl="0"/>
            <a:r>
              <a:rPr lang="vi-VN" sz="1200" kern="1200">
                <a:solidFill>
                  <a:schemeClr val="tx1"/>
                </a:solidFill>
                <a:latin typeface="+mn-lt"/>
                <a:ea typeface="+mn-ea"/>
                <a:cs typeface="+mn-cs"/>
              </a:rPr>
              <a:t>    (filterCategory == 0 || p['category_id'] == filterCategory);</a:t>
            </a:r>
          </a:p>
          <a:p>
            <a:r>
              <a:rPr lang="vi-VN" sz="1200" kern="1200">
                <a:solidFill>
                  <a:schemeClr val="tx1"/>
                </a:solidFill>
                <a:latin typeface="+mn-lt"/>
                <a:ea typeface="+mn-ea"/>
                <a:cs typeface="+mn-cs"/>
              </a:rPr>
              <a:t>filterCategory</a:t>
            </a:r>
            <a:r>
              <a:rPr lang="vi-VN"/>
              <a:t> là </a:t>
            </a:r>
            <a:r>
              <a:rPr lang="vi-VN" b="1"/>
              <a:t>ID danh mục đang chọn trên UI</a:t>
            </a:r>
            <a:r>
              <a:rPr lang="vi-VN"/>
              <a:t>:</a:t>
            </a:r>
          </a:p>
          <a:p>
            <a:pPr lvl="1"/>
            <a:r>
              <a:rPr lang="vi-VN"/>
              <a:t>Nếu </a:t>
            </a:r>
            <a:r>
              <a:rPr lang="vi-VN" sz="1200" kern="1200">
                <a:solidFill>
                  <a:schemeClr val="tx1"/>
                </a:solidFill>
                <a:latin typeface="+mn-lt"/>
                <a:ea typeface="+mn-ea"/>
                <a:cs typeface="+mn-cs"/>
              </a:rPr>
              <a:t>filterCategory == 0</a:t>
            </a:r>
            <a:r>
              <a:rPr lang="vi-VN"/>
              <a:t> nghĩa là chọn “All” → không lọc danh mục nào cả.</a:t>
            </a:r>
          </a:p>
          <a:p>
            <a:pPr lvl="1"/>
            <a:r>
              <a:rPr lang="vi-VN"/>
              <a:t>Còn nếu khác 0 → chỉ lấy sản phẩm có </a:t>
            </a:r>
            <a:r>
              <a:rPr lang="vi-VN" sz="1200" kern="1200">
                <a:solidFill>
                  <a:schemeClr val="tx1"/>
                </a:solidFill>
                <a:latin typeface="+mn-lt"/>
                <a:ea typeface="+mn-ea"/>
                <a:cs typeface="+mn-cs"/>
              </a:rPr>
              <a:t>p['category_id']</a:t>
            </a:r>
            <a:r>
              <a:rPr lang="vi-VN"/>
              <a:t> đúng bằng giá trị đó.</a:t>
            </a:r>
          </a:p>
          <a:p>
            <a:r>
              <a:rPr lang="en-US"/>
              <a:t>✅ </a:t>
            </a:r>
            <a:r>
              <a:rPr lang="vi-VN"/>
              <a:t>Kết quả:</a:t>
            </a:r>
          </a:p>
          <a:p>
            <a:r>
              <a:rPr lang="vi-VN" sz="1200" kern="1200">
                <a:solidFill>
                  <a:schemeClr val="tx1"/>
                </a:solidFill>
                <a:latin typeface="+mn-lt"/>
                <a:ea typeface="+mn-ea"/>
                <a:cs typeface="+mn-cs"/>
              </a:rPr>
              <a:t>matchCategory = true</a:t>
            </a:r>
            <a:r>
              <a:rPr lang="vi-VN"/>
              <a:t> → sản phẩm hợp danh mục.</a:t>
            </a:r>
          </a:p>
          <a:p>
            <a:r>
              <a:rPr lang="vi-VN" sz="1200" kern="1200">
                <a:solidFill>
                  <a:schemeClr val="tx1"/>
                </a:solidFill>
                <a:latin typeface="+mn-lt"/>
                <a:ea typeface="+mn-ea"/>
                <a:cs typeface="+mn-cs"/>
              </a:rPr>
              <a:t>matchCategory = false</a:t>
            </a:r>
            <a:r>
              <a:rPr lang="vi-VN"/>
              <a:t> → sản phẩm bị loại.</a:t>
            </a:r>
          </a:p>
          <a:p>
            <a:r>
              <a:rPr lang="en-US" b="1"/>
              <a:t>🔹 (</a:t>
            </a:r>
            <a:r>
              <a:rPr lang="vi-VN" b="1"/>
              <a:t>b) Lọc theo ô tìm kiếm:</a:t>
            </a:r>
          </a:p>
          <a:p>
            <a:pPr rtl="0"/>
            <a:r>
              <a:rPr lang="vi-VN" sz="1200" kern="1200">
                <a:solidFill>
                  <a:schemeClr val="tx1"/>
                </a:solidFill>
                <a:latin typeface="+mn-lt"/>
                <a:ea typeface="+mn-ea"/>
                <a:cs typeface="+mn-cs"/>
              </a:rPr>
              <a:t>final matchSearch = p['name']</a:t>
            </a:r>
          </a:p>
          <a:p>
            <a:pPr rtl="0"/>
            <a:r>
              <a:rPr lang="vi-VN" sz="1200" kern="1200">
                <a:solidFill>
                  <a:schemeClr val="tx1"/>
                </a:solidFill>
                <a:latin typeface="+mn-lt"/>
                <a:ea typeface="+mn-ea"/>
                <a:cs typeface="+mn-cs"/>
              </a:rPr>
              <a:t>    .toString()</a:t>
            </a:r>
          </a:p>
          <a:p>
            <a:pPr rtl="0"/>
            <a:r>
              <a:rPr lang="vi-VN" sz="1200" kern="1200">
                <a:solidFill>
                  <a:schemeClr val="tx1"/>
                </a:solidFill>
                <a:latin typeface="+mn-lt"/>
                <a:ea typeface="+mn-ea"/>
                <a:cs typeface="+mn-cs"/>
              </a:rPr>
              <a:t>    .toLowerCase()</a:t>
            </a:r>
          </a:p>
          <a:p>
            <a:pPr rtl="0"/>
            <a:r>
              <a:rPr lang="vi-VN" sz="1200" kern="1200">
                <a:solidFill>
                  <a:schemeClr val="tx1"/>
                </a:solidFill>
                <a:latin typeface="+mn-lt"/>
                <a:ea typeface="+mn-ea"/>
                <a:cs typeface="+mn-cs"/>
              </a:rPr>
              <a:t>    .contains(searchText.toLowerCase());</a:t>
            </a:r>
          </a:p>
          <a:p>
            <a:r>
              <a:rPr lang="vi-VN" sz="1200" kern="1200">
                <a:solidFill>
                  <a:schemeClr val="tx1"/>
                </a:solidFill>
                <a:latin typeface="+mn-lt"/>
                <a:ea typeface="+mn-ea"/>
                <a:cs typeface="+mn-cs"/>
              </a:rPr>
              <a:t>p['name']</a:t>
            </a:r>
            <a:r>
              <a:rPr lang="vi-VN"/>
              <a:t>: lấy tên sản phẩm từ map.</a:t>
            </a:r>
          </a:p>
          <a:p>
            <a:r>
              <a:rPr lang="vi-VN" sz="1200" kern="1200">
                <a:solidFill>
                  <a:schemeClr val="tx1"/>
                </a:solidFill>
                <a:latin typeface="+mn-lt"/>
                <a:ea typeface="+mn-ea"/>
                <a:cs typeface="+mn-cs"/>
              </a:rPr>
              <a:t>.toString()</a:t>
            </a:r>
            <a:r>
              <a:rPr lang="vi-VN"/>
              <a:t>: đảm bảo kiểu chuỗi.</a:t>
            </a:r>
          </a:p>
          <a:p>
            <a:r>
              <a:rPr lang="vi-VN" sz="1200" kern="1200">
                <a:solidFill>
                  <a:schemeClr val="tx1"/>
                </a:solidFill>
                <a:latin typeface="+mn-lt"/>
                <a:ea typeface="+mn-ea"/>
                <a:cs typeface="+mn-cs"/>
              </a:rPr>
              <a:t>.toLowerCase()</a:t>
            </a:r>
            <a:r>
              <a:rPr lang="vi-VN"/>
              <a:t>: chuyển hết thành chữ thường → để so sánh </a:t>
            </a:r>
            <a:r>
              <a:rPr lang="vi-VN" b="1"/>
              <a:t>không phân biệt hoa/thường</a:t>
            </a:r>
            <a:r>
              <a:rPr lang="vi-VN"/>
              <a:t>.</a:t>
            </a:r>
          </a:p>
          <a:p>
            <a:r>
              <a:rPr lang="vi-VN" sz="1200" kern="1200">
                <a:solidFill>
                  <a:schemeClr val="tx1"/>
                </a:solidFill>
                <a:latin typeface="+mn-lt"/>
                <a:ea typeface="+mn-ea"/>
                <a:cs typeface="+mn-cs"/>
              </a:rPr>
              <a:t>.contains(searchText.toLowerCase())</a:t>
            </a:r>
            <a:r>
              <a:rPr lang="vi-VN"/>
              <a:t>: kiểm tra xem tên sản phẩm có chứa chuỗi người dùng đang tìm không.</a:t>
            </a:r>
          </a:p>
          <a:p>
            <a:endParaRPr lang="en-US"/>
          </a:p>
          <a:p>
            <a:endParaRPr lang="en-US"/>
          </a:p>
        </p:txBody>
      </p:sp>
      <p:sp>
        <p:nvSpPr>
          <p:cNvPr id="4" name="Slide Number Placeholder 3">
            <a:extLst>
              <a:ext uri="{FF2B5EF4-FFF2-40B4-BE49-F238E27FC236}">
                <a16:creationId xmlns:a16="http://schemas.microsoft.com/office/drawing/2014/main" id="{29B6620E-5966-7A7B-83F5-EEA6D6669280}"/>
              </a:ext>
            </a:extLst>
          </p:cNvPr>
          <p:cNvSpPr>
            <a:spLocks noGrp="1"/>
          </p:cNvSpPr>
          <p:nvPr>
            <p:ph type="sldNum" sz="quarter" idx="5"/>
          </p:nvPr>
        </p:nvSpPr>
        <p:spPr/>
        <p:txBody>
          <a:bodyPr/>
          <a:lstStyle/>
          <a:p>
            <a:fld id="{1983A999-5E0E-42CA-8400-604AE921FF7C}" type="slidenum">
              <a:rPr lang="en-US" smtClean="0"/>
              <a:t>43</a:t>
            </a:fld>
            <a:endParaRPr lang="en-US"/>
          </a:p>
        </p:txBody>
      </p:sp>
    </p:spTree>
    <p:extLst>
      <p:ext uri="{BB962C8B-B14F-4D97-AF65-F5344CB8AC3E}">
        <p14:creationId xmlns:p14="http://schemas.microsoft.com/office/powerpoint/2010/main" val="21808946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01A3F-FD40-C790-33D5-55B26BF7AF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EA259F-5EA8-912A-6FD7-01DAFCBCFA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11EC0C-C212-6E32-BA09-4A8BB6F94AB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int? selectedCategory;</a:t>
            </a: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List&lt;Product&gt; allProducts = [];</a:t>
            </a: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List&lt;Map&lt;String, dynamic&gt;&gt; displayedProducts = [];</a:t>
            </a: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List&lt;Category&gt; allCategories = [];</a:t>
            </a: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String searchText = "";</a:t>
            </a:r>
            <a:br>
              <a:rPr lang="en-US" sz="1200" kern="1200">
                <a:solidFill>
                  <a:schemeClr val="tx1"/>
                </a:solidFill>
                <a:effectLst/>
                <a:latin typeface="+mn-lt"/>
                <a:ea typeface="+mn-ea"/>
                <a:cs typeface="+mn-cs"/>
              </a:rPr>
            </a:br>
            <a:r>
              <a:rPr lang="en-US" sz="1200" kern="1200">
                <a:solidFill>
                  <a:schemeClr val="tx1"/>
                </a:solidFill>
                <a:effectLst/>
                <a:latin typeface="+mn-lt"/>
                <a:ea typeface="+mn-ea"/>
                <a:cs typeface="+mn-cs"/>
              </a:rPr>
              <a:t>int filterCategory = 0; </a:t>
            </a:r>
            <a:r>
              <a:rPr lang="en-US" sz="1200" i="1" kern="1200">
                <a:solidFill>
                  <a:schemeClr val="tx1"/>
                </a:solidFill>
                <a:effectLst/>
                <a:latin typeface="+mn-lt"/>
                <a:ea typeface="+mn-ea"/>
                <a:cs typeface="+mn-cs"/>
              </a:rPr>
              <a:t>// 0 = All</a:t>
            </a:r>
            <a:endParaRPr lang="en-US" sz="1200" kern="1200">
              <a:solidFill>
                <a:schemeClr val="tx1"/>
              </a:solidFill>
              <a:effectLst/>
              <a:latin typeface="+mn-lt"/>
              <a:ea typeface="+mn-ea"/>
              <a:cs typeface="+mn-cs"/>
            </a:endParaRPr>
          </a:p>
          <a:p>
            <a:r>
              <a:rPr lang="en-US" sz="1200" kern="1200">
                <a:solidFill>
                  <a:schemeClr val="tx1"/>
                </a:solidFill>
                <a:latin typeface="+mn-lt"/>
                <a:ea typeface="+mn-ea"/>
                <a:cs typeface="+mn-cs"/>
              </a:rPr>
              <a:t>=&gt;</a:t>
            </a:r>
          </a:p>
          <a:p>
            <a:r>
              <a:rPr lang="en-US" sz="1200" kern="1200">
                <a:solidFill>
                  <a:schemeClr val="tx1"/>
                </a:solidFill>
                <a:latin typeface="+mn-lt"/>
                <a:ea typeface="+mn-ea"/>
                <a:cs typeface="+mn-cs"/>
              </a:rPr>
              <a:t>selectedCategory</a:t>
            </a:r>
            <a:r>
              <a:rPr lang="en-US"/>
              <a:t> để lựa danh mục trong form.</a:t>
            </a:r>
          </a:p>
          <a:p>
            <a:r>
              <a:rPr lang="en-US" sz="1200" kern="1200">
                <a:solidFill>
                  <a:schemeClr val="tx1"/>
                </a:solidFill>
                <a:latin typeface="+mn-lt"/>
                <a:ea typeface="+mn-ea"/>
                <a:cs typeface="+mn-cs"/>
              </a:rPr>
              <a:t>displayedProducts</a:t>
            </a:r>
            <a:r>
              <a:rPr lang="en-US"/>
              <a:t> là danh sách (Map) từ </a:t>
            </a:r>
            <a:r>
              <a:rPr lang="en-US" sz="1200" kern="1200">
                <a:solidFill>
                  <a:schemeClr val="tx1"/>
                </a:solidFill>
                <a:latin typeface="+mn-lt"/>
                <a:ea typeface="+mn-ea"/>
                <a:cs typeface="+mn-cs"/>
              </a:rPr>
              <a:t>getProductsWithCategory()</a:t>
            </a:r>
            <a:r>
              <a:rPr lang="en-US"/>
              <a:t> dùng trực tiếp cho UI (vì có </a:t>
            </a:r>
            <a:r>
              <a:rPr lang="en-US" sz="1200" kern="1200">
                <a:solidFill>
                  <a:schemeClr val="tx1"/>
                </a:solidFill>
                <a:latin typeface="+mn-lt"/>
                <a:ea typeface="+mn-ea"/>
                <a:cs typeface="+mn-cs"/>
              </a:rPr>
              <a:t>category_name</a:t>
            </a:r>
            <a:r>
              <a:rPr lang="en-US"/>
              <a:t>).</a:t>
            </a:r>
          </a:p>
          <a:p>
            <a:r>
              <a:rPr lang="en-US" sz="1200" kern="1200">
                <a:solidFill>
                  <a:schemeClr val="tx1"/>
                </a:solidFill>
                <a:latin typeface="+mn-lt"/>
                <a:ea typeface="+mn-ea"/>
                <a:cs typeface="+mn-cs"/>
              </a:rPr>
              <a:t>filterCategory == 0</a:t>
            </a:r>
            <a:r>
              <a:rPr lang="en-US"/>
              <a:t> biểu thị show all.</a:t>
            </a:r>
          </a:p>
          <a:p>
            <a:r>
              <a:rPr lang="en-US"/>
              <a:t>--------------------------------------------------------------------------------------------------</a:t>
            </a:r>
          </a:p>
          <a:p>
            <a:r>
              <a:rPr lang="vi-VN"/>
              <a:t>Từ </a:t>
            </a:r>
            <a:r>
              <a:rPr lang="vi-VN" b="1"/>
              <a:t>"query"</a:t>
            </a:r>
            <a:r>
              <a:rPr lang="vi-VN"/>
              <a:t> trong lập trình (đặc biệt là khi làm việc với cơ sở dữ liệu như </a:t>
            </a:r>
            <a:r>
              <a:rPr lang="vi-VN" b="1"/>
              <a:t>SQLite</a:t>
            </a:r>
            <a:r>
              <a:rPr lang="vi-VN"/>
              <a:t>, </a:t>
            </a:r>
            <a:r>
              <a:rPr lang="vi-VN" b="1"/>
              <a:t>Drift</a:t>
            </a:r>
            <a:r>
              <a:rPr lang="vi-VN"/>
              <a:t>, </a:t>
            </a:r>
            <a:r>
              <a:rPr lang="vi-VN" b="1"/>
              <a:t>MySQL</a:t>
            </a:r>
            <a:r>
              <a:rPr lang="vi-VN"/>
              <a:t>, v.v.) có nghĩa là </a:t>
            </a:r>
            <a:r>
              <a:rPr lang="vi-VN" b="1"/>
              <a:t>truy vấn dữ liệu</a:t>
            </a:r>
            <a:r>
              <a:rPr lang="vi-VN"/>
              <a:t> — tức là </a:t>
            </a:r>
            <a:r>
              <a:rPr lang="vi-VN" b="1"/>
              <a:t>một yêu cầu (yêu cầu truy vấn)</a:t>
            </a:r>
            <a:r>
              <a:rPr lang="vi-VN"/>
              <a:t> mà chương trình gửi đến </a:t>
            </a:r>
            <a:r>
              <a:rPr lang="vi-VN" b="1"/>
              <a:t>cơ sở dữ liệu</a:t>
            </a:r>
            <a:r>
              <a:rPr lang="vi-VN"/>
              <a:t> để:</a:t>
            </a:r>
          </a:p>
          <a:p>
            <a:r>
              <a:rPr lang="vi-VN" b="1"/>
              <a:t>lấy, thêm, sửa, hoặc xóa</a:t>
            </a:r>
            <a:r>
              <a:rPr lang="vi-VN"/>
              <a:t> dữ liệu trong bảng.</a:t>
            </a:r>
          </a:p>
          <a:p>
            <a:r>
              <a:rPr lang="en-US" b="1"/>
              <a:t>💡 </a:t>
            </a:r>
            <a:r>
              <a:rPr lang="vi-VN" b="1"/>
              <a:t>Nói ngắn gọn:</a:t>
            </a:r>
          </a:p>
          <a:p>
            <a:r>
              <a:rPr lang="en-US"/>
              <a:t>👉 </a:t>
            </a:r>
            <a:r>
              <a:rPr lang="vi-VN" b="1"/>
              <a:t>Query = câu lệnh giao tiếp với cơ sở dữ liệu.</a:t>
            </a:r>
            <a:endParaRPr lang="vi-VN"/>
          </a:p>
          <a:p>
            <a:r>
              <a:rPr lang="en-US" b="1"/>
              <a:t>🧩 </a:t>
            </a:r>
            <a:r>
              <a:rPr lang="vi-VN" b="1"/>
              <a:t>Ví dụ thực tế:</a:t>
            </a:r>
          </a:p>
          <a:p>
            <a:r>
              <a:rPr lang="vi-VN" b="1"/>
              <a:t>1. Trong SQL thuần:</a:t>
            </a:r>
          </a:p>
          <a:p>
            <a:pPr rtl="0"/>
            <a:r>
              <a:rPr lang="vi-VN" sz="1200" kern="1200">
                <a:solidFill>
                  <a:schemeClr val="tx1"/>
                </a:solidFill>
                <a:latin typeface="+mn-lt"/>
                <a:ea typeface="+mn-ea"/>
                <a:cs typeface="+mn-cs"/>
              </a:rPr>
              <a:t>SELECT * FROM products;</a:t>
            </a:r>
          </a:p>
          <a:p>
            <a:r>
              <a:rPr lang="vi-VN"/>
              <a:t>➡️ Đây là một </a:t>
            </a:r>
            <a:r>
              <a:rPr lang="vi-VN" b="1"/>
              <a:t>query</a:t>
            </a:r>
            <a:r>
              <a:rPr lang="vi-VN"/>
              <a:t> để </a:t>
            </a:r>
            <a:r>
              <a:rPr lang="vi-VN" b="1"/>
              <a:t>lấy tất cả sản phẩm</a:t>
            </a:r>
            <a:r>
              <a:rPr lang="vi-VN"/>
              <a:t> trong bảng </a:t>
            </a:r>
            <a:r>
              <a:rPr lang="vi-VN" sz="1200" kern="1200">
                <a:solidFill>
                  <a:schemeClr val="tx1"/>
                </a:solidFill>
                <a:latin typeface="+mn-lt"/>
                <a:ea typeface="+mn-ea"/>
                <a:cs typeface="+mn-cs"/>
              </a:rPr>
              <a:t>products</a:t>
            </a:r>
            <a:r>
              <a:rPr lang="vi-VN"/>
              <a:t>.</a:t>
            </a:r>
          </a:p>
          <a:p>
            <a:r>
              <a:rPr lang="vi-VN" b="1"/>
              <a:t>2. Trong Flutter (với SQLite):</a:t>
            </a:r>
          </a:p>
          <a:p>
            <a:pPr rtl="0"/>
            <a:r>
              <a:rPr lang="vi-VN" sz="1200" kern="1200">
                <a:solidFill>
                  <a:schemeClr val="tx1"/>
                </a:solidFill>
                <a:latin typeface="+mn-lt"/>
                <a:ea typeface="+mn-ea"/>
                <a:cs typeface="+mn-cs"/>
              </a:rPr>
              <a:t>final List&lt;Map&lt;String, dynamic&gt;&gt; result = await db.query('products');</a:t>
            </a:r>
          </a:p>
          <a:p>
            <a:r>
              <a:rPr lang="vi-VN"/>
              <a:t>➡️ </a:t>
            </a:r>
            <a:r>
              <a:rPr lang="vi-VN" sz="1200" kern="1200">
                <a:solidFill>
                  <a:schemeClr val="tx1"/>
                </a:solidFill>
                <a:latin typeface="+mn-lt"/>
                <a:ea typeface="+mn-ea"/>
                <a:cs typeface="+mn-cs"/>
              </a:rPr>
              <a:t>db.query('products')</a:t>
            </a:r>
            <a:r>
              <a:rPr lang="vi-VN"/>
              <a:t> là lời gọi hàm để </a:t>
            </a:r>
            <a:r>
              <a:rPr lang="vi-VN" b="1"/>
              <a:t>truy vấn dữ liệu từ bảng </a:t>
            </a:r>
            <a:r>
              <a:rPr lang="vi-VN" sz="1200" b="1" kern="1200">
                <a:solidFill>
                  <a:schemeClr val="tx1"/>
                </a:solidFill>
                <a:latin typeface="+mn-lt"/>
                <a:ea typeface="+mn-ea"/>
                <a:cs typeface="+mn-cs"/>
              </a:rPr>
              <a:t>products</a:t>
            </a:r>
            <a:r>
              <a:rPr lang="vi-VN"/>
              <a:t>.</a:t>
            </a:r>
          </a:p>
          <a:p>
            <a:r>
              <a:rPr lang="vi-VN" b="1"/>
              <a:t>3. Trong Drift:</a:t>
            </a:r>
          </a:p>
          <a:p>
            <a:pPr rtl="0"/>
            <a:r>
              <a:rPr lang="vi-VN" sz="1200" kern="1200">
                <a:solidFill>
                  <a:schemeClr val="tx1"/>
                </a:solidFill>
                <a:latin typeface="+mn-lt"/>
                <a:ea typeface="+mn-ea"/>
                <a:cs typeface="+mn-cs"/>
              </a:rPr>
              <a:t>final products = await (select(productsTable)</a:t>
            </a:r>
          </a:p>
          <a:p>
            <a:pPr rtl="0"/>
            <a:r>
              <a:rPr lang="vi-VN" sz="1200" kern="1200">
                <a:solidFill>
                  <a:schemeClr val="tx1"/>
                </a:solidFill>
                <a:latin typeface="+mn-lt"/>
                <a:ea typeface="+mn-ea"/>
                <a:cs typeface="+mn-cs"/>
              </a:rPr>
              <a:t>  ..where((tbl) =&gt; tbl.price.isBiggerThanValue(1000)))</a:t>
            </a:r>
          </a:p>
          <a:p>
            <a:pPr rtl="0"/>
            <a:r>
              <a:rPr lang="vi-VN" sz="1200" kern="1200">
                <a:solidFill>
                  <a:schemeClr val="tx1"/>
                </a:solidFill>
                <a:latin typeface="+mn-lt"/>
                <a:ea typeface="+mn-ea"/>
                <a:cs typeface="+mn-cs"/>
              </a:rPr>
              <a:t>  .get();</a:t>
            </a:r>
          </a:p>
          <a:p>
            <a:r>
              <a:rPr lang="vi-VN"/>
              <a:t>➡️ Đây cũng là một </a:t>
            </a:r>
            <a:r>
              <a:rPr lang="vi-VN" b="1"/>
              <a:t>query</a:t>
            </a:r>
            <a:r>
              <a:rPr lang="vi-VN"/>
              <a:t>, nhưng viết bằng </a:t>
            </a:r>
            <a:r>
              <a:rPr lang="vi-VN" b="1"/>
              <a:t>cú pháp Dart</a:t>
            </a:r>
            <a:r>
              <a:rPr lang="vi-VN"/>
              <a:t> (ORM) thay vì SQL.</a:t>
            </a:r>
          </a:p>
          <a:p>
            <a:r>
              <a:rPr lang="en-US" b="1"/>
              <a:t>🧠 </a:t>
            </a:r>
            <a:r>
              <a:rPr lang="vi-VN" b="1"/>
              <a:t>Các loại query thường gặp:</a:t>
            </a:r>
          </a:p>
          <a:p>
            <a:r>
              <a:rPr lang="vi-VN"/>
              <a:t>Loại truy vấn</a:t>
            </a:r>
            <a:r>
              <a:rPr lang="en-US"/>
              <a:t>		</a:t>
            </a:r>
            <a:r>
              <a:rPr lang="vi-VN"/>
              <a:t>Mục đích</a:t>
            </a:r>
            <a:r>
              <a:rPr lang="en-US"/>
              <a:t>	</a:t>
            </a:r>
            <a:r>
              <a:rPr lang="vi-VN"/>
              <a:t>Ví dụ SQL</a:t>
            </a:r>
            <a:endParaRPr lang="en-US"/>
          </a:p>
          <a:p>
            <a:r>
              <a:rPr lang="vi-VN" b="1"/>
              <a:t>SELECT</a:t>
            </a:r>
            <a:r>
              <a:rPr lang="en-US" b="1"/>
              <a:t>		</a:t>
            </a:r>
            <a:r>
              <a:rPr lang="vi-VN"/>
              <a:t>Lấy dữ liệu</a:t>
            </a:r>
            <a:r>
              <a:rPr lang="en-US"/>
              <a:t>	</a:t>
            </a:r>
            <a:r>
              <a:rPr lang="vi-VN" sz="1200" kern="1200">
                <a:solidFill>
                  <a:schemeClr val="tx1"/>
                </a:solidFill>
                <a:latin typeface="+mn-lt"/>
                <a:ea typeface="+mn-ea"/>
                <a:cs typeface="+mn-cs"/>
              </a:rPr>
              <a:t>SELECT * FROM users;</a:t>
            </a:r>
            <a:endParaRPr lang="en-US" sz="1200" kern="1200">
              <a:solidFill>
                <a:schemeClr val="tx1"/>
              </a:solidFill>
              <a:latin typeface="+mn-lt"/>
              <a:ea typeface="+mn-ea"/>
              <a:cs typeface="+mn-cs"/>
            </a:endParaRPr>
          </a:p>
          <a:p>
            <a:r>
              <a:rPr lang="vi-VN" b="1"/>
              <a:t>INSERT</a:t>
            </a:r>
            <a:r>
              <a:rPr lang="en-US" b="1"/>
              <a:t>		</a:t>
            </a:r>
            <a:r>
              <a:rPr lang="vi-VN"/>
              <a:t>Thêm dữ liệu</a:t>
            </a:r>
            <a:r>
              <a:rPr lang="en-US"/>
              <a:t>	</a:t>
            </a:r>
            <a:r>
              <a:rPr lang="vi-VN" sz="1200" kern="1200">
                <a:solidFill>
                  <a:schemeClr val="tx1"/>
                </a:solidFill>
                <a:latin typeface="+mn-lt"/>
                <a:ea typeface="+mn-ea"/>
                <a:cs typeface="+mn-cs"/>
              </a:rPr>
              <a:t>INSERT INTO users(name, age) VALUES('Nam', 22);</a:t>
            </a:r>
            <a:endParaRPr lang="en-US" sz="1200" kern="1200">
              <a:solidFill>
                <a:schemeClr val="tx1"/>
              </a:solidFill>
              <a:latin typeface="+mn-lt"/>
              <a:ea typeface="+mn-ea"/>
              <a:cs typeface="+mn-cs"/>
            </a:endParaRPr>
          </a:p>
          <a:p>
            <a:r>
              <a:rPr lang="vi-VN" b="1"/>
              <a:t>UPDATE</a:t>
            </a:r>
            <a:r>
              <a:rPr lang="en-US" b="1"/>
              <a:t>		</a:t>
            </a:r>
            <a:r>
              <a:rPr lang="vi-VN"/>
              <a:t>Sửa dữ liệu</a:t>
            </a:r>
            <a:r>
              <a:rPr lang="en-US"/>
              <a:t>	</a:t>
            </a:r>
            <a:r>
              <a:rPr lang="vi-VN" sz="1200" kern="1200">
                <a:solidFill>
                  <a:schemeClr val="tx1"/>
                </a:solidFill>
                <a:latin typeface="+mn-lt"/>
                <a:ea typeface="+mn-ea"/>
                <a:cs typeface="+mn-cs"/>
              </a:rPr>
              <a:t>UPDATE users SET age = 23 WHERE id = 1;</a:t>
            </a:r>
            <a:endParaRPr lang="en-US" sz="1200" kern="1200">
              <a:solidFill>
                <a:schemeClr val="tx1"/>
              </a:solidFill>
              <a:latin typeface="+mn-lt"/>
              <a:ea typeface="+mn-ea"/>
              <a:cs typeface="+mn-cs"/>
            </a:endParaRPr>
          </a:p>
          <a:p>
            <a:r>
              <a:rPr lang="vi-VN" b="1"/>
              <a:t>DELETE</a:t>
            </a:r>
            <a:r>
              <a:rPr lang="en-US" b="1"/>
              <a:t>		</a:t>
            </a:r>
            <a:r>
              <a:rPr lang="vi-VN"/>
              <a:t>Xóa dữ liệu</a:t>
            </a:r>
            <a:r>
              <a:rPr lang="en-US"/>
              <a:t>	</a:t>
            </a:r>
            <a:r>
              <a:rPr lang="vi-VN" sz="1200" kern="1200">
                <a:solidFill>
                  <a:schemeClr val="tx1"/>
                </a:solidFill>
                <a:latin typeface="+mn-lt"/>
                <a:ea typeface="+mn-ea"/>
                <a:cs typeface="+mn-cs"/>
              </a:rPr>
              <a:t>DELETE FROM users WHERE id = 1;</a:t>
            </a:r>
            <a:endParaRPr lang="vi-VN"/>
          </a:p>
          <a:p>
            <a:r>
              <a:rPr lang="en-US" b="1"/>
              <a:t>🧰 </a:t>
            </a:r>
            <a:r>
              <a:rPr lang="vi-VN" b="1"/>
              <a:t>Tóm lại:</a:t>
            </a:r>
          </a:p>
          <a:p>
            <a:r>
              <a:rPr lang="vi-VN"/>
              <a:t>Thuật ngữ</a:t>
            </a:r>
            <a:r>
              <a:rPr lang="en-US"/>
              <a:t>		</a:t>
            </a:r>
            <a:r>
              <a:rPr lang="vi-VN"/>
              <a:t>Nghĩa đơn giản</a:t>
            </a:r>
            <a:endParaRPr lang="en-US"/>
          </a:p>
          <a:p>
            <a:r>
              <a:rPr lang="vi-VN" b="1"/>
              <a:t>Query</a:t>
            </a:r>
            <a:r>
              <a:rPr lang="en-US" b="1"/>
              <a:t>		</a:t>
            </a:r>
            <a:r>
              <a:rPr lang="vi-VN"/>
              <a:t>Câu truy vấn dữ liệu</a:t>
            </a:r>
            <a:endParaRPr lang="en-US"/>
          </a:p>
          <a:p>
            <a:r>
              <a:rPr lang="vi-VN" b="1"/>
              <a:t>Execute query</a:t>
            </a:r>
            <a:r>
              <a:rPr lang="en-US" b="1"/>
              <a:t>	</a:t>
            </a:r>
            <a:r>
              <a:rPr lang="vi-VN"/>
              <a:t>Thực thi truy vấn trên database</a:t>
            </a:r>
            <a:endParaRPr lang="en-US"/>
          </a:p>
          <a:p>
            <a:r>
              <a:rPr lang="vi-VN" b="1"/>
              <a:t>Query builder</a:t>
            </a:r>
            <a:r>
              <a:rPr lang="en-US" b="1"/>
              <a:t>		</a:t>
            </a:r>
            <a:r>
              <a:rPr lang="vi-VN"/>
              <a:t>Công cụ tạo query bằng code thay vì viết SQL trực tiếp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a:t>
            </a:r>
          </a:p>
          <a:p>
            <a:r>
              <a:rPr lang="en-US" b="1"/>
              <a:t>🧩 1️⃣ </a:t>
            </a:r>
            <a:r>
              <a:rPr lang="vi-VN" b="1"/>
              <a:t>Hàm </a:t>
            </a:r>
            <a:r>
              <a:rPr lang="vi-VN" sz="1200" b="1" kern="1200">
                <a:solidFill>
                  <a:schemeClr val="tx1"/>
                </a:solidFill>
                <a:latin typeface="+mn-lt"/>
                <a:ea typeface="+mn-ea"/>
                <a:cs typeface="+mn-cs"/>
              </a:rPr>
              <a:t>_loadData()</a:t>
            </a:r>
            <a:endParaRPr lang="vi-VN" b="1"/>
          </a:p>
          <a:p>
            <a:pPr rtl="0"/>
            <a:r>
              <a:rPr lang="vi-VN" sz="1200" kern="1200">
                <a:solidFill>
                  <a:schemeClr val="tx1"/>
                </a:solidFill>
                <a:latin typeface="+mn-lt"/>
                <a:ea typeface="+mn-ea"/>
                <a:cs typeface="+mn-cs"/>
              </a:rPr>
              <a:t>Future&lt;void&gt; _loadData() async {</a:t>
            </a:r>
          </a:p>
          <a:p>
            <a:pPr rtl="0"/>
            <a:r>
              <a:rPr lang="vi-VN" sz="1200" kern="1200">
                <a:solidFill>
                  <a:schemeClr val="tx1"/>
                </a:solidFill>
                <a:latin typeface="+mn-lt"/>
                <a:ea typeface="+mn-ea"/>
                <a:cs typeface="+mn-cs"/>
              </a:rPr>
              <a:t>  final cats = await DBHelper.getAllCategories();</a:t>
            </a:r>
          </a:p>
          <a:p>
            <a:pPr rtl="0"/>
            <a:r>
              <a:rPr lang="vi-VN" sz="1200" kern="1200">
                <a:solidFill>
                  <a:schemeClr val="tx1"/>
                </a:solidFill>
                <a:latin typeface="+mn-lt"/>
                <a:ea typeface="+mn-ea"/>
                <a:cs typeface="+mn-cs"/>
              </a:rPr>
              <a:t>  final products = await DBHelper.getProductsWithCategory();</a:t>
            </a:r>
          </a:p>
          <a:p>
            <a:pPr rtl="0"/>
            <a:r>
              <a:rPr lang="vi-VN" sz="1200" kern="1200">
                <a:solidFill>
                  <a:schemeClr val="tx1"/>
                </a:solidFill>
                <a:latin typeface="+mn-lt"/>
                <a:ea typeface="+mn-ea"/>
                <a:cs typeface="+mn-cs"/>
              </a:rPr>
              <a:t>  setState(() {</a:t>
            </a:r>
          </a:p>
          <a:p>
            <a:pPr rtl="0"/>
            <a:r>
              <a:rPr lang="vi-VN" sz="1200" kern="1200">
                <a:solidFill>
                  <a:schemeClr val="tx1"/>
                </a:solidFill>
                <a:latin typeface="+mn-lt"/>
                <a:ea typeface="+mn-ea"/>
                <a:cs typeface="+mn-cs"/>
              </a:rPr>
              <a:t>    allCategories = cats;</a:t>
            </a:r>
          </a:p>
          <a:p>
            <a:pPr rtl="0"/>
            <a:r>
              <a:rPr lang="vi-VN" sz="1200" kern="1200">
                <a:solidFill>
                  <a:schemeClr val="tx1"/>
                </a:solidFill>
                <a:latin typeface="+mn-lt"/>
                <a:ea typeface="+mn-ea"/>
                <a:cs typeface="+mn-cs"/>
              </a:rPr>
              <a:t>    displayedProducts = products;</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a:t>
            </a:r>
          </a:p>
          <a:p>
            <a:br>
              <a:rPr lang="vi-VN"/>
            </a:br>
            <a:endParaRPr lang="vi-VN"/>
          </a:p>
          <a:p>
            <a:r>
              <a:rPr lang="en-US" b="1"/>
              <a:t>✅ </a:t>
            </a:r>
            <a:r>
              <a:rPr lang="vi-VN" b="1"/>
              <a:t>Mục đích</a:t>
            </a:r>
          </a:p>
          <a:p>
            <a:r>
              <a:rPr lang="vi-VN"/>
              <a:t>Hàm này dùng để </a:t>
            </a:r>
            <a:r>
              <a:rPr lang="vi-VN" b="1"/>
              <a:t>lấy toàn bộ dữ liệu danh mục (categories)</a:t>
            </a:r>
            <a:r>
              <a:rPr lang="vi-VN"/>
              <a:t> và </a:t>
            </a:r>
            <a:r>
              <a:rPr lang="vi-VN" b="1"/>
              <a:t>sản phẩm (products)</a:t>
            </a:r>
            <a:r>
              <a:rPr lang="vi-VN"/>
              <a:t> từ database SQLite,</a:t>
            </a:r>
            <a:br>
              <a:rPr lang="vi-VN"/>
            </a:br>
            <a:r>
              <a:rPr lang="vi-VN"/>
              <a:t>sau đó </a:t>
            </a:r>
            <a:r>
              <a:rPr lang="vi-VN" b="1"/>
              <a:t>lưu vào biến trong State</a:t>
            </a:r>
            <a:r>
              <a:rPr lang="vi-VN"/>
              <a:t> để hiển thị ra giao diện.</a:t>
            </a:r>
          </a:p>
          <a:p>
            <a:br>
              <a:rPr lang="vi-VN"/>
            </a:br>
            <a:endParaRPr lang="vi-VN"/>
          </a:p>
          <a:p>
            <a:r>
              <a:rPr lang="en-US" b="1"/>
              <a:t>🧠 </a:t>
            </a:r>
            <a:r>
              <a:rPr lang="vi-VN" b="1"/>
              <a:t>Giải thích từng dòng</a:t>
            </a:r>
          </a:p>
          <a:p>
            <a:r>
              <a:rPr lang="vi-VN"/>
              <a:t>Dòng</a:t>
            </a:r>
            <a:r>
              <a:rPr lang="en-US"/>
              <a:t>							</a:t>
            </a:r>
            <a:r>
              <a:rPr lang="vi-VN"/>
              <a:t>Giải thích</a:t>
            </a:r>
            <a:endParaRPr lang="en-US"/>
          </a:p>
          <a:p>
            <a:r>
              <a:rPr lang="vi-VN" sz="1200" kern="1200">
                <a:solidFill>
                  <a:schemeClr val="tx1"/>
                </a:solidFill>
                <a:latin typeface="+mn-lt"/>
                <a:ea typeface="+mn-ea"/>
                <a:cs typeface="+mn-cs"/>
              </a:rPr>
              <a:t>Future&lt;void&gt; _loadData() async {</a:t>
            </a:r>
            <a:r>
              <a:rPr lang="en-US" sz="1200" kern="1200">
                <a:solidFill>
                  <a:schemeClr val="tx1"/>
                </a:solidFill>
                <a:latin typeface="+mn-lt"/>
                <a:ea typeface="+mn-ea"/>
                <a:cs typeface="+mn-cs"/>
              </a:rPr>
              <a:t>			</a:t>
            </a:r>
            <a:r>
              <a:rPr lang="vi-VN"/>
              <a:t>Định nghĩa một hàm bất đồng bộ (asynchronous function) — vì việc đọc database mất thời gian. </a:t>
            </a:r>
            <a:r>
              <a:rPr lang="en-US"/>
              <a:t>					</a:t>
            </a:r>
            <a:r>
              <a:rPr lang="vi-VN" sz="1200" kern="1200">
                <a:solidFill>
                  <a:schemeClr val="tx1"/>
                </a:solidFill>
                <a:latin typeface="+mn-lt"/>
                <a:ea typeface="+mn-ea"/>
                <a:cs typeface="+mn-cs"/>
              </a:rPr>
              <a:t>Future&lt;void&gt;</a:t>
            </a:r>
            <a:r>
              <a:rPr lang="vi-VN"/>
              <a:t> nghĩa là hàm này chạy xong </a:t>
            </a:r>
            <a:r>
              <a:rPr lang="vi-VN" b="1"/>
              <a:t>không trả giá trị</a:t>
            </a:r>
            <a:r>
              <a:rPr lang="vi-VN"/>
              <a:t>, chỉ thực hiện hành động.</a:t>
            </a:r>
            <a:endParaRPr lang="en-US"/>
          </a:p>
          <a:p>
            <a:r>
              <a:rPr lang="en-US" sz="1200" kern="1200">
                <a:solidFill>
                  <a:schemeClr val="tx1"/>
                </a:solidFill>
                <a:latin typeface="+mn-lt"/>
                <a:ea typeface="+mn-ea"/>
                <a:cs typeface="+mn-cs"/>
              </a:rPr>
              <a:t> </a:t>
            </a:r>
            <a:r>
              <a:rPr lang="vi-VN" sz="1200" kern="1200">
                <a:solidFill>
                  <a:schemeClr val="tx1"/>
                </a:solidFill>
                <a:latin typeface="+mn-lt"/>
                <a:ea typeface="+mn-ea"/>
                <a:cs typeface="+mn-cs"/>
              </a:rPr>
              <a:t>final cats = await DBHelper.getAllCategories();</a:t>
            </a:r>
            <a:r>
              <a:rPr lang="en-US" sz="1200" kern="1200">
                <a:solidFill>
                  <a:schemeClr val="tx1"/>
                </a:solidFill>
                <a:latin typeface="+mn-lt"/>
                <a:ea typeface="+mn-ea"/>
                <a:cs typeface="+mn-cs"/>
              </a:rPr>
              <a:t>		</a:t>
            </a:r>
            <a:r>
              <a:rPr lang="vi-VN"/>
              <a:t>Gọi đến hàm </a:t>
            </a:r>
            <a:r>
              <a:rPr lang="vi-VN" sz="1200" kern="1200">
                <a:solidFill>
                  <a:schemeClr val="tx1"/>
                </a:solidFill>
                <a:latin typeface="+mn-lt"/>
                <a:ea typeface="+mn-ea"/>
                <a:cs typeface="+mn-cs"/>
              </a:rPr>
              <a:t>DBHelper.getAllCategories()</a:t>
            </a:r>
            <a:r>
              <a:rPr lang="vi-VN"/>
              <a:t> để lấy </a:t>
            </a:r>
            <a:r>
              <a:rPr lang="vi-VN" b="1"/>
              <a:t>danh sách các danh mục</a:t>
            </a:r>
            <a:r>
              <a:rPr lang="vi-VN"/>
              <a:t> từ bảng </a:t>
            </a:r>
            <a:r>
              <a:rPr lang="vi-VN" sz="1200" kern="1200">
                <a:solidFill>
                  <a:schemeClr val="tx1"/>
                </a:solidFill>
                <a:latin typeface="+mn-lt"/>
                <a:ea typeface="+mn-ea"/>
                <a:cs typeface="+mn-cs"/>
              </a:rPr>
              <a:t>categories</a:t>
            </a:r>
            <a:r>
              <a:rPr lang="vi-VN"/>
              <a:t>. </a:t>
            </a:r>
            <a:br>
              <a:rPr lang="vi-VN"/>
            </a:br>
            <a:r>
              <a:rPr lang="en-US"/>
              <a:t>					</a:t>
            </a:r>
            <a:r>
              <a:rPr lang="vi-VN"/>
              <a:t>– </a:t>
            </a:r>
            <a:r>
              <a:rPr lang="vi-VN" sz="1200" kern="1200">
                <a:solidFill>
                  <a:schemeClr val="tx1"/>
                </a:solidFill>
                <a:latin typeface="+mn-lt"/>
                <a:ea typeface="+mn-ea"/>
                <a:cs typeface="+mn-cs"/>
              </a:rPr>
              <a:t>await</a:t>
            </a:r>
            <a:r>
              <a:rPr lang="vi-VN"/>
              <a:t> giúp </a:t>
            </a:r>
            <a:r>
              <a:rPr lang="vi-VN" b="1"/>
              <a:t>chờ dữ liệu được lấy xong</a:t>
            </a:r>
            <a:r>
              <a:rPr lang="vi-VN"/>
              <a:t> trước khi chạy dòng tiếp theo. </a:t>
            </a:r>
            <a:br>
              <a:rPr lang="vi-VN"/>
            </a:br>
            <a:r>
              <a:rPr lang="en-US"/>
              <a:t>					</a:t>
            </a:r>
            <a:r>
              <a:rPr lang="vi-VN"/>
              <a:t>– Kết quả là </a:t>
            </a:r>
            <a:r>
              <a:rPr lang="vi-VN" sz="1200" kern="1200">
                <a:solidFill>
                  <a:schemeClr val="tx1"/>
                </a:solidFill>
                <a:latin typeface="+mn-lt"/>
                <a:ea typeface="+mn-ea"/>
                <a:cs typeface="+mn-cs"/>
              </a:rPr>
              <a:t>List&lt;Category&gt;</a:t>
            </a:r>
            <a:r>
              <a:rPr lang="vi-VN"/>
              <a:t> gán vào </a:t>
            </a:r>
            <a:r>
              <a:rPr lang="vi-VN" sz="1200" kern="1200">
                <a:solidFill>
                  <a:schemeClr val="tx1"/>
                </a:solidFill>
                <a:latin typeface="+mn-lt"/>
                <a:ea typeface="+mn-ea"/>
                <a:cs typeface="+mn-cs"/>
              </a:rPr>
              <a:t>cats</a:t>
            </a:r>
            <a:r>
              <a:rPr lang="vi-VN"/>
              <a:t>.</a:t>
            </a:r>
            <a:endParaRPr lang="en-US"/>
          </a:p>
          <a:p>
            <a:r>
              <a:rPr lang="vi-VN" sz="1200" kern="1200">
                <a:solidFill>
                  <a:schemeClr val="tx1"/>
                </a:solidFill>
                <a:latin typeface="+mn-lt"/>
                <a:ea typeface="+mn-ea"/>
                <a:cs typeface="+mn-cs"/>
              </a:rPr>
              <a:t>final products = await DBHelper.getProductsWithCategory()</a:t>
            </a:r>
            <a:r>
              <a:rPr lang="en-US" sz="1200" kern="1200">
                <a:solidFill>
                  <a:schemeClr val="tx1"/>
                </a:solidFill>
                <a:latin typeface="+mn-lt"/>
                <a:ea typeface="+mn-ea"/>
                <a:cs typeface="+mn-cs"/>
              </a:rPr>
              <a:t>	</a:t>
            </a:r>
            <a:r>
              <a:rPr lang="vi-VN" sz="1200" kern="1200">
                <a:solidFill>
                  <a:schemeClr val="tx1"/>
                </a:solidFill>
                <a:latin typeface="+mn-lt"/>
                <a:ea typeface="+mn-ea"/>
                <a:cs typeface="+mn-cs"/>
              </a:rPr>
              <a:t>;</a:t>
            </a:r>
            <a:r>
              <a:rPr lang="vi-VN"/>
              <a:t>Gọi hàm </a:t>
            </a:r>
            <a:r>
              <a:rPr lang="vi-VN" sz="1200" kern="1200">
                <a:solidFill>
                  <a:schemeClr val="tx1"/>
                </a:solidFill>
                <a:latin typeface="+mn-lt"/>
                <a:ea typeface="+mn-ea"/>
                <a:cs typeface="+mn-cs"/>
              </a:rPr>
              <a:t>getProductsWithCategory()</a:t>
            </a:r>
            <a:r>
              <a:rPr lang="vi-VN"/>
              <a:t> (JOIN hai bảng) để lấy danh sách sản phẩm kèm tên danh </a:t>
            </a:r>
            <a:r>
              <a:rPr lang="en-US"/>
              <a:t>					</a:t>
            </a:r>
            <a:r>
              <a:rPr lang="vi-VN"/>
              <a:t>mục. </a:t>
            </a:r>
            <a:br>
              <a:rPr lang="vi-VN"/>
            </a:br>
            <a:r>
              <a:rPr lang="en-US"/>
              <a:t>					</a:t>
            </a:r>
            <a:r>
              <a:rPr lang="vi-VN"/>
              <a:t>Kết quả là </a:t>
            </a:r>
            <a:r>
              <a:rPr lang="vi-VN" sz="1200" kern="1200">
                <a:solidFill>
                  <a:schemeClr val="tx1"/>
                </a:solidFill>
                <a:latin typeface="+mn-lt"/>
                <a:ea typeface="+mn-ea"/>
                <a:cs typeface="+mn-cs"/>
              </a:rPr>
              <a:t>List&lt;Map&lt;String, dynamic&gt;&gt;</a:t>
            </a:r>
            <a:r>
              <a:rPr lang="vi-VN"/>
              <a:t>, gán vào </a:t>
            </a:r>
            <a:r>
              <a:rPr lang="vi-VN" sz="1200" kern="1200">
                <a:solidFill>
                  <a:schemeClr val="tx1"/>
                </a:solidFill>
                <a:latin typeface="+mn-lt"/>
                <a:ea typeface="+mn-ea"/>
                <a:cs typeface="+mn-cs"/>
              </a:rPr>
              <a:t>products</a:t>
            </a:r>
            <a:r>
              <a:rPr lang="vi-VN"/>
              <a:t>.</a:t>
            </a:r>
            <a:endParaRPr lang="en-US"/>
          </a:p>
          <a:p>
            <a:r>
              <a:rPr lang="vi-VN" sz="1200" kern="1200">
                <a:solidFill>
                  <a:schemeClr val="tx1"/>
                </a:solidFill>
                <a:latin typeface="+mn-lt"/>
                <a:ea typeface="+mn-ea"/>
                <a:cs typeface="+mn-cs"/>
              </a:rPr>
              <a:t>setState(() { ... });</a:t>
            </a:r>
            <a:r>
              <a:rPr lang="en-US" sz="1200" kern="1200">
                <a:solidFill>
                  <a:schemeClr val="tx1"/>
                </a:solidFill>
                <a:latin typeface="+mn-lt"/>
                <a:ea typeface="+mn-ea"/>
                <a:cs typeface="+mn-cs"/>
              </a:rPr>
              <a:t>				</a:t>
            </a:r>
            <a:r>
              <a:rPr lang="vi-VN"/>
              <a:t>Gọi hàm này để </a:t>
            </a:r>
            <a:r>
              <a:rPr lang="vi-VN" b="1"/>
              <a:t>báo cho Flutter biết rằng dữ liệu trong State đã thay đổi</a:t>
            </a:r>
            <a:r>
              <a:rPr lang="vi-VN"/>
              <a:t>, và yêu cầu giao diện </a:t>
            </a:r>
            <a:r>
              <a:rPr lang="en-US"/>
              <a:t>					</a:t>
            </a:r>
            <a:r>
              <a:rPr lang="vi-VN"/>
              <a:t>(UI) </a:t>
            </a:r>
            <a:r>
              <a:rPr lang="vi-VN" b="1"/>
              <a:t>render lại</a:t>
            </a:r>
            <a:r>
              <a:rPr lang="vi-VN"/>
              <a:t> với dữ liệu mới.</a:t>
            </a:r>
            <a:endParaRPr lang="en-US"/>
          </a:p>
          <a:p>
            <a:r>
              <a:rPr lang="vi-VN" sz="1200" kern="1200">
                <a:solidFill>
                  <a:schemeClr val="tx1"/>
                </a:solidFill>
                <a:latin typeface="+mn-lt"/>
                <a:ea typeface="+mn-ea"/>
                <a:cs typeface="+mn-cs"/>
              </a:rPr>
              <a:t>allCategories = cats;</a:t>
            </a:r>
            <a:r>
              <a:rPr lang="en-US" sz="1200" kern="1200">
                <a:solidFill>
                  <a:schemeClr val="tx1"/>
                </a:solidFill>
                <a:latin typeface="+mn-lt"/>
                <a:ea typeface="+mn-ea"/>
                <a:cs typeface="+mn-cs"/>
              </a:rPr>
              <a:t>				</a:t>
            </a:r>
            <a:r>
              <a:rPr lang="vi-VN"/>
              <a:t>Cập nhật biến </a:t>
            </a:r>
            <a:r>
              <a:rPr lang="vi-VN" sz="1200" kern="1200">
                <a:solidFill>
                  <a:schemeClr val="tx1"/>
                </a:solidFill>
                <a:latin typeface="+mn-lt"/>
                <a:ea typeface="+mn-ea"/>
                <a:cs typeface="+mn-cs"/>
              </a:rPr>
              <a:t>allCategories</a:t>
            </a:r>
            <a:r>
              <a:rPr lang="vi-VN"/>
              <a:t> (được khai báo trong State) để chứa toàn bộ danh mục vừa tải về.</a:t>
            </a:r>
            <a:endParaRPr lang="en-US"/>
          </a:p>
          <a:p>
            <a:r>
              <a:rPr lang="vi-VN" sz="1200" kern="1200">
                <a:solidFill>
                  <a:schemeClr val="tx1"/>
                </a:solidFill>
                <a:latin typeface="+mn-lt"/>
                <a:ea typeface="+mn-ea"/>
                <a:cs typeface="+mn-cs"/>
              </a:rPr>
              <a:t>displayedProducts = products;</a:t>
            </a:r>
            <a:r>
              <a:rPr lang="en-US" sz="1200" kern="1200">
                <a:solidFill>
                  <a:schemeClr val="tx1"/>
                </a:solidFill>
                <a:latin typeface="+mn-lt"/>
                <a:ea typeface="+mn-ea"/>
                <a:cs typeface="+mn-cs"/>
              </a:rPr>
              <a:t>			</a:t>
            </a:r>
            <a:r>
              <a:rPr lang="vi-VN"/>
              <a:t>Gán danh sách sản phẩm (có cả category name) vào biến hiển thị </a:t>
            </a:r>
            <a:r>
              <a:rPr lang="vi-VN" sz="1200" kern="1200">
                <a:solidFill>
                  <a:schemeClr val="tx1"/>
                </a:solidFill>
                <a:latin typeface="+mn-lt"/>
                <a:ea typeface="+mn-ea"/>
                <a:cs typeface="+mn-cs"/>
              </a:rPr>
              <a:t>displayedProducts</a:t>
            </a:r>
            <a:r>
              <a:rPr lang="vi-VN"/>
              <a:t>, để ListView </a:t>
            </a:r>
            <a:r>
              <a:rPr lang="en-US"/>
              <a:t>					</a:t>
            </a:r>
            <a:r>
              <a:rPr lang="vi-VN"/>
              <a:t>trong UI sử dụng.</a:t>
            </a:r>
          </a:p>
          <a:p>
            <a:br>
              <a:rPr lang="vi-VN"/>
            </a:br>
            <a:endParaRPr lang="vi-VN"/>
          </a:p>
          <a:p>
            <a:r>
              <a:rPr lang="en-US" b="1"/>
              <a:t>📊 </a:t>
            </a:r>
            <a:r>
              <a:rPr lang="vi-VN" b="1"/>
              <a:t>Tóm tắt:</a:t>
            </a:r>
          </a:p>
          <a:p>
            <a:r>
              <a:rPr lang="vi-VN" b="1"/>
              <a:t>Lấy dữ liệu gốc từ DB</a:t>
            </a:r>
            <a:endParaRPr lang="vi-VN"/>
          </a:p>
          <a:p>
            <a:r>
              <a:rPr lang="vi-VN" b="1"/>
              <a:t>Lưu vào biến State</a:t>
            </a:r>
            <a:endParaRPr lang="vi-VN"/>
          </a:p>
          <a:p>
            <a:r>
              <a:rPr lang="vi-VN" b="1"/>
              <a:t>Gọi </a:t>
            </a:r>
            <a:r>
              <a:rPr lang="vi-VN" sz="1200" b="1" kern="1200">
                <a:solidFill>
                  <a:schemeClr val="tx1"/>
                </a:solidFill>
                <a:latin typeface="+mn-lt"/>
                <a:ea typeface="+mn-ea"/>
                <a:cs typeface="+mn-cs"/>
              </a:rPr>
              <a:t>setState()</a:t>
            </a:r>
            <a:r>
              <a:rPr lang="vi-VN" b="1"/>
              <a:t> để cập nhật UI</a:t>
            </a:r>
            <a:endParaRPr lang="vi-VN"/>
          </a:p>
          <a:p>
            <a:br>
              <a:rPr lang="vi-VN"/>
            </a:br>
            <a:endParaRPr lang="vi-VN"/>
          </a:p>
          <a:p>
            <a:r>
              <a:rPr lang="en-US" b="1"/>
              <a:t>🧩 2️⃣ </a:t>
            </a:r>
            <a:r>
              <a:rPr lang="vi-VN" b="1"/>
              <a:t>Hàm </a:t>
            </a:r>
            <a:r>
              <a:rPr lang="vi-VN" sz="1200" b="1" kern="1200">
                <a:solidFill>
                  <a:schemeClr val="tx1"/>
                </a:solidFill>
                <a:latin typeface="+mn-lt"/>
                <a:ea typeface="+mn-ea"/>
                <a:cs typeface="+mn-cs"/>
              </a:rPr>
              <a:t>_applyFilters()</a:t>
            </a:r>
            <a:endParaRPr lang="vi-VN" b="1"/>
          </a:p>
          <a:p>
            <a:pPr rtl="0"/>
            <a:r>
              <a:rPr lang="vi-VN" sz="1200" kern="1200">
                <a:solidFill>
                  <a:schemeClr val="tx1"/>
                </a:solidFill>
                <a:latin typeface="+mn-lt"/>
                <a:ea typeface="+mn-ea"/>
                <a:cs typeface="+mn-cs"/>
              </a:rPr>
              <a:t>void _applyFilters() async {</a:t>
            </a:r>
          </a:p>
          <a:p>
            <a:pPr rtl="0"/>
            <a:r>
              <a:rPr lang="vi-VN" sz="1200" kern="1200">
                <a:solidFill>
                  <a:schemeClr val="tx1"/>
                </a:solidFill>
                <a:latin typeface="+mn-lt"/>
                <a:ea typeface="+mn-ea"/>
                <a:cs typeface="+mn-cs"/>
              </a:rPr>
              <a:t>  final dbData = await DBHelper.getProductsWithCategory();</a:t>
            </a:r>
          </a:p>
          <a:p>
            <a:pPr rtl="0"/>
            <a:r>
              <a:rPr lang="vi-VN" sz="1200" kern="1200">
                <a:solidFill>
                  <a:schemeClr val="tx1"/>
                </a:solidFill>
                <a:latin typeface="+mn-lt"/>
                <a:ea typeface="+mn-ea"/>
                <a:cs typeface="+mn-cs"/>
              </a:rPr>
              <a:t>  setState(() {</a:t>
            </a:r>
          </a:p>
          <a:p>
            <a:pPr rtl="0"/>
            <a:r>
              <a:rPr lang="vi-VN" sz="1200" kern="1200">
                <a:solidFill>
                  <a:schemeClr val="tx1"/>
                </a:solidFill>
                <a:latin typeface="+mn-lt"/>
                <a:ea typeface="+mn-ea"/>
                <a:cs typeface="+mn-cs"/>
              </a:rPr>
              <a:t>    displayedProducts = dbData.where((p) {</a:t>
            </a:r>
          </a:p>
          <a:p>
            <a:pPr rtl="0"/>
            <a:r>
              <a:rPr lang="vi-VN" sz="1200" kern="1200">
                <a:solidFill>
                  <a:schemeClr val="tx1"/>
                </a:solidFill>
                <a:latin typeface="+mn-lt"/>
                <a:ea typeface="+mn-ea"/>
                <a:cs typeface="+mn-cs"/>
              </a:rPr>
              <a:t>      final matchCategory =</a:t>
            </a:r>
          </a:p>
          <a:p>
            <a:pPr rtl="0"/>
            <a:r>
              <a:rPr lang="vi-VN" sz="1200" kern="1200">
                <a:solidFill>
                  <a:schemeClr val="tx1"/>
                </a:solidFill>
                <a:latin typeface="+mn-lt"/>
                <a:ea typeface="+mn-ea"/>
                <a:cs typeface="+mn-cs"/>
              </a:rPr>
              <a:t>          (filterCategory == 0 || p['category_id'] == filterCategory);</a:t>
            </a:r>
          </a:p>
          <a:p>
            <a:pPr rtl="0"/>
            <a:r>
              <a:rPr lang="vi-VN" sz="1200" kern="1200">
                <a:solidFill>
                  <a:schemeClr val="tx1"/>
                </a:solidFill>
                <a:latin typeface="+mn-lt"/>
                <a:ea typeface="+mn-ea"/>
                <a:cs typeface="+mn-cs"/>
              </a:rPr>
              <a:t>      final matchSearch = p['name']</a:t>
            </a:r>
          </a:p>
          <a:p>
            <a:pPr rtl="0"/>
            <a:r>
              <a:rPr lang="vi-VN" sz="1200" kern="1200">
                <a:solidFill>
                  <a:schemeClr val="tx1"/>
                </a:solidFill>
                <a:latin typeface="+mn-lt"/>
                <a:ea typeface="+mn-ea"/>
                <a:cs typeface="+mn-cs"/>
              </a:rPr>
              <a:t>          .toString()</a:t>
            </a:r>
          </a:p>
          <a:p>
            <a:pPr rtl="0"/>
            <a:r>
              <a:rPr lang="vi-VN" sz="1200" kern="1200">
                <a:solidFill>
                  <a:schemeClr val="tx1"/>
                </a:solidFill>
                <a:latin typeface="+mn-lt"/>
                <a:ea typeface="+mn-ea"/>
                <a:cs typeface="+mn-cs"/>
              </a:rPr>
              <a:t>          .toLowerCase()</a:t>
            </a:r>
          </a:p>
          <a:p>
            <a:pPr rtl="0"/>
            <a:r>
              <a:rPr lang="vi-VN" sz="1200" kern="1200">
                <a:solidFill>
                  <a:schemeClr val="tx1"/>
                </a:solidFill>
                <a:latin typeface="+mn-lt"/>
                <a:ea typeface="+mn-ea"/>
                <a:cs typeface="+mn-cs"/>
              </a:rPr>
              <a:t>          .contains(searchText.toLowerCase());</a:t>
            </a:r>
          </a:p>
          <a:p>
            <a:pPr rtl="0"/>
            <a:r>
              <a:rPr lang="vi-VN" sz="1200" kern="1200">
                <a:solidFill>
                  <a:schemeClr val="tx1"/>
                </a:solidFill>
                <a:latin typeface="+mn-lt"/>
                <a:ea typeface="+mn-ea"/>
                <a:cs typeface="+mn-cs"/>
              </a:rPr>
              <a:t>      return matchCategory &amp;&amp; matchSearch;</a:t>
            </a:r>
          </a:p>
          <a:p>
            <a:pPr rtl="0"/>
            <a:r>
              <a:rPr lang="vi-VN" sz="1200" kern="1200">
                <a:solidFill>
                  <a:schemeClr val="tx1"/>
                </a:solidFill>
                <a:latin typeface="+mn-lt"/>
                <a:ea typeface="+mn-ea"/>
                <a:cs typeface="+mn-cs"/>
              </a:rPr>
              <a:t>    }).toList();</a:t>
            </a:r>
          </a:p>
          <a:p>
            <a:pPr rtl="0"/>
            <a:r>
              <a:rPr lang="vi-VN" sz="1200" kern="1200">
                <a:solidFill>
                  <a:schemeClr val="tx1"/>
                </a:solidFill>
                <a:latin typeface="+mn-lt"/>
                <a:ea typeface="+mn-ea"/>
                <a:cs typeface="+mn-cs"/>
              </a:rPr>
              <a:t>  });</a:t>
            </a:r>
          </a:p>
          <a:p>
            <a:pPr rtl="0"/>
            <a:r>
              <a:rPr lang="vi-VN" sz="1200" kern="1200">
                <a:solidFill>
                  <a:schemeClr val="tx1"/>
                </a:solidFill>
                <a:latin typeface="+mn-lt"/>
                <a:ea typeface="+mn-ea"/>
                <a:cs typeface="+mn-cs"/>
              </a:rPr>
              <a:t>}</a:t>
            </a:r>
          </a:p>
          <a:p>
            <a:br>
              <a:rPr lang="vi-VN"/>
            </a:br>
            <a:endParaRPr lang="vi-VN"/>
          </a:p>
          <a:p>
            <a:r>
              <a:rPr lang="en-US" b="1"/>
              <a:t>✅ </a:t>
            </a:r>
            <a:r>
              <a:rPr lang="vi-VN" b="1"/>
              <a:t>Mục đích</a:t>
            </a:r>
          </a:p>
          <a:p>
            <a:r>
              <a:rPr lang="vi-VN"/>
              <a:t>Hàm này dùng để </a:t>
            </a:r>
            <a:r>
              <a:rPr lang="vi-VN" b="1"/>
              <a:t>lọc danh sách sản phẩm</a:t>
            </a:r>
            <a:r>
              <a:rPr lang="vi-VN"/>
              <a:t> theo:</a:t>
            </a:r>
          </a:p>
          <a:p>
            <a:r>
              <a:rPr lang="vi-VN" b="1"/>
              <a:t>Danh mục đang chọn (</a:t>
            </a:r>
            <a:r>
              <a:rPr lang="vi-VN" sz="1200" b="1" kern="1200">
                <a:solidFill>
                  <a:schemeClr val="tx1"/>
                </a:solidFill>
                <a:latin typeface="+mn-lt"/>
                <a:ea typeface="+mn-ea"/>
                <a:cs typeface="+mn-cs"/>
              </a:rPr>
              <a:t>filterCategory</a:t>
            </a:r>
            <a:r>
              <a:rPr lang="vi-VN" b="1"/>
              <a:t>)</a:t>
            </a:r>
            <a:r>
              <a:rPr lang="vi-VN"/>
              <a:t>, và</a:t>
            </a:r>
          </a:p>
          <a:p>
            <a:r>
              <a:rPr lang="vi-VN" b="1"/>
              <a:t>Từ khóa tìm kiếm (</a:t>
            </a:r>
            <a:r>
              <a:rPr lang="vi-VN" sz="1200" b="1" kern="1200">
                <a:solidFill>
                  <a:schemeClr val="tx1"/>
                </a:solidFill>
                <a:latin typeface="+mn-lt"/>
                <a:ea typeface="+mn-ea"/>
                <a:cs typeface="+mn-cs"/>
              </a:rPr>
              <a:t>searchText</a:t>
            </a:r>
            <a:r>
              <a:rPr lang="vi-VN" b="1"/>
              <a:t>)</a:t>
            </a:r>
            <a:r>
              <a:rPr lang="vi-VN"/>
              <a:t>.</a:t>
            </a:r>
          </a:p>
          <a:p>
            <a:r>
              <a:rPr lang="vi-VN"/>
              <a:t>Sau khi lọc xong, cập nhật lại </a:t>
            </a:r>
            <a:r>
              <a:rPr lang="vi-VN" sz="1200" kern="1200">
                <a:solidFill>
                  <a:schemeClr val="tx1"/>
                </a:solidFill>
                <a:latin typeface="+mn-lt"/>
                <a:ea typeface="+mn-ea"/>
                <a:cs typeface="+mn-cs"/>
              </a:rPr>
              <a:t>displayedProducts</a:t>
            </a:r>
            <a:r>
              <a:rPr lang="vi-VN"/>
              <a:t> để UI hiển thị danh sách phù hợp.</a:t>
            </a:r>
          </a:p>
          <a:p>
            <a:br>
              <a:rPr lang="vi-VN"/>
            </a:br>
            <a:endParaRPr lang="vi-VN"/>
          </a:p>
          <a:p>
            <a:r>
              <a:rPr lang="en-US" b="1"/>
              <a:t>🧠 </a:t>
            </a:r>
            <a:r>
              <a:rPr lang="vi-VN" b="1"/>
              <a:t>Giải thích từng dòng</a:t>
            </a:r>
          </a:p>
          <a:p>
            <a:r>
              <a:rPr lang="vi-VN"/>
              <a:t>Dòng</a:t>
            </a:r>
            <a:r>
              <a:rPr lang="en-US"/>
              <a:t>					</a:t>
            </a:r>
            <a:r>
              <a:rPr lang="vi-VN"/>
              <a:t>Giải thích</a:t>
            </a:r>
            <a:endParaRPr lang="en-US"/>
          </a:p>
          <a:p>
            <a:r>
              <a:rPr lang="vi-VN" sz="1200" kern="1200">
                <a:solidFill>
                  <a:schemeClr val="tx1"/>
                </a:solidFill>
                <a:latin typeface="+mn-lt"/>
                <a:ea typeface="+mn-ea"/>
                <a:cs typeface="+mn-cs"/>
              </a:rPr>
              <a:t>void _applyFilters() async {</a:t>
            </a:r>
            <a:r>
              <a:rPr lang="en-US" sz="1200" kern="1200">
                <a:solidFill>
                  <a:schemeClr val="tx1"/>
                </a:solidFill>
                <a:latin typeface="+mn-lt"/>
                <a:ea typeface="+mn-ea"/>
                <a:cs typeface="+mn-cs"/>
              </a:rPr>
              <a:t>				</a:t>
            </a:r>
            <a:r>
              <a:rPr lang="vi-VN"/>
              <a:t>Hàm bất đồng bộ (có thể chờ truy vấn DB), không trả giá trị.</a:t>
            </a:r>
            <a:endParaRPr lang="en-US"/>
          </a:p>
          <a:p>
            <a:r>
              <a:rPr lang="vi-VN" sz="1200" kern="1200">
                <a:solidFill>
                  <a:schemeClr val="tx1"/>
                </a:solidFill>
                <a:latin typeface="+mn-lt"/>
                <a:ea typeface="+mn-ea"/>
                <a:cs typeface="+mn-cs"/>
              </a:rPr>
              <a:t>final dbData = await DBHelper.getProductsWithCategory();</a:t>
            </a:r>
            <a:r>
              <a:rPr lang="en-US" sz="1200" kern="1200">
                <a:solidFill>
                  <a:schemeClr val="tx1"/>
                </a:solidFill>
                <a:latin typeface="+mn-lt"/>
                <a:ea typeface="+mn-ea"/>
                <a:cs typeface="+mn-cs"/>
              </a:rPr>
              <a:t>		</a:t>
            </a:r>
            <a:r>
              <a:rPr lang="vi-VN"/>
              <a:t>Gọi lại hàm JOIN ở DBHelper để lấy </a:t>
            </a:r>
            <a:r>
              <a:rPr lang="vi-VN" b="1"/>
              <a:t>toàn bộ dữ liệu mới nhất</a:t>
            </a:r>
            <a:r>
              <a:rPr lang="vi-VN"/>
              <a:t> (phòng trường hợp vừa thêm, sửa, </a:t>
            </a:r>
            <a:r>
              <a:rPr lang="en-US"/>
              <a:t>					</a:t>
            </a:r>
            <a:r>
              <a:rPr lang="vi-VN"/>
              <a:t>xóa).</a:t>
            </a:r>
            <a:endParaRPr lang="en-US"/>
          </a:p>
          <a:p>
            <a:r>
              <a:rPr lang="vi-VN" sz="1200" kern="1200">
                <a:solidFill>
                  <a:schemeClr val="tx1"/>
                </a:solidFill>
                <a:latin typeface="+mn-lt"/>
                <a:ea typeface="+mn-ea"/>
                <a:cs typeface="+mn-cs"/>
              </a:rPr>
              <a:t>setState(() { ... });</a:t>
            </a:r>
            <a:r>
              <a:rPr lang="en-US" sz="1200" kern="1200">
                <a:solidFill>
                  <a:schemeClr val="tx1"/>
                </a:solidFill>
                <a:latin typeface="+mn-lt"/>
                <a:ea typeface="+mn-ea"/>
                <a:cs typeface="+mn-cs"/>
              </a:rPr>
              <a:t>				</a:t>
            </a:r>
            <a:r>
              <a:rPr lang="vi-VN"/>
              <a:t>Cập nhật State để làm mới giao diện. Mọi thay đổi bên trong sẽ khiến UI vẽ lại danh sách sản phẩm.</a:t>
            </a:r>
            <a:endParaRPr lang="en-US"/>
          </a:p>
          <a:p>
            <a:r>
              <a:rPr lang="vi-VN" sz="1200" kern="1200">
                <a:solidFill>
                  <a:schemeClr val="tx1"/>
                </a:solidFill>
                <a:latin typeface="+mn-lt"/>
                <a:ea typeface="+mn-ea"/>
                <a:cs typeface="+mn-cs"/>
              </a:rPr>
              <a:t>displayedProducts = dbData.where((p) { ... }).toList();</a:t>
            </a:r>
            <a:r>
              <a:rPr lang="en-US" sz="1200" kern="1200">
                <a:solidFill>
                  <a:schemeClr val="tx1"/>
                </a:solidFill>
                <a:latin typeface="+mn-lt"/>
                <a:ea typeface="+mn-ea"/>
                <a:cs typeface="+mn-cs"/>
              </a:rPr>
              <a:t>		</a:t>
            </a:r>
            <a:r>
              <a:rPr lang="vi-VN"/>
              <a:t>Lọc (</a:t>
            </a:r>
            <a:r>
              <a:rPr lang="vi-VN" sz="1200" kern="1200">
                <a:solidFill>
                  <a:schemeClr val="tx1"/>
                </a:solidFill>
                <a:latin typeface="+mn-lt"/>
                <a:ea typeface="+mn-ea"/>
                <a:cs typeface="+mn-cs"/>
              </a:rPr>
              <a:t>where</a:t>
            </a:r>
            <a:r>
              <a:rPr lang="vi-VN"/>
              <a:t>) danh sách </a:t>
            </a:r>
            <a:r>
              <a:rPr lang="vi-VN" sz="1200" kern="1200">
                <a:solidFill>
                  <a:schemeClr val="tx1"/>
                </a:solidFill>
                <a:latin typeface="+mn-lt"/>
                <a:ea typeface="+mn-ea"/>
                <a:cs typeface="+mn-cs"/>
              </a:rPr>
              <a:t>dbData</a:t>
            </a:r>
            <a:r>
              <a:rPr lang="vi-VN"/>
              <a:t> theo điều kiện, sau đó chuyển kết quả về dạng </a:t>
            </a:r>
            <a:r>
              <a:rPr lang="vi-VN" sz="1200" kern="1200">
                <a:solidFill>
                  <a:schemeClr val="tx1"/>
                </a:solidFill>
                <a:latin typeface="+mn-lt"/>
                <a:ea typeface="+mn-ea"/>
                <a:cs typeface="+mn-cs"/>
              </a:rPr>
              <a:t>List</a:t>
            </a:r>
            <a:r>
              <a:rPr lang="vi-VN"/>
              <a:t>.</a:t>
            </a:r>
            <a:endParaRPr lang="en-US"/>
          </a:p>
          <a:p>
            <a:r>
              <a:rPr lang="vi-VN"/>
              <a:t>`final matchCategory = (filterCategory == 0</a:t>
            </a:r>
            <a:endParaRPr lang="en-US"/>
          </a:p>
          <a:p>
            <a:r>
              <a:rPr lang="vi-VN" sz="1200" kern="1200">
                <a:solidFill>
                  <a:schemeClr val="tx1"/>
                </a:solidFill>
                <a:latin typeface="+mn-lt"/>
                <a:ea typeface="+mn-ea"/>
                <a:cs typeface="+mn-cs"/>
              </a:rPr>
              <a:t>final matchSearch = p['name'].toString().toLowerCase().contains(searchText.toLowerCase());</a:t>
            </a:r>
            <a:r>
              <a:rPr lang="en-US" sz="1200" kern="1200">
                <a:solidFill>
                  <a:schemeClr val="tx1"/>
                </a:solidFill>
                <a:latin typeface="+mn-lt"/>
                <a:ea typeface="+mn-ea"/>
                <a:cs typeface="+mn-cs"/>
              </a:rPr>
              <a:t>	</a:t>
            </a:r>
            <a:r>
              <a:rPr lang="vi-VN"/>
              <a:t>Kiểm tra xem tên sản phẩm có chứa từ khóa người dùng gõ trong ô </a:t>
            </a:r>
            <a:r>
              <a:rPr lang="en-US"/>
              <a:t>							</a:t>
            </a:r>
            <a:r>
              <a:rPr lang="vi-VN"/>
              <a:t>tìm kiếm không. </a:t>
            </a:r>
            <a:br>
              <a:rPr lang="vi-VN"/>
            </a:br>
            <a:r>
              <a:rPr lang="en-US"/>
              <a:t>							</a:t>
            </a:r>
            <a:r>
              <a:rPr lang="vi-VN"/>
              <a:t>– </a:t>
            </a:r>
            <a:r>
              <a:rPr lang="vi-VN" sz="1200" kern="1200">
                <a:solidFill>
                  <a:schemeClr val="tx1"/>
                </a:solidFill>
                <a:latin typeface="+mn-lt"/>
                <a:ea typeface="+mn-ea"/>
                <a:cs typeface="+mn-cs"/>
              </a:rPr>
              <a:t>.toLowerCase()</a:t>
            </a:r>
            <a:r>
              <a:rPr lang="vi-VN"/>
              <a:t> giúp không phân biệt hoa thường. </a:t>
            </a:r>
            <a:br>
              <a:rPr lang="vi-VN"/>
            </a:br>
            <a:r>
              <a:rPr lang="en-US"/>
              <a:t>							</a:t>
            </a:r>
            <a:r>
              <a:rPr lang="vi-VN"/>
              <a:t>– Nếu </a:t>
            </a:r>
            <a:r>
              <a:rPr lang="vi-VN" sz="1200" kern="1200">
                <a:solidFill>
                  <a:schemeClr val="tx1"/>
                </a:solidFill>
                <a:latin typeface="+mn-lt"/>
                <a:ea typeface="+mn-ea"/>
                <a:cs typeface="+mn-cs"/>
              </a:rPr>
              <a:t>searchText</a:t>
            </a:r>
            <a:r>
              <a:rPr lang="vi-VN"/>
              <a:t> rỗng (</a:t>
            </a:r>
            <a:r>
              <a:rPr lang="vi-VN" sz="1200" kern="1200">
                <a:solidFill>
                  <a:schemeClr val="tx1"/>
                </a:solidFill>
                <a:latin typeface="+mn-lt"/>
                <a:ea typeface="+mn-ea"/>
                <a:cs typeface="+mn-cs"/>
              </a:rPr>
              <a:t>""</a:t>
            </a:r>
            <a:r>
              <a:rPr lang="vi-VN"/>
              <a:t>), </a:t>
            </a:r>
            <a:r>
              <a:rPr lang="vi-VN" sz="1200" kern="1200">
                <a:solidFill>
                  <a:schemeClr val="tx1"/>
                </a:solidFill>
                <a:latin typeface="+mn-lt"/>
                <a:ea typeface="+mn-ea"/>
                <a:cs typeface="+mn-cs"/>
              </a:rPr>
              <a:t>contains('')</a:t>
            </a:r>
            <a:r>
              <a:rPr lang="vi-VN"/>
              <a:t> sẽ </a:t>
            </a:r>
            <a:r>
              <a:rPr lang="vi-VN" b="1"/>
              <a:t>luôn trả về true</a:t>
            </a:r>
            <a:r>
              <a:rPr lang="vi-VN"/>
              <a:t>, tức là </a:t>
            </a:r>
            <a:r>
              <a:rPr lang="en-US"/>
              <a:t>							</a:t>
            </a:r>
            <a:r>
              <a:rPr lang="vi-VN"/>
              <a:t>hiển thị tất cả sản phẩm — hành vi này hoàn toàn hợp lý.</a:t>
            </a:r>
            <a:endParaRPr lang="en-US"/>
          </a:p>
          <a:p>
            <a:r>
              <a:rPr lang="vi-VN" sz="1200" kern="1200">
                <a:solidFill>
                  <a:schemeClr val="tx1"/>
                </a:solidFill>
                <a:latin typeface="+mn-lt"/>
                <a:ea typeface="+mn-ea"/>
                <a:cs typeface="+mn-cs"/>
              </a:rPr>
              <a:t>return matchCategory &amp;&amp; matchSearch;</a:t>
            </a:r>
            <a:r>
              <a:rPr lang="en-US" sz="1200" kern="1200">
                <a:solidFill>
                  <a:schemeClr val="tx1"/>
                </a:solidFill>
                <a:latin typeface="+mn-lt"/>
                <a:ea typeface="+mn-ea"/>
                <a:cs typeface="+mn-cs"/>
              </a:rPr>
              <a:t>			</a:t>
            </a:r>
            <a:r>
              <a:rPr lang="vi-VN"/>
              <a:t>Chỉ giữ lại những sản phẩm </a:t>
            </a:r>
            <a:r>
              <a:rPr lang="vi-VN" b="1"/>
              <a:t>thỏa mãn cả hai điều kiện</a:t>
            </a:r>
            <a:r>
              <a:rPr lang="vi-VN"/>
              <a:t>: đúng danh mục </a:t>
            </a:r>
            <a:r>
              <a:rPr lang="vi-VN" b="1"/>
              <a:t>và</a:t>
            </a:r>
            <a:r>
              <a:rPr lang="vi-VN"/>
              <a:t> khớp từ khóa tìm </a:t>
            </a:r>
            <a:r>
              <a:rPr lang="en-US"/>
              <a:t>					</a:t>
            </a:r>
            <a:r>
              <a:rPr lang="vi-VN"/>
              <a:t>kiếm.</a:t>
            </a:r>
          </a:p>
          <a:p>
            <a:r>
              <a:rPr lang="en-US"/>
              <a:t>-------------------------------------------------------------------------------------------------------------------------------------------------------------------------</a:t>
            </a:r>
          </a:p>
          <a:p>
            <a:r>
              <a:rPr lang="en-US" b="1"/>
              <a:t>🧩 </a:t>
            </a:r>
            <a:r>
              <a:rPr lang="vi-VN" b="1"/>
              <a:t>Toàn bộ đoạn code</a:t>
            </a:r>
          </a:p>
          <a:p>
            <a:pPr rtl="0"/>
            <a:r>
              <a:rPr lang="vi-VN" sz="1200" kern="1200">
                <a:solidFill>
                  <a:schemeClr val="tx1"/>
                </a:solidFill>
                <a:latin typeface="+mn-lt"/>
                <a:ea typeface="+mn-ea"/>
                <a:cs typeface="+mn-cs"/>
              </a:rPr>
              <a:t>setState(() {</a:t>
            </a:r>
          </a:p>
          <a:p>
            <a:pPr rtl="0"/>
            <a:r>
              <a:rPr lang="vi-VN" sz="1200" kern="1200">
                <a:solidFill>
                  <a:schemeClr val="tx1"/>
                </a:solidFill>
                <a:latin typeface="+mn-lt"/>
                <a:ea typeface="+mn-ea"/>
                <a:cs typeface="+mn-cs"/>
              </a:rPr>
              <a:t>  displayedProducts = dbData.where((p) {</a:t>
            </a:r>
          </a:p>
          <a:p>
            <a:pPr rtl="0"/>
            <a:r>
              <a:rPr lang="vi-VN" sz="1200" kern="1200">
                <a:solidFill>
                  <a:schemeClr val="tx1"/>
                </a:solidFill>
                <a:latin typeface="+mn-lt"/>
                <a:ea typeface="+mn-ea"/>
                <a:cs typeface="+mn-cs"/>
              </a:rPr>
              <a:t>    final matchCategory =</a:t>
            </a:r>
          </a:p>
          <a:p>
            <a:pPr rtl="0"/>
            <a:r>
              <a:rPr lang="vi-VN" sz="1200" kern="1200">
                <a:solidFill>
                  <a:schemeClr val="tx1"/>
                </a:solidFill>
                <a:latin typeface="+mn-lt"/>
                <a:ea typeface="+mn-ea"/>
                <a:cs typeface="+mn-cs"/>
              </a:rPr>
              <a:t>        (filterCategory == 0 || p['category_id'] == filterCategory);</a:t>
            </a:r>
          </a:p>
          <a:p>
            <a:pPr rtl="0"/>
            <a:r>
              <a:rPr lang="vi-VN" sz="1200" kern="1200">
                <a:solidFill>
                  <a:schemeClr val="tx1"/>
                </a:solidFill>
                <a:latin typeface="+mn-lt"/>
                <a:ea typeface="+mn-ea"/>
                <a:cs typeface="+mn-cs"/>
              </a:rPr>
              <a:t>    final matchSearch = p['name']</a:t>
            </a:r>
          </a:p>
          <a:p>
            <a:pPr rtl="0"/>
            <a:r>
              <a:rPr lang="vi-VN" sz="1200" kern="1200">
                <a:solidFill>
                  <a:schemeClr val="tx1"/>
                </a:solidFill>
                <a:latin typeface="+mn-lt"/>
                <a:ea typeface="+mn-ea"/>
                <a:cs typeface="+mn-cs"/>
              </a:rPr>
              <a:t>        .toString()</a:t>
            </a:r>
          </a:p>
          <a:p>
            <a:pPr rtl="0"/>
            <a:r>
              <a:rPr lang="vi-VN" sz="1200" kern="1200">
                <a:solidFill>
                  <a:schemeClr val="tx1"/>
                </a:solidFill>
                <a:latin typeface="+mn-lt"/>
                <a:ea typeface="+mn-ea"/>
                <a:cs typeface="+mn-cs"/>
              </a:rPr>
              <a:t>        .toLowerCase()</a:t>
            </a:r>
          </a:p>
          <a:p>
            <a:pPr rtl="0"/>
            <a:r>
              <a:rPr lang="vi-VN" sz="1200" kern="1200">
                <a:solidFill>
                  <a:schemeClr val="tx1"/>
                </a:solidFill>
                <a:latin typeface="+mn-lt"/>
                <a:ea typeface="+mn-ea"/>
                <a:cs typeface="+mn-cs"/>
              </a:rPr>
              <a:t>        .contains(searchText.toLowerCase());</a:t>
            </a:r>
          </a:p>
          <a:p>
            <a:pPr rtl="0"/>
            <a:r>
              <a:rPr lang="vi-VN" sz="1200" kern="1200">
                <a:solidFill>
                  <a:schemeClr val="tx1"/>
                </a:solidFill>
                <a:latin typeface="+mn-lt"/>
                <a:ea typeface="+mn-ea"/>
                <a:cs typeface="+mn-cs"/>
              </a:rPr>
              <a:t>    return matchCategory &amp;&amp; matchSearch;</a:t>
            </a:r>
          </a:p>
          <a:p>
            <a:pPr rtl="0"/>
            <a:r>
              <a:rPr lang="vi-VN" sz="1200" kern="1200">
                <a:solidFill>
                  <a:schemeClr val="tx1"/>
                </a:solidFill>
                <a:latin typeface="+mn-lt"/>
                <a:ea typeface="+mn-ea"/>
                <a:cs typeface="+mn-cs"/>
              </a:rPr>
              <a:t>  }).toList();</a:t>
            </a:r>
          </a:p>
          <a:p>
            <a:pPr rtl="0"/>
            <a:r>
              <a:rPr lang="vi-VN" sz="1200" kern="1200">
                <a:solidFill>
                  <a:schemeClr val="tx1"/>
                </a:solidFill>
                <a:latin typeface="+mn-lt"/>
                <a:ea typeface="+mn-ea"/>
                <a:cs typeface="+mn-cs"/>
              </a:rPr>
              <a:t>});</a:t>
            </a:r>
          </a:p>
          <a:p>
            <a:endParaRPr lang="vi-VN"/>
          </a:p>
          <a:p>
            <a:r>
              <a:rPr lang="en-US" b="1"/>
              <a:t>🧠 1️⃣ </a:t>
            </a:r>
            <a:r>
              <a:rPr lang="vi-VN" sz="1200" b="1" kern="1200">
                <a:solidFill>
                  <a:schemeClr val="tx1"/>
                </a:solidFill>
                <a:latin typeface="+mn-lt"/>
                <a:ea typeface="+mn-ea"/>
                <a:cs typeface="+mn-cs"/>
              </a:rPr>
              <a:t>setState(() { ... });</a:t>
            </a:r>
            <a:r>
              <a:rPr lang="vi-VN" b="1"/>
              <a:t> là gì?</a:t>
            </a:r>
          </a:p>
          <a:p>
            <a:r>
              <a:rPr lang="vi-VN" sz="1200" kern="1200">
                <a:solidFill>
                  <a:schemeClr val="tx1"/>
                </a:solidFill>
                <a:latin typeface="+mn-lt"/>
                <a:ea typeface="+mn-ea"/>
                <a:cs typeface="+mn-cs"/>
              </a:rPr>
              <a:t>setState()</a:t>
            </a:r>
            <a:r>
              <a:rPr lang="vi-VN"/>
              <a:t> là </a:t>
            </a:r>
            <a:r>
              <a:rPr lang="vi-VN" b="1"/>
              <a:t>hàm của Flutter</a:t>
            </a:r>
            <a:r>
              <a:rPr lang="vi-VN"/>
              <a:t> (thuộc </a:t>
            </a:r>
            <a:r>
              <a:rPr lang="vi-VN" sz="1200" kern="1200">
                <a:solidFill>
                  <a:schemeClr val="tx1"/>
                </a:solidFill>
                <a:latin typeface="+mn-lt"/>
                <a:ea typeface="+mn-ea"/>
                <a:cs typeface="+mn-cs"/>
              </a:rPr>
              <a:t>StatefulWidget</a:t>
            </a:r>
            <a:r>
              <a:rPr lang="vi-VN"/>
              <a:t>).</a:t>
            </a:r>
          </a:p>
          <a:p>
            <a:r>
              <a:rPr lang="vi-VN"/>
              <a:t>Nó báo cho framework biết rằng </a:t>
            </a:r>
            <a:r>
              <a:rPr lang="vi-VN" b="1"/>
              <a:t>dữ liệu (state)</a:t>
            </a:r>
            <a:r>
              <a:rPr lang="vi-VN"/>
              <a:t> trong widget đã thay đổi.</a:t>
            </a:r>
          </a:p>
          <a:p>
            <a:r>
              <a:rPr lang="vi-VN"/>
              <a:t>Sau khi chạy xong, </a:t>
            </a:r>
            <a:r>
              <a:rPr lang="vi-VN" b="1"/>
              <a:t>Flutter sẽ tự động vẽ lại UI (gọi build() lại)</a:t>
            </a:r>
            <a:r>
              <a:rPr lang="vi-VN"/>
              <a:t> để hiển thị dữ liệu mới.</a:t>
            </a:r>
          </a:p>
          <a:p>
            <a:r>
              <a:rPr lang="en-US"/>
              <a:t>👉 </a:t>
            </a:r>
            <a:r>
              <a:rPr lang="vi-VN"/>
              <a:t>Nếu bạn thay đổi dữ liệu mà không gọi </a:t>
            </a:r>
            <a:r>
              <a:rPr lang="vi-VN" sz="1200" kern="1200">
                <a:solidFill>
                  <a:schemeClr val="tx1"/>
                </a:solidFill>
                <a:latin typeface="+mn-lt"/>
                <a:ea typeface="+mn-ea"/>
                <a:cs typeface="+mn-cs"/>
              </a:rPr>
              <a:t>setState</a:t>
            </a:r>
            <a:r>
              <a:rPr lang="vi-VN"/>
              <a:t>, UI sẽ </a:t>
            </a:r>
            <a:r>
              <a:rPr lang="vi-VN" b="1"/>
              <a:t>không cập nhật</a:t>
            </a:r>
            <a:r>
              <a:rPr lang="vi-VN"/>
              <a:t>.</a:t>
            </a:r>
          </a:p>
          <a:p>
            <a:r>
              <a:rPr lang="en-US" b="1"/>
              <a:t>🧠 2️⃣ </a:t>
            </a:r>
            <a:r>
              <a:rPr lang="vi-VN" sz="1200" b="1" kern="1200">
                <a:solidFill>
                  <a:schemeClr val="tx1"/>
                </a:solidFill>
                <a:latin typeface="+mn-lt"/>
                <a:ea typeface="+mn-ea"/>
                <a:cs typeface="+mn-cs"/>
              </a:rPr>
              <a:t>displayedProducts = dbData.where((p) { ... }).toList();</a:t>
            </a:r>
            <a:endParaRPr lang="vi-VN" b="1"/>
          </a:p>
          <a:p>
            <a:r>
              <a:rPr lang="vi-VN" sz="1200" kern="1200">
                <a:solidFill>
                  <a:schemeClr val="tx1"/>
                </a:solidFill>
                <a:latin typeface="+mn-lt"/>
                <a:ea typeface="+mn-ea"/>
                <a:cs typeface="+mn-cs"/>
              </a:rPr>
              <a:t>dbData</a:t>
            </a:r>
            <a:r>
              <a:rPr lang="vi-VN"/>
              <a:t> là danh sách dữ liệu lấy từ database, kiểu:</a:t>
            </a:r>
            <a:br>
              <a:rPr lang="vi-VN"/>
            </a:br>
            <a:r>
              <a:rPr lang="vi-VN" sz="1200" kern="1200">
                <a:solidFill>
                  <a:schemeClr val="tx1"/>
                </a:solidFill>
                <a:latin typeface="+mn-lt"/>
                <a:ea typeface="+mn-ea"/>
                <a:cs typeface="+mn-cs"/>
              </a:rPr>
              <a:t>List&lt;Map&lt;String, dynamic&gt;&gt;</a:t>
            </a:r>
            <a:r>
              <a:rPr lang="vi-VN"/>
              <a:t> (mỗi </a:t>
            </a:r>
            <a:r>
              <a:rPr lang="vi-VN" sz="1200" kern="1200">
                <a:solidFill>
                  <a:schemeClr val="tx1"/>
                </a:solidFill>
                <a:latin typeface="+mn-lt"/>
                <a:ea typeface="+mn-ea"/>
                <a:cs typeface="+mn-cs"/>
              </a:rPr>
              <a:t>Map</a:t>
            </a:r>
            <a:r>
              <a:rPr lang="vi-VN"/>
              <a:t> là một sản phẩm).</a:t>
            </a:r>
          </a:p>
          <a:p>
            <a:r>
              <a:rPr lang="vi-VN" sz="1200" kern="1200">
                <a:solidFill>
                  <a:schemeClr val="tx1"/>
                </a:solidFill>
                <a:latin typeface="+mn-lt"/>
                <a:ea typeface="+mn-ea"/>
                <a:cs typeface="+mn-cs"/>
              </a:rPr>
              <a:t>.where((p) { ... })</a:t>
            </a:r>
            <a:r>
              <a:rPr lang="vi-VN"/>
              <a:t> là </a:t>
            </a:r>
            <a:r>
              <a:rPr lang="vi-VN" b="1"/>
              <a:t>hàm lọc</a:t>
            </a:r>
            <a:r>
              <a:rPr lang="vi-VN"/>
              <a:t> trong Dart:</a:t>
            </a:r>
          </a:p>
          <a:p>
            <a:pPr lvl="1"/>
            <a:r>
              <a:rPr lang="vi-VN"/>
              <a:t>Nó duyệt qua </a:t>
            </a:r>
            <a:r>
              <a:rPr lang="vi-VN" b="1"/>
              <a:t>từng phần tử </a:t>
            </a:r>
            <a:r>
              <a:rPr lang="vi-VN" sz="1200" b="1" kern="1200">
                <a:solidFill>
                  <a:schemeClr val="tx1"/>
                </a:solidFill>
                <a:latin typeface="+mn-lt"/>
                <a:ea typeface="+mn-ea"/>
                <a:cs typeface="+mn-cs"/>
              </a:rPr>
              <a:t>p</a:t>
            </a:r>
            <a:r>
              <a:rPr lang="vi-VN"/>
              <a:t> trong danh sách </a:t>
            </a:r>
            <a:r>
              <a:rPr lang="vi-VN" sz="1200" kern="1200">
                <a:solidFill>
                  <a:schemeClr val="tx1"/>
                </a:solidFill>
                <a:latin typeface="+mn-lt"/>
                <a:ea typeface="+mn-ea"/>
                <a:cs typeface="+mn-cs"/>
              </a:rPr>
              <a:t>dbData</a:t>
            </a:r>
            <a:r>
              <a:rPr lang="vi-VN"/>
              <a:t>.</a:t>
            </a:r>
          </a:p>
          <a:p>
            <a:pPr lvl="1"/>
            <a:r>
              <a:rPr lang="vi-VN"/>
              <a:t>Với mỗi </a:t>
            </a:r>
            <a:r>
              <a:rPr lang="vi-VN" sz="1200" kern="1200">
                <a:solidFill>
                  <a:schemeClr val="tx1"/>
                </a:solidFill>
                <a:latin typeface="+mn-lt"/>
                <a:ea typeface="+mn-ea"/>
                <a:cs typeface="+mn-cs"/>
              </a:rPr>
              <a:t>p</a:t>
            </a:r>
            <a:r>
              <a:rPr lang="vi-VN"/>
              <a:t>, nó kiểm tra điều kiện trong </a:t>
            </a:r>
            <a:r>
              <a:rPr lang="vi-VN" sz="1200" kern="1200">
                <a:solidFill>
                  <a:schemeClr val="tx1"/>
                </a:solidFill>
                <a:latin typeface="+mn-lt"/>
                <a:ea typeface="+mn-ea"/>
                <a:cs typeface="+mn-cs"/>
              </a:rPr>
              <a:t>{ ... }</a:t>
            </a:r>
            <a:r>
              <a:rPr lang="vi-VN"/>
              <a:t>.</a:t>
            </a:r>
          </a:p>
          <a:p>
            <a:pPr lvl="1"/>
            <a:r>
              <a:rPr lang="vi-VN"/>
              <a:t>Nếu điều kiện trả về </a:t>
            </a:r>
            <a:r>
              <a:rPr lang="vi-VN" sz="1200" kern="1200">
                <a:solidFill>
                  <a:schemeClr val="tx1"/>
                </a:solidFill>
                <a:latin typeface="+mn-lt"/>
                <a:ea typeface="+mn-ea"/>
                <a:cs typeface="+mn-cs"/>
              </a:rPr>
              <a:t>true</a:t>
            </a:r>
            <a:r>
              <a:rPr lang="vi-VN"/>
              <a:t> → phần tử đó được giữ lại.</a:t>
            </a:r>
          </a:p>
          <a:p>
            <a:pPr lvl="1"/>
            <a:r>
              <a:rPr lang="vi-VN"/>
              <a:t>Nếu </a:t>
            </a:r>
            <a:r>
              <a:rPr lang="vi-VN" sz="1200" kern="1200">
                <a:solidFill>
                  <a:schemeClr val="tx1"/>
                </a:solidFill>
                <a:latin typeface="+mn-lt"/>
                <a:ea typeface="+mn-ea"/>
                <a:cs typeface="+mn-cs"/>
              </a:rPr>
              <a:t>false</a:t>
            </a:r>
            <a:r>
              <a:rPr lang="vi-VN"/>
              <a:t> → bị loại bỏ.</a:t>
            </a:r>
          </a:p>
          <a:p>
            <a:r>
              <a:rPr lang="vi-VN"/>
              <a:t>Cuối cùng </a:t>
            </a:r>
            <a:r>
              <a:rPr lang="vi-VN" sz="1200" kern="1200">
                <a:solidFill>
                  <a:schemeClr val="tx1"/>
                </a:solidFill>
                <a:latin typeface="+mn-lt"/>
                <a:ea typeface="+mn-ea"/>
                <a:cs typeface="+mn-cs"/>
              </a:rPr>
              <a:t>.toList()</a:t>
            </a:r>
            <a:r>
              <a:rPr lang="vi-VN"/>
              <a:t> chuyển kết quả lọc (kiểu Iterable) thành một </a:t>
            </a:r>
            <a:r>
              <a:rPr lang="vi-VN" sz="1200" kern="1200">
                <a:solidFill>
                  <a:schemeClr val="tx1"/>
                </a:solidFill>
                <a:latin typeface="+mn-lt"/>
                <a:ea typeface="+mn-ea"/>
                <a:cs typeface="+mn-cs"/>
              </a:rPr>
              <a:t>List</a:t>
            </a:r>
            <a:r>
              <a:rPr lang="vi-VN"/>
              <a:t> bình thường.</a:t>
            </a:r>
          </a:p>
          <a:p>
            <a:r>
              <a:rPr lang="en-US" b="1"/>
              <a:t>🧠 3️⃣ </a:t>
            </a:r>
            <a:r>
              <a:rPr lang="vi-VN" b="1"/>
              <a:t>Bên trong </a:t>
            </a:r>
            <a:r>
              <a:rPr lang="vi-VN" sz="1200" b="1" kern="1200">
                <a:solidFill>
                  <a:schemeClr val="tx1"/>
                </a:solidFill>
                <a:latin typeface="+mn-lt"/>
                <a:ea typeface="+mn-ea"/>
                <a:cs typeface="+mn-cs"/>
              </a:rPr>
              <a:t>(p) { ... }</a:t>
            </a:r>
            <a:endParaRPr lang="vi-VN" b="1"/>
          </a:p>
          <a:p>
            <a:r>
              <a:rPr lang="vi-VN"/>
              <a:t>Đây là phần </a:t>
            </a:r>
            <a:r>
              <a:rPr lang="vi-VN" b="1"/>
              <a:t>điều kiện lọc</a:t>
            </a:r>
            <a:r>
              <a:rPr lang="vi-VN"/>
              <a:t> sản phẩm — gồm 2 điều kiện nhỏ:</a:t>
            </a:r>
          </a:p>
          <a:p>
            <a:r>
              <a:rPr lang="en-US" b="1"/>
              <a:t>🔹 (</a:t>
            </a:r>
            <a:r>
              <a:rPr lang="vi-VN" b="1"/>
              <a:t>a) Lọc theo danh mục:</a:t>
            </a:r>
          </a:p>
          <a:p>
            <a:pPr rtl="0"/>
            <a:r>
              <a:rPr lang="vi-VN" sz="1200" kern="1200">
                <a:solidFill>
                  <a:schemeClr val="tx1"/>
                </a:solidFill>
                <a:latin typeface="+mn-lt"/>
                <a:ea typeface="+mn-ea"/>
                <a:cs typeface="+mn-cs"/>
              </a:rPr>
              <a:t>final matchCategory =</a:t>
            </a:r>
          </a:p>
          <a:p>
            <a:pPr rtl="0"/>
            <a:r>
              <a:rPr lang="vi-VN" sz="1200" kern="1200">
                <a:solidFill>
                  <a:schemeClr val="tx1"/>
                </a:solidFill>
                <a:latin typeface="+mn-lt"/>
                <a:ea typeface="+mn-ea"/>
                <a:cs typeface="+mn-cs"/>
              </a:rPr>
              <a:t>    (filterCategory == 0 || p['category_id'] == filterCategory);</a:t>
            </a:r>
          </a:p>
          <a:p>
            <a:r>
              <a:rPr lang="vi-VN" sz="1200" kern="1200">
                <a:solidFill>
                  <a:schemeClr val="tx1"/>
                </a:solidFill>
                <a:latin typeface="+mn-lt"/>
                <a:ea typeface="+mn-ea"/>
                <a:cs typeface="+mn-cs"/>
              </a:rPr>
              <a:t>filterCategory</a:t>
            </a:r>
            <a:r>
              <a:rPr lang="vi-VN"/>
              <a:t> là </a:t>
            </a:r>
            <a:r>
              <a:rPr lang="vi-VN" b="1"/>
              <a:t>ID danh mục đang chọn trên UI</a:t>
            </a:r>
            <a:r>
              <a:rPr lang="vi-VN"/>
              <a:t>:</a:t>
            </a:r>
          </a:p>
          <a:p>
            <a:pPr lvl="1"/>
            <a:r>
              <a:rPr lang="vi-VN"/>
              <a:t>Nếu </a:t>
            </a:r>
            <a:r>
              <a:rPr lang="vi-VN" sz="1200" kern="1200">
                <a:solidFill>
                  <a:schemeClr val="tx1"/>
                </a:solidFill>
                <a:latin typeface="+mn-lt"/>
                <a:ea typeface="+mn-ea"/>
                <a:cs typeface="+mn-cs"/>
              </a:rPr>
              <a:t>filterCategory == 0</a:t>
            </a:r>
            <a:r>
              <a:rPr lang="vi-VN"/>
              <a:t> nghĩa là chọn “All” → không lọc danh mục nào cả.</a:t>
            </a:r>
          </a:p>
          <a:p>
            <a:pPr lvl="1"/>
            <a:r>
              <a:rPr lang="vi-VN"/>
              <a:t>Còn nếu khác 0 → chỉ lấy sản phẩm có </a:t>
            </a:r>
            <a:r>
              <a:rPr lang="vi-VN" sz="1200" kern="1200">
                <a:solidFill>
                  <a:schemeClr val="tx1"/>
                </a:solidFill>
                <a:latin typeface="+mn-lt"/>
                <a:ea typeface="+mn-ea"/>
                <a:cs typeface="+mn-cs"/>
              </a:rPr>
              <a:t>p['category_id']</a:t>
            </a:r>
            <a:r>
              <a:rPr lang="vi-VN"/>
              <a:t> đúng bằng giá trị đó.</a:t>
            </a:r>
          </a:p>
          <a:p>
            <a:r>
              <a:rPr lang="en-US"/>
              <a:t>✅ </a:t>
            </a:r>
            <a:r>
              <a:rPr lang="vi-VN"/>
              <a:t>Kết quả:</a:t>
            </a:r>
          </a:p>
          <a:p>
            <a:r>
              <a:rPr lang="vi-VN" sz="1200" kern="1200">
                <a:solidFill>
                  <a:schemeClr val="tx1"/>
                </a:solidFill>
                <a:latin typeface="+mn-lt"/>
                <a:ea typeface="+mn-ea"/>
                <a:cs typeface="+mn-cs"/>
              </a:rPr>
              <a:t>matchCategory = true</a:t>
            </a:r>
            <a:r>
              <a:rPr lang="vi-VN"/>
              <a:t> → sản phẩm hợp danh mục.</a:t>
            </a:r>
          </a:p>
          <a:p>
            <a:r>
              <a:rPr lang="vi-VN" sz="1200" kern="1200">
                <a:solidFill>
                  <a:schemeClr val="tx1"/>
                </a:solidFill>
                <a:latin typeface="+mn-lt"/>
                <a:ea typeface="+mn-ea"/>
                <a:cs typeface="+mn-cs"/>
              </a:rPr>
              <a:t>matchCategory = false</a:t>
            </a:r>
            <a:r>
              <a:rPr lang="vi-VN"/>
              <a:t> → sản phẩm bị loại.</a:t>
            </a:r>
          </a:p>
          <a:p>
            <a:r>
              <a:rPr lang="en-US" b="1"/>
              <a:t>🔹 (</a:t>
            </a:r>
            <a:r>
              <a:rPr lang="vi-VN" b="1"/>
              <a:t>b) Lọc theo ô tìm kiếm:</a:t>
            </a:r>
          </a:p>
          <a:p>
            <a:pPr rtl="0"/>
            <a:r>
              <a:rPr lang="vi-VN" sz="1200" kern="1200">
                <a:solidFill>
                  <a:schemeClr val="tx1"/>
                </a:solidFill>
                <a:latin typeface="+mn-lt"/>
                <a:ea typeface="+mn-ea"/>
                <a:cs typeface="+mn-cs"/>
              </a:rPr>
              <a:t>final matchSearch = p['name']</a:t>
            </a:r>
          </a:p>
          <a:p>
            <a:pPr rtl="0"/>
            <a:r>
              <a:rPr lang="vi-VN" sz="1200" kern="1200">
                <a:solidFill>
                  <a:schemeClr val="tx1"/>
                </a:solidFill>
                <a:latin typeface="+mn-lt"/>
                <a:ea typeface="+mn-ea"/>
                <a:cs typeface="+mn-cs"/>
              </a:rPr>
              <a:t>    .toString()</a:t>
            </a:r>
          </a:p>
          <a:p>
            <a:pPr rtl="0"/>
            <a:r>
              <a:rPr lang="vi-VN" sz="1200" kern="1200">
                <a:solidFill>
                  <a:schemeClr val="tx1"/>
                </a:solidFill>
                <a:latin typeface="+mn-lt"/>
                <a:ea typeface="+mn-ea"/>
                <a:cs typeface="+mn-cs"/>
              </a:rPr>
              <a:t>    .toLowerCase()</a:t>
            </a:r>
          </a:p>
          <a:p>
            <a:pPr rtl="0"/>
            <a:r>
              <a:rPr lang="vi-VN" sz="1200" kern="1200">
                <a:solidFill>
                  <a:schemeClr val="tx1"/>
                </a:solidFill>
                <a:latin typeface="+mn-lt"/>
                <a:ea typeface="+mn-ea"/>
                <a:cs typeface="+mn-cs"/>
              </a:rPr>
              <a:t>    .contains(searchText.toLowerCase());</a:t>
            </a:r>
          </a:p>
          <a:p>
            <a:r>
              <a:rPr lang="vi-VN" sz="1200" kern="1200">
                <a:solidFill>
                  <a:schemeClr val="tx1"/>
                </a:solidFill>
                <a:latin typeface="+mn-lt"/>
                <a:ea typeface="+mn-ea"/>
                <a:cs typeface="+mn-cs"/>
              </a:rPr>
              <a:t>p['name']</a:t>
            </a:r>
            <a:r>
              <a:rPr lang="vi-VN"/>
              <a:t>: lấy tên sản phẩm từ map.</a:t>
            </a:r>
          </a:p>
          <a:p>
            <a:r>
              <a:rPr lang="vi-VN" sz="1200" kern="1200">
                <a:solidFill>
                  <a:schemeClr val="tx1"/>
                </a:solidFill>
                <a:latin typeface="+mn-lt"/>
                <a:ea typeface="+mn-ea"/>
                <a:cs typeface="+mn-cs"/>
              </a:rPr>
              <a:t>.toString()</a:t>
            </a:r>
            <a:r>
              <a:rPr lang="vi-VN"/>
              <a:t>: đảm bảo kiểu chuỗi.</a:t>
            </a:r>
          </a:p>
          <a:p>
            <a:r>
              <a:rPr lang="vi-VN" sz="1200" kern="1200">
                <a:solidFill>
                  <a:schemeClr val="tx1"/>
                </a:solidFill>
                <a:latin typeface="+mn-lt"/>
                <a:ea typeface="+mn-ea"/>
                <a:cs typeface="+mn-cs"/>
              </a:rPr>
              <a:t>.toLowerCase()</a:t>
            </a:r>
            <a:r>
              <a:rPr lang="vi-VN"/>
              <a:t>: chuyển hết thành chữ thường → để so sánh </a:t>
            </a:r>
            <a:r>
              <a:rPr lang="vi-VN" b="1"/>
              <a:t>không phân biệt hoa/thường</a:t>
            </a:r>
            <a:r>
              <a:rPr lang="vi-VN"/>
              <a:t>.</a:t>
            </a:r>
          </a:p>
          <a:p>
            <a:r>
              <a:rPr lang="vi-VN" sz="1200" kern="1200">
                <a:solidFill>
                  <a:schemeClr val="tx1"/>
                </a:solidFill>
                <a:latin typeface="+mn-lt"/>
                <a:ea typeface="+mn-ea"/>
                <a:cs typeface="+mn-cs"/>
              </a:rPr>
              <a:t>.contains(searchText.toLowerCase())</a:t>
            </a:r>
            <a:r>
              <a:rPr lang="vi-VN"/>
              <a:t>: kiểm tra xem tên sản phẩm có chứa chuỗi người dùng đang tìm không.</a:t>
            </a:r>
          </a:p>
          <a:p>
            <a:endParaRPr lang="en-US"/>
          </a:p>
          <a:p>
            <a:endParaRPr lang="en-US"/>
          </a:p>
        </p:txBody>
      </p:sp>
      <p:sp>
        <p:nvSpPr>
          <p:cNvPr id="4" name="Slide Number Placeholder 3">
            <a:extLst>
              <a:ext uri="{FF2B5EF4-FFF2-40B4-BE49-F238E27FC236}">
                <a16:creationId xmlns:a16="http://schemas.microsoft.com/office/drawing/2014/main" id="{CB5DFAF2-EA21-C90D-391C-B0B9F7133CC2}"/>
              </a:ext>
            </a:extLst>
          </p:cNvPr>
          <p:cNvSpPr>
            <a:spLocks noGrp="1"/>
          </p:cNvSpPr>
          <p:nvPr>
            <p:ph type="sldNum" sz="quarter" idx="5"/>
          </p:nvPr>
        </p:nvSpPr>
        <p:spPr/>
        <p:txBody>
          <a:bodyPr/>
          <a:lstStyle/>
          <a:p>
            <a:fld id="{1983A999-5E0E-42CA-8400-604AE921FF7C}" type="slidenum">
              <a:rPr lang="en-US" smtClean="0"/>
              <a:t>44</a:t>
            </a:fld>
            <a:endParaRPr lang="en-US"/>
          </a:p>
        </p:txBody>
      </p:sp>
    </p:spTree>
    <p:extLst>
      <p:ext uri="{BB962C8B-B14F-4D97-AF65-F5344CB8AC3E}">
        <p14:creationId xmlns:p14="http://schemas.microsoft.com/office/powerpoint/2010/main" val="9097012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928F1-B0B0-A1EB-15DB-9C47DDE0A6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53BE31-3C46-B6CE-F873-073F79BEED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36E2B6-32E2-3AC2-D89A-04715334EBF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2A6C772-533F-A740-26D1-09B1B3D6A93C}"/>
              </a:ext>
            </a:extLst>
          </p:cNvPr>
          <p:cNvSpPr>
            <a:spLocks noGrp="1"/>
          </p:cNvSpPr>
          <p:nvPr>
            <p:ph type="sldNum" sz="quarter" idx="5"/>
          </p:nvPr>
        </p:nvSpPr>
        <p:spPr/>
        <p:txBody>
          <a:bodyPr/>
          <a:lstStyle/>
          <a:p>
            <a:fld id="{1983A999-5E0E-42CA-8400-604AE921FF7C}" type="slidenum">
              <a:rPr lang="en-US" smtClean="0"/>
              <a:t>45</a:t>
            </a:fld>
            <a:endParaRPr lang="en-US"/>
          </a:p>
        </p:txBody>
      </p:sp>
    </p:spTree>
    <p:extLst>
      <p:ext uri="{BB962C8B-B14F-4D97-AF65-F5344CB8AC3E}">
        <p14:creationId xmlns:p14="http://schemas.microsoft.com/office/powerpoint/2010/main" val="261337043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DF970-E963-037A-CF8C-D32CBFC7DD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FDD870-D20E-6966-AFA5-DE542AEF3D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7827AD-9569-4A59-35E2-FD68784B35C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5CDFB8D-54A9-E689-29F7-B6EC14544A4E}"/>
              </a:ext>
            </a:extLst>
          </p:cNvPr>
          <p:cNvSpPr>
            <a:spLocks noGrp="1"/>
          </p:cNvSpPr>
          <p:nvPr>
            <p:ph type="sldNum" sz="quarter" idx="5"/>
          </p:nvPr>
        </p:nvSpPr>
        <p:spPr/>
        <p:txBody>
          <a:bodyPr/>
          <a:lstStyle/>
          <a:p>
            <a:fld id="{1983A999-5E0E-42CA-8400-604AE921FF7C}" type="slidenum">
              <a:rPr lang="en-US" smtClean="0"/>
              <a:t>46</a:t>
            </a:fld>
            <a:endParaRPr lang="en-US"/>
          </a:p>
        </p:txBody>
      </p:sp>
    </p:spTree>
    <p:extLst>
      <p:ext uri="{BB962C8B-B14F-4D97-AF65-F5344CB8AC3E}">
        <p14:creationId xmlns:p14="http://schemas.microsoft.com/office/powerpoint/2010/main" val="330157005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929F1-7482-022E-6A73-B09CF2F847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3C0EED-4752-76F9-0C20-28ADFF772C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8AEB0D-7738-9ED2-82CA-B4DC3EE569F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21B7EB4-946A-DA11-E59D-8997913086DD}"/>
              </a:ext>
            </a:extLst>
          </p:cNvPr>
          <p:cNvSpPr>
            <a:spLocks noGrp="1"/>
          </p:cNvSpPr>
          <p:nvPr>
            <p:ph type="sldNum" sz="quarter" idx="5"/>
          </p:nvPr>
        </p:nvSpPr>
        <p:spPr/>
        <p:txBody>
          <a:bodyPr/>
          <a:lstStyle/>
          <a:p>
            <a:fld id="{1983A999-5E0E-42CA-8400-604AE921FF7C}" type="slidenum">
              <a:rPr lang="en-US" smtClean="0"/>
              <a:t>48</a:t>
            </a:fld>
            <a:endParaRPr lang="en-US"/>
          </a:p>
        </p:txBody>
      </p:sp>
    </p:spTree>
    <p:extLst>
      <p:ext uri="{BB962C8B-B14F-4D97-AF65-F5344CB8AC3E}">
        <p14:creationId xmlns:p14="http://schemas.microsoft.com/office/powerpoint/2010/main" val="394824028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CCE88-DAD0-B436-2B6C-5E58D394AF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94475A-668F-F8E1-AEBA-A1E40180FB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715F46-E6A5-4CC5-488C-49A77F30D16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1229768-0BEB-2428-6436-0B6BBA400156}"/>
              </a:ext>
            </a:extLst>
          </p:cNvPr>
          <p:cNvSpPr>
            <a:spLocks noGrp="1"/>
          </p:cNvSpPr>
          <p:nvPr>
            <p:ph type="sldNum" sz="quarter" idx="5"/>
          </p:nvPr>
        </p:nvSpPr>
        <p:spPr/>
        <p:txBody>
          <a:bodyPr/>
          <a:lstStyle/>
          <a:p>
            <a:fld id="{1983A999-5E0E-42CA-8400-604AE921FF7C}" type="slidenum">
              <a:rPr lang="en-US" smtClean="0"/>
              <a:t>49</a:t>
            </a:fld>
            <a:endParaRPr lang="en-US"/>
          </a:p>
        </p:txBody>
      </p:sp>
    </p:spTree>
    <p:extLst>
      <p:ext uri="{BB962C8B-B14F-4D97-AF65-F5344CB8AC3E}">
        <p14:creationId xmlns:p14="http://schemas.microsoft.com/office/powerpoint/2010/main" val="61258229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95FF1-7845-2CB4-93A8-57EBA04C72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281D09-4BAA-41FD-2EFF-7B9B6469B3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6B28DF-C5A4-293C-50B7-B32C0D5FD4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AFFD6D-7860-0D35-99AD-9803A5CF9D76}"/>
              </a:ext>
            </a:extLst>
          </p:cNvPr>
          <p:cNvSpPr>
            <a:spLocks noGrp="1"/>
          </p:cNvSpPr>
          <p:nvPr>
            <p:ph type="sldNum" sz="quarter" idx="5"/>
          </p:nvPr>
        </p:nvSpPr>
        <p:spPr/>
        <p:txBody>
          <a:bodyPr/>
          <a:lstStyle/>
          <a:p>
            <a:fld id="{1983A999-5E0E-42CA-8400-604AE921FF7C}" type="slidenum">
              <a:rPr lang="en-US" smtClean="0"/>
              <a:t>50</a:t>
            </a:fld>
            <a:endParaRPr lang="en-US"/>
          </a:p>
        </p:txBody>
      </p:sp>
    </p:spTree>
    <p:extLst>
      <p:ext uri="{BB962C8B-B14F-4D97-AF65-F5344CB8AC3E}">
        <p14:creationId xmlns:p14="http://schemas.microsoft.com/office/powerpoint/2010/main" val="229613702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5DBC7-5025-D284-11DD-DE7C408706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92E698-A89B-3BFE-7453-DF0A074A07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5B3196-FF79-C0F9-1CC0-AA04BBA8CFE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C0ECE35-6B5A-0290-428D-50B39E892A55}"/>
              </a:ext>
            </a:extLst>
          </p:cNvPr>
          <p:cNvSpPr>
            <a:spLocks noGrp="1"/>
          </p:cNvSpPr>
          <p:nvPr>
            <p:ph type="sldNum" sz="quarter" idx="5"/>
          </p:nvPr>
        </p:nvSpPr>
        <p:spPr/>
        <p:txBody>
          <a:bodyPr/>
          <a:lstStyle/>
          <a:p>
            <a:fld id="{1983A999-5E0E-42CA-8400-604AE921FF7C}" type="slidenum">
              <a:rPr lang="en-US" smtClean="0"/>
              <a:t>51</a:t>
            </a:fld>
            <a:endParaRPr lang="en-US"/>
          </a:p>
        </p:txBody>
      </p:sp>
    </p:spTree>
    <p:extLst>
      <p:ext uri="{BB962C8B-B14F-4D97-AF65-F5344CB8AC3E}">
        <p14:creationId xmlns:p14="http://schemas.microsoft.com/office/powerpoint/2010/main" val="165738390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5388E-F607-84CB-F15A-C6B1ACECE9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9FB67A-2E75-85A1-6FE8-B69380C8C8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3BBAD3-E060-58BD-BA15-BC269FD7AC1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3EAC118-0235-F491-7412-32BD81D50C0E}"/>
              </a:ext>
            </a:extLst>
          </p:cNvPr>
          <p:cNvSpPr>
            <a:spLocks noGrp="1"/>
          </p:cNvSpPr>
          <p:nvPr>
            <p:ph type="sldNum" sz="quarter" idx="5"/>
          </p:nvPr>
        </p:nvSpPr>
        <p:spPr/>
        <p:txBody>
          <a:bodyPr/>
          <a:lstStyle/>
          <a:p>
            <a:fld id="{1983A999-5E0E-42CA-8400-604AE921FF7C}" type="slidenum">
              <a:rPr lang="en-US" smtClean="0"/>
              <a:t>52</a:t>
            </a:fld>
            <a:endParaRPr lang="en-US"/>
          </a:p>
        </p:txBody>
      </p:sp>
    </p:spTree>
    <p:extLst>
      <p:ext uri="{BB962C8B-B14F-4D97-AF65-F5344CB8AC3E}">
        <p14:creationId xmlns:p14="http://schemas.microsoft.com/office/powerpoint/2010/main" val="26979343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A6459-EBB3-BD90-C7C1-1D55F7F2FC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9B44CD-75CB-614D-A08D-CA5C8A032D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862726-63EF-C1B9-347D-5ACB84BB97B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47B7798-E403-B4A0-2229-63EBEDC43B22}"/>
              </a:ext>
            </a:extLst>
          </p:cNvPr>
          <p:cNvSpPr>
            <a:spLocks noGrp="1"/>
          </p:cNvSpPr>
          <p:nvPr>
            <p:ph type="sldNum" sz="quarter" idx="5"/>
          </p:nvPr>
        </p:nvSpPr>
        <p:spPr/>
        <p:txBody>
          <a:bodyPr/>
          <a:lstStyle/>
          <a:p>
            <a:fld id="{1983A999-5E0E-42CA-8400-604AE921FF7C}" type="slidenum">
              <a:rPr lang="en-US" smtClean="0"/>
              <a:t>53</a:t>
            </a:fld>
            <a:endParaRPr lang="en-US"/>
          </a:p>
        </p:txBody>
      </p:sp>
    </p:spTree>
    <p:extLst>
      <p:ext uri="{BB962C8B-B14F-4D97-AF65-F5344CB8AC3E}">
        <p14:creationId xmlns:p14="http://schemas.microsoft.com/office/powerpoint/2010/main" val="260039910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DEBBE-6CA3-5341-48D8-61B30C4B12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74B153-48D7-E4D7-DADD-1FA8DA624A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653BFD-C93F-F97C-56FD-F18F65F491C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F1D994-3521-E88B-542B-D3A5BC33BF50}"/>
              </a:ext>
            </a:extLst>
          </p:cNvPr>
          <p:cNvSpPr>
            <a:spLocks noGrp="1"/>
          </p:cNvSpPr>
          <p:nvPr>
            <p:ph type="sldNum" sz="quarter" idx="5"/>
          </p:nvPr>
        </p:nvSpPr>
        <p:spPr/>
        <p:txBody>
          <a:bodyPr/>
          <a:lstStyle/>
          <a:p>
            <a:fld id="{1983A999-5E0E-42CA-8400-604AE921FF7C}" type="slidenum">
              <a:rPr lang="en-US" smtClean="0"/>
              <a:t>54</a:t>
            </a:fld>
            <a:endParaRPr lang="en-US"/>
          </a:p>
        </p:txBody>
      </p:sp>
    </p:spTree>
    <p:extLst>
      <p:ext uri="{BB962C8B-B14F-4D97-AF65-F5344CB8AC3E}">
        <p14:creationId xmlns:p14="http://schemas.microsoft.com/office/powerpoint/2010/main" val="35177362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FC2DF-AD59-BA21-45A0-5636632580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5A220F9-825E-EBA7-975B-92249164CB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FE6622-75CD-58B2-692D-485316D5AD70}"/>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5" name="Footer Placeholder 4">
            <a:extLst>
              <a:ext uri="{FF2B5EF4-FFF2-40B4-BE49-F238E27FC236}">
                <a16:creationId xmlns:a16="http://schemas.microsoft.com/office/drawing/2014/main" id="{FCD16CFD-451F-D904-B819-34EEC0C804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E1421B-3958-273C-D463-1C33A36F5EDB}"/>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35530894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6242C-C56A-529B-3227-9BC648B02E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B69325-BF98-2E44-1CBE-114B24169B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35CAA4-A9F6-8FF5-1D56-A7FD23A60D23}"/>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5" name="Footer Placeholder 4">
            <a:extLst>
              <a:ext uri="{FF2B5EF4-FFF2-40B4-BE49-F238E27FC236}">
                <a16:creationId xmlns:a16="http://schemas.microsoft.com/office/drawing/2014/main" id="{D46C40E4-2976-C1C0-D98B-12A58CEDD1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C758F6-6636-0BBC-BC4B-8D4DE6E5BA49}"/>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1112396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8EB92-59A5-3A12-83E7-77A7C1C279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DFA4BCE-FC7F-795F-04D4-74035544DB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041891-F0A0-02D3-9718-EB409FDE9812}"/>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5" name="Footer Placeholder 4">
            <a:extLst>
              <a:ext uri="{FF2B5EF4-FFF2-40B4-BE49-F238E27FC236}">
                <a16:creationId xmlns:a16="http://schemas.microsoft.com/office/drawing/2014/main" id="{BF55CD21-F184-4FEC-91A9-5F885F510F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1651B0-DE57-5065-4E23-CD4083487584}"/>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4138818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34C8C-A552-E1B8-5CED-4A6FC9BBED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5DA19F-B367-8645-4B1B-648809A258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71C267E-E9C4-0FAD-4CEE-F4EDE76E4A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8A8D210-ABD0-435E-2D41-CCDEF29E1049}"/>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6" name="Footer Placeholder 5">
            <a:extLst>
              <a:ext uri="{FF2B5EF4-FFF2-40B4-BE49-F238E27FC236}">
                <a16:creationId xmlns:a16="http://schemas.microsoft.com/office/drawing/2014/main" id="{765FEAAD-1F9A-B7F1-BB17-330CE6AE2B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1BF552-0A52-0E6E-3ACD-6D406635639D}"/>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2598556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1749C-B5B0-18E1-456F-FA3241C9483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A244283-8C06-D314-DF58-22865D65E2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01A9BC-B6ED-7382-A643-6E3341D274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AB02CAE-FF42-AACF-3547-5521D48E6B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CEFE22-3F79-DD21-0F3B-8C226FBA7D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F44DBA-963E-F373-B2F0-5CAF5064AB80}"/>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8" name="Footer Placeholder 7">
            <a:extLst>
              <a:ext uri="{FF2B5EF4-FFF2-40B4-BE49-F238E27FC236}">
                <a16:creationId xmlns:a16="http://schemas.microsoft.com/office/drawing/2014/main" id="{8E3D7299-A004-88B0-77C9-60E04AEC629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257567F-FECB-BBF5-F577-627B9DAE8555}"/>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3436609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5B8A6-3A0F-7BA0-5BB5-53CF3CEE40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0156972-7139-0404-826C-1F9B81CB4727}"/>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4" name="Footer Placeholder 3">
            <a:extLst>
              <a:ext uri="{FF2B5EF4-FFF2-40B4-BE49-F238E27FC236}">
                <a16:creationId xmlns:a16="http://schemas.microsoft.com/office/drawing/2014/main" id="{97DDAD1F-FCD3-9E1C-A7FC-5A25F8B6FA2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A46738C-9C11-ED2A-6F7F-518F2CC1D84A}"/>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1672641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5CBE7B-9B70-F7A3-C331-D3E9383EA5FC}"/>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3" name="Footer Placeholder 2">
            <a:extLst>
              <a:ext uri="{FF2B5EF4-FFF2-40B4-BE49-F238E27FC236}">
                <a16:creationId xmlns:a16="http://schemas.microsoft.com/office/drawing/2014/main" id="{50DD5ED7-A62F-7F6D-4BAA-92862C9CA9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02842C7-42E9-2395-3413-B6DA2AB8B684}"/>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3060103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DB4A4-EEC4-65FB-54AB-82026BE570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383EE4-893B-0948-9607-393AE363F0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848EA3-D817-CBE0-9665-9616007DA1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843703-68E3-A2A8-7364-BC3B0E2912B4}"/>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6" name="Footer Placeholder 5">
            <a:extLst>
              <a:ext uri="{FF2B5EF4-FFF2-40B4-BE49-F238E27FC236}">
                <a16:creationId xmlns:a16="http://schemas.microsoft.com/office/drawing/2014/main" id="{FA03C6F2-FDFF-46E5-4E07-22578E72F2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033E53-257F-0AC9-30D0-5813256F4E0C}"/>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2438137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DDD3B-4904-4C46-E095-32C1B89D6B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59F9C02-F143-DE81-47C0-03542BE937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6F03D39-814D-EA95-4702-4D5B46465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7A0E70-711B-C68B-4519-55B4C98488FF}"/>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6" name="Footer Placeholder 5">
            <a:extLst>
              <a:ext uri="{FF2B5EF4-FFF2-40B4-BE49-F238E27FC236}">
                <a16:creationId xmlns:a16="http://schemas.microsoft.com/office/drawing/2014/main" id="{A5FBC0D2-15A5-CD11-B5B3-EDDB8BBC4E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CED68B-78DA-013F-1536-0328B8AE64B5}"/>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11216092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BC8B7-A30A-55A3-3BB4-D534BD0797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0BADF8-4627-98D1-ADCE-2677418C5D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216E60-4948-760B-F804-94CF86328CBD}"/>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5" name="Footer Placeholder 4">
            <a:extLst>
              <a:ext uri="{FF2B5EF4-FFF2-40B4-BE49-F238E27FC236}">
                <a16:creationId xmlns:a16="http://schemas.microsoft.com/office/drawing/2014/main" id="{34655C7A-42F2-732D-AD82-E129679B40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554144-DAEF-0B16-B47B-B8D8726BD802}"/>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1576939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AB9052-1E45-497B-3488-2D72695981E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378A5AC-D35C-1906-B063-C62DACE9E3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50342B-0C03-B48A-AFC6-3C549F760678}"/>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5" name="Footer Placeholder 4">
            <a:extLst>
              <a:ext uri="{FF2B5EF4-FFF2-40B4-BE49-F238E27FC236}">
                <a16:creationId xmlns:a16="http://schemas.microsoft.com/office/drawing/2014/main" id="{C162B235-4915-5EC3-119E-D749C8E0BE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793520-8EFA-4DB6-09BC-1B39224186DC}"/>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14734906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E68F591-F3C7-4872-BBA0-0693794F4F11}"/>
              </a:ext>
            </a:extLst>
          </p:cNvPr>
          <p:cNvSpPr>
            <a:spLocks noGrp="1"/>
          </p:cNvSpPr>
          <p:nvPr>
            <p:ph type="ctrTitle" hasCustomPrompt="1"/>
          </p:nvPr>
        </p:nvSpPr>
        <p:spPr>
          <a:xfrm>
            <a:off x="7999414" y="1051551"/>
            <a:ext cx="3565524" cy="2384898"/>
          </a:xfrm>
        </p:spPr>
        <p:txBody>
          <a:bodyPr anchor="b" anchorCtr="0">
            <a:noAutofit/>
          </a:bodyPr>
          <a:lstStyle/>
          <a:p>
            <a:r>
              <a:rPr lang="en-US" sz="4800" dirty="0"/>
              <a:t>3DFloat</a:t>
            </a:r>
          </a:p>
        </p:txBody>
      </p:sp>
      <p:sp>
        <p:nvSpPr>
          <p:cNvPr id="14" name="Picture Placeholder 13">
            <a:extLst>
              <a:ext uri="{FF2B5EF4-FFF2-40B4-BE49-F238E27FC236}">
                <a16:creationId xmlns:a16="http://schemas.microsoft.com/office/drawing/2014/main" id="{967766A8-18D5-4391-8DB7-7BFF6427636C}"/>
              </a:ext>
            </a:extLst>
          </p:cNvPr>
          <p:cNvSpPr>
            <a:spLocks noGrp="1"/>
          </p:cNvSpPr>
          <p:nvPr>
            <p:ph type="pic" sz="quarter" idx="13"/>
          </p:nvPr>
        </p:nvSpPr>
        <p:spPr>
          <a:xfrm>
            <a:off x="0" y="0"/>
            <a:ext cx="7452360" cy="6858000"/>
          </a:xfrm>
          <a:solidFill>
            <a:schemeClr val="accent5"/>
          </a:solidFill>
        </p:spPr>
        <p:txBody>
          <a:bodyPr>
            <a:noAutofit/>
          </a:bodyPr>
          <a:lstStyle/>
          <a:p>
            <a:r>
              <a:rPr lang="en-US"/>
              <a:t>Click icon to add picture</a:t>
            </a:r>
          </a:p>
        </p:txBody>
      </p:sp>
      <p:sp>
        <p:nvSpPr>
          <p:cNvPr id="8" name="Oval 7">
            <a:extLst>
              <a:ext uri="{FF2B5EF4-FFF2-40B4-BE49-F238E27FC236}">
                <a16:creationId xmlns:a16="http://schemas.microsoft.com/office/drawing/2014/main" id="{938AD48E-7D67-4BE9-97B6-DB64DE5253B9}"/>
              </a:ext>
              <a:ext uri="{C183D7F6-B498-43B3-948B-1728B52AA6E4}">
                <adec:decorative xmlns:adec="http://schemas.microsoft.com/office/drawing/2017/decorative" val="1"/>
              </a:ext>
            </a:extLst>
          </p:cNvPr>
          <p:cNvSpPr>
            <a:spLocks noChangeAspect="1"/>
          </p:cNvSpPr>
          <p:nvPr userDrawn="1"/>
        </p:nvSpPr>
        <p:spPr>
          <a:xfrm>
            <a:off x="7999413" y="445272"/>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9" name="Group 8">
            <a:extLst>
              <a:ext uri="{FF2B5EF4-FFF2-40B4-BE49-F238E27FC236}">
                <a16:creationId xmlns:a16="http://schemas.microsoft.com/office/drawing/2014/main" id="{EB6FF8E2-165B-49EB-8120-14190F9491BC}"/>
              </a:ext>
              <a:ext uri="{C183D7F6-B498-43B3-948B-1728B52AA6E4}">
                <adec:decorative xmlns:adec="http://schemas.microsoft.com/office/drawing/2017/decorative" val="1"/>
              </a:ext>
            </a:extLst>
          </p:cNvPr>
          <p:cNvGrpSpPr/>
          <p:nvPr userDrawn="1"/>
        </p:nvGrpSpPr>
        <p:grpSpPr>
          <a:xfrm rot="5400000">
            <a:off x="10915300" y="5534727"/>
            <a:ext cx="667802" cy="631474"/>
            <a:chOff x="10478914" y="1506691"/>
            <a:chExt cx="667802" cy="631474"/>
          </a:xfrm>
        </p:grpSpPr>
        <p:sp>
          <p:nvSpPr>
            <p:cNvPr id="10" name="Freeform: Shape 9">
              <a:extLst>
                <a:ext uri="{FF2B5EF4-FFF2-40B4-BE49-F238E27FC236}">
                  <a16:creationId xmlns:a16="http://schemas.microsoft.com/office/drawing/2014/main" id="{79B763A7-EE7D-4306-8306-01E8C86E6350}"/>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Oval 10">
              <a:extLst>
                <a:ext uri="{FF2B5EF4-FFF2-40B4-BE49-F238E27FC236}">
                  <a16:creationId xmlns:a16="http://schemas.microsoft.com/office/drawing/2014/main" id="{4B3A935F-6844-4FCE-B0AE-5492715A58F1}"/>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3" name="Text Placeholder 2">
            <a:extLst>
              <a:ext uri="{FF2B5EF4-FFF2-40B4-BE49-F238E27FC236}">
                <a16:creationId xmlns:a16="http://schemas.microsoft.com/office/drawing/2014/main" id="{5B16EB97-6E8A-4B50-8701-7CB158044DCA}"/>
              </a:ext>
            </a:extLst>
          </p:cNvPr>
          <p:cNvSpPr>
            <a:spLocks noGrp="1"/>
          </p:cNvSpPr>
          <p:nvPr>
            <p:ph type="body" sz="quarter" idx="14"/>
          </p:nvPr>
        </p:nvSpPr>
        <p:spPr>
          <a:xfrm>
            <a:off x="7999413" y="3568700"/>
            <a:ext cx="3565524" cy="1731963"/>
          </a:xfrm>
        </p:spPr>
        <p:txBody>
          <a:bodyPr>
            <a:noAutofit/>
          </a:bodyPr>
          <a:lstStyle>
            <a:lvl1pPr>
              <a:buNone/>
              <a:defRPr sz="2000"/>
            </a:lvl1pPr>
            <a:lvl2pPr>
              <a:buNone/>
              <a:defRPr sz="2000"/>
            </a:lvl2pPr>
            <a:lvl3pPr>
              <a:buNone/>
              <a:defRPr sz="2000"/>
            </a:lvl3pPr>
            <a:lvl4pPr>
              <a:buNone/>
              <a:defRPr sz="2000"/>
            </a:lvl4pPr>
            <a:lvl5pPr>
              <a:buNone/>
              <a:defRPr sz="2000"/>
            </a:lvl5pPr>
          </a:lstStyle>
          <a:p>
            <a:pPr lvl="0"/>
            <a:r>
              <a:rPr lang="en-US"/>
              <a:t>Click to edit Master text styles</a:t>
            </a:r>
          </a:p>
        </p:txBody>
      </p:sp>
    </p:spTree>
    <p:extLst>
      <p:ext uri="{BB962C8B-B14F-4D97-AF65-F5344CB8AC3E}">
        <p14:creationId xmlns:p14="http://schemas.microsoft.com/office/powerpoint/2010/main" val="10139145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E68F591-F3C7-4872-BBA0-0693794F4F11}"/>
              </a:ext>
            </a:extLst>
          </p:cNvPr>
          <p:cNvSpPr>
            <a:spLocks noGrp="1"/>
          </p:cNvSpPr>
          <p:nvPr>
            <p:ph type="ctrTitle" hasCustomPrompt="1"/>
          </p:nvPr>
        </p:nvSpPr>
        <p:spPr>
          <a:xfrm>
            <a:off x="7999414" y="1051551"/>
            <a:ext cx="3565524" cy="2384898"/>
          </a:xfrm>
        </p:spPr>
        <p:txBody>
          <a:bodyPr anchor="b" anchorCtr="0">
            <a:noAutofit/>
          </a:bodyPr>
          <a:lstStyle/>
          <a:p>
            <a:r>
              <a:rPr lang="en-US" sz="4800" dirty="0"/>
              <a:t>3DFloat</a:t>
            </a:r>
          </a:p>
        </p:txBody>
      </p:sp>
      <p:sp>
        <p:nvSpPr>
          <p:cNvPr id="14" name="Picture Placeholder 13">
            <a:extLst>
              <a:ext uri="{FF2B5EF4-FFF2-40B4-BE49-F238E27FC236}">
                <a16:creationId xmlns:a16="http://schemas.microsoft.com/office/drawing/2014/main" id="{967766A8-18D5-4391-8DB7-7BFF6427636C}"/>
              </a:ext>
            </a:extLst>
          </p:cNvPr>
          <p:cNvSpPr>
            <a:spLocks noGrp="1"/>
          </p:cNvSpPr>
          <p:nvPr>
            <p:ph type="pic" sz="quarter" idx="13"/>
          </p:nvPr>
        </p:nvSpPr>
        <p:spPr>
          <a:xfrm>
            <a:off x="0" y="0"/>
            <a:ext cx="7452360" cy="6858000"/>
          </a:xfrm>
          <a:solidFill>
            <a:schemeClr val="accent5"/>
          </a:solidFill>
        </p:spPr>
        <p:txBody>
          <a:bodyPr>
            <a:noAutofit/>
          </a:bodyPr>
          <a:lstStyle/>
          <a:p>
            <a:r>
              <a:rPr lang="en-US"/>
              <a:t>Click icon to add picture</a:t>
            </a:r>
          </a:p>
        </p:txBody>
      </p:sp>
      <p:sp>
        <p:nvSpPr>
          <p:cNvPr id="8" name="Oval 7">
            <a:extLst>
              <a:ext uri="{FF2B5EF4-FFF2-40B4-BE49-F238E27FC236}">
                <a16:creationId xmlns:a16="http://schemas.microsoft.com/office/drawing/2014/main" id="{938AD48E-7D67-4BE9-97B6-DB64DE5253B9}"/>
              </a:ext>
              <a:ext uri="{C183D7F6-B498-43B3-948B-1728B52AA6E4}">
                <adec:decorative xmlns:adec="http://schemas.microsoft.com/office/drawing/2017/decorative" val="1"/>
              </a:ext>
            </a:extLst>
          </p:cNvPr>
          <p:cNvSpPr>
            <a:spLocks noChangeAspect="1"/>
          </p:cNvSpPr>
          <p:nvPr userDrawn="1"/>
        </p:nvSpPr>
        <p:spPr>
          <a:xfrm>
            <a:off x="7999413" y="445272"/>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9" name="Group 8">
            <a:extLst>
              <a:ext uri="{FF2B5EF4-FFF2-40B4-BE49-F238E27FC236}">
                <a16:creationId xmlns:a16="http://schemas.microsoft.com/office/drawing/2014/main" id="{EB6FF8E2-165B-49EB-8120-14190F9491BC}"/>
              </a:ext>
              <a:ext uri="{C183D7F6-B498-43B3-948B-1728B52AA6E4}">
                <adec:decorative xmlns:adec="http://schemas.microsoft.com/office/drawing/2017/decorative" val="1"/>
              </a:ext>
            </a:extLst>
          </p:cNvPr>
          <p:cNvGrpSpPr/>
          <p:nvPr userDrawn="1"/>
        </p:nvGrpSpPr>
        <p:grpSpPr>
          <a:xfrm rot="5400000">
            <a:off x="10915300" y="5534727"/>
            <a:ext cx="667802" cy="631474"/>
            <a:chOff x="10478914" y="1506691"/>
            <a:chExt cx="667802" cy="631474"/>
          </a:xfrm>
        </p:grpSpPr>
        <p:sp>
          <p:nvSpPr>
            <p:cNvPr id="10" name="Freeform: Shape 9">
              <a:extLst>
                <a:ext uri="{FF2B5EF4-FFF2-40B4-BE49-F238E27FC236}">
                  <a16:creationId xmlns:a16="http://schemas.microsoft.com/office/drawing/2014/main" id="{79B763A7-EE7D-4306-8306-01E8C86E6350}"/>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Oval 10">
              <a:extLst>
                <a:ext uri="{FF2B5EF4-FFF2-40B4-BE49-F238E27FC236}">
                  <a16:creationId xmlns:a16="http://schemas.microsoft.com/office/drawing/2014/main" id="{4B3A935F-6844-4FCE-B0AE-5492715A58F1}"/>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3" name="Text Placeholder 2">
            <a:extLst>
              <a:ext uri="{FF2B5EF4-FFF2-40B4-BE49-F238E27FC236}">
                <a16:creationId xmlns:a16="http://schemas.microsoft.com/office/drawing/2014/main" id="{5B16EB97-6E8A-4B50-8701-7CB158044DCA}"/>
              </a:ext>
            </a:extLst>
          </p:cNvPr>
          <p:cNvSpPr>
            <a:spLocks noGrp="1"/>
          </p:cNvSpPr>
          <p:nvPr>
            <p:ph type="body" sz="quarter" idx="14"/>
          </p:nvPr>
        </p:nvSpPr>
        <p:spPr>
          <a:xfrm>
            <a:off x="7999413" y="3568700"/>
            <a:ext cx="3565524" cy="1731963"/>
          </a:xfrm>
        </p:spPr>
        <p:txBody>
          <a:bodyPr>
            <a:noAutofit/>
          </a:bodyPr>
          <a:lstStyle>
            <a:lvl1pPr>
              <a:buNone/>
              <a:defRPr sz="2000"/>
            </a:lvl1pPr>
            <a:lvl2pPr>
              <a:buNone/>
              <a:defRPr sz="2000"/>
            </a:lvl2pPr>
            <a:lvl3pPr>
              <a:buNone/>
              <a:defRPr sz="2000"/>
            </a:lvl3pPr>
            <a:lvl4pPr>
              <a:buNone/>
              <a:defRPr sz="2000"/>
            </a:lvl4pPr>
            <a:lvl5pPr>
              <a:buNone/>
              <a:defRPr sz="2000"/>
            </a:lvl5pPr>
          </a:lstStyle>
          <a:p>
            <a:pPr lvl="0"/>
            <a:r>
              <a:rPr lang="en-US"/>
              <a:t>Click to edit Master text styles</a:t>
            </a:r>
          </a:p>
        </p:txBody>
      </p:sp>
    </p:spTree>
    <p:extLst>
      <p:ext uri="{BB962C8B-B14F-4D97-AF65-F5344CB8AC3E}">
        <p14:creationId xmlns:p14="http://schemas.microsoft.com/office/powerpoint/2010/main" val="16062652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923D16-1EC5-4C17-ABA8-B13A1256B36F}"/>
              </a:ext>
            </a:extLst>
          </p:cNvPr>
          <p:cNvSpPr>
            <a:spLocks noGrp="1"/>
          </p:cNvSpPr>
          <p:nvPr>
            <p:ph type="title" hasCustomPrompt="1"/>
          </p:nvPr>
        </p:nvSpPr>
        <p:spPr>
          <a:xfrm>
            <a:off x="550864" y="549275"/>
            <a:ext cx="3565524" cy="1997855"/>
          </a:xfrm>
        </p:spPr>
        <p:txBody>
          <a:bodyPr wrap="square" anchor="b" anchorCtr="0">
            <a:noAutofit/>
          </a:bodyPr>
          <a:lstStyle>
            <a:lvl1pPr>
              <a:defRPr/>
            </a:lvl1pPr>
          </a:lstStyle>
          <a:p>
            <a:r>
              <a:rPr lang="en-US" dirty="0"/>
              <a:t>Click to add title</a:t>
            </a:r>
          </a:p>
        </p:txBody>
      </p:sp>
      <p:sp>
        <p:nvSpPr>
          <p:cNvPr id="7" name="Content Placeholder 2">
            <a:extLst>
              <a:ext uri="{FF2B5EF4-FFF2-40B4-BE49-F238E27FC236}">
                <a16:creationId xmlns:a16="http://schemas.microsoft.com/office/drawing/2014/main" id="{50294D8B-CF64-4C26-8C78-57A375E7D33B}"/>
              </a:ext>
            </a:extLst>
          </p:cNvPr>
          <p:cNvSpPr>
            <a:spLocks noGrp="1"/>
          </p:cNvSpPr>
          <p:nvPr>
            <p:ph idx="1" hasCustomPrompt="1"/>
          </p:nvPr>
        </p:nvSpPr>
        <p:spPr>
          <a:xfrm>
            <a:off x="550863" y="2677306"/>
            <a:ext cx="3565525" cy="3415519"/>
          </a:xfrm>
        </p:spPr>
        <p:txBody>
          <a:bodyPr anchor="t" anchorCtr="0">
            <a:noAutofit/>
          </a:bodyPr>
          <a:lstStyle>
            <a:lvl1pPr>
              <a:buNone/>
              <a:defRPr/>
            </a:lvl1pPr>
          </a:lstStyle>
          <a:p>
            <a:pPr>
              <a:lnSpc>
                <a:spcPct val="120000"/>
              </a:lnSpc>
            </a:pPr>
            <a:r>
              <a:rPr lang="en-US" sz="1600" dirty="0"/>
              <a:t>Click to add text</a:t>
            </a:r>
          </a:p>
        </p:txBody>
      </p:sp>
      <p:sp>
        <p:nvSpPr>
          <p:cNvPr id="17" name="Picture Placeholder 16">
            <a:extLst>
              <a:ext uri="{FF2B5EF4-FFF2-40B4-BE49-F238E27FC236}">
                <a16:creationId xmlns:a16="http://schemas.microsoft.com/office/drawing/2014/main" id="{67BCF456-426F-435B-8DF0-A32A44F5A889}"/>
              </a:ext>
            </a:extLst>
          </p:cNvPr>
          <p:cNvSpPr>
            <a:spLocks noGrp="1"/>
          </p:cNvSpPr>
          <p:nvPr>
            <p:ph type="pic" sz="quarter" idx="13"/>
          </p:nvPr>
        </p:nvSpPr>
        <p:spPr>
          <a:xfrm>
            <a:off x="5208928" y="1596771"/>
            <a:ext cx="3448558" cy="3448558"/>
          </a:xfrm>
          <a:custGeom>
            <a:avLst/>
            <a:gdLst>
              <a:gd name="connsiteX0" fmla="*/ 1724279 w 3448558"/>
              <a:gd name="connsiteY0" fmla="*/ 0 h 3448558"/>
              <a:gd name="connsiteX1" fmla="*/ 3448558 w 3448558"/>
              <a:gd name="connsiteY1" fmla="*/ 1724279 h 3448558"/>
              <a:gd name="connsiteX2" fmla="*/ 1724279 w 3448558"/>
              <a:gd name="connsiteY2" fmla="*/ 3448558 h 3448558"/>
              <a:gd name="connsiteX3" fmla="*/ 0 w 3448558"/>
              <a:gd name="connsiteY3" fmla="*/ 1724279 h 3448558"/>
              <a:gd name="connsiteX4" fmla="*/ 1724279 w 3448558"/>
              <a:gd name="connsiteY4" fmla="*/ 0 h 3448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8558" h="3448558">
                <a:moveTo>
                  <a:pt x="1724279" y="0"/>
                </a:moveTo>
                <a:cubicBezTo>
                  <a:pt x="2676572" y="0"/>
                  <a:pt x="3448558" y="771986"/>
                  <a:pt x="3448558" y="1724279"/>
                </a:cubicBezTo>
                <a:cubicBezTo>
                  <a:pt x="3448558" y="2676572"/>
                  <a:pt x="2676572" y="3448558"/>
                  <a:pt x="1724279" y="3448558"/>
                </a:cubicBezTo>
                <a:cubicBezTo>
                  <a:pt x="771986" y="3448558"/>
                  <a:pt x="0" y="2676572"/>
                  <a:pt x="0" y="1724279"/>
                </a:cubicBezTo>
                <a:cubicBezTo>
                  <a:pt x="0" y="771986"/>
                  <a:pt x="771986" y="0"/>
                  <a:pt x="1724279" y="0"/>
                </a:cubicBezTo>
                <a:close/>
              </a:path>
            </a:pathLst>
          </a:custGeom>
          <a:solidFill>
            <a:schemeClr val="accent5"/>
          </a:solidFill>
        </p:spPr>
        <p:txBody>
          <a:bodyPr wrap="square">
            <a:noAutofit/>
          </a:bodyPr>
          <a:lstStyle/>
          <a:p>
            <a:r>
              <a:rPr lang="en-US"/>
              <a:t>Click icon to add picture</a:t>
            </a:r>
          </a:p>
        </p:txBody>
      </p:sp>
      <p:sp>
        <p:nvSpPr>
          <p:cNvPr id="22" name="Picture Placeholder 21">
            <a:extLst>
              <a:ext uri="{FF2B5EF4-FFF2-40B4-BE49-F238E27FC236}">
                <a16:creationId xmlns:a16="http://schemas.microsoft.com/office/drawing/2014/main" id="{4813A609-7079-46D5-9C1D-52004ABDAC9D}"/>
              </a:ext>
            </a:extLst>
          </p:cNvPr>
          <p:cNvSpPr>
            <a:spLocks noGrp="1"/>
          </p:cNvSpPr>
          <p:nvPr>
            <p:ph type="pic" sz="quarter" idx="14"/>
          </p:nvPr>
        </p:nvSpPr>
        <p:spPr>
          <a:xfrm>
            <a:off x="8918575" y="596392"/>
            <a:ext cx="2263776" cy="2263776"/>
          </a:xfrm>
          <a:custGeom>
            <a:avLst/>
            <a:gdLst>
              <a:gd name="connsiteX0" fmla="*/ 1131888 w 2263776"/>
              <a:gd name="connsiteY0" fmla="*/ 0 h 2263776"/>
              <a:gd name="connsiteX1" fmla="*/ 2263776 w 2263776"/>
              <a:gd name="connsiteY1" fmla="*/ 1131888 h 2263776"/>
              <a:gd name="connsiteX2" fmla="*/ 1131888 w 2263776"/>
              <a:gd name="connsiteY2" fmla="*/ 2263776 h 2263776"/>
              <a:gd name="connsiteX3" fmla="*/ 0 w 2263776"/>
              <a:gd name="connsiteY3" fmla="*/ 1131888 h 2263776"/>
              <a:gd name="connsiteX4" fmla="*/ 1131888 w 2263776"/>
              <a:gd name="connsiteY4" fmla="*/ 0 h 2263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3776" h="2263776">
                <a:moveTo>
                  <a:pt x="1131888" y="0"/>
                </a:moveTo>
                <a:cubicBezTo>
                  <a:pt x="1757012" y="0"/>
                  <a:pt x="2263776" y="506764"/>
                  <a:pt x="2263776" y="1131888"/>
                </a:cubicBezTo>
                <a:cubicBezTo>
                  <a:pt x="2263776" y="1757012"/>
                  <a:pt x="1757012" y="2263776"/>
                  <a:pt x="1131888" y="2263776"/>
                </a:cubicBezTo>
                <a:cubicBezTo>
                  <a:pt x="506764" y="2263776"/>
                  <a:pt x="0" y="1757012"/>
                  <a:pt x="0" y="1131888"/>
                </a:cubicBezTo>
                <a:cubicBezTo>
                  <a:pt x="0" y="506764"/>
                  <a:pt x="506764" y="0"/>
                  <a:pt x="1131888" y="0"/>
                </a:cubicBezTo>
                <a:close/>
              </a:path>
            </a:pathLst>
          </a:custGeom>
          <a:solidFill>
            <a:schemeClr val="accent5"/>
          </a:solidFill>
        </p:spPr>
        <p:txBody>
          <a:bodyPr wrap="square">
            <a:noAutofit/>
          </a:bodyPr>
          <a:lstStyle/>
          <a:p>
            <a:r>
              <a:rPr lang="en-US"/>
              <a:t>Click icon to add picture</a:t>
            </a:r>
          </a:p>
        </p:txBody>
      </p:sp>
      <p:sp>
        <p:nvSpPr>
          <p:cNvPr id="25" name="Picture Placeholder 24">
            <a:extLst>
              <a:ext uri="{FF2B5EF4-FFF2-40B4-BE49-F238E27FC236}">
                <a16:creationId xmlns:a16="http://schemas.microsoft.com/office/drawing/2014/main" id="{A14F21DF-D5E0-4C6C-BA2C-D69D65DBB18E}"/>
              </a:ext>
            </a:extLst>
          </p:cNvPr>
          <p:cNvSpPr>
            <a:spLocks noGrp="1"/>
          </p:cNvSpPr>
          <p:nvPr>
            <p:ph type="pic" sz="quarter" idx="15"/>
          </p:nvPr>
        </p:nvSpPr>
        <p:spPr>
          <a:xfrm>
            <a:off x="9091612" y="3324733"/>
            <a:ext cx="2936876" cy="2936876"/>
          </a:xfrm>
          <a:custGeom>
            <a:avLst/>
            <a:gdLst>
              <a:gd name="connsiteX0" fmla="*/ 1468438 w 2936876"/>
              <a:gd name="connsiteY0" fmla="*/ 0 h 2936876"/>
              <a:gd name="connsiteX1" fmla="*/ 2936876 w 2936876"/>
              <a:gd name="connsiteY1" fmla="*/ 1468438 h 2936876"/>
              <a:gd name="connsiteX2" fmla="*/ 1468438 w 2936876"/>
              <a:gd name="connsiteY2" fmla="*/ 2936876 h 2936876"/>
              <a:gd name="connsiteX3" fmla="*/ 0 w 2936876"/>
              <a:gd name="connsiteY3" fmla="*/ 1468438 h 2936876"/>
              <a:gd name="connsiteX4" fmla="*/ 1468438 w 2936876"/>
              <a:gd name="connsiteY4" fmla="*/ 0 h 2936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6876" h="2936876">
                <a:moveTo>
                  <a:pt x="1468438" y="0"/>
                </a:moveTo>
                <a:cubicBezTo>
                  <a:pt x="2279434" y="0"/>
                  <a:pt x="2936876" y="657442"/>
                  <a:pt x="2936876" y="1468438"/>
                </a:cubicBezTo>
                <a:cubicBezTo>
                  <a:pt x="2936876" y="2279434"/>
                  <a:pt x="2279434" y="2936876"/>
                  <a:pt x="1468438" y="2936876"/>
                </a:cubicBezTo>
                <a:cubicBezTo>
                  <a:pt x="657442" y="2936876"/>
                  <a:pt x="0" y="2279434"/>
                  <a:pt x="0" y="1468438"/>
                </a:cubicBezTo>
                <a:cubicBezTo>
                  <a:pt x="0" y="657442"/>
                  <a:pt x="657442" y="0"/>
                  <a:pt x="1468438" y="0"/>
                </a:cubicBezTo>
                <a:close/>
              </a:path>
            </a:pathLst>
          </a:custGeom>
          <a:solidFill>
            <a:schemeClr val="accent5"/>
          </a:solidFill>
        </p:spPr>
        <p:txBody>
          <a:bodyPr wrap="square">
            <a:noAutofit/>
          </a:bodyPr>
          <a:lstStyle/>
          <a:p>
            <a:r>
              <a:rPr lang="en-US"/>
              <a:t>Click icon to add picture</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6" name="Oval 5">
            <a:extLst>
              <a:ext uri="{FF2B5EF4-FFF2-40B4-BE49-F238E27FC236}">
                <a16:creationId xmlns:a16="http://schemas.microsoft.com/office/drawing/2014/main" id="{92FF63B4-C261-4597-9EE0-811D250B9D21}"/>
              </a:ext>
              <a:ext uri="{C183D7F6-B498-43B3-948B-1728B52AA6E4}">
                <adec:decorative xmlns:adec="http://schemas.microsoft.com/office/drawing/2017/decorative" val="1"/>
              </a:ext>
            </a:extLst>
          </p:cNvPr>
          <p:cNvSpPr>
            <a:spLocks noChangeAspect="1"/>
          </p:cNvSpPr>
          <p:nvPr userDrawn="1"/>
        </p:nvSpPr>
        <p:spPr>
          <a:xfrm>
            <a:off x="6548755" y="850167"/>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0" name="Group 9">
            <a:extLst>
              <a:ext uri="{FF2B5EF4-FFF2-40B4-BE49-F238E27FC236}">
                <a16:creationId xmlns:a16="http://schemas.microsoft.com/office/drawing/2014/main" id="{F92CF088-7F97-4A11-8A81-0EF641F6986F}"/>
              </a:ext>
              <a:ext uri="{C183D7F6-B498-43B3-948B-1728B52AA6E4}">
                <adec:decorative xmlns:adec="http://schemas.microsoft.com/office/drawing/2017/decorative" val="1"/>
              </a:ext>
            </a:extLst>
          </p:cNvPr>
          <p:cNvGrpSpPr/>
          <p:nvPr userDrawn="1"/>
        </p:nvGrpSpPr>
        <p:grpSpPr>
          <a:xfrm>
            <a:off x="5602297" y="5691007"/>
            <a:ext cx="667802" cy="631474"/>
            <a:chOff x="3409557" y="4940429"/>
            <a:chExt cx="667802" cy="631474"/>
          </a:xfrm>
        </p:grpSpPr>
        <p:sp>
          <p:nvSpPr>
            <p:cNvPr id="11" name="Freeform: Shape 10">
              <a:extLst>
                <a:ext uri="{FF2B5EF4-FFF2-40B4-BE49-F238E27FC236}">
                  <a16:creationId xmlns:a16="http://schemas.microsoft.com/office/drawing/2014/main" id="{165B23B7-CE74-4974-ABD8-BFA31D583416}"/>
                </a:ext>
              </a:extLst>
            </p:cNvPr>
            <p:cNvSpPr>
              <a:spLocks noChangeAspect="1"/>
            </p:cNvSpPr>
            <p:nvPr/>
          </p:nvSpPr>
          <p:spPr>
            <a:xfrm rot="8100000">
              <a:off x="3537358" y="4940429"/>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FF99BB1F-6C9D-4972-9EF4-98ACD7BE71E5}"/>
                </a:ext>
              </a:extLst>
            </p:cNvPr>
            <p:cNvSpPr/>
            <p:nvPr/>
          </p:nvSpPr>
          <p:spPr>
            <a:xfrm rot="13500000">
              <a:off x="3544558" y="4858365"/>
              <a:ext cx="270000" cy="540001"/>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14873846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Introductio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458B3A1-C77D-4AFC-B2C8-79520B53C452}"/>
              </a:ext>
            </a:extLst>
          </p:cNvPr>
          <p:cNvSpPr>
            <a:spLocks noGrp="1"/>
          </p:cNvSpPr>
          <p:nvPr>
            <p:ph type="title"/>
          </p:nvPr>
        </p:nvSpPr>
        <p:spPr>
          <a:xfrm>
            <a:off x="550863" y="4507200"/>
            <a:ext cx="4500562" cy="1562959"/>
          </a:xfrm>
        </p:spPr>
        <p:txBody>
          <a:bodyPr wrap="square" anchor="t" anchorCtr="0">
            <a:noAutofit/>
          </a:body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F551DA26-B267-4F28-B4D0-65B3EF6E1112}"/>
              </a:ext>
            </a:extLst>
          </p:cNvPr>
          <p:cNvSpPr>
            <a:spLocks noGrp="1"/>
          </p:cNvSpPr>
          <p:nvPr>
            <p:ph type="pic" sz="quarter" idx="13"/>
          </p:nvPr>
        </p:nvSpPr>
        <p:spPr>
          <a:xfrm>
            <a:off x="0" y="0"/>
            <a:ext cx="3054096" cy="3776472"/>
          </a:xfrm>
          <a:solidFill>
            <a:schemeClr val="accent5"/>
          </a:solidFill>
        </p:spPr>
        <p:txBody>
          <a:bodyPr>
            <a:noAutofit/>
          </a:bodyPr>
          <a:lstStyle/>
          <a:p>
            <a:r>
              <a:rPr lang="en-US"/>
              <a:t>Click icon to add picture</a:t>
            </a:r>
          </a:p>
        </p:txBody>
      </p:sp>
      <p:sp>
        <p:nvSpPr>
          <p:cNvPr id="18" name="Picture Placeholder 11">
            <a:extLst>
              <a:ext uri="{FF2B5EF4-FFF2-40B4-BE49-F238E27FC236}">
                <a16:creationId xmlns:a16="http://schemas.microsoft.com/office/drawing/2014/main" id="{95544A62-DA23-4840-99DE-09AFC8F4DC48}"/>
              </a:ext>
            </a:extLst>
          </p:cNvPr>
          <p:cNvSpPr>
            <a:spLocks noGrp="1"/>
          </p:cNvSpPr>
          <p:nvPr>
            <p:ph type="pic" sz="quarter" idx="14"/>
          </p:nvPr>
        </p:nvSpPr>
        <p:spPr>
          <a:xfrm>
            <a:off x="3054096" y="0"/>
            <a:ext cx="3054096" cy="3776472"/>
          </a:xfrm>
          <a:solidFill>
            <a:schemeClr val="accent5"/>
          </a:solidFill>
        </p:spPr>
        <p:txBody>
          <a:bodyPr>
            <a:noAutofit/>
          </a:bodyPr>
          <a:lstStyle/>
          <a:p>
            <a:r>
              <a:rPr lang="en-US"/>
              <a:t>Click icon to add picture</a:t>
            </a:r>
          </a:p>
        </p:txBody>
      </p:sp>
      <p:sp>
        <p:nvSpPr>
          <p:cNvPr id="19" name="Picture Placeholder 11">
            <a:extLst>
              <a:ext uri="{FF2B5EF4-FFF2-40B4-BE49-F238E27FC236}">
                <a16:creationId xmlns:a16="http://schemas.microsoft.com/office/drawing/2014/main" id="{0C91AF30-C5BB-4601-BDEB-E60C93A16933}"/>
              </a:ext>
            </a:extLst>
          </p:cNvPr>
          <p:cNvSpPr>
            <a:spLocks noGrp="1"/>
          </p:cNvSpPr>
          <p:nvPr>
            <p:ph type="pic" sz="quarter" idx="15"/>
          </p:nvPr>
        </p:nvSpPr>
        <p:spPr>
          <a:xfrm>
            <a:off x="6083808" y="0"/>
            <a:ext cx="3054096" cy="3776472"/>
          </a:xfrm>
          <a:solidFill>
            <a:schemeClr val="accent5"/>
          </a:solidFill>
        </p:spPr>
        <p:txBody>
          <a:bodyPr>
            <a:noAutofit/>
          </a:bodyPr>
          <a:lstStyle/>
          <a:p>
            <a:r>
              <a:rPr lang="en-US"/>
              <a:t>Click icon to add picture</a:t>
            </a:r>
          </a:p>
        </p:txBody>
      </p:sp>
      <p:sp>
        <p:nvSpPr>
          <p:cNvPr id="20" name="Picture Placeholder 11">
            <a:extLst>
              <a:ext uri="{FF2B5EF4-FFF2-40B4-BE49-F238E27FC236}">
                <a16:creationId xmlns:a16="http://schemas.microsoft.com/office/drawing/2014/main" id="{5B625AA5-EA5B-4115-A461-DA2C7087D83E}"/>
              </a:ext>
            </a:extLst>
          </p:cNvPr>
          <p:cNvSpPr>
            <a:spLocks noGrp="1"/>
          </p:cNvSpPr>
          <p:nvPr>
            <p:ph type="pic" sz="quarter" idx="16"/>
          </p:nvPr>
        </p:nvSpPr>
        <p:spPr>
          <a:xfrm>
            <a:off x="9137904" y="0"/>
            <a:ext cx="3054096" cy="3776472"/>
          </a:xfrm>
          <a:solidFill>
            <a:schemeClr val="accent5"/>
          </a:solidFill>
        </p:spPr>
        <p:txBody>
          <a:bodyPr>
            <a:noAutofit/>
          </a:bodyPr>
          <a:lstStyle/>
          <a:p>
            <a:r>
              <a:rPr lang="en-US"/>
              <a:t>Click icon to add picture</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11" name="Content Placeholder 6">
            <a:extLst>
              <a:ext uri="{FF2B5EF4-FFF2-40B4-BE49-F238E27FC236}">
                <a16:creationId xmlns:a16="http://schemas.microsoft.com/office/drawing/2014/main" id="{1B1AE41C-3196-4E6F-A3A8-313A92677FF3}"/>
              </a:ext>
            </a:extLst>
          </p:cNvPr>
          <p:cNvSpPr>
            <a:spLocks noGrp="1"/>
          </p:cNvSpPr>
          <p:nvPr>
            <p:ph sz="quarter" idx="15"/>
          </p:nvPr>
        </p:nvSpPr>
        <p:spPr>
          <a:xfrm>
            <a:off x="5262411" y="4508500"/>
            <a:ext cx="6221412" cy="1563688"/>
          </a:xfrm>
        </p:spPr>
        <p:txBody>
          <a:bodyPr>
            <a:noAutofit/>
          </a:bodyPr>
          <a:lstStyle>
            <a:lvl1pPr marL="228600" indent="-228600">
              <a:lnSpc>
                <a:spcPct val="100000"/>
              </a:lnSpc>
              <a:buFont typeface="Arial" panose="020B0604020202020204" pitchFamily="34" charset="0"/>
              <a:buChar char="•"/>
              <a:defRPr sz="2000"/>
            </a:lvl1pPr>
            <a:lvl2pPr>
              <a:buNone/>
              <a:defRPr sz="1900"/>
            </a:lvl2pPr>
            <a:lvl3pPr>
              <a:buNone/>
              <a:defRPr sz="1900"/>
            </a:lvl3pPr>
            <a:lvl4pPr>
              <a:buNone/>
              <a:defRPr sz="1900"/>
            </a:lvl4pPr>
            <a:lvl5pPr>
              <a:buNone/>
              <a:defRPr sz="1900"/>
            </a:lvl5pPr>
          </a:lstStyle>
          <a:p>
            <a:pPr lvl="0"/>
            <a:r>
              <a:rPr lang="en-US"/>
              <a:t>Click to edit Master text styles</a:t>
            </a:r>
          </a:p>
        </p:txBody>
      </p:sp>
    </p:spTree>
    <p:extLst>
      <p:ext uri="{BB962C8B-B14F-4D97-AF65-F5344CB8AC3E}">
        <p14:creationId xmlns:p14="http://schemas.microsoft.com/office/powerpoint/2010/main" val="38236052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Section break">
    <p:bg>
      <p:bgRef idx="1001">
        <a:schemeClr val="bg1"/>
      </p:bgRef>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75B2FBE-0C5C-48AA-8D7F-9D5B7373CC9A}"/>
              </a:ext>
            </a:extLst>
          </p:cNvPr>
          <p:cNvSpPr>
            <a:spLocks noGrp="1"/>
          </p:cNvSpPr>
          <p:nvPr>
            <p:ph type="pic" sz="quarter" idx="13"/>
          </p:nvPr>
        </p:nvSpPr>
        <p:spPr>
          <a:xfrm>
            <a:off x="0" y="0"/>
            <a:ext cx="12192000" cy="6858000"/>
          </a:xfrm>
          <a:solidFill>
            <a:schemeClr val="accent5"/>
          </a:solidFill>
        </p:spPr>
        <p:txBody>
          <a:bodyPr/>
          <a:lstStyle/>
          <a:p>
            <a:r>
              <a:rPr lang="en-US"/>
              <a:t>Click icon to add picture</a:t>
            </a:r>
          </a:p>
        </p:txBody>
      </p:sp>
      <p:sp>
        <p:nvSpPr>
          <p:cNvPr id="4" name="Date Placeholder 3">
            <a:extLst>
              <a:ext uri="{FF2B5EF4-FFF2-40B4-BE49-F238E27FC236}">
                <a16:creationId xmlns:a16="http://schemas.microsoft.com/office/drawing/2014/main" id="{56403DDF-462A-45CE-931B-010AB4F73C3F}"/>
              </a:ext>
            </a:extLst>
          </p:cNvPr>
          <p:cNvSpPr>
            <a:spLocks noGrp="1"/>
          </p:cNvSpPr>
          <p:nvPr>
            <p:ph type="dt" sz="half" idx="10"/>
          </p:nvPr>
        </p:nvSpPr>
        <p:spPr/>
        <p:txBody>
          <a:bodyPr/>
          <a:lstStyle/>
          <a:p>
            <a:r>
              <a:rPr lang="en-US"/>
              <a:t>Tuesday, February 2, 20XX</a:t>
            </a:r>
          </a:p>
        </p:txBody>
      </p:sp>
      <p:sp>
        <p:nvSpPr>
          <p:cNvPr id="5" name="Footer Placeholder 4">
            <a:extLst>
              <a:ext uri="{FF2B5EF4-FFF2-40B4-BE49-F238E27FC236}">
                <a16:creationId xmlns:a16="http://schemas.microsoft.com/office/drawing/2014/main" id="{39E10702-2ACF-4768-9E91-8CB87B89594D}"/>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E8DFA722-391E-4FCF-8E15-0D7E2EC02B63}"/>
              </a:ext>
            </a:extLst>
          </p:cNvPr>
          <p:cNvSpPr>
            <a:spLocks noGrp="1"/>
          </p:cNvSpPr>
          <p:nvPr>
            <p:ph type="sldNum" sz="quarter" idx="12"/>
          </p:nvPr>
        </p:nvSpPr>
        <p:spPr/>
        <p:txBody>
          <a:bodyPr/>
          <a:lstStyle/>
          <a:p>
            <a:fld id="{DBA1B0FB-D917-4C8C-928F-313BD683BF39}" type="slidenum">
              <a:rPr lang="en-US" smtClean="0"/>
              <a:t>‹#›</a:t>
            </a:fld>
            <a:endParaRPr lang="en-US"/>
          </a:p>
        </p:txBody>
      </p:sp>
      <p:sp>
        <p:nvSpPr>
          <p:cNvPr id="13" name="Rectangle 12">
            <a:extLst>
              <a:ext uri="{FF2B5EF4-FFF2-40B4-BE49-F238E27FC236}">
                <a16:creationId xmlns:a16="http://schemas.microsoft.com/office/drawing/2014/main" id="{80517979-166D-4AAA-ABBC-0C3E5C2ECF37}"/>
              </a:ext>
              <a:ext uri="{C183D7F6-B498-43B3-948B-1728B52AA6E4}">
                <adec:decorative xmlns:adec="http://schemas.microsoft.com/office/drawing/2017/decorative" val="1"/>
              </a:ext>
            </a:extLst>
          </p:cNvPr>
          <p:cNvSpPr/>
          <p:nvPr userDrawn="1"/>
        </p:nvSpPr>
        <p:spPr>
          <a:xfrm>
            <a:off x="0" y="5773729"/>
            <a:ext cx="12192000" cy="1084271"/>
          </a:xfrm>
          <a:prstGeom prst="rect">
            <a:avLst/>
          </a:prstGeom>
          <a:gradFill flip="none" rotWithShape="1">
            <a:gsLst>
              <a:gs pos="90000">
                <a:schemeClr val="bg2">
                  <a:alpha val="60000"/>
                </a:schemeClr>
              </a:gs>
              <a:gs pos="28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E111559-B769-4E2A-A891-97B3C4AA6BAC}"/>
              </a:ext>
            </a:extLst>
          </p:cNvPr>
          <p:cNvSpPr/>
          <p:nvPr userDrawn="1"/>
        </p:nvSpPr>
        <p:spPr>
          <a:xfrm rot="10800000">
            <a:off x="0" y="-3"/>
            <a:ext cx="9000000" cy="6857998"/>
          </a:xfrm>
          <a:prstGeom prst="rect">
            <a:avLst/>
          </a:prstGeom>
          <a:gradFill flip="none" rotWithShape="1">
            <a:gsLst>
              <a:gs pos="50000">
                <a:schemeClr val="bg2">
                  <a:alpha val="60000"/>
                </a:schemeClr>
              </a:gs>
              <a:gs pos="0">
                <a:schemeClr val="bg2">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754E1219-253E-4FEF-A576-83857F44BA01}"/>
              </a:ext>
            </a:extLst>
          </p:cNvPr>
          <p:cNvSpPr>
            <a:spLocks noGrp="1"/>
          </p:cNvSpPr>
          <p:nvPr>
            <p:ph type="ctrTitle"/>
          </p:nvPr>
        </p:nvSpPr>
        <p:spPr>
          <a:xfrm>
            <a:off x="550863" y="549275"/>
            <a:ext cx="5437187" cy="2986234"/>
          </a:xfrm>
        </p:spPr>
        <p:txBody>
          <a:bodyPr anchor="b" anchorCtr="0">
            <a:noAutofit/>
          </a:bodyPr>
          <a:lstStyle>
            <a:lvl1pPr>
              <a:defRPr sz="6400"/>
            </a:lvl1pPr>
          </a:lstStyle>
          <a:p>
            <a:r>
              <a:rPr lang="en-US"/>
              <a:t>Click to edit Master title style</a:t>
            </a:r>
            <a:endParaRPr lang="en-US" dirty="0"/>
          </a:p>
        </p:txBody>
      </p:sp>
      <p:sp>
        <p:nvSpPr>
          <p:cNvPr id="16" name="Subtitle 2">
            <a:extLst>
              <a:ext uri="{FF2B5EF4-FFF2-40B4-BE49-F238E27FC236}">
                <a16:creationId xmlns:a16="http://schemas.microsoft.com/office/drawing/2014/main" id="{93411FC5-0B5A-4566-9984-827485AF9265}"/>
              </a:ext>
            </a:extLst>
          </p:cNvPr>
          <p:cNvSpPr>
            <a:spLocks noGrp="1"/>
          </p:cNvSpPr>
          <p:nvPr>
            <p:ph type="subTitle" idx="1"/>
          </p:nvPr>
        </p:nvSpPr>
        <p:spPr>
          <a:xfrm>
            <a:off x="550863" y="3816724"/>
            <a:ext cx="5437187" cy="2265216"/>
          </a:xfrm>
        </p:spPr>
        <p:txBody>
          <a:bodyPr>
            <a:noAutofit/>
          </a:bodyPr>
          <a:lstStyle>
            <a:lvl1pPr>
              <a:buNone/>
              <a:defRPr sz="2400"/>
            </a:lvl1pPr>
          </a:lstStyle>
          <a:p>
            <a:r>
              <a:rPr lang="en-US">
                <a:solidFill>
                  <a:schemeClr val="tx1">
                    <a:alpha val="60000"/>
                  </a:schemeClr>
                </a:solidFill>
              </a:rPr>
              <a:t>Click to edit Master subtitle style</a:t>
            </a:r>
            <a:endParaRPr lang="en-US" dirty="0">
              <a:solidFill>
                <a:schemeClr val="tx1">
                  <a:alpha val="60000"/>
                </a:schemeClr>
              </a:solidFill>
            </a:endParaRPr>
          </a:p>
        </p:txBody>
      </p:sp>
    </p:spTree>
    <p:extLst>
      <p:ext uri="{BB962C8B-B14F-4D97-AF65-F5344CB8AC3E}">
        <p14:creationId xmlns:p14="http://schemas.microsoft.com/office/powerpoint/2010/main" val="1279303603"/>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Section break">
    <p:bg>
      <p:bgRef idx="1001">
        <a:schemeClr val="bg1"/>
      </p:bgRef>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75B2FBE-0C5C-48AA-8D7F-9D5B7373CC9A}"/>
              </a:ext>
            </a:extLst>
          </p:cNvPr>
          <p:cNvSpPr>
            <a:spLocks noGrp="1"/>
          </p:cNvSpPr>
          <p:nvPr>
            <p:ph type="pic" sz="quarter" idx="13"/>
          </p:nvPr>
        </p:nvSpPr>
        <p:spPr>
          <a:xfrm>
            <a:off x="0" y="0"/>
            <a:ext cx="12192000" cy="6858000"/>
          </a:xfrm>
          <a:solidFill>
            <a:schemeClr val="bg2"/>
          </a:solidFill>
        </p:spPr>
        <p:txBody>
          <a:bodyPr/>
          <a:lstStyle/>
          <a:p>
            <a:r>
              <a:rPr lang="en-US"/>
              <a:t>Click icon to add picture</a:t>
            </a:r>
          </a:p>
        </p:txBody>
      </p:sp>
      <p:sp>
        <p:nvSpPr>
          <p:cNvPr id="16" name="Subtitle 2">
            <a:extLst>
              <a:ext uri="{FF2B5EF4-FFF2-40B4-BE49-F238E27FC236}">
                <a16:creationId xmlns:a16="http://schemas.microsoft.com/office/drawing/2014/main" id="{93411FC5-0B5A-4566-9984-827485AF9265}"/>
              </a:ext>
            </a:extLst>
          </p:cNvPr>
          <p:cNvSpPr>
            <a:spLocks noGrp="1"/>
          </p:cNvSpPr>
          <p:nvPr>
            <p:ph type="subTitle" idx="1"/>
          </p:nvPr>
        </p:nvSpPr>
        <p:spPr>
          <a:xfrm>
            <a:off x="0" y="3557281"/>
            <a:ext cx="6640285" cy="3300719"/>
          </a:xfrm>
          <a:gradFill>
            <a:gsLst>
              <a:gs pos="0">
                <a:schemeClr val="bg2">
                  <a:alpha val="0"/>
                </a:schemeClr>
              </a:gs>
              <a:gs pos="50000">
                <a:schemeClr val="bg2">
                  <a:alpha val="60000"/>
                </a:schemeClr>
              </a:gs>
            </a:gsLst>
            <a:lin ang="10800000" scaled="1"/>
          </a:gradFill>
        </p:spPr>
        <p:txBody>
          <a:bodyPr>
            <a:noAutofit/>
          </a:bodyPr>
          <a:lstStyle>
            <a:lvl1pPr marL="548640" indent="0">
              <a:lnSpc>
                <a:spcPct val="200000"/>
              </a:lnSpc>
              <a:buNone/>
              <a:defRPr/>
            </a:lvl1pPr>
          </a:lstStyle>
          <a:p>
            <a:r>
              <a:rPr lang="en-US">
                <a:solidFill>
                  <a:schemeClr val="tx1">
                    <a:alpha val="60000"/>
                  </a:schemeClr>
                </a:solidFill>
              </a:rPr>
              <a:t>Click to edit Master subtitle style</a:t>
            </a:r>
            <a:endParaRPr lang="en-US" dirty="0">
              <a:solidFill>
                <a:schemeClr val="tx1">
                  <a:alpha val="60000"/>
                </a:schemeClr>
              </a:solidFill>
            </a:endParaRPr>
          </a:p>
        </p:txBody>
      </p:sp>
      <p:sp>
        <p:nvSpPr>
          <p:cNvPr id="15" name="Title 1">
            <a:extLst>
              <a:ext uri="{FF2B5EF4-FFF2-40B4-BE49-F238E27FC236}">
                <a16:creationId xmlns:a16="http://schemas.microsoft.com/office/drawing/2014/main" id="{754E1219-253E-4FEF-A576-83857F44BA01}"/>
              </a:ext>
            </a:extLst>
          </p:cNvPr>
          <p:cNvSpPr>
            <a:spLocks noGrp="1"/>
          </p:cNvSpPr>
          <p:nvPr>
            <p:ph type="ctrTitle"/>
          </p:nvPr>
        </p:nvSpPr>
        <p:spPr>
          <a:xfrm>
            <a:off x="0" y="0"/>
            <a:ext cx="6640285" cy="3535509"/>
          </a:xfrm>
          <a:gradFill flip="none" rotWithShape="1">
            <a:gsLst>
              <a:gs pos="0">
                <a:schemeClr val="bg2">
                  <a:alpha val="0"/>
                </a:schemeClr>
              </a:gs>
              <a:gs pos="50000">
                <a:schemeClr val="bg2">
                  <a:alpha val="70000"/>
                </a:schemeClr>
              </a:gs>
            </a:gsLst>
            <a:lin ang="10800000" scaled="1"/>
            <a:tileRect/>
          </a:gradFill>
        </p:spPr>
        <p:txBody>
          <a:bodyPr anchor="b" anchorCtr="0">
            <a:noAutofit/>
          </a:bodyPr>
          <a:lstStyle>
            <a:lvl1pPr marL="548640">
              <a:spcAft>
                <a:spcPts val="1200"/>
              </a:spcAft>
              <a:defRPr sz="6400"/>
            </a:lvl1pPr>
          </a:lstStyle>
          <a:p>
            <a:r>
              <a:rPr lang="en-US"/>
              <a:t>Click to edit Master title style</a:t>
            </a:r>
            <a:endParaRPr lang="en-US" dirty="0"/>
          </a:p>
        </p:txBody>
      </p:sp>
    </p:spTree>
    <p:extLst>
      <p:ext uri="{BB962C8B-B14F-4D97-AF65-F5344CB8AC3E}">
        <p14:creationId xmlns:p14="http://schemas.microsoft.com/office/powerpoint/2010/main" val="183130014"/>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5_Chart Table Timeline">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BDBC526-6DCD-4FF6-8395-D8C22E46E527}"/>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p:nvPr>
        </p:nvSpPr>
        <p:spPr>
          <a:xfrm>
            <a:off x="550862" y="549275"/>
            <a:ext cx="11091600" cy="1332000"/>
          </a:xfrm>
        </p:spPr>
        <p:txBody>
          <a:bodyPr vert="horz" wrap="square" lIns="0" tIns="0" rIns="0" bIns="0" rtlCol="0" anchor="t" anchorCtr="0">
            <a:noAutofit/>
          </a:bodyPr>
          <a:lstStyle>
            <a:lvl1pPr>
              <a:defRPr lang="en-US" dirty="0"/>
            </a:lvl1pPr>
          </a:lstStyle>
          <a:p>
            <a:pPr lvl="0">
              <a:lnSpc>
                <a:spcPct val="100000"/>
              </a:lnSpc>
            </a:pPr>
            <a:r>
              <a:rPr lang="en-US"/>
              <a:t>Click to edit Master title style</a:t>
            </a:r>
            <a:endParaRPr lang="en-US" dirty="0"/>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p:nvPr>
        </p:nvSpPr>
        <p:spPr>
          <a:xfrm>
            <a:off x="550863" y="2113199"/>
            <a:ext cx="11090274" cy="397962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noAutofit/>
          </a:bodyPr>
          <a:lstStyle/>
          <a:p>
            <a:r>
              <a:rPr lang="en-US"/>
              <a:t>Tuesday, February 2, 20XX</a:t>
            </a:r>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25931181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Quot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062BF5C-3876-4161-B4FF-14CA94D326C6}"/>
              </a:ext>
            </a:extLst>
          </p:cNvPr>
          <p:cNvSpPr>
            <a:spLocks noGrp="1"/>
          </p:cNvSpPr>
          <p:nvPr>
            <p:ph type="title"/>
          </p:nvPr>
        </p:nvSpPr>
        <p:spPr>
          <a:xfrm>
            <a:off x="550864" y="549275"/>
            <a:ext cx="3566160" cy="3384550"/>
          </a:xfrm>
        </p:spPr>
        <p:txBody>
          <a:bodyPr wrap="square" anchor="b" anchorCtr="0">
            <a:noAutofit/>
          </a:bodyPr>
          <a:lstStyle>
            <a:lvl1pPr>
              <a:defRPr sz="4000"/>
            </a:lvl1pPr>
          </a:lstStyle>
          <a:p>
            <a:r>
              <a:rPr lang="en-US"/>
              <a:t>Click to edit Master title style</a:t>
            </a:r>
            <a:endParaRPr lang="en-US" dirty="0"/>
          </a:p>
        </p:txBody>
      </p:sp>
      <p:grpSp>
        <p:nvGrpSpPr>
          <p:cNvPr id="8" name="Group 7">
            <a:extLst>
              <a:ext uri="{FF2B5EF4-FFF2-40B4-BE49-F238E27FC236}">
                <a16:creationId xmlns:a16="http://schemas.microsoft.com/office/drawing/2014/main" id="{B17C5C60-EC4D-410B-9997-0B73289605FD}"/>
              </a:ext>
              <a:ext uri="{C183D7F6-B498-43B3-948B-1728B52AA6E4}">
                <adec:decorative xmlns:adec="http://schemas.microsoft.com/office/drawing/2017/decorative" val="1"/>
              </a:ext>
            </a:extLst>
          </p:cNvPr>
          <p:cNvGrpSpPr/>
          <p:nvPr userDrawn="1"/>
        </p:nvGrpSpPr>
        <p:grpSpPr>
          <a:xfrm>
            <a:off x="10822156" y="4143453"/>
            <a:ext cx="734257" cy="760506"/>
            <a:chOff x="5243759" y="1363788"/>
            <a:chExt cx="734257" cy="760506"/>
          </a:xfrm>
        </p:grpSpPr>
        <p:sp>
          <p:nvSpPr>
            <p:cNvPr id="9" name="Freeform 5">
              <a:extLst>
                <a:ext uri="{FF2B5EF4-FFF2-40B4-BE49-F238E27FC236}">
                  <a16:creationId xmlns:a16="http://schemas.microsoft.com/office/drawing/2014/main" id="{0573155C-3428-4F4F-AE66-A519D777EAAE}"/>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 name="Freeform 6">
              <a:extLst>
                <a:ext uri="{FF2B5EF4-FFF2-40B4-BE49-F238E27FC236}">
                  <a16:creationId xmlns:a16="http://schemas.microsoft.com/office/drawing/2014/main" id="{1853496C-159E-4D47-94B5-0835FB6511BA}"/>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Freeform 8">
              <a:extLst>
                <a:ext uri="{FF2B5EF4-FFF2-40B4-BE49-F238E27FC236}">
                  <a16:creationId xmlns:a16="http://schemas.microsoft.com/office/drawing/2014/main" id="{CE93E330-715B-44E8-84D9-CE166D428DAB}"/>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12" name="Oval 11">
            <a:extLst>
              <a:ext uri="{FF2B5EF4-FFF2-40B4-BE49-F238E27FC236}">
                <a16:creationId xmlns:a16="http://schemas.microsoft.com/office/drawing/2014/main" id="{80A2FA6F-99B7-4984-A80C-570644889F02}"/>
              </a:ext>
              <a:ext uri="{C183D7F6-B498-43B3-948B-1728B52AA6E4}">
                <adec:decorative xmlns:adec="http://schemas.microsoft.com/office/drawing/2017/decorative" val="1"/>
              </a:ext>
            </a:extLst>
          </p:cNvPr>
          <p:cNvSpPr>
            <a:spLocks noChangeAspect="1"/>
          </p:cNvSpPr>
          <p:nvPr userDrawn="1"/>
        </p:nvSpPr>
        <p:spPr>
          <a:xfrm>
            <a:off x="5668780" y="50590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7" name="Content Placeholder 16">
            <a:extLst>
              <a:ext uri="{FF2B5EF4-FFF2-40B4-BE49-F238E27FC236}">
                <a16:creationId xmlns:a16="http://schemas.microsoft.com/office/drawing/2014/main" id="{439C8C03-81B3-4DE8-B96A-78258E4467CC}"/>
              </a:ext>
            </a:extLst>
          </p:cNvPr>
          <p:cNvSpPr>
            <a:spLocks noGrp="1"/>
          </p:cNvSpPr>
          <p:nvPr>
            <p:ph sz="quarter" idx="15"/>
          </p:nvPr>
        </p:nvSpPr>
        <p:spPr>
          <a:xfrm>
            <a:off x="550863" y="4097338"/>
            <a:ext cx="3565524" cy="2351087"/>
          </a:xfrm>
        </p:spPr>
        <p:txBody>
          <a:bodyPr>
            <a:noAutofit/>
          </a:bodyPr>
          <a:lstStyle>
            <a:lvl1pPr>
              <a:buNone/>
              <a:defRPr sz="2400"/>
            </a:lvl1pPr>
            <a:lvl2pPr>
              <a:defRPr sz="2000"/>
            </a:lvl2pPr>
            <a:lvl3pPr>
              <a:defRPr sz="2000"/>
            </a:lvl3pPr>
            <a:lvl4pPr>
              <a:defRPr sz="2000"/>
            </a:lvl4pPr>
            <a:lvl5pPr>
              <a:defRPr sz="2000"/>
            </a:lvl5pPr>
          </a:lstStyle>
          <a:p>
            <a:pPr lvl="0"/>
            <a:r>
              <a:rPr lang="en-US"/>
              <a:t>Click to edit Master text styles</a:t>
            </a:r>
          </a:p>
        </p:txBody>
      </p:sp>
      <p:sp>
        <p:nvSpPr>
          <p:cNvPr id="15" name="Picture Placeholder 14">
            <a:extLst>
              <a:ext uri="{FF2B5EF4-FFF2-40B4-BE49-F238E27FC236}">
                <a16:creationId xmlns:a16="http://schemas.microsoft.com/office/drawing/2014/main" id="{C1FBB56D-C8B1-4ED9-A5DB-72BA636DADF3}"/>
              </a:ext>
            </a:extLst>
          </p:cNvPr>
          <p:cNvSpPr>
            <a:spLocks noGrp="1"/>
          </p:cNvSpPr>
          <p:nvPr>
            <p:ph type="pic" sz="quarter" idx="13"/>
          </p:nvPr>
        </p:nvSpPr>
        <p:spPr>
          <a:xfrm>
            <a:off x="5535809" y="656633"/>
            <a:ext cx="5132388" cy="5132388"/>
          </a:xfrm>
          <a:custGeom>
            <a:avLst/>
            <a:gdLst>
              <a:gd name="connsiteX0" fmla="*/ 2566194 w 5132388"/>
              <a:gd name="connsiteY0" fmla="*/ 0 h 5132388"/>
              <a:gd name="connsiteX1" fmla="*/ 5132388 w 5132388"/>
              <a:gd name="connsiteY1" fmla="*/ 2566194 h 5132388"/>
              <a:gd name="connsiteX2" fmla="*/ 2566194 w 5132388"/>
              <a:gd name="connsiteY2" fmla="*/ 5132388 h 5132388"/>
              <a:gd name="connsiteX3" fmla="*/ 0 w 5132388"/>
              <a:gd name="connsiteY3" fmla="*/ 2566194 h 5132388"/>
              <a:gd name="connsiteX4" fmla="*/ 2566194 w 5132388"/>
              <a:gd name="connsiteY4" fmla="*/ 0 h 513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a:solidFill>
            <a:schemeClr val="accent5"/>
          </a:solidFill>
        </p:spPr>
        <p:txBody>
          <a:bodyPr wrap="square">
            <a:noAutofit/>
          </a:bodyPr>
          <a:lstStyle/>
          <a:p>
            <a:r>
              <a:rPr lang="en-US"/>
              <a:t>Click icon to add picture</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9876705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Team">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38C6F9E-A74F-4F54-9409-B6B93DF8CE78}"/>
              </a:ext>
              <a:ext uri="{C183D7F6-B498-43B3-948B-1728B52AA6E4}">
                <adec:decorative xmlns:adec="http://schemas.microsoft.com/office/drawing/2017/decorative" val="1"/>
              </a:ext>
            </a:extLst>
          </p:cNvPr>
          <p:cNvSpPr/>
          <p:nvPr userDrawn="1"/>
        </p:nvSpPr>
        <p:spPr>
          <a:xfrm>
            <a:off x="0" y="5773729"/>
            <a:ext cx="12192000" cy="1084271"/>
          </a:xfrm>
          <a:prstGeom prst="rect">
            <a:avLst/>
          </a:prstGeom>
          <a:gradFill flip="none" rotWithShape="1">
            <a:gsLst>
              <a:gs pos="100000">
                <a:schemeClr val="bg2">
                  <a:alpha val="60000"/>
                </a:schemeClr>
              </a:gs>
              <a:gs pos="40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34" name="Oval 33">
            <a:extLst>
              <a:ext uri="{FF2B5EF4-FFF2-40B4-BE49-F238E27FC236}">
                <a16:creationId xmlns:a16="http://schemas.microsoft.com/office/drawing/2014/main" id="{6F0F71C5-78A4-4793-9BD4-3DF0EE3E3EB7}"/>
              </a:ext>
              <a:ext uri="{C183D7F6-B498-43B3-948B-1728B52AA6E4}">
                <adec:decorative xmlns:adec="http://schemas.microsoft.com/office/drawing/2017/decorative" val="1"/>
              </a:ext>
            </a:extLst>
          </p:cNvPr>
          <p:cNvSpPr>
            <a:spLocks noChangeAspect="1"/>
          </p:cNvSpPr>
          <p:nvPr userDrawn="1"/>
        </p:nvSpPr>
        <p:spPr>
          <a:xfrm>
            <a:off x="10288775" y="7626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0" name="Title 5">
            <a:extLst>
              <a:ext uri="{FF2B5EF4-FFF2-40B4-BE49-F238E27FC236}">
                <a16:creationId xmlns:a16="http://schemas.microsoft.com/office/drawing/2014/main" id="{36F60F77-4CC9-4F86-B70A-85012C6588A0}"/>
              </a:ext>
            </a:extLst>
          </p:cNvPr>
          <p:cNvSpPr>
            <a:spLocks noGrp="1"/>
          </p:cNvSpPr>
          <p:nvPr>
            <p:ph type="ctrTitle" hasCustomPrompt="1"/>
          </p:nvPr>
        </p:nvSpPr>
        <p:spPr>
          <a:xfrm>
            <a:off x="548640" y="548640"/>
            <a:ext cx="8281987" cy="1253041"/>
          </a:xfrm>
        </p:spPr>
        <p:txBody>
          <a:bodyPr>
            <a:noAutofit/>
          </a:bodyPr>
          <a:lstStyle/>
          <a:p>
            <a:r>
              <a:rPr lang="en-US" dirty="0"/>
              <a:t>Team</a:t>
            </a:r>
          </a:p>
        </p:txBody>
      </p:sp>
      <p:grpSp>
        <p:nvGrpSpPr>
          <p:cNvPr id="51" name="Group 50">
            <a:extLst>
              <a:ext uri="{FF2B5EF4-FFF2-40B4-BE49-F238E27FC236}">
                <a16:creationId xmlns:a16="http://schemas.microsoft.com/office/drawing/2014/main" id="{E6093F87-C1F6-4FAB-B891-6F7D7FC20751}"/>
              </a:ext>
              <a:ext uri="{C183D7F6-B498-43B3-948B-1728B52AA6E4}">
                <adec:decorative xmlns:adec="http://schemas.microsoft.com/office/drawing/2017/decorative" val="1"/>
              </a:ext>
            </a:extLst>
          </p:cNvPr>
          <p:cNvGrpSpPr/>
          <p:nvPr userDrawn="1"/>
        </p:nvGrpSpPr>
        <p:grpSpPr>
          <a:xfrm>
            <a:off x="1800565" y="4518946"/>
            <a:ext cx="1980001" cy="1363916"/>
            <a:chOff x="4879602" y="3781429"/>
            <a:chExt cx="1980001" cy="1363916"/>
          </a:xfrm>
        </p:grpSpPr>
        <p:sp>
          <p:nvSpPr>
            <p:cNvPr id="52" name="Freeform: Shape 51">
              <a:extLst>
                <a:ext uri="{FF2B5EF4-FFF2-40B4-BE49-F238E27FC236}">
                  <a16:creationId xmlns:a16="http://schemas.microsoft.com/office/drawing/2014/main" id="{E1A4FD5C-1E5B-46D1-BA9D-99928D19AF04}"/>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53" name="Freeform: Shape 52">
              <a:extLst>
                <a:ext uri="{FF2B5EF4-FFF2-40B4-BE49-F238E27FC236}">
                  <a16:creationId xmlns:a16="http://schemas.microsoft.com/office/drawing/2014/main" id="{B7DF0ED5-A971-408F-A055-C7E5D7A623CD}"/>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tx1"/>
                </a:solidFill>
              </a:endParaRPr>
            </a:p>
          </p:txBody>
        </p:sp>
        <p:sp>
          <p:nvSpPr>
            <p:cNvPr id="54" name="Oval 53">
              <a:extLst>
                <a:ext uri="{FF2B5EF4-FFF2-40B4-BE49-F238E27FC236}">
                  <a16:creationId xmlns:a16="http://schemas.microsoft.com/office/drawing/2014/main" id="{AA81F353-4C5B-4A37-9846-2C1E2D0FC25F}"/>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5" name="Oval 54">
              <a:extLst>
                <a:ext uri="{FF2B5EF4-FFF2-40B4-BE49-F238E27FC236}">
                  <a16:creationId xmlns:a16="http://schemas.microsoft.com/office/drawing/2014/main" id="{42B74EA3-11CE-4D3F-99AD-162563447653}"/>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56" name="Picture Placeholder 55">
            <a:extLst>
              <a:ext uri="{FF2B5EF4-FFF2-40B4-BE49-F238E27FC236}">
                <a16:creationId xmlns:a16="http://schemas.microsoft.com/office/drawing/2014/main" id="{8F41896B-6DDA-4F82-9F74-3EBF93A3CD58}"/>
              </a:ext>
            </a:extLst>
          </p:cNvPr>
          <p:cNvSpPr>
            <a:spLocks noGrp="1"/>
          </p:cNvSpPr>
          <p:nvPr>
            <p:ph type="pic" sz="quarter" idx="13"/>
          </p:nvPr>
        </p:nvSpPr>
        <p:spPr>
          <a:xfrm>
            <a:off x="1078992" y="1990724"/>
            <a:ext cx="1691640" cy="1435608"/>
          </a:xfrm>
          <a:solidFill>
            <a:schemeClr val="accent5"/>
          </a:solidFill>
        </p:spPr>
        <p:txBody>
          <a:bodyPr>
            <a:noAutofit/>
          </a:bodyPr>
          <a:lstStyle/>
          <a:p>
            <a:r>
              <a:rPr lang="en-US"/>
              <a:t>Click icon to add picture</a:t>
            </a:r>
          </a:p>
        </p:txBody>
      </p:sp>
      <p:sp>
        <p:nvSpPr>
          <p:cNvPr id="57" name="Picture Placeholder 55">
            <a:extLst>
              <a:ext uri="{FF2B5EF4-FFF2-40B4-BE49-F238E27FC236}">
                <a16:creationId xmlns:a16="http://schemas.microsoft.com/office/drawing/2014/main" id="{EF85499B-C29A-4C8B-922C-7CE4771E352C}"/>
              </a:ext>
            </a:extLst>
          </p:cNvPr>
          <p:cNvSpPr>
            <a:spLocks noGrp="1"/>
          </p:cNvSpPr>
          <p:nvPr>
            <p:ph type="pic" sz="quarter" idx="14"/>
          </p:nvPr>
        </p:nvSpPr>
        <p:spPr>
          <a:xfrm>
            <a:off x="3838384" y="1990724"/>
            <a:ext cx="1691640" cy="1435608"/>
          </a:xfrm>
          <a:solidFill>
            <a:schemeClr val="accent5"/>
          </a:solidFill>
        </p:spPr>
        <p:txBody>
          <a:bodyPr>
            <a:noAutofit/>
          </a:bodyPr>
          <a:lstStyle/>
          <a:p>
            <a:r>
              <a:rPr lang="en-US"/>
              <a:t>Click icon to add picture</a:t>
            </a:r>
          </a:p>
        </p:txBody>
      </p:sp>
      <p:sp>
        <p:nvSpPr>
          <p:cNvPr id="58" name="Picture Placeholder 55">
            <a:extLst>
              <a:ext uri="{FF2B5EF4-FFF2-40B4-BE49-F238E27FC236}">
                <a16:creationId xmlns:a16="http://schemas.microsoft.com/office/drawing/2014/main" id="{F82A1DB8-0AE7-4E17-B07B-FCF45B85EE17}"/>
              </a:ext>
            </a:extLst>
          </p:cNvPr>
          <p:cNvSpPr>
            <a:spLocks noGrp="1"/>
          </p:cNvSpPr>
          <p:nvPr>
            <p:ph type="pic" sz="quarter" idx="15"/>
          </p:nvPr>
        </p:nvSpPr>
        <p:spPr>
          <a:xfrm>
            <a:off x="6661976" y="1993392"/>
            <a:ext cx="1691640" cy="1435608"/>
          </a:xfrm>
          <a:solidFill>
            <a:schemeClr val="accent5"/>
          </a:solidFill>
        </p:spPr>
        <p:txBody>
          <a:bodyPr>
            <a:noAutofit/>
          </a:bodyPr>
          <a:lstStyle/>
          <a:p>
            <a:r>
              <a:rPr lang="en-US"/>
              <a:t>Click icon to add picture</a:t>
            </a:r>
          </a:p>
        </p:txBody>
      </p:sp>
      <p:sp>
        <p:nvSpPr>
          <p:cNvPr id="59" name="Picture Placeholder 55">
            <a:extLst>
              <a:ext uri="{FF2B5EF4-FFF2-40B4-BE49-F238E27FC236}">
                <a16:creationId xmlns:a16="http://schemas.microsoft.com/office/drawing/2014/main" id="{A83EEB6C-83B7-471D-B5A4-4071534048D2}"/>
              </a:ext>
            </a:extLst>
          </p:cNvPr>
          <p:cNvSpPr>
            <a:spLocks noGrp="1"/>
          </p:cNvSpPr>
          <p:nvPr>
            <p:ph type="pic" sz="quarter" idx="16"/>
          </p:nvPr>
        </p:nvSpPr>
        <p:spPr>
          <a:xfrm>
            <a:off x="9485568" y="1990724"/>
            <a:ext cx="1691640" cy="1435608"/>
          </a:xfrm>
          <a:solidFill>
            <a:schemeClr val="accent5"/>
          </a:solidFill>
        </p:spPr>
        <p:txBody>
          <a:bodyPr>
            <a:noAutofit/>
          </a:bodyPr>
          <a:lstStyle/>
          <a:p>
            <a:r>
              <a:rPr lang="en-US"/>
              <a:t>Click icon to add picture</a:t>
            </a:r>
          </a:p>
        </p:txBody>
      </p:sp>
      <p:sp>
        <p:nvSpPr>
          <p:cNvPr id="63" name="Text Placeholder 62">
            <a:extLst>
              <a:ext uri="{FF2B5EF4-FFF2-40B4-BE49-F238E27FC236}">
                <a16:creationId xmlns:a16="http://schemas.microsoft.com/office/drawing/2014/main" id="{17A96A8C-F792-485A-9BB9-4DEDCA0CE6B8}"/>
              </a:ext>
            </a:extLst>
          </p:cNvPr>
          <p:cNvSpPr>
            <a:spLocks noGrp="1"/>
          </p:cNvSpPr>
          <p:nvPr>
            <p:ph type="body" sz="quarter" idx="18" hasCustomPrompt="1"/>
          </p:nvPr>
        </p:nvSpPr>
        <p:spPr>
          <a:xfrm>
            <a:off x="1079500" y="3781425"/>
            <a:ext cx="1711325" cy="365760"/>
          </a:xfrm>
        </p:spPr>
        <p:txBody>
          <a:bodyPr>
            <a:noAutofit/>
          </a:bodyPr>
          <a:lstStyle>
            <a:lvl1pPr>
              <a:buNone/>
              <a:defRPr sz="2000" b="1"/>
            </a:lvl1pPr>
          </a:lstStyle>
          <a:p>
            <a:pPr lvl="0"/>
            <a:r>
              <a:rPr lang="en-US" dirty="0"/>
              <a:t>Name</a:t>
            </a:r>
          </a:p>
        </p:txBody>
      </p:sp>
      <p:sp>
        <p:nvSpPr>
          <p:cNvPr id="61" name="Text Placeholder 60">
            <a:extLst>
              <a:ext uri="{FF2B5EF4-FFF2-40B4-BE49-F238E27FC236}">
                <a16:creationId xmlns:a16="http://schemas.microsoft.com/office/drawing/2014/main" id="{6C65AE07-519E-4E3B-8521-621C8343914D}"/>
              </a:ext>
            </a:extLst>
          </p:cNvPr>
          <p:cNvSpPr>
            <a:spLocks noGrp="1"/>
          </p:cNvSpPr>
          <p:nvPr>
            <p:ph type="body" sz="quarter" idx="17" hasCustomPrompt="1"/>
          </p:nvPr>
        </p:nvSpPr>
        <p:spPr>
          <a:xfrm>
            <a:off x="1078733" y="4232949"/>
            <a:ext cx="1711572" cy="638175"/>
          </a:xfrm>
        </p:spPr>
        <p:txBody>
          <a:bodyPr>
            <a:noAutofit/>
          </a:bodyPr>
          <a:lstStyle>
            <a:lvl1pPr>
              <a:buNone/>
              <a:defRPr sz="1800"/>
            </a:lvl1pPr>
          </a:lstStyle>
          <a:p>
            <a:pPr lvl="0"/>
            <a:r>
              <a:rPr lang="en-US" dirty="0"/>
              <a:t>Title</a:t>
            </a:r>
          </a:p>
        </p:txBody>
      </p:sp>
      <p:sp>
        <p:nvSpPr>
          <p:cNvPr id="65" name="Text Placeholder 62">
            <a:extLst>
              <a:ext uri="{FF2B5EF4-FFF2-40B4-BE49-F238E27FC236}">
                <a16:creationId xmlns:a16="http://schemas.microsoft.com/office/drawing/2014/main" id="{FB878318-C287-428B-8105-429BC4B03F55}"/>
              </a:ext>
            </a:extLst>
          </p:cNvPr>
          <p:cNvSpPr>
            <a:spLocks noGrp="1"/>
          </p:cNvSpPr>
          <p:nvPr>
            <p:ph type="body" sz="quarter" idx="20" hasCustomPrompt="1"/>
          </p:nvPr>
        </p:nvSpPr>
        <p:spPr>
          <a:xfrm>
            <a:off x="3839151" y="3781425"/>
            <a:ext cx="1711325" cy="365760"/>
          </a:xfrm>
        </p:spPr>
        <p:txBody>
          <a:bodyPr>
            <a:noAutofit/>
          </a:bodyPr>
          <a:lstStyle>
            <a:lvl1pPr>
              <a:buNone/>
              <a:defRPr sz="2000" b="1"/>
            </a:lvl1pPr>
          </a:lstStyle>
          <a:p>
            <a:pPr lvl="0"/>
            <a:r>
              <a:rPr lang="en-US" dirty="0"/>
              <a:t>Name</a:t>
            </a:r>
          </a:p>
        </p:txBody>
      </p:sp>
      <p:sp>
        <p:nvSpPr>
          <p:cNvPr id="64" name="Text Placeholder 60">
            <a:extLst>
              <a:ext uri="{FF2B5EF4-FFF2-40B4-BE49-F238E27FC236}">
                <a16:creationId xmlns:a16="http://schemas.microsoft.com/office/drawing/2014/main" id="{1465E516-2CEF-4F9E-9375-7D41DCFCBB41}"/>
              </a:ext>
            </a:extLst>
          </p:cNvPr>
          <p:cNvSpPr>
            <a:spLocks noGrp="1"/>
          </p:cNvSpPr>
          <p:nvPr>
            <p:ph type="body" sz="quarter" idx="19" hasCustomPrompt="1"/>
          </p:nvPr>
        </p:nvSpPr>
        <p:spPr>
          <a:xfrm>
            <a:off x="3838384" y="4232949"/>
            <a:ext cx="1711572" cy="638175"/>
          </a:xfrm>
        </p:spPr>
        <p:txBody>
          <a:bodyPr>
            <a:noAutofit/>
          </a:bodyPr>
          <a:lstStyle>
            <a:lvl1pPr>
              <a:buNone/>
              <a:defRPr sz="1800"/>
            </a:lvl1pPr>
          </a:lstStyle>
          <a:p>
            <a:pPr lvl="0"/>
            <a:r>
              <a:rPr lang="en-US" dirty="0"/>
              <a:t>Title</a:t>
            </a:r>
          </a:p>
        </p:txBody>
      </p:sp>
      <p:sp>
        <p:nvSpPr>
          <p:cNvPr id="67" name="Text Placeholder 62">
            <a:extLst>
              <a:ext uri="{FF2B5EF4-FFF2-40B4-BE49-F238E27FC236}">
                <a16:creationId xmlns:a16="http://schemas.microsoft.com/office/drawing/2014/main" id="{FE012CE3-36AA-4016-A88E-27BCFFEFD69F}"/>
              </a:ext>
            </a:extLst>
          </p:cNvPr>
          <p:cNvSpPr>
            <a:spLocks noGrp="1"/>
          </p:cNvSpPr>
          <p:nvPr>
            <p:ph type="body" sz="quarter" idx="22" hasCustomPrompt="1"/>
          </p:nvPr>
        </p:nvSpPr>
        <p:spPr>
          <a:xfrm>
            <a:off x="6662743" y="3781425"/>
            <a:ext cx="1711325" cy="365760"/>
          </a:xfrm>
        </p:spPr>
        <p:txBody>
          <a:bodyPr>
            <a:noAutofit/>
          </a:bodyPr>
          <a:lstStyle>
            <a:lvl1pPr>
              <a:buNone/>
              <a:defRPr sz="2000" b="1"/>
            </a:lvl1pPr>
          </a:lstStyle>
          <a:p>
            <a:pPr lvl="0"/>
            <a:r>
              <a:rPr lang="en-US" dirty="0"/>
              <a:t>Name</a:t>
            </a:r>
          </a:p>
        </p:txBody>
      </p:sp>
      <p:sp>
        <p:nvSpPr>
          <p:cNvPr id="66" name="Text Placeholder 60">
            <a:extLst>
              <a:ext uri="{FF2B5EF4-FFF2-40B4-BE49-F238E27FC236}">
                <a16:creationId xmlns:a16="http://schemas.microsoft.com/office/drawing/2014/main" id="{8D5671AF-0137-4226-8A84-2784817E519C}"/>
              </a:ext>
            </a:extLst>
          </p:cNvPr>
          <p:cNvSpPr>
            <a:spLocks noGrp="1"/>
          </p:cNvSpPr>
          <p:nvPr>
            <p:ph type="body" sz="quarter" idx="21" hasCustomPrompt="1"/>
          </p:nvPr>
        </p:nvSpPr>
        <p:spPr>
          <a:xfrm>
            <a:off x="6661976" y="4232949"/>
            <a:ext cx="1711572" cy="638175"/>
          </a:xfrm>
        </p:spPr>
        <p:txBody>
          <a:bodyPr>
            <a:noAutofit/>
          </a:bodyPr>
          <a:lstStyle>
            <a:lvl1pPr>
              <a:buNone/>
              <a:defRPr sz="1800"/>
            </a:lvl1pPr>
          </a:lstStyle>
          <a:p>
            <a:pPr lvl="0"/>
            <a:r>
              <a:rPr lang="en-US" dirty="0"/>
              <a:t>Title</a:t>
            </a:r>
          </a:p>
        </p:txBody>
      </p:sp>
      <p:sp>
        <p:nvSpPr>
          <p:cNvPr id="69" name="Text Placeholder 62">
            <a:extLst>
              <a:ext uri="{FF2B5EF4-FFF2-40B4-BE49-F238E27FC236}">
                <a16:creationId xmlns:a16="http://schemas.microsoft.com/office/drawing/2014/main" id="{DA1587F0-23BF-4FB8-B06C-2B0AA928E931}"/>
              </a:ext>
            </a:extLst>
          </p:cNvPr>
          <p:cNvSpPr>
            <a:spLocks noGrp="1"/>
          </p:cNvSpPr>
          <p:nvPr>
            <p:ph type="body" sz="quarter" idx="24" hasCustomPrompt="1"/>
          </p:nvPr>
        </p:nvSpPr>
        <p:spPr>
          <a:xfrm>
            <a:off x="9433112" y="3787288"/>
            <a:ext cx="1711325" cy="365760"/>
          </a:xfrm>
        </p:spPr>
        <p:txBody>
          <a:bodyPr>
            <a:noAutofit/>
          </a:bodyPr>
          <a:lstStyle>
            <a:lvl1pPr>
              <a:buNone/>
              <a:defRPr sz="2000" b="1"/>
            </a:lvl1pPr>
          </a:lstStyle>
          <a:p>
            <a:pPr lvl="0"/>
            <a:r>
              <a:rPr lang="en-US" dirty="0"/>
              <a:t>Name</a:t>
            </a:r>
          </a:p>
        </p:txBody>
      </p:sp>
      <p:sp>
        <p:nvSpPr>
          <p:cNvPr id="68" name="Text Placeholder 60">
            <a:extLst>
              <a:ext uri="{FF2B5EF4-FFF2-40B4-BE49-F238E27FC236}">
                <a16:creationId xmlns:a16="http://schemas.microsoft.com/office/drawing/2014/main" id="{565C0B22-B5E7-44BB-A17C-7FB5BB5D82BB}"/>
              </a:ext>
            </a:extLst>
          </p:cNvPr>
          <p:cNvSpPr>
            <a:spLocks noGrp="1"/>
          </p:cNvSpPr>
          <p:nvPr>
            <p:ph type="body" sz="quarter" idx="23" hasCustomPrompt="1"/>
          </p:nvPr>
        </p:nvSpPr>
        <p:spPr>
          <a:xfrm>
            <a:off x="9432345" y="4238812"/>
            <a:ext cx="1711572" cy="638175"/>
          </a:xfrm>
        </p:spPr>
        <p:txBody>
          <a:bodyPr>
            <a:noAutofit/>
          </a:bodyPr>
          <a:lstStyle>
            <a:lvl1pPr>
              <a:buNone/>
              <a:defRPr sz="1800"/>
            </a:lvl1pPr>
          </a:lstStyle>
          <a:p>
            <a:pPr lvl="0"/>
            <a:r>
              <a:rPr lang="en-US" dirty="0"/>
              <a:t>Title</a:t>
            </a:r>
          </a:p>
        </p:txBody>
      </p:sp>
      <p:sp>
        <p:nvSpPr>
          <p:cNvPr id="4" name="Date Placeholder 3">
            <a:extLst>
              <a:ext uri="{FF2B5EF4-FFF2-40B4-BE49-F238E27FC236}">
                <a16:creationId xmlns:a16="http://schemas.microsoft.com/office/drawing/2014/main" id="{D8661572-1A59-4E3B-BA65-3329E9468C69}"/>
              </a:ext>
            </a:extLst>
          </p:cNvPr>
          <p:cNvSpPr>
            <a:spLocks noGrp="1"/>
          </p:cNvSpPr>
          <p:nvPr>
            <p:ph type="dt" sz="half" idx="10"/>
          </p:nvPr>
        </p:nvSpPr>
        <p:spPr/>
        <p:txBody>
          <a:bodyPr>
            <a:noAutofit/>
          </a:bodyPr>
          <a:lstStyle/>
          <a:p>
            <a:r>
              <a:rPr lang="en-US"/>
              <a:t>Tuesday, February 2, 20XX</a:t>
            </a:r>
          </a:p>
        </p:txBody>
      </p:sp>
      <p:sp>
        <p:nvSpPr>
          <p:cNvPr id="5" name="Footer Placeholder 4">
            <a:extLst>
              <a:ext uri="{FF2B5EF4-FFF2-40B4-BE49-F238E27FC236}">
                <a16:creationId xmlns:a16="http://schemas.microsoft.com/office/drawing/2014/main" id="{AFEF84F1-99FE-4F0B-9E76-F581C2C1B6D9}"/>
              </a:ext>
            </a:extLst>
          </p:cNvPr>
          <p:cNvSpPr>
            <a:spLocks noGrp="1"/>
          </p:cNvSpPr>
          <p:nvPr>
            <p:ph type="ftr" sz="quarter" idx="11"/>
          </p:nvPr>
        </p:nvSpPr>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97B2D769-16B1-43C4-BF14-3175533511ED}"/>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39903027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10_Content 2 column (comparison slide)">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FD65A50E-2F73-4426-8586-9731AFA2D2E0}"/>
              </a:ext>
            </a:extLst>
          </p:cNvPr>
          <p:cNvSpPr>
            <a:spLocks noChangeAspect="1"/>
          </p:cNvSpPr>
          <p:nvPr/>
        </p:nvSpPr>
        <p:spPr>
          <a:xfrm>
            <a:off x="11091612" y="58934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a:extLst>
              <a:ext uri="{FF2B5EF4-FFF2-40B4-BE49-F238E27FC236}">
                <a16:creationId xmlns:a16="http://schemas.microsoft.com/office/drawing/2014/main" id="{EB89C080-4102-49AE-BDA9-59A4A67E2486}"/>
              </a:ext>
            </a:extLst>
          </p:cNvPr>
          <p:cNvSpPr/>
          <p:nvPr/>
        </p:nvSpPr>
        <p:spPr>
          <a:xfrm>
            <a:off x="11451612" y="5827878"/>
            <a:ext cx="379049" cy="360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 name="Title 1">
            <a:extLst>
              <a:ext uri="{FF2B5EF4-FFF2-40B4-BE49-F238E27FC236}">
                <a16:creationId xmlns:a16="http://schemas.microsoft.com/office/drawing/2014/main" id="{DDE62014-F04C-495A-964E-6B888D49CDE9}"/>
              </a:ext>
            </a:extLst>
          </p:cNvPr>
          <p:cNvSpPr>
            <a:spLocks noGrp="1"/>
          </p:cNvSpPr>
          <p:nvPr>
            <p:ph type="title"/>
          </p:nvPr>
        </p:nvSpPr>
        <p:spPr>
          <a:xfrm>
            <a:off x="550862" y="549275"/>
            <a:ext cx="11097551" cy="1332000"/>
          </a:xfrm>
        </p:spPr>
        <p:txBody>
          <a:bodyPr vert="horz" wrap="square" lIns="0" tIns="0" rIns="0" bIns="0" rtlCol="0" anchor="t" anchorCtr="0">
            <a:noAutofit/>
          </a:bodyPr>
          <a:lstStyle>
            <a:lvl1pPr>
              <a:defRPr lang="en-US" sz="4800" dirty="0"/>
            </a:lvl1p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555DF027-E633-44EE-ACA0-C205930AA93E}"/>
              </a:ext>
            </a:extLst>
          </p:cNvPr>
          <p:cNvSpPr>
            <a:spLocks noGrp="1"/>
          </p:cNvSpPr>
          <p:nvPr>
            <p:ph type="body" idx="1"/>
          </p:nvPr>
        </p:nvSpPr>
        <p:spPr>
          <a:xfrm>
            <a:off x="550864" y="1731375"/>
            <a:ext cx="5437186" cy="535354"/>
          </a:xfrm>
        </p:spPr>
        <p:txBody>
          <a:bodyPr anchor="b">
            <a:noAutofit/>
          </a:bodyPr>
          <a:lstStyle>
            <a:lvl1pPr marL="0" indent="0">
              <a:buNone/>
              <a:defRPr sz="14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A4F363-FEEF-4CD2-A18E-17AE8D485171}"/>
              </a:ext>
            </a:extLst>
          </p:cNvPr>
          <p:cNvSpPr>
            <a:spLocks noGrp="1"/>
          </p:cNvSpPr>
          <p:nvPr>
            <p:ph sz="half" idx="2"/>
          </p:nvPr>
        </p:nvSpPr>
        <p:spPr>
          <a:xfrm>
            <a:off x="550863" y="2427370"/>
            <a:ext cx="5429114" cy="3515555"/>
          </a:xfrm>
        </p:spPr>
        <p:txBody>
          <a:bodyPr>
            <a:noAutofit/>
          </a:bodyPr>
          <a:lstStyle>
            <a:lvl1pPr>
              <a:defRPr sz="24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34E50F8C-4D64-40FD-AE8C-6A1F3C2A84ED}"/>
              </a:ext>
            </a:extLst>
          </p:cNvPr>
          <p:cNvSpPr>
            <a:spLocks noGrp="1"/>
          </p:cNvSpPr>
          <p:nvPr>
            <p:ph type="body" sz="quarter" idx="3"/>
          </p:nvPr>
        </p:nvSpPr>
        <p:spPr>
          <a:xfrm>
            <a:off x="6212024" y="1731375"/>
            <a:ext cx="5436392" cy="535354"/>
          </a:xfrm>
        </p:spPr>
        <p:txBody>
          <a:bodyPr vert="horz" wrap="square" lIns="0" tIns="0" rIns="0" bIns="0" rtlCol="0" anchor="b">
            <a:noAutofit/>
          </a:bodyPr>
          <a:lstStyle>
            <a:lvl1pPr>
              <a:buNone/>
              <a:defRPr lang="en-US" sz="1400" b="0" cap="all" spc="200" baseline="0" dirty="0">
                <a:solidFill>
                  <a:schemeClr val="tx1"/>
                </a:solidFill>
              </a:defRPr>
            </a:lvl1pPr>
          </a:lstStyle>
          <a:p>
            <a:pPr marL="228600" lvl="0" indent="-228600"/>
            <a:r>
              <a:rPr lang="en-US"/>
              <a:t>Click to edit Master text styles</a:t>
            </a:r>
          </a:p>
        </p:txBody>
      </p:sp>
      <p:sp>
        <p:nvSpPr>
          <p:cNvPr id="6" name="Content Placeholder 5">
            <a:extLst>
              <a:ext uri="{FF2B5EF4-FFF2-40B4-BE49-F238E27FC236}">
                <a16:creationId xmlns:a16="http://schemas.microsoft.com/office/drawing/2014/main" id="{A7AC943E-DB2B-40E0-907F-8EA1404791DE}"/>
              </a:ext>
            </a:extLst>
          </p:cNvPr>
          <p:cNvSpPr>
            <a:spLocks noGrp="1"/>
          </p:cNvSpPr>
          <p:nvPr>
            <p:ph sz="quarter" idx="4"/>
          </p:nvPr>
        </p:nvSpPr>
        <p:spPr>
          <a:xfrm>
            <a:off x="6212023" y="2427370"/>
            <a:ext cx="5436391" cy="3515555"/>
          </a:xfrm>
        </p:spPr>
        <p:txBody>
          <a:bodyPr>
            <a:noAutofit/>
          </a:bodyPr>
          <a:lstStyle>
            <a:lvl1pPr>
              <a:defRPr sz="24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CDCD5B-3F26-4AFA-8BD4-E5D8DD2AF494}"/>
              </a:ext>
            </a:extLst>
          </p:cNvPr>
          <p:cNvSpPr>
            <a:spLocks noGrp="1"/>
          </p:cNvSpPr>
          <p:nvPr>
            <p:ph type="dt" sz="half" idx="10"/>
          </p:nvPr>
        </p:nvSpPr>
        <p:spPr/>
        <p:txBody>
          <a:bodyPr>
            <a:noAutofit/>
          </a:bodyPr>
          <a:lstStyle/>
          <a:p>
            <a:r>
              <a:rPr lang="en-US"/>
              <a:t>Tuesday, February 2, 20XX</a:t>
            </a:r>
          </a:p>
        </p:txBody>
      </p:sp>
      <p:sp>
        <p:nvSpPr>
          <p:cNvPr id="8" name="Footer Placeholder 7">
            <a:extLst>
              <a:ext uri="{FF2B5EF4-FFF2-40B4-BE49-F238E27FC236}">
                <a16:creationId xmlns:a16="http://schemas.microsoft.com/office/drawing/2014/main" id="{3D10D1EE-83A0-4FB5-9B25-8A73DE891A87}"/>
              </a:ext>
            </a:extLst>
          </p:cNvPr>
          <p:cNvSpPr>
            <a:spLocks noGrp="1"/>
          </p:cNvSpPr>
          <p:nvPr>
            <p:ph type="ftr" sz="quarter" idx="11"/>
          </p:nvPr>
        </p:nvSpPr>
        <p:spPr/>
        <p:txBody>
          <a:bodyPr>
            <a:noAutofit/>
          </a:bodyPr>
          <a:lstStyle/>
          <a:p>
            <a:r>
              <a:rPr lang="en-US"/>
              <a:t>Sample Footer Text</a:t>
            </a:r>
          </a:p>
        </p:txBody>
      </p:sp>
      <p:sp>
        <p:nvSpPr>
          <p:cNvPr id="9" name="Slide Number Placeholder 8">
            <a:extLst>
              <a:ext uri="{FF2B5EF4-FFF2-40B4-BE49-F238E27FC236}">
                <a16:creationId xmlns:a16="http://schemas.microsoft.com/office/drawing/2014/main" id="{03031C35-2E5B-491D-85ED-DB42A4FE1623}"/>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11892659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1_Content 3 column">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p:nvPr/>
        </p:nvGrpSpPr>
        <p:grpSpPr>
          <a:xfrm>
            <a:off x="137931" y="5260967"/>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19" name="Freeform: Shape 18">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ChangeAspect="1"/>
          </p:cNvSpPr>
          <p:nvPr/>
        </p:nvSpPr>
        <p:spPr>
          <a:xfrm rot="2700000">
            <a:off x="10834944" y="17126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p:nvPr/>
        </p:nvSpPr>
        <p:spPr>
          <a:xfrm rot="8100000">
            <a:off x="10849344" y="51834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Title 1">
            <a:extLst>
              <a:ext uri="{FF2B5EF4-FFF2-40B4-BE49-F238E27FC236}">
                <a16:creationId xmlns:a16="http://schemas.microsoft.com/office/drawing/2014/main" id="{EBCCE83C-72C8-4181-8D03-7CFB23A6FF2D}"/>
              </a:ext>
            </a:extLst>
          </p:cNvPr>
          <p:cNvSpPr>
            <a:spLocks noGrp="1"/>
          </p:cNvSpPr>
          <p:nvPr>
            <p:ph type="title"/>
          </p:nvPr>
        </p:nvSpPr>
        <p:spPr>
          <a:xfrm>
            <a:off x="550862" y="549275"/>
            <a:ext cx="11097551" cy="1332000"/>
          </a:xfrm>
        </p:spPr>
        <p:txBody>
          <a:bodyPr vert="horz" wrap="square" lIns="0" tIns="0" rIns="0" bIns="0" rtlCol="0" anchor="t" anchorCtr="0">
            <a:noAutofit/>
          </a:bodyPr>
          <a:lstStyle>
            <a:lvl1pPr>
              <a:defRPr lang="en-US" sz="4800" dirty="0"/>
            </a:lvl1pPr>
          </a:lstStyle>
          <a:p>
            <a:pPr lvl="0">
              <a:lnSpc>
                <a:spcPct val="100000"/>
              </a:lnSpc>
            </a:pPr>
            <a:r>
              <a:rPr lang="en-US"/>
              <a:t>Click to edit Master title style</a:t>
            </a:r>
            <a:endParaRPr lang="en-US" dirty="0"/>
          </a:p>
        </p:txBody>
      </p:sp>
      <p:sp>
        <p:nvSpPr>
          <p:cNvPr id="16" name="Text Placeholder 2">
            <a:extLst>
              <a:ext uri="{FF2B5EF4-FFF2-40B4-BE49-F238E27FC236}">
                <a16:creationId xmlns:a16="http://schemas.microsoft.com/office/drawing/2014/main" id="{C6FCDFCC-38D1-43A4-918F-491DBA6B2CF6}"/>
              </a:ext>
            </a:extLst>
          </p:cNvPr>
          <p:cNvSpPr>
            <a:spLocks noGrp="1"/>
          </p:cNvSpPr>
          <p:nvPr>
            <p:ph type="body" idx="1"/>
          </p:nvPr>
        </p:nvSpPr>
        <p:spPr>
          <a:xfrm>
            <a:off x="550864" y="1731375"/>
            <a:ext cx="3563936" cy="535354"/>
          </a:xfrm>
        </p:spPr>
        <p:txBody>
          <a:bodyPr anchor="b">
            <a:noAutofit/>
          </a:bodyPr>
          <a:lstStyle>
            <a:lvl1pPr marL="0" indent="0">
              <a:buNone/>
              <a:defRPr sz="20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Content Placeholder 3">
            <a:extLst>
              <a:ext uri="{FF2B5EF4-FFF2-40B4-BE49-F238E27FC236}">
                <a16:creationId xmlns:a16="http://schemas.microsoft.com/office/drawing/2014/main" id="{8A9CB740-8581-4D62-8481-7ECBBEDA7219}"/>
              </a:ext>
            </a:extLst>
          </p:cNvPr>
          <p:cNvSpPr>
            <a:spLocks noGrp="1"/>
          </p:cNvSpPr>
          <p:nvPr>
            <p:ph sz="half" idx="2"/>
          </p:nvPr>
        </p:nvSpPr>
        <p:spPr>
          <a:xfrm>
            <a:off x="559476" y="2432304"/>
            <a:ext cx="3563936" cy="3515555"/>
          </a:xfrm>
        </p:spPr>
        <p:txBody>
          <a:bodyPr>
            <a:no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4">
            <a:extLst>
              <a:ext uri="{FF2B5EF4-FFF2-40B4-BE49-F238E27FC236}">
                <a16:creationId xmlns:a16="http://schemas.microsoft.com/office/drawing/2014/main" id="{AB16E493-D962-46EC-BBB8-D7E68A640438}"/>
              </a:ext>
            </a:extLst>
          </p:cNvPr>
          <p:cNvSpPr>
            <a:spLocks noGrp="1"/>
          </p:cNvSpPr>
          <p:nvPr>
            <p:ph type="body" sz="quarter" idx="13"/>
          </p:nvPr>
        </p:nvSpPr>
        <p:spPr>
          <a:xfrm>
            <a:off x="4341573" y="1731375"/>
            <a:ext cx="3566160" cy="535354"/>
          </a:xfrm>
        </p:spPr>
        <p:txBody>
          <a:bodyPr vert="horz" wrap="square" lIns="0" tIns="0" rIns="0" bIns="0" rtlCol="0" anchor="b">
            <a:noAutofit/>
          </a:bodyPr>
          <a:lstStyle>
            <a:lvl1pPr>
              <a:buNone/>
              <a:defRPr lang="en-US" sz="2000" b="0" cap="all" spc="200" baseline="0" dirty="0">
                <a:solidFill>
                  <a:schemeClr val="tx1"/>
                </a:solidFill>
              </a:defRPr>
            </a:lvl1pPr>
          </a:lstStyle>
          <a:p>
            <a:pPr marL="228600" lvl="0" indent="-228600"/>
            <a:r>
              <a:rPr lang="en-US"/>
              <a:t>Click to edit Master text styles</a:t>
            </a:r>
          </a:p>
        </p:txBody>
      </p:sp>
      <p:sp>
        <p:nvSpPr>
          <p:cNvPr id="23" name="Content Placeholder 5">
            <a:extLst>
              <a:ext uri="{FF2B5EF4-FFF2-40B4-BE49-F238E27FC236}">
                <a16:creationId xmlns:a16="http://schemas.microsoft.com/office/drawing/2014/main" id="{88CC7C67-1BA6-42A6-B9D3-8EDF70A3DB38}"/>
              </a:ext>
            </a:extLst>
          </p:cNvPr>
          <p:cNvSpPr>
            <a:spLocks noGrp="1"/>
          </p:cNvSpPr>
          <p:nvPr>
            <p:ph sz="quarter" idx="14"/>
          </p:nvPr>
        </p:nvSpPr>
        <p:spPr>
          <a:xfrm>
            <a:off x="4341573" y="2427370"/>
            <a:ext cx="3508755" cy="3515555"/>
          </a:xfrm>
        </p:spPr>
        <p:txBody>
          <a:bodyPr>
            <a:noAutofit/>
          </a:bodyPr>
          <a:lstStyle>
            <a:lvl1pPr>
              <a:defRPr sz="1700"/>
            </a:lvl1pPr>
            <a:lvl2pPr>
              <a:defRPr sz="1700"/>
            </a:lvl2pPr>
            <a:lvl3pPr>
              <a:defRPr sz="1700"/>
            </a:lvl3pPr>
            <a:lvl4pPr>
              <a:defRPr sz="1700"/>
            </a:lvl4pPr>
            <a:lvl5pPr>
              <a:defRPr sz="1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4">
            <a:extLst>
              <a:ext uri="{FF2B5EF4-FFF2-40B4-BE49-F238E27FC236}">
                <a16:creationId xmlns:a16="http://schemas.microsoft.com/office/drawing/2014/main" id="{C17092A6-D0E6-4EF2-B3B8-AE35438D4D77}"/>
              </a:ext>
            </a:extLst>
          </p:cNvPr>
          <p:cNvSpPr>
            <a:spLocks noGrp="1"/>
          </p:cNvSpPr>
          <p:nvPr>
            <p:ph type="body" sz="quarter" idx="3" hasCustomPrompt="1"/>
          </p:nvPr>
        </p:nvSpPr>
        <p:spPr>
          <a:xfrm>
            <a:off x="8139659" y="1731375"/>
            <a:ext cx="3566160" cy="535354"/>
          </a:xfrm>
        </p:spPr>
        <p:txBody>
          <a:bodyPr vert="horz" wrap="square" lIns="0" tIns="0" rIns="0" bIns="0" rtlCol="0" anchor="b">
            <a:noAutofit/>
          </a:bodyPr>
          <a:lstStyle>
            <a:lvl1pPr>
              <a:buNone/>
              <a:defRPr lang="en-US" sz="2000" b="0" cap="all" spc="200" baseline="0" dirty="0">
                <a:solidFill>
                  <a:schemeClr val="tx1"/>
                </a:solidFill>
              </a:defRPr>
            </a:lvl1pPr>
          </a:lstStyle>
          <a:p>
            <a:pPr marL="228600" lvl="0" indent="-228600"/>
            <a:r>
              <a:rPr lang="en-US" dirty="0"/>
              <a:t>Click to EDIT</a:t>
            </a:r>
          </a:p>
        </p:txBody>
      </p:sp>
      <p:sp>
        <p:nvSpPr>
          <p:cNvPr id="21" name="Content Placeholder 5">
            <a:extLst>
              <a:ext uri="{FF2B5EF4-FFF2-40B4-BE49-F238E27FC236}">
                <a16:creationId xmlns:a16="http://schemas.microsoft.com/office/drawing/2014/main" id="{4534254A-2561-400F-87CB-18A8D3538124}"/>
              </a:ext>
            </a:extLst>
          </p:cNvPr>
          <p:cNvSpPr>
            <a:spLocks noGrp="1"/>
          </p:cNvSpPr>
          <p:nvPr>
            <p:ph sz="quarter" idx="4"/>
          </p:nvPr>
        </p:nvSpPr>
        <p:spPr>
          <a:xfrm>
            <a:off x="8139659" y="2427370"/>
            <a:ext cx="3508755" cy="3515555"/>
          </a:xfrm>
        </p:spPr>
        <p:txBody>
          <a:bodyPr>
            <a:noAutofit/>
          </a:bodyPr>
          <a:lstStyle>
            <a:lvl1pPr>
              <a:defRPr sz="1700"/>
            </a:lvl1pPr>
            <a:lvl2pPr>
              <a:defRPr sz="1700"/>
            </a:lvl2pPr>
            <a:lvl3pPr>
              <a:defRPr sz="1700"/>
            </a:lvl3pPr>
            <a:lvl4pPr>
              <a:defRPr sz="1700"/>
            </a:lvl4pPr>
            <a:lvl5pPr>
              <a:defRPr sz="1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a:noAutofit/>
          </a:bodyPr>
          <a:lstStyle/>
          <a:p>
            <a:r>
              <a:rPr lang="en-US"/>
              <a:t>Tuesday, February 2, 20XX</a:t>
            </a:r>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26087971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2_Summary">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949202B-67AE-417A-A336-DF5257FFDCF0}"/>
              </a:ext>
            </a:extLst>
          </p:cNvPr>
          <p:cNvSpPr>
            <a:spLocks noGrp="1"/>
          </p:cNvSpPr>
          <p:nvPr>
            <p:ph type="title"/>
          </p:nvPr>
        </p:nvSpPr>
        <p:spPr>
          <a:xfrm>
            <a:off x="550863" y="4508500"/>
            <a:ext cx="4500562" cy="1562959"/>
          </a:xfrm>
        </p:spPr>
        <p:txBody>
          <a:bodyPr wrap="square" anchor="t" anchorCtr="0">
            <a:noAutofit/>
          </a:bodyPr>
          <a:lstStyle/>
          <a:p>
            <a:r>
              <a:rPr lang="en-US"/>
              <a:t>Click to edit Master title style</a:t>
            </a:r>
          </a:p>
        </p:txBody>
      </p:sp>
      <p:sp>
        <p:nvSpPr>
          <p:cNvPr id="10" name="Picture Placeholder 9">
            <a:extLst>
              <a:ext uri="{FF2B5EF4-FFF2-40B4-BE49-F238E27FC236}">
                <a16:creationId xmlns:a16="http://schemas.microsoft.com/office/drawing/2014/main" id="{1786D546-2834-435F-950F-DCEFE654B3B1}"/>
              </a:ext>
            </a:extLst>
          </p:cNvPr>
          <p:cNvSpPr>
            <a:spLocks noGrp="1"/>
          </p:cNvSpPr>
          <p:nvPr>
            <p:ph type="pic" sz="quarter" idx="13"/>
          </p:nvPr>
        </p:nvSpPr>
        <p:spPr>
          <a:xfrm>
            <a:off x="0" y="0"/>
            <a:ext cx="12192000" cy="3776472"/>
          </a:xfrm>
          <a:solidFill>
            <a:schemeClr val="accent5"/>
          </a:solidFill>
        </p:spPr>
        <p:txBody>
          <a:bodyPr>
            <a:noAutofit/>
          </a:bodyPr>
          <a:lstStyle/>
          <a:p>
            <a:r>
              <a:rPr lang="en-US"/>
              <a:t>Click icon to add picture</a:t>
            </a:r>
          </a:p>
        </p:txBody>
      </p:sp>
      <p:sp>
        <p:nvSpPr>
          <p:cNvPr id="7" name="Content Placeholder 6">
            <a:extLst>
              <a:ext uri="{FF2B5EF4-FFF2-40B4-BE49-F238E27FC236}">
                <a16:creationId xmlns:a16="http://schemas.microsoft.com/office/drawing/2014/main" id="{3BD763BD-EAC5-4DB8-81AF-9743BB6A9576}"/>
              </a:ext>
            </a:extLst>
          </p:cNvPr>
          <p:cNvSpPr>
            <a:spLocks noGrp="1"/>
          </p:cNvSpPr>
          <p:nvPr>
            <p:ph sz="quarter" idx="15"/>
          </p:nvPr>
        </p:nvSpPr>
        <p:spPr>
          <a:xfrm>
            <a:off x="5262411" y="4508500"/>
            <a:ext cx="6221412" cy="1563688"/>
          </a:xfrm>
        </p:spPr>
        <p:txBody>
          <a:bodyPr>
            <a:noAutofit/>
          </a:bodyPr>
          <a:lstStyle>
            <a:lvl1pPr marL="0" indent="0">
              <a:buNone/>
              <a:defRPr sz="2000"/>
            </a:lvl1pPr>
            <a:lvl2pPr>
              <a:buNone/>
              <a:defRPr sz="1900"/>
            </a:lvl2pPr>
            <a:lvl3pPr>
              <a:buNone/>
              <a:defRPr sz="1900"/>
            </a:lvl3pPr>
            <a:lvl4pPr>
              <a:buNone/>
              <a:defRPr sz="1900"/>
            </a:lvl4pPr>
            <a:lvl5pPr>
              <a:buNone/>
              <a:defRPr sz="1900"/>
            </a:lvl5pPr>
          </a:lstStyle>
          <a:p>
            <a:pPr lvl="0"/>
            <a:r>
              <a:rPr lang="en-US"/>
              <a:t>Click to edit Master text styles</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8" name="Oval 7">
            <a:extLst>
              <a:ext uri="{FF2B5EF4-FFF2-40B4-BE49-F238E27FC236}">
                <a16:creationId xmlns:a16="http://schemas.microsoft.com/office/drawing/2014/main" id="{446AF837-10C6-44A5-B8D6-960A57487B43}"/>
              </a:ext>
              <a:ext uri="{C183D7F6-B498-43B3-948B-1728B52AA6E4}">
                <adec:decorative xmlns:adec="http://schemas.microsoft.com/office/drawing/2017/decorative" val="1"/>
              </a:ext>
            </a:extLst>
          </p:cNvPr>
          <p:cNvSpPr>
            <a:spLocks noChangeAspect="1"/>
          </p:cNvSpPr>
          <p:nvPr userDrawn="1"/>
        </p:nvSpPr>
        <p:spPr>
          <a:xfrm>
            <a:off x="1225773" y="385222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9008422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3_Closing">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97246E34-E6EE-4BF3-A0D3-A20868B5A594}"/>
              </a:ext>
            </a:extLst>
          </p:cNvPr>
          <p:cNvSpPr>
            <a:spLocks noGrp="1"/>
          </p:cNvSpPr>
          <p:nvPr>
            <p:ph type="ctrTitle"/>
          </p:nvPr>
        </p:nvSpPr>
        <p:spPr>
          <a:xfrm>
            <a:off x="550863" y="549275"/>
            <a:ext cx="5437187" cy="2986234"/>
          </a:xfrm>
        </p:spPr>
        <p:txBody>
          <a:bodyPr anchor="b" anchorCtr="0">
            <a:noAutofit/>
          </a:bodyPr>
          <a:lstStyle/>
          <a:p>
            <a:r>
              <a:rPr lang="en-US"/>
              <a:t>Click to edit Master title style</a:t>
            </a:r>
            <a:endParaRPr lang="en-US" dirty="0"/>
          </a:p>
        </p:txBody>
      </p:sp>
      <p:sp>
        <p:nvSpPr>
          <p:cNvPr id="31" name="Subtitle 2">
            <a:extLst>
              <a:ext uri="{FF2B5EF4-FFF2-40B4-BE49-F238E27FC236}">
                <a16:creationId xmlns:a16="http://schemas.microsoft.com/office/drawing/2014/main" id="{45BE5FFB-47D1-4474-B6CA-C3C936DF285E}"/>
              </a:ext>
            </a:extLst>
          </p:cNvPr>
          <p:cNvSpPr>
            <a:spLocks noGrp="1"/>
          </p:cNvSpPr>
          <p:nvPr>
            <p:ph type="subTitle" idx="1"/>
          </p:nvPr>
        </p:nvSpPr>
        <p:spPr>
          <a:xfrm>
            <a:off x="550863" y="3827610"/>
            <a:ext cx="5437187" cy="2265216"/>
          </a:xfrm>
        </p:spPr>
        <p:txBody>
          <a:bodyPr>
            <a:noAutofit/>
          </a:bodyPr>
          <a:lstStyle>
            <a:lvl1pPr>
              <a:buNone/>
              <a:defRPr sz="2400"/>
            </a:lvl1pPr>
          </a:lstStyle>
          <a:p>
            <a:r>
              <a:rPr lang="en-US">
                <a:solidFill>
                  <a:schemeClr val="tx1">
                    <a:alpha val="60000"/>
                  </a:schemeClr>
                </a:solidFill>
              </a:rPr>
              <a:t>Click to edit Master subtitle style</a:t>
            </a:r>
            <a:endParaRPr lang="en-US" dirty="0">
              <a:solidFill>
                <a:schemeClr val="tx1">
                  <a:alpha val="60000"/>
                </a:schemeClr>
              </a:solidFill>
            </a:endParaRPr>
          </a:p>
        </p:txBody>
      </p:sp>
      <p:sp>
        <p:nvSpPr>
          <p:cNvPr id="40" name="Picture Placeholder 39">
            <a:extLst>
              <a:ext uri="{FF2B5EF4-FFF2-40B4-BE49-F238E27FC236}">
                <a16:creationId xmlns:a16="http://schemas.microsoft.com/office/drawing/2014/main" id="{008D9209-1A62-4AC3-BF92-94348A9BC06B}"/>
              </a:ext>
            </a:extLst>
          </p:cNvPr>
          <p:cNvSpPr>
            <a:spLocks noGrp="1"/>
          </p:cNvSpPr>
          <p:nvPr>
            <p:ph type="pic" sz="quarter" idx="15"/>
          </p:nvPr>
        </p:nvSpPr>
        <p:spPr>
          <a:xfrm>
            <a:off x="6556248" y="548640"/>
            <a:ext cx="5084064" cy="2880360"/>
          </a:xfrm>
          <a:solidFill>
            <a:schemeClr val="accent5"/>
          </a:solidFill>
        </p:spPr>
        <p:txBody>
          <a:bodyPr>
            <a:noAutofit/>
          </a:bodyPr>
          <a:lstStyle/>
          <a:p>
            <a:r>
              <a:rPr lang="en-US"/>
              <a:t>Click icon to add picture</a:t>
            </a:r>
          </a:p>
        </p:txBody>
      </p:sp>
      <p:sp>
        <p:nvSpPr>
          <p:cNvPr id="42" name="Picture Placeholder 41">
            <a:extLst>
              <a:ext uri="{FF2B5EF4-FFF2-40B4-BE49-F238E27FC236}">
                <a16:creationId xmlns:a16="http://schemas.microsoft.com/office/drawing/2014/main" id="{FADBFB6B-1787-4549-91B6-D748C66B13C6}"/>
              </a:ext>
            </a:extLst>
          </p:cNvPr>
          <p:cNvSpPr>
            <a:spLocks noGrp="1"/>
          </p:cNvSpPr>
          <p:nvPr>
            <p:ph type="pic" sz="quarter" idx="16"/>
          </p:nvPr>
        </p:nvSpPr>
        <p:spPr>
          <a:xfrm>
            <a:off x="6556248" y="3429000"/>
            <a:ext cx="5084064" cy="2880360"/>
          </a:xfrm>
          <a:solidFill>
            <a:schemeClr val="accent5"/>
          </a:solidFill>
        </p:spPr>
        <p:txBody>
          <a:bodyPr>
            <a:noAutofit/>
          </a:bodyPr>
          <a:lstStyle/>
          <a:p>
            <a:r>
              <a:rPr lang="en-US"/>
              <a:t>Click icon to add picture</a:t>
            </a:r>
          </a:p>
        </p:txBody>
      </p:sp>
      <p:grpSp>
        <p:nvGrpSpPr>
          <p:cNvPr id="43" name="Group 42">
            <a:extLst>
              <a:ext uri="{FF2B5EF4-FFF2-40B4-BE49-F238E27FC236}">
                <a16:creationId xmlns:a16="http://schemas.microsoft.com/office/drawing/2014/main" id="{06966E3E-9B30-4375-AC9A-23256CC87D25}"/>
              </a:ext>
              <a:ext uri="{C183D7F6-B498-43B3-948B-1728B52AA6E4}">
                <adec:decorative xmlns:adec="http://schemas.microsoft.com/office/drawing/2017/decorative" val="1"/>
              </a:ext>
            </a:extLst>
          </p:cNvPr>
          <p:cNvGrpSpPr/>
          <p:nvPr userDrawn="1"/>
        </p:nvGrpSpPr>
        <p:grpSpPr>
          <a:xfrm>
            <a:off x="11161347" y="125399"/>
            <a:ext cx="1404698" cy="1155641"/>
            <a:chOff x="11161347" y="125399"/>
            <a:chExt cx="1404698" cy="1155641"/>
          </a:xfrm>
        </p:grpSpPr>
        <p:sp>
          <p:nvSpPr>
            <p:cNvPr id="44" name="Freeform: Shape 43">
              <a:extLst>
                <a:ext uri="{FF2B5EF4-FFF2-40B4-BE49-F238E27FC236}">
                  <a16:creationId xmlns:a16="http://schemas.microsoft.com/office/drawing/2014/main" id="{4EBBC5A2-A37E-47DF-9230-9A75067F1883}"/>
                </a:ext>
              </a:extLst>
            </p:cNvPr>
            <p:cNvSpPr>
              <a:spLocks noChangeAspect="1"/>
            </p:cNvSpPr>
            <p:nvPr/>
          </p:nvSpPr>
          <p:spPr>
            <a:xfrm rot="18900000">
              <a:off x="11161347" y="125399"/>
              <a:ext cx="1341675" cy="926985"/>
            </a:xfrm>
            <a:custGeom>
              <a:avLst/>
              <a:gdLst>
                <a:gd name="connsiteX0" fmla="*/ 1049126 w 1341675"/>
                <a:gd name="connsiteY0" fmla="*/ 8962 h 926985"/>
                <a:gd name="connsiteX1" fmla="*/ 1341675 w 1341675"/>
                <a:gd name="connsiteY1" fmla="*/ 301511 h 926985"/>
                <a:gd name="connsiteX2" fmla="*/ 1130649 w 1341675"/>
                <a:gd name="connsiteY2" fmla="*/ 512537 h 926985"/>
                <a:gd name="connsiteX3" fmla="*/ 1107397 w 1341675"/>
                <a:gd name="connsiteY3" fmla="*/ 499917 h 926985"/>
                <a:gd name="connsiteX4" fmla="*/ 926985 w 1341675"/>
                <a:gd name="connsiteY4" fmla="*/ 463493 h 926985"/>
                <a:gd name="connsiteX5" fmla="*/ 463493 w 1341675"/>
                <a:gd name="connsiteY5" fmla="*/ 926985 h 926985"/>
                <a:gd name="connsiteX6" fmla="*/ 0 w 1341675"/>
                <a:gd name="connsiteY6" fmla="*/ 926985 h 926985"/>
                <a:gd name="connsiteX7" fmla="*/ 926985 w 1341675"/>
                <a:gd name="connsiteY7" fmla="*/ 0 h 926985"/>
                <a:gd name="connsiteX8" fmla="*/ 1021763 w 1341675"/>
                <a:gd name="connsiteY8" fmla="*/ 4786 h 926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1675" h="926985">
                  <a:moveTo>
                    <a:pt x="1049126" y="8962"/>
                  </a:moveTo>
                  <a:lnTo>
                    <a:pt x="1341675" y="301511"/>
                  </a:lnTo>
                  <a:lnTo>
                    <a:pt x="1130649" y="512537"/>
                  </a:lnTo>
                  <a:lnTo>
                    <a:pt x="1107397" y="499917"/>
                  </a:lnTo>
                  <a:cubicBezTo>
                    <a:pt x="1051945" y="476462"/>
                    <a:pt x="990979" y="463493"/>
                    <a:pt x="926985" y="463493"/>
                  </a:cubicBezTo>
                  <a:cubicBezTo>
                    <a:pt x="671005" y="463493"/>
                    <a:pt x="463493" y="671005"/>
                    <a:pt x="463493" y="926985"/>
                  </a:cubicBezTo>
                  <a:lnTo>
                    <a:pt x="0" y="926985"/>
                  </a:lnTo>
                  <a:cubicBezTo>
                    <a:pt x="0" y="415026"/>
                    <a:pt x="415025" y="0"/>
                    <a:pt x="926985" y="0"/>
                  </a:cubicBezTo>
                  <a:cubicBezTo>
                    <a:pt x="958982" y="0"/>
                    <a:pt x="990601" y="1621"/>
                    <a:pt x="1021763" y="4786"/>
                  </a:cubicBezTo>
                  <a:close/>
                </a:path>
              </a:pathLst>
            </a:custGeom>
            <a:solidFill>
              <a:schemeClr val="bg2"/>
            </a:solidFill>
            <a:ln>
              <a:noFill/>
            </a:ln>
            <a:effectLst>
              <a:innerShdw blurRad="254000" dist="50800" dir="54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5" name="Oval 44">
              <a:extLst>
                <a:ext uri="{FF2B5EF4-FFF2-40B4-BE49-F238E27FC236}">
                  <a16:creationId xmlns:a16="http://schemas.microsoft.com/office/drawing/2014/main" id="{11781B9A-C230-4FFC-90A8-E0571B1DEDA7}"/>
                </a:ext>
              </a:extLst>
            </p:cNvPr>
            <p:cNvSpPr/>
            <p:nvPr/>
          </p:nvSpPr>
          <p:spPr>
            <a:xfrm rot="2700000">
              <a:off x="11798454" y="994196"/>
              <a:ext cx="107098" cy="466589"/>
            </a:xfrm>
            <a:prstGeom prst="ellipse">
              <a:avLst/>
            </a:prstGeom>
            <a:solidFill>
              <a:schemeClr val="bg2"/>
            </a:solidFill>
            <a:ln>
              <a:noFill/>
            </a:ln>
            <a:effectLst>
              <a:innerShdw blurRad="63500" dist="254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6" name="Freeform: Shape 45">
              <a:extLst>
                <a:ext uri="{FF2B5EF4-FFF2-40B4-BE49-F238E27FC236}">
                  <a16:creationId xmlns:a16="http://schemas.microsoft.com/office/drawing/2014/main" id="{3295925C-3570-40F1-B3CE-07D947ED4643}"/>
                </a:ext>
              </a:extLst>
            </p:cNvPr>
            <p:cNvSpPr>
              <a:spLocks noChangeAspect="1"/>
            </p:cNvSpPr>
            <p:nvPr/>
          </p:nvSpPr>
          <p:spPr>
            <a:xfrm rot="18900000">
              <a:off x="11228590" y="129580"/>
              <a:ext cx="1337455" cy="1042921"/>
            </a:xfrm>
            <a:custGeom>
              <a:avLst/>
              <a:gdLst>
                <a:gd name="connsiteX0" fmla="*/ 1084058 w 1337455"/>
                <a:gd name="connsiteY0" fmla="*/ 16081 h 1042921"/>
                <a:gd name="connsiteX1" fmla="*/ 1337455 w 1337455"/>
                <a:gd name="connsiteY1" fmla="*/ 269477 h 1042921"/>
                <a:gd name="connsiteX2" fmla="*/ 1060775 w 1337455"/>
                <a:gd name="connsiteY2" fmla="*/ 546158 h 1042921"/>
                <a:gd name="connsiteX3" fmla="*/ 1020394 w 1337455"/>
                <a:gd name="connsiteY3" fmla="*/ 532055 h 1042921"/>
                <a:gd name="connsiteX4" fmla="*/ 926985 w 1337455"/>
                <a:gd name="connsiteY4" fmla="*/ 521461 h 1042921"/>
                <a:gd name="connsiteX5" fmla="*/ 463492 w 1337455"/>
                <a:gd name="connsiteY5" fmla="*/ 1042921 h 1042921"/>
                <a:gd name="connsiteX6" fmla="*/ 0 w 1337455"/>
                <a:gd name="connsiteY6" fmla="*/ 1042921 h 1042921"/>
                <a:gd name="connsiteX7" fmla="*/ 926984 w 1337455"/>
                <a:gd name="connsiteY7" fmla="*/ 0 h 1042921"/>
                <a:gd name="connsiteX8" fmla="*/ 1021763 w 1337455"/>
                <a:gd name="connsiteY8" fmla="*/ 5384 h 1042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7455" h="1042921">
                  <a:moveTo>
                    <a:pt x="1084058" y="16081"/>
                  </a:moveTo>
                  <a:lnTo>
                    <a:pt x="1337455" y="269477"/>
                  </a:lnTo>
                  <a:lnTo>
                    <a:pt x="1060775" y="546158"/>
                  </a:lnTo>
                  <a:lnTo>
                    <a:pt x="1020394" y="532055"/>
                  </a:lnTo>
                  <a:cubicBezTo>
                    <a:pt x="990222" y="525109"/>
                    <a:pt x="958982" y="521461"/>
                    <a:pt x="926985" y="521461"/>
                  </a:cubicBezTo>
                  <a:cubicBezTo>
                    <a:pt x="671005" y="521461"/>
                    <a:pt x="463493" y="754927"/>
                    <a:pt x="463492" y="1042921"/>
                  </a:cubicBezTo>
                  <a:lnTo>
                    <a:pt x="0" y="1042921"/>
                  </a:lnTo>
                  <a:cubicBezTo>
                    <a:pt x="0" y="466932"/>
                    <a:pt x="415025" y="0"/>
                    <a:pt x="926984" y="0"/>
                  </a:cubicBezTo>
                  <a:cubicBezTo>
                    <a:pt x="958982" y="0"/>
                    <a:pt x="990600" y="1824"/>
                    <a:pt x="1021763" y="5384"/>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grpSp>
      <p:grpSp>
        <p:nvGrpSpPr>
          <p:cNvPr id="15" name="Group 14">
            <a:extLst>
              <a:ext uri="{FF2B5EF4-FFF2-40B4-BE49-F238E27FC236}">
                <a16:creationId xmlns:a16="http://schemas.microsoft.com/office/drawing/2014/main" id="{394664AE-6DC5-428F-9AC4-5A8F67571F72}"/>
              </a:ext>
              <a:ext uri="{C183D7F6-B498-43B3-948B-1728B52AA6E4}">
                <adec:decorative xmlns:adec="http://schemas.microsoft.com/office/drawing/2017/decorative" val="1"/>
              </a:ext>
            </a:extLst>
          </p:cNvPr>
          <p:cNvGrpSpPr/>
          <p:nvPr userDrawn="1"/>
        </p:nvGrpSpPr>
        <p:grpSpPr>
          <a:xfrm>
            <a:off x="594036" y="5610392"/>
            <a:ext cx="667802" cy="631474"/>
            <a:chOff x="10478914" y="1506691"/>
            <a:chExt cx="667802" cy="631474"/>
          </a:xfrm>
        </p:grpSpPr>
        <p:sp>
          <p:nvSpPr>
            <p:cNvPr id="16" name="Freeform: Shape 15">
              <a:extLst>
                <a:ext uri="{FF2B5EF4-FFF2-40B4-BE49-F238E27FC236}">
                  <a16:creationId xmlns:a16="http://schemas.microsoft.com/office/drawing/2014/main" id="{8288F304-7DF7-42FB-BD6F-D575128A1DDE}"/>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104835D9-7DE9-4DDD-A6C2-1C526822700A}"/>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5" name="Date Placeholder 4">
            <a:extLst>
              <a:ext uri="{FF2B5EF4-FFF2-40B4-BE49-F238E27FC236}">
                <a16:creationId xmlns:a16="http://schemas.microsoft.com/office/drawing/2014/main" id="{E57D2D6F-49E8-4217-A908-2D9E43583589}"/>
              </a:ext>
            </a:extLst>
          </p:cNvPr>
          <p:cNvSpPr>
            <a:spLocks noGrp="1"/>
          </p:cNvSpPr>
          <p:nvPr>
            <p:ph type="dt" sz="half" idx="10"/>
          </p:nvPr>
        </p:nvSpPr>
        <p:spPr/>
        <p:txBody>
          <a:bodyPr>
            <a:noAutofit/>
          </a:bodyPr>
          <a:lstStyle/>
          <a:p>
            <a:r>
              <a:rPr lang="en-US"/>
              <a:t>Tuesday, February 2, 20XX</a:t>
            </a:r>
          </a:p>
        </p:txBody>
      </p:sp>
      <p:sp>
        <p:nvSpPr>
          <p:cNvPr id="6" name="Footer Placeholder 5">
            <a:extLst>
              <a:ext uri="{FF2B5EF4-FFF2-40B4-BE49-F238E27FC236}">
                <a16:creationId xmlns:a16="http://schemas.microsoft.com/office/drawing/2014/main" id="{591C4440-6B8D-4A24-A807-8B1302A3DFAF}"/>
              </a:ext>
            </a:extLst>
          </p:cNvPr>
          <p:cNvSpPr>
            <a:spLocks noGrp="1"/>
          </p:cNvSpPr>
          <p:nvPr>
            <p:ph type="ftr" sz="quarter" idx="11"/>
          </p:nvPr>
        </p:nvSpPr>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76CFE189-E20B-4108-B290-244424336512}"/>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17" name="Oval 16">
            <a:extLst>
              <a:ext uri="{FF2B5EF4-FFF2-40B4-BE49-F238E27FC236}">
                <a16:creationId xmlns:a16="http://schemas.microsoft.com/office/drawing/2014/main" id="{83C43C1C-00B3-40E0-B073-B8C56206D07D}"/>
              </a:ext>
              <a:ext uri="{C183D7F6-B498-43B3-948B-1728B52AA6E4}">
                <adec:decorative xmlns:adec="http://schemas.microsoft.com/office/drawing/2017/decorative" val="1"/>
              </a:ext>
            </a:extLst>
          </p:cNvPr>
          <p:cNvSpPr>
            <a:spLocks noChangeAspect="1"/>
          </p:cNvSpPr>
          <p:nvPr userDrawn="1"/>
        </p:nvSpPr>
        <p:spPr>
          <a:xfrm>
            <a:off x="5303845" y="5427212"/>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39662580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77394-0A20-4CF6-9066-CFC2C1C9D30F}"/>
              </a:ext>
            </a:extLst>
          </p:cNvPr>
          <p:cNvSpPr>
            <a:spLocks noGrp="1"/>
          </p:cNvSpPr>
          <p:nvPr>
            <p:ph type="ctrTitle"/>
          </p:nvPr>
        </p:nvSpPr>
        <p:spPr>
          <a:xfrm>
            <a:off x="3359149" y="389840"/>
            <a:ext cx="8281987" cy="2954655"/>
          </a:xfrm>
        </p:spPr>
        <p:txBody>
          <a:bodyPr anchor="t" anchorCtr="0">
            <a:noAutofit/>
          </a:bodyPr>
          <a:lstStyle>
            <a:lvl1pPr algn="l">
              <a:lnSpc>
                <a:spcPct val="100000"/>
              </a:lnSpc>
              <a:defRPr sz="6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F10971F-8922-4B23-9C80-0643D7E35026}"/>
              </a:ext>
            </a:extLst>
          </p:cNvPr>
          <p:cNvSpPr>
            <a:spLocks noGrp="1"/>
          </p:cNvSpPr>
          <p:nvPr>
            <p:ph type="subTitle" idx="1"/>
          </p:nvPr>
        </p:nvSpPr>
        <p:spPr>
          <a:xfrm>
            <a:off x="3359149" y="3536951"/>
            <a:ext cx="8281989" cy="2555874"/>
          </a:xfrm>
        </p:spPr>
        <p:txBody>
          <a:bodyPr>
            <a:noAutofit/>
          </a:bodyPr>
          <a:lstStyle>
            <a:lvl1pPr marL="0" indent="0" algn="l">
              <a:lnSpc>
                <a:spcPct val="100000"/>
              </a:lnSpc>
              <a:buNone/>
              <a:defRPr sz="2400">
                <a:solidFill>
                  <a:schemeClr val="tx1">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a:noAutofit/>
          </a:bodyPr>
          <a:lstStyle/>
          <a:p>
            <a:r>
              <a:rPr lang="en-US"/>
              <a:t>Tuesday, February 2, 20XX</a:t>
            </a:r>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19" name="Freeform: Shape 18">
            <a:extLst>
              <a:ext uri="{FF2B5EF4-FFF2-40B4-BE49-F238E27FC236}">
                <a16:creationId xmlns:a16="http://schemas.microsoft.com/office/drawing/2014/main" id="{82184FF4-7029-4ED7-813A-192E60608764}"/>
              </a:ext>
            </a:extLst>
          </p:cNvPr>
          <p:cNvSpPr>
            <a:spLocks noChangeAspect="1"/>
          </p:cNvSpPr>
          <p:nvPr/>
        </p:nvSpPr>
        <p:spPr>
          <a:xfrm rot="2700000">
            <a:off x="612445" y="48188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AAA7AB09-557C-41AD-9113-FF9F68FA1035}"/>
              </a:ext>
            </a:extLst>
          </p:cNvPr>
          <p:cNvSpPr/>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EF99ECAA-1F11-4937-BBA6-51935AB44C9D}"/>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4" name="Group 33">
            <a:extLst>
              <a:ext uri="{FF2B5EF4-FFF2-40B4-BE49-F238E27FC236}">
                <a16:creationId xmlns:a16="http://schemas.microsoft.com/office/drawing/2014/main" id="{79DE9FAB-6BBA-4CFE-B67D-77B47F01ECA4}"/>
              </a:ext>
            </a:extLst>
          </p:cNvPr>
          <p:cNvGrpSpPr/>
          <p:nvPr/>
        </p:nvGrpSpPr>
        <p:grpSpPr>
          <a:xfrm>
            <a:off x="1329952" y="4524379"/>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154172634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3" name="Group 12">
            <a:extLst>
              <a:ext uri="{FF2B5EF4-FFF2-40B4-BE49-F238E27FC236}">
                <a16:creationId xmlns:a16="http://schemas.microsoft.com/office/drawing/2014/main" id="{168347B7-45FA-4A01-924D-DC385B720B3E}"/>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8978E540-142B-4A82-9C3F-E61BC190AEED}"/>
              </a:ext>
            </a:extLst>
          </p:cNvPr>
          <p:cNvSpPr>
            <a:spLocks noGrp="1"/>
          </p:cNvSpPr>
          <p:nvPr>
            <p:ph type="title"/>
          </p:nvPr>
        </p:nvSpPr>
        <p:spPr>
          <a:xfrm>
            <a:off x="550863" y="549275"/>
            <a:ext cx="11090274" cy="1332000"/>
          </a:xfrm>
        </p:spPr>
        <p:txBody>
          <a:bodyPr>
            <a:noAutofit/>
          </a:bodyPr>
          <a:lstStyle>
            <a:lvl1pPr>
              <a:lnSpc>
                <a:spcPct val="10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p:nvPr>
        </p:nvSpPr>
        <p:spPr>
          <a:xfrm>
            <a:off x="550862" y="2097175"/>
            <a:ext cx="5435600" cy="39956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8362910-87AA-4E67-992D-8D4822FD89FE}"/>
              </a:ext>
            </a:extLst>
          </p:cNvPr>
          <p:cNvSpPr>
            <a:spLocks noGrp="1"/>
          </p:cNvSpPr>
          <p:nvPr>
            <p:ph sz="half" idx="2"/>
          </p:nvPr>
        </p:nvSpPr>
        <p:spPr>
          <a:xfrm>
            <a:off x="6205538" y="2097175"/>
            <a:ext cx="5435600" cy="39956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noAutofit/>
          </a:bodyPr>
          <a:lstStyle/>
          <a:p>
            <a:r>
              <a:rPr lang="en-US"/>
              <a:t>Tuesday, February 2, 20XX</a:t>
            </a:r>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19757148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39957340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78B0BE9-88B0-4883-9BA9-CD594C400EC1}"/>
              </a:ext>
            </a:extLst>
          </p:cNvPr>
          <p:cNvGrpSpPr/>
          <p:nvPr/>
        </p:nvGrpSpPr>
        <p:grpSpPr>
          <a:xfrm>
            <a:off x="4949631" y="5111861"/>
            <a:ext cx="1262947" cy="1335600"/>
            <a:chOff x="2678417" y="2427951"/>
            <a:chExt cx="1262947" cy="1335600"/>
          </a:xfrm>
        </p:grpSpPr>
        <p:sp>
          <p:nvSpPr>
            <p:cNvPr id="11" name="Freeform: Shape 10">
              <a:extLst>
                <a:ext uri="{FF2B5EF4-FFF2-40B4-BE49-F238E27FC236}">
                  <a16:creationId xmlns:a16="http://schemas.microsoft.com/office/drawing/2014/main" id="{C59DCBF3-7AFA-4CD1-A918-BC6DDE674E6C}"/>
                </a:ext>
              </a:extLst>
            </p:cNvPr>
            <p:cNvSpPr>
              <a:spLocks noChangeAspect="1"/>
            </p:cNvSpPr>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06964A02-96E1-4654-9187-DDDE7409F75B}"/>
                </a:ext>
              </a:extLst>
            </p:cNvPr>
            <p:cNvSpPr/>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BF3FF76C-A012-4CDA-8AE7-E9413955716A}"/>
              </a:ext>
            </a:extLst>
          </p:cNvPr>
          <p:cNvSpPr>
            <a:spLocks noGrp="1"/>
          </p:cNvSpPr>
          <p:nvPr>
            <p:ph type="title"/>
          </p:nvPr>
        </p:nvSpPr>
        <p:spPr>
          <a:xfrm>
            <a:off x="550863" y="549275"/>
            <a:ext cx="11090275" cy="984885"/>
          </a:xfrm>
        </p:spPr>
        <p:txBody>
          <a:bodyPr anchor="t">
            <a:noAutofit/>
          </a:bodyPr>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11A4C80-DC38-4641-924F-90D6078CF592}"/>
              </a:ext>
            </a:extLst>
          </p:cNvPr>
          <p:cNvSpPr>
            <a:spLocks noGrp="1"/>
          </p:cNvSpPr>
          <p:nvPr>
            <p:ph idx="1"/>
          </p:nvPr>
        </p:nvSpPr>
        <p:spPr>
          <a:xfrm>
            <a:off x="4295775" y="1750060"/>
            <a:ext cx="7345362" cy="4342765"/>
          </a:xfrm>
        </p:spPr>
        <p:txBody>
          <a:bodyPr>
            <a:noAutofit/>
          </a:bodyPr>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2C42771-D3A7-4072-85DC-B7C5E530E8AA}"/>
              </a:ext>
            </a:extLst>
          </p:cNvPr>
          <p:cNvSpPr>
            <a:spLocks noGrp="1"/>
          </p:cNvSpPr>
          <p:nvPr>
            <p:ph type="body" sz="half" idx="2"/>
          </p:nvPr>
        </p:nvSpPr>
        <p:spPr>
          <a:xfrm>
            <a:off x="550863" y="1750060"/>
            <a:ext cx="3565525" cy="4342765"/>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D47AB1-6EB5-4E2C-B4A7-42DC643E9FF9}"/>
              </a:ext>
            </a:extLst>
          </p:cNvPr>
          <p:cNvSpPr>
            <a:spLocks noGrp="1"/>
          </p:cNvSpPr>
          <p:nvPr>
            <p:ph type="dt" sz="half" idx="10"/>
          </p:nvPr>
        </p:nvSpPr>
        <p:spPr/>
        <p:txBody>
          <a:bodyPr>
            <a:noAutofit/>
          </a:bodyPr>
          <a:lstStyle/>
          <a:p>
            <a:r>
              <a:rPr lang="en-US"/>
              <a:t>Tuesday, February 2, 20XX</a:t>
            </a:r>
          </a:p>
        </p:txBody>
      </p:sp>
      <p:sp>
        <p:nvSpPr>
          <p:cNvPr id="6" name="Footer Placeholder 5">
            <a:extLst>
              <a:ext uri="{FF2B5EF4-FFF2-40B4-BE49-F238E27FC236}">
                <a16:creationId xmlns:a16="http://schemas.microsoft.com/office/drawing/2014/main" id="{5BA9D15F-B6ED-46E1-9840-0B625880EE4B}"/>
              </a:ext>
            </a:extLst>
          </p:cNvPr>
          <p:cNvSpPr>
            <a:spLocks noGrp="1"/>
          </p:cNvSpPr>
          <p:nvPr>
            <p:ph type="ftr" sz="quarter" idx="11"/>
          </p:nvPr>
        </p:nvSpPr>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CDAEB023-7A5E-4087-B75E-A38A80EE5D01}"/>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10023282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EFE597-4AF2-7EC0-FA12-78219D78AC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5907A9-AF23-9134-87AD-A80DF90465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78ECA5-4FBB-AF3D-2104-D9349B2032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48AD20-2CA6-4218-B37F-970FFB4A3086}" type="datetimeFigureOut">
              <a:rPr lang="en-US" smtClean="0"/>
              <a:t>27/10/2025</a:t>
            </a:fld>
            <a:endParaRPr lang="en-US"/>
          </a:p>
        </p:txBody>
      </p:sp>
      <p:sp>
        <p:nvSpPr>
          <p:cNvPr id="5" name="Footer Placeholder 4">
            <a:extLst>
              <a:ext uri="{FF2B5EF4-FFF2-40B4-BE49-F238E27FC236}">
                <a16:creationId xmlns:a16="http://schemas.microsoft.com/office/drawing/2014/main" id="{7663A0BB-8095-C9D3-B23B-E10E2A2CE7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9A14B99-1525-9C37-BCEA-A4CF7CB93D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1A7C42B-5492-47E2-9B8F-72C04F2B4232}" type="slidenum">
              <a:rPr lang="en-US" smtClean="0"/>
              <a:t>‹#›</a:t>
            </a:fld>
            <a:endParaRPr lang="en-US"/>
          </a:p>
        </p:txBody>
      </p:sp>
    </p:spTree>
    <p:extLst>
      <p:ext uri="{BB962C8B-B14F-4D97-AF65-F5344CB8AC3E}">
        <p14:creationId xmlns:p14="http://schemas.microsoft.com/office/powerpoint/2010/main" val="14778670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028302-E866-455D-8898-53623027543F}"/>
              </a:ext>
            </a:extLst>
          </p:cNvPr>
          <p:cNvSpPr>
            <a:spLocks noGrp="1"/>
          </p:cNvSpPr>
          <p:nvPr>
            <p:ph type="title"/>
          </p:nvPr>
        </p:nvSpPr>
        <p:spPr>
          <a:xfrm>
            <a:off x="550863" y="550800"/>
            <a:ext cx="11090275" cy="1333057"/>
          </a:xfrm>
          <a:prstGeom prst="rect">
            <a:avLst/>
          </a:prstGeom>
        </p:spPr>
        <p:txBody>
          <a:bodyPr vert="horz" wrap="square" lIns="0" tIns="0" rIns="0" bIns="0" rtlCol="0" anchor="t" anchorCtr="0">
            <a:noAutofit/>
          </a:body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BC94E72B-F0CF-4BC4-B509-A1C4508BE435}"/>
              </a:ext>
            </a:extLst>
          </p:cNvPr>
          <p:cNvSpPr>
            <a:spLocks noGrp="1"/>
          </p:cNvSpPr>
          <p:nvPr>
            <p:ph type="body" idx="1"/>
          </p:nvPr>
        </p:nvSpPr>
        <p:spPr>
          <a:xfrm>
            <a:off x="550863" y="2113862"/>
            <a:ext cx="11091600" cy="3978963"/>
          </a:xfrm>
          <a:prstGeom prst="rect">
            <a:avLst/>
          </a:prstGeom>
        </p:spPr>
        <p:txBody>
          <a:bodyPr vert="horz" wrap="square"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4ACE49D-C22F-4540-AC09-E421D2A2EDBE}"/>
              </a:ext>
            </a:extLst>
          </p:cNvPr>
          <p:cNvSpPr>
            <a:spLocks noGrp="1"/>
          </p:cNvSpPr>
          <p:nvPr>
            <p:ph type="dt" sz="half" idx="2"/>
          </p:nvPr>
        </p:nvSpPr>
        <p:spPr>
          <a:xfrm>
            <a:off x="550863" y="6507212"/>
            <a:ext cx="2628900" cy="153888"/>
          </a:xfrm>
          <a:prstGeom prst="rect">
            <a:avLst/>
          </a:prstGeom>
        </p:spPr>
        <p:txBody>
          <a:bodyPr vert="horz" wrap="square" lIns="0" tIns="0" rIns="0" bIns="0" rtlCol="0" anchor="ctr">
            <a:spAutoFit/>
          </a:bodyPr>
          <a:lstStyle>
            <a:lvl1pPr algn="l">
              <a:defRPr sz="1000">
                <a:solidFill>
                  <a:schemeClr val="tx1">
                    <a:lumMod val="65000"/>
                    <a:alpha val="80000"/>
                  </a:schemeClr>
                </a:solidFill>
              </a:defRPr>
            </a:lvl1pPr>
          </a:lstStyle>
          <a:p>
            <a:r>
              <a:rPr lang="en-US"/>
              <a:t>Tuesday, February 2, 20XX</a:t>
            </a:r>
          </a:p>
        </p:txBody>
      </p:sp>
      <p:sp>
        <p:nvSpPr>
          <p:cNvPr id="5" name="Footer Placeholder 4">
            <a:extLst>
              <a:ext uri="{FF2B5EF4-FFF2-40B4-BE49-F238E27FC236}">
                <a16:creationId xmlns:a16="http://schemas.microsoft.com/office/drawing/2014/main" id="{ACD5C3BE-317E-49E8-82B5-C8A7EC9C8A7E}"/>
              </a:ext>
            </a:extLst>
          </p:cNvPr>
          <p:cNvSpPr>
            <a:spLocks noGrp="1"/>
          </p:cNvSpPr>
          <p:nvPr>
            <p:ph type="ftr" sz="quarter" idx="3"/>
          </p:nvPr>
        </p:nvSpPr>
        <p:spPr>
          <a:xfrm>
            <a:off x="3359150" y="6507212"/>
            <a:ext cx="6379210" cy="153888"/>
          </a:xfrm>
          <a:prstGeom prst="rect">
            <a:avLst/>
          </a:prstGeom>
        </p:spPr>
        <p:txBody>
          <a:bodyPr vert="horz" wrap="square" lIns="0" tIns="0" rIns="0" bIns="0" rtlCol="0" anchor="ctr">
            <a:spAutoFit/>
          </a:bodyPr>
          <a:lstStyle>
            <a:lvl1pPr algn="l">
              <a:defRPr sz="1000">
                <a:solidFill>
                  <a:schemeClr val="tx1">
                    <a:lumMod val="65000"/>
                    <a:alpha val="80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45574E12-6C16-431F-B2CE-E4B15916BA05}"/>
              </a:ext>
            </a:extLst>
          </p:cNvPr>
          <p:cNvSpPr>
            <a:spLocks noGrp="1"/>
          </p:cNvSpPr>
          <p:nvPr>
            <p:ph type="sldNum" sz="quarter" idx="4"/>
          </p:nvPr>
        </p:nvSpPr>
        <p:spPr>
          <a:xfrm>
            <a:off x="9948863" y="6507212"/>
            <a:ext cx="1692274" cy="153888"/>
          </a:xfrm>
          <a:prstGeom prst="rect">
            <a:avLst/>
          </a:prstGeom>
        </p:spPr>
        <p:txBody>
          <a:bodyPr vert="horz" wrap="square" lIns="0" tIns="0" rIns="0" bIns="0" rtlCol="0" anchor="ctr">
            <a:spAutoFit/>
          </a:bodyPr>
          <a:lstStyle>
            <a:lvl1pPr algn="r">
              <a:defRPr sz="1000">
                <a:solidFill>
                  <a:schemeClr val="tx1">
                    <a:lumMod val="65000"/>
                    <a:alpha val="80000"/>
                  </a:schemeClr>
                </a:solidFill>
              </a:defRPr>
            </a:lvl1pPr>
          </a:lstStyle>
          <a:p>
            <a:fld id="{DBA1B0FB-D917-4C8C-928F-313BD683BF39}" type="slidenum">
              <a:rPr lang="en-US" smtClean="0"/>
              <a:pPr/>
              <a:t>‹#›</a:t>
            </a:fld>
            <a:endParaRPr lang="en-US"/>
          </a:p>
        </p:txBody>
      </p:sp>
    </p:spTree>
    <p:extLst>
      <p:ext uri="{BB962C8B-B14F-4D97-AF65-F5344CB8AC3E}">
        <p14:creationId xmlns:p14="http://schemas.microsoft.com/office/powerpoint/2010/main" val="2371096696"/>
      </p:ext>
    </p:extLst>
  </p:cSld>
  <p:clrMap bg1="dk1" tx1="lt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Lst>
  <p:hf hdr="0"/>
  <p:txStyles>
    <p:title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2" pos="3840">
          <p15:clr>
            <a:srgbClr val="F26B43"/>
          </p15:clr>
        </p15:guide>
        <p15:guide id="33" orient="horz" pos="2160">
          <p15:clr>
            <a:srgbClr val="F26B43"/>
          </p15:clr>
        </p15:guide>
        <p15:guide id="34" pos="347">
          <p15:clr>
            <a:srgbClr val="F26B43"/>
          </p15:clr>
        </p15:guide>
        <p15:guide id="35" pos="7333">
          <p15:clr>
            <a:srgbClr val="F26B43"/>
          </p15:clr>
        </p15:guide>
        <p15:guide id="36" orient="horz" pos="346">
          <p15:clr>
            <a:srgbClr val="F26B43"/>
          </p15:clr>
        </p15:guide>
        <p15:guide id="37" orient="horz" pos="3974">
          <p15:clr>
            <a:srgbClr val="F26B43"/>
          </p15:clr>
        </p15:guide>
        <p15:guide id="38" pos="824">
          <p15:clr>
            <a:srgbClr val="A4A3A4"/>
          </p15:clr>
        </p15:guide>
        <p15:guide id="39" pos="937">
          <p15:clr>
            <a:srgbClr val="A4A3A4"/>
          </p15:clr>
        </p15:guide>
        <p15:guide id="40" pos="1413">
          <p15:clr>
            <a:srgbClr val="A4A3A4"/>
          </p15:clr>
        </p15:guide>
        <p15:guide id="41" pos="1527">
          <p15:clr>
            <a:srgbClr val="A4A3A4"/>
          </p15:clr>
        </p15:guide>
        <p15:guide id="42" pos="2003">
          <p15:clr>
            <a:srgbClr val="A4A3A4"/>
          </p15:clr>
        </p15:guide>
        <p15:guide id="43" pos="2116">
          <p15:clr>
            <a:srgbClr val="A4A3A4"/>
          </p15:clr>
        </p15:guide>
        <p15:guide id="44" pos="2593">
          <p15:clr>
            <a:srgbClr val="A4A3A4"/>
          </p15:clr>
        </p15:guide>
        <p15:guide id="45" pos="2706">
          <p15:clr>
            <a:srgbClr val="A4A3A4"/>
          </p15:clr>
        </p15:guide>
        <p15:guide id="46" pos="3182">
          <p15:clr>
            <a:srgbClr val="A4A3A4"/>
          </p15:clr>
        </p15:guide>
        <p15:guide id="47" pos="3318">
          <p15:clr>
            <a:srgbClr val="A4A3A4"/>
          </p15:clr>
        </p15:guide>
        <p15:guide id="48" pos="3772">
          <p15:clr>
            <a:srgbClr val="A4A3A4"/>
          </p15:clr>
        </p15:guide>
        <p15:guide id="49" pos="3908">
          <p15:clr>
            <a:srgbClr val="A4A3A4"/>
          </p15:clr>
        </p15:guide>
        <p15:guide id="50" pos="4362">
          <p15:clr>
            <a:srgbClr val="A4A3A4"/>
          </p15:clr>
        </p15:guide>
        <p15:guide id="51" pos="4498">
          <p15:clr>
            <a:srgbClr val="A4A3A4"/>
          </p15:clr>
        </p15:guide>
        <p15:guide id="52" pos="4951">
          <p15:clr>
            <a:srgbClr val="A4A3A4"/>
          </p15:clr>
        </p15:guide>
        <p15:guide id="53" pos="5087">
          <p15:clr>
            <a:srgbClr val="A4A3A4"/>
          </p15:clr>
        </p15:guide>
        <p15:guide id="54" pos="5541">
          <p15:clr>
            <a:srgbClr val="A4A3A4"/>
          </p15:clr>
        </p15:guide>
        <p15:guide id="55" pos="5677">
          <p15:clr>
            <a:srgbClr val="A4A3A4"/>
          </p15:clr>
        </p15:guide>
        <p15:guide id="56" pos="6153">
          <p15:clr>
            <a:srgbClr val="A4A3A4"/>
          </p15:clr>
        </p15:guide>
        <p15:guide id="57" pos="6267">
          <p15:clr>
            <a:srgbClr val="A4A3A4"/>
          </p15:clr>
        </p15:guide>
        <p15:guide id="58" pos="6743">
          <p15:clr>
            <a:srgbClr val="A4A3A4"/>
          </p15:clr>
        </p15:guide>
        <p15:guide id="59" pos="6856">
          <p15:clr>
            <a:srgbClr val="A4A3A4"/>
          </p15:clr>
        </p15:guide>
        <p15:guide id="60" orient="horz" pos="3838">
          <p15:clr>
            <a:srgbClr val="A4A3A4"/>
          </p15:clr>
        </p15:guide>
        <p15:guide id="61" orient="horz" pos="2092">
          <p15:clr>
            <a:srgbClr val="A4A3A4"/>
          </p15:clr>
        </p15:guide>
        <p15:guide id="62" orient="horz" pos="2228">
          <p15:clr>
            <a:srgbClr val="A4A3A4"/>
          </p15:clr>
        </p15:guide>
        <p15:guide id="63" orient="horz" pos="845">
          <p15:clr>
            <a:srgbClr val="A4A3A4"/>
          </p15:clr>
        </p15:guide>
        <p15:guide id="64" orient="horz" pos="958">
          <p15:clr>
            <a:srgbClr val="A4A3A4"/>
          </p15:clr>
        </p15:guide>
        <p15:guide id="65" orient="horz" pos="1480">
          <p15:clr>
            <a:srgbClr val="A4A3A4"/>
          </p15:clr>
        </p15:guide>
        <p15:guide id="66" orient="horz" pos="1593">
          <p15:clr>
            <a:srgbClr val="A4A3A4"/>
          </p15:clr>
        </p15:guide>
        <p15:guide id="67" orient="horz" pos="2727">
          <p15:clr>
            <a:srgbClr val="A4A3A4"/>
          </p15:clr>
        </p15:guide>
        <p15:guide id="68" orient="horz" pos="2840">
          <p15:clr>
            <a:srgbClr val="A4A3A4"/>
          </p15:clr>
        </p15:guide>
        <p15:guide id="69" orient="horz" pos="3339">
          <p15:clr>
            <a:srgbClr val="A4A3A4"/>
          </p15:clr>
        </p15:guide>
        <p15:guide id="70" orient="horz" pos="347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jpeg"/><Relationship Id="rId7" Type="http://schemas.microsoft.com/office/2007/relationships/hdphoto" Target="../media/hdphoto2.wdp"/><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 Id="rId9" Type="http://schemas.openxmlformats.org/officeDocument/2006/relationships/image" Target="../media/image6.svg"/></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jpeg"/><Relationship Id="rId7" Type="http://schemas.microsoft.com/office/2007/relationships/hdphoto" Target="../media/hdphoto2.wdp"/><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4.png"/><Relationship Id="rId5" Type="http://schemas.microsoft.com/office/2007/relationships/hdphoto" Target="../media/hdphoto3.wdp"/><Relationship Id="rId4" Type="http://schemas.openxmlformats.org/officeDocument/2006/relationships/image" Target="../media/image7.png"/><Relationship Id="rId9" Type="http://schemas.openxmlformats.org/officeDocument/2006/relationships/image" Target="../media/image6.svg"/></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5.png"/><Relationship Id="rId5" Type="http://schemas.microsoft.com/office/2007/relationships/hdphoto" Target="../media/hdphoto2.wdp"/><Relationship Id="rId4" Type="http://schemas.openxmlformats.org/officeDocument/2006/relationships/image" Target="../media/image4.png"/><Relationship Id="rId9" Type="http://schemas.microsoft.com/office/2007/relationships/hdphoto" Target="../media/hdphoto4.wdp"/></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microsoft.com/office/2007/relationships/hdphoto" Target="../media/hdphoto5.wdp"/><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microsoft.com/office/2007/relationships/hdphoto" Target="../media/hdphoto6.wdp"/><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5.png"/><Relationship Id="rId5" Type="http://schemas.microsoft.com/office/2007/relationships/hdphoto" Target="../media/hdphoto2.wdp"/><Relationship Id="rId4" Type="http://schemas.openxmlformats.org/officeDocument/2006/relationships/image" Target="../media/image4.png"/><Relationship Id="rId9" Type="http://schemas.microsoft.com/office/2007/relationships/hdphoto" Target="../media/hdphoto7.wdp"/></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microsoft.com/office/2007/relationships/hdphoto" Target="../media/hdphoto8.wdp"/><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3.xml"/><Relationship Id="rId5" Type="http://schemas.microsoft.com/office/2007/relationships/hdphoto" Target="../media/hdphoto9.wdp"/><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13.xml"/><Relationship Id="rId5" Type="http://schemas.microsoft.com/office/2007/relationships/hdphoto" Target="../media/hdphoto10.wdp"/><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13.xml"/><Relationship Id="rId5" Type="http://schemas.microsoft.com/office/2007/relationships/hdphoto" Target="../media/hdphoto11.wdp"/><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image" Target="../media/image20.png"/><Relationship Id="rId5" Type="http://schemas.microsoft.com/office/2007/relationships/hdphoto" Target="../media/hdphoto12.wdp"/><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7" Type="http://schemas.microsoft.com/office/2007/relationships/hdphoto" Target="../media/hdphoto14.wdp"/><Relationship Id="rId2" Type="http://schemas.openxmlformats.org/officeDocument/2006/relationships/notesSlide" Target="../notesSlides/notesSlide21.xml"/><Relationship Id="rId1" Type="http://schemas.openxmlformats.org/officeDocument/2006/relationships/slideLayout" Target="../slideLayouts/slideLayout13.xml"/><Relationship Id="rId6" Type="http://schemas.openxmlformats.org/officeDocument/2006/relationships/image" Target="../media/image23.png"/><Relationship Id="rId5" Type="http://schemas.microsoft.com/office/2007/relationships/hdphoto" Target="../media/hdphoto13.wdp"/><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jpeg"/><Relationship Id="rId7" Type="http://schemas.microsoft.com/office/2007/relationships/hdphoto" Target="../media/hdphoto15.wdp"/><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image" Target="../media/image24.png"/><Relationship Id="rId5" Type="http://schemas.microsoft.com/office/2007/relationships/hdphoto" Target="../media/hdphoto13.wdp"/><Relationship Id="rId4" Type="http://schemas.openxmlformats.org/officeDocument/2006/relationships/image" Target="../media/image22.png"/><Relationship Id="rId9" Type="http://schemas.microsoft.com/office/2007/relationships/hdphoto" Target="../media/hdphoto16.wdp"/></Relationships>
</file>

<file path=ppt/slides/_rels/slide2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jpeg"/><Relationship Id="rId7" Type="http://schemas.microsoft.com/office/2007/relationships/hdphoto" Target="../media/hdphoto17.wdp"/><Relationship Id="rId2" Type="http://schemas.openxmlformats.org/officeDocument/2006/relationships/notesSlide" Target="../notesSlides/notesSlide23.xml"/><Relationship Id="rId1" Type="http://schemas.openxmlformats.org/officeDocument/2006/relationships/slideLayout" Target="../slideLayouts/slideLayout13.xml"/><Relationship Id="rId6" Type="http://schemas.openxmlformats.org/officeDocument/2006/relationships/image" Target="../media/image26.png"/><Relationship Id="rId5" Type="http://schemas.microsoft.com/office/2007/relationships/hdphoto" Target="../media/hdphoto13.wdp"/><Relationship Id="rId4" Type="http://schemas.openxmlformats.org/officeDocument/2006/relationships/image" Target="../media/image22.png"/><Relationship Id="rId9" Type="http://schemas.microsoft.com/office/2007/relationships/hdphoto" Target="../media/hdphoto18.wdp"/></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jpeg"/><Relationship Id="rId7" Type="http://schemas.microsoft.com/office/2007/relationships/hdphoto" Target="../media/hdphoto20.wdp"/><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image" Target="../media/image29.png"/><Relationship Id="rId5" Type="http://schemas.microsoft.com/office/2007/relationships/hdphoto" Target="../media/hdphoto19.wdp"/><Relationship Id="rId4" Type="http://schemas.openxmlformats.org/officeDocument/2006/relationships/image" Target="../media/image28.png"/><Relationship Id="rId9" Type="http://schemas.openxmlformats.org/officeDocument/2006/relationships/image" Target="../media/image6.svg"/></Relationships>
</file>

<file path=ppt/slides/_rels/slide2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27.xml"/><Relationship Id="rId1" Type="http://schemas.openxmlformats.org/officeDocument/2006/relationships/slideLayout" Target="../slideLayouts/slideLayout13.xml"/><Relationship Id="rId6" Type="http://schemas.openxmlformats.org/officeDocument/2006/relationships/image" Target="../media/image5.png"/><Relationship Id="rId5" Type="http://schemas.microsoft.com/office/2007/relationships/hdphoto" Target="../media/hdphoto20.wdp"/><Relationship Id="rId4" Type="http://schemas.openxmlformats.org/officeDocument/2006/relationships/image" Target="../media/image29.png"/><Relationship Id="rId9" Type="http://schemas.microsoft.com/office/2007/relationships/hdphoto" Target="../media/hdphoto21.wdp"/></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8.xml"/><Relationship Id="rId1" Type="http://schemas.openxmlformats.org/officeDocument/2006/relationships/slideLayout" Target="../slideLayouts/slideLayout13.xml"/><Relationship Id="rId5" Type="http://schemas.microsoft.com/office/2007/relationships/hdphoto" Target="../media/hdphoto21.wdp"/><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29.xml"/><Relationship Id="rId1" Type="http://schemas.openxmlformats.org/officeDocument/2006/relationships/slideLayout" Target="../slideLayouts/slideLayout13.xml"/><Relationship Id="rId6" Type="http://schemas.openxmlformats.org/officeDocument/2006/relationships/image" Target="../media/image5.png"/><Relationship Id="rId5" Type="http://schemas.microsoft.com/office/2007/relationships/hdphoto" Target="../media/hdphoto20.wdp"/><Relationship Id="rId4" Type="http://schemas.openxmlformats.org/officeDocument/2006/relationships/image" Target="../media/image29.png"/><Relationship Id="rId9" Type="http://schemas.microsoft.com/office/2007/relationships/hdphoto" Target="../media/hdphoto22.wdp"/></Relationships>
</file>

<file path=ppt/slides/_rels/slide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0.xml"/><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jpeg"/><Relationship Id="rId7" Type="http://schemas.microsoft.com/office/2007/relationships/hdphoto" Target="../media/hdphoto24.wdp"/><Relationship Id="rId2" Type="http://schemas.openxmlformats.org/officeDocument/2006/relationships/notesSlide" Target="../notesSlides/notesSlide31.xml"/><Relationship Id="rId1" Type="http://schemas.openxmlformats.org/officeDocument/2006/relationships/slideLayout" Target="../slideLayouts/slideLayout13.xml"/><Relationship Id="rId6" Type="http://schemas.openxmlformats.org/officeDocument/2006/relationships/image" Target="../media/image34.png"/><Relationship Id="rId5" Type="http://schemas.microsoft.com/office/2007/relationships/hdphoto" Target="../media/hdphoto23.wdp"/><Relationship Id="rId4" Type="http://schemas.openxmlformats.org/officeDocument/2006/relationships/image" Target="../media/image33.png"/><Relationship Id="rId9" Type="http://schemas.microsoft.com/office/2007/relationships/hdphoto" Target="../media/hdphoto25.wdp"/></Relationships>
</file>

<file path=ppt/slides/_rels/slide33.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jpeg"/><Relationship Id="rId7" Type="http://schemas.microsoft.com/office/2007/relationships/hdphoto" Target="../media/hdphoto27.wdp"/><Relationship Id="rId2" Type="http://schemas.openxmlformats.org/officeDocument/2006/relationships/notesSlide" Target="../notesSlides/notesSlide32.xml"/><Relationship Id="rId1" Type="http://schemas.openxmlformats.org/officeDocument/2006/relationships/slideLayout" Target="../slideLayouts/slideLayout13.xml"/><Relationship Id="rId6" Type="http://schemas.openxmlformats.org/officeDocument/2006/relationships/image" Target="../media/image37.png"/><Relationship Id="rId11" Type="http://schemas.microsoft.com/office/2007/relationships/hdphoto" Target="../media/hdphoto29.wdp"/><Relationship Id="rId5" Type="http://schemas.microsoft.com/office/2007/relationships/hdphoto" Target="../media/hdphoto26.wdp"/><Relationship Id="rId10" Type="http://schemas.openxmlformats.org/officeDocument/2006/relationships/image" Target="../media/image39.png"/><Relationship Id="rId4" Type="http://schemas.openxmlformats.org/officeDocument/2006/relationships/image" Target="../media/image36.png"/><Relationship Id="rId9" Type="http://schemas.microsoft.com/office/2007/relationships/hdphoto" Target="../media/hdphoto28.wdp"/></Relationships>
</file>

<file path=ppt/slides/_rels/slide34.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2.jpeg"/><Relationship Id="rId7" Type="http://schemas.microsoft.com/office/2007/relationships/hdphoto" Target="../media/hdphoto31.wdp"/><Relationship Id="rId12" Type="http://schemas.openxmlformats.org/officeDocument/2006/relationships/image" Target="../media/image6.svg"/><Relationship Id="rId2" Type="http://schemas.openxmlformats.org/officeDocument/2006/relationships/notesSlide" Target="../notesSlides/notesSlide33.xml"/><Relationship Id="rId1" Type="http://schemas.openxmlformats.org/officeDocument/2006/relationships/slideLayout" Target="../slideLayouts/slideLayout13.xml"/><Relationship Id="rId6" Type="http://schemas.openxmlformats.org/officeDocument/2006/relationships/image" Target="../media/image41.png"/><Relationship Id="rId11" Type="http://schemas.openxmlformats.org/officeDocument/2006/relationships/image" Target="../media/image5.png"/><Relationship Id="rId5" Type="http://schemas.microsoft.com/office/2007/relationships/hdphoto" Target="../media/hdphoto30.wdp"/><Relationship Id="rId10" Type="http://schemas.microsoft.com/office/2007/relationships/hdphoto" Target="../media/hdphoto25.wdp"/><Relationship Id="rId4" Type="http://schemas.openxmlformats.org/officeDocument/2006/relationships/image" Target="../media/image40.png"/><Relationship Id="rId9" Type="http://schemas.openxmlformats.org/officeDocument/2006/relationships/image" Target="../media/image35.png"/></Relationships>
</file>

<file path=ppt/slides/_rels/slide3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2.jpeg"/><Relationship Id="rId7" Type="http://schemas.microsoft.com/office/2007/relationships/hdphoto" Target="../media/hdphoto33.wdp"/><Relationship Id="rId2" Type="http://schemas.openxmlformats.org/officeDocument/2006/relationships/notesSlide" Target="../notesSlides/notesSlide36.xml"/><Relationship Id="rId1" Type="http://schemas.openxmlformats.org/officeDocument/2006/relationships/slideLayout" Target="../slideLayouts/slideLayout13.xml"/><Relationship Id="rId6" Type="http://schemas.openxmlformats.org/officeDocument/2006/relationships/image" Target="../media/image44.png"/><Relationship Id="rId5" Type="http://schemas.microsoft.com/office/2007/relationships/hdphoto" Target="../media/hdphoto32.wdp"/><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2.jpeg"/><Relationship Id="rId7" Type="http://schemas.microsoft.com/office/2007/relationships/hdphoto" Target="../media/hdphoto35.wdp"/><Relationship Id="rId2" Type="http://schemas.openxmlformats.org/officeDocument/2006/relationships/notesSlide" Target="../notesSlides/notesSlide37.xml"/><Relationship Id="rId1" Type="http://schemas.openxmlformats.org/officeDocument/2006/relationships/slideLayout" Target="../slideLayouts/slideLayout13.xml"/><Relationship Id="rId6" Type="http://schemas.openxmlformats.org/officeDocument/2006/relationships/image" Target="../media/image46.png"/><Relationship Id="rId5" Type="http://schemas.microsoft.com/office/2007/relationships/hdphoto" Target="../media/hdphoto34.wdp"/><Relationship Id="rId4" Type="http://schemas.openxmlformats.org/officeDocument/2006/relationships/image" Target="../media/image45.png"/><Relationship Id="rId9" Type="http://schemas.microsoft.com/office/2007/relationships/hdphoto" Target="../media/hdphoto36.wdp"/></Relationships>
</file>

<file path=ppt/slides/_rels/slide39.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2.jpeg"/><Relationship Id="rId7" Type="http://schemas.microsoft.com/office/2007/relationships/hdphoto" Target="../media/hdphoto38.wdp"/><Relationship Id="rId2" Type="http://schemas.openxmlformats.org/officeDocument/2006/relationships/notesSlide" Target="../notesSlides/notesSlide38.xml"/><Relationship Id="rId1" Type="http://schemas.openxmlformats.org/officeDocument/2006/relationships/slideLayout" Target="../slideLayouts/slideLayout13.xml"/><Relationship Id="rId6" Type="http://schemas.openxmlformats.org/officeDocument/2006/relationships/image" Target="../media/image49.png"/><Relationship Id="rId5" Type="http://schemas.microsoft.com/office/2007/relationships/hdphoto" Target="../media/hdphoto37.wdp"/><Relationship Id="rId10" Type="http://schemas.openxmlformats.org/officeDocument/2006/relationships/image" Target="../media/image51.png"/><Relationship Id="rId4" Type="http://schemas.openxmlformats.org/officeDocument/2006/relationships/image" Target="../media/image48.png"/><Relationship Id="rId9" Type="http://schemas.microsoft.com/office/2007/relationships/hdphoto" Target="../media/hdphoto39.wdp"/></Relationships>
</file>

<file path=ppt/slides/_rels/slide4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9.xml"/><Relationship Id="rId1" Type="http://schemas.openxmlformats.org/officeDocument/2006/relationships/slideLayout" Target="../slideLayouts/slideLayout13.xml"/><Relationship Id="rId6" Type="http://schemas.openxmlformats.org/officeDocument/2006/relationships/image" Target="../media/image53.png"/><Relationship Id="rId5" Type="http://schemas.microsoft.com/office/2007/relationships/hdphoto" Target="../media/hdphoto40.wdp"/><Relationship Id="rId4" Type="http://schemas.openxmlformats.org/officeDocument/2006/relationships/image" Target="../media/image52.png"/></Relationships>
</file>

<file path=ppt/slides/_rels/slide41.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2.jpeg"/><Relationship Id="rId7" Type="http://schemas.microsoft.com/office/2007/relationships/hdphoto" Target="../media/hdphoto41.wdp"/><Relationship Id="rId2" Type="http://schemas.openxmlformats.org/officeDocument/2006/relationships/notesSlide" Target="../notesSlides/notesSlide40.xml"/><Relationship Id="rId1" Type="http://schemas.openxmlformats.org/officeDocument/2006/relationships/slideLayout" Target="../slideLayouts/slideLayout13.xml"/><Relationship Id="rId6" Type="http://schemas.openxmlformats.org/officeDocument/2006/relationships/image" Target="../media/image54.png"/><Relationship Id="rId11" Type="http://schemas.microsoft.com/office/2007/relationships/hdphoto" Target="../media/hdphoto43.wdp"/><Relationship Id="rId5" Type="http://schemas.microsoft.com/office/2007/relationships/hdphoto" Target="../media/hdphoto40.wdp"/><Relationship Id="rId10" Type="http://schemas.openxmlformats.org/officeDocument/2006/relationships/image" Target="../media/image56.png"/><Relationship Id="rId4" Type="http://schemas.openxmlformats.org/officeDocument/2006/relationships/image" Target="../media/image52.png"/><Relationship Id="rId9" Type="http://schemas.microsoft.com/office/2007/relationships/hdphoto" Target="../media/hdphoto42.wdp"/></Relationships>
</file>

<file path=ppt/slides/_rels/slide42.xml.rels><?xml version="1.0" encoding="UTF-8" standalone="yes"?>
<Relationships xmlns="http://schemas.openxmlformats.org/package/2006/relationships"><Relationship Id="rId8" Type="http://schemas.microsoft.com/office/2007/relationships/hdphoto" Target="../media/hdphoto43.wdp"/><Relationship Id="rId3" Type="http://schemas.openxmlformats.org/officeDocument/2006/relationships/image" Target="../media/image2.jpeg"/><Relationship Id="rId7" Type="http://schemas.openxmlformats.org/officeDocument/2006/relationships/image" Target="../media/image56.png"/><Relationship Id="rId2" Type="http://schemas.openxmlformats.org/officeDocument/2006/relationships/notesSlide" Target="../notesSlides/notesSlide41.xml"/><Relationship Id="rId1" Type="http://schemas.openxmlformats.org/officeDocument/2006/relationships/slideLayout" Target="../slideLayouts/slideLayout13.xml"/><Relationship Id="rId6" Type="http://schemas.openxmlformats.org/officeDocument/2006/relationships/image" Target="../media/image57.png"/><Relationship Id="rId5" Type="http://schemas.microsoft.com/office/2007/relationships/hdphoto" Target="../media/hdphoto40.wdp"/><Relationship Id="rId4" Type="http://schemas.openxmlformats.org/officeDocument/2006/relationships/image" Target="../media/image52.png"/></Relationships>
</file>

<file path=ppt/slides/_rels/slide43.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2.jpeg"/><Relationship Id="rId7" Type="http://schemas.microsoft.com/office/2007/relationships/hdphoto" Target="../media/hdphoto43.wdp"/><Relationship Id="rId2" Type="http://schemas.openxmlformats.org/officeDocument/2006/relationships/notesSlide" Target="../notesSlides/notesSlide42.xml"/><Relationship Id="rId1" Type="http://schemas.openxmlformats.org/officeDocument/2006/relationships/slideLayout" Target="../slideLayouts/slideLayout13.xml"/><Relationship Id="rId6" Type="http://schemas.openxmlformats.org/officeDocument/2006/relationships/image" Target="../media/image56.png"/><Relationship Id="rId5" Type="http://schemas.microsoft.com/office/2007/relationships/hdphoto" Target="../media/hdphoto40.wdp"/><Relationship Id="rId4" Type="http://schemas.openxmlformats.org/officeDocument/2006/relationships/image" Target="../media/image52.png"/></Relationships>
</file>

<file path=ppt/slides/_rels/slide44.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jpeg"/><Relationship Id="rId7" Type="http://schemas.microsoft.com/office/2007/relationships/hdphoto" Target="../media/hdphoto43.wdp"/><Relationship Id="rId2" Type="http://schemas.openxmlformats.org/officeDocument/2006/relationships/notesSlide" Target="../notesSlides/notesSlide43.xml"/><Relationship Id="rId1" Type="http://schemas.openxmlformats.org/officeDocument/2006/relationships/slideLayout" Target="../slideLayouts/slideLayout13.xml"/><Relationship Id="rId6" Type="http://schemas.openxmlformats.org/officeDocument/2006/relationships/image" Target="../media/image56.png"/><Relationship Id="rId5" Type="http://schemas.microsoft.com/office/2007/relationships/hdphoto" Target="../media/hdphoto40.wdp"/><Relationship Id="rId10" Type="http://schemas.openxmlformats.org/officeDocument/2006/relationships/image" Target="../media/image61.png"/><Relationship Id="rId4" Type="http://schemas.openxmlformats.org/officeDocument/2006/relationships/image" Target="../media/image52.png"/><Relationship Id="rId9" Type="http://schemas.openxmlformats.org/officeDocument/2006/relationships/image" Target="../media/image60.png"/></Relationships>
</file>

<file path=ppt/slides/_rels/slide4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8" Type="http://schemas.microsoft.com/office/2007/relationships/hdphoto" Target="../media/hdphoto46.wdp"/><Relationship Id="rId3" Type="http://schemas.openxmlformats.org/officeDocument/2006/relationships/image" Target="../media/image62.png"/><Relationship Id="rId7" Type="http://schemas.openxmlformats.org/officeDocument/2006/relationships/image" Target="../media/image64.png"/><Relationship Id="rId2" Type="http://schemas.openxmlformats.org/officeDocument/2006/relationships/image" Target="../media/image2.jpeg"/><Relationship Id="rId1" Type="http://schemas.openxmlformats.org/officeDocument/2006/relationships/slideLayout" Target="../slideLayouts/slideLayout14.xml"/><Relationship Id="rId6" Type="http://schemas.microsoft.com/office/2007/relationships/hdphoto" Target="../media/hdphoto45.wdp"/><Relationship Id="rId5" Type="http://schemas.openxmlformats.org/officeDocument/2006/relationships/image" Target="../media/image63.png"/><Relationship Id="rId4" Type="http://schemas.microsoft.com/office/2007/relationships/hdphoto" Target="../media/hdphoto44.wdp"/></Relationships>
</file>

<file path=ppt/slides/_rels/slide48.xml.rels><?xml version="1.0" encoding="UTF-8" standalone="yes"?>
<Relationships xmlns="http://schemas.openxmlformats.org/package/2006/relationships"><Relationship Id="rId3" Type="http://schemas.openxmlformats.org/officeDocument/2006/relationships/image" Target="../media/image2.jpeg"/><Relationship Id="rId7" Type="http://schemas.microsoft.com/office/2007/relationships/hdphoto" Target="../media/hdphoto48.wdp"/><Relationship Id="rId2" Type="http://schemas.openxmlformats.org/officeDocument/2006/relationships/notesSlide" Target="../notesSlides/notesSlide46.xml"/><Relationship Id="rId1" Type="http://schemas.openxmlformats.org/officeDocument/2006/relationships/slideLayout" Target="../slideLayouts/slideLayout13.xml"/><Relationship Id="rId6" Type="http://schemas.openxmlformats.org/officeDocument/2006/relationships/image" Target="../media/image66.png"/><Relationship Id="rId5" Type="http://schemas.microsoft.com/office/2007/relationships/hdphoto" Target="../media/hdphoto47.wdp"/><Relationship Id="rId4" Type="http://schemas.openxmlformats.org/officeDocument/2006/relationships/image" Target="../media/image65.png"/></Relationships>
</file>

<file path=ppt/slides/_rels/slide49.xml.rels><?xml version="1.0" encoding="UTF-8" standalone="yes"?>
<Relationships xmlns="http://schemas.openxmlformats.org/package/2006/relationships"><Relationship Id="rId3" Type="http://schemas.openxmlformats.org/officeDocument/2006/relationships/image" Target="../media/image2.jpeg"/><Relationship Id="rId7" Type="http://schemas.microsoft.com/office/2007/relationships/hdphoto" Target="../media/hdphoto50.wdp"/><Relationship Id="rId2" Type="http://schemas.openxmlformats.org/officeDocument/2006/relationships/notesSlide" Target="../notesSlides/notesSlide47.xml"/><Relationship Id="rId1" Type="http://schemas.openxmlformats.org/officeDocument/2006/relationships/slideLayout" Target="../slideLayouts/slideLayout13.xml"/><Relationship Id="rId6" Type="http://schemas.openxmlformats.org/officeDocument/2006/relationships/image" Target="../media/image68.png"/><Relationship Id="rId5" Type="http://schemas.microsoft.com/office/2007/relationships/hdphoto" Target="../media/hdphoto49.wdp"/><Relationship Id="rId4" Type="http://schemas.openxmlformats.org/officeDocument/2006/relationships/image" Target="../media/image67.png"/></Relationships>
</file>

<file path=ppt/slides/_rels/slide50.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2.jpeg"/><Relationship Id="rId7" Type="http://schemas.microsoft.com/office/2007/relationships/hdphoto" Target="../media/hdphoto52.wdp"/><Relationship Id="rId2" Type="http://schemas.openxmlformats.org/officeDocument/2006/relationships/notesSlide" Target="../notesSlides/notesSlide48.xml"/><Relationship Id="rId1" Type="http://schemas.openxmlformats.org/officeDocument/2006/relationships/slideLayout" Target="../slideLayouts/slideLayout13.xml"/><Relationship Id="rId6" Type="http://schemas.openxmlformats.org/officeDocument/2006/relationships/image" Target="../media/image70.png"/><Relationship Id="rId11" Type="http://schemas.microsoft.com/office/2007/relationships/hdphoto" Target="../media/hdphoto54.wdp"/><Relationship Id="rId5" Type="http://schemas.microsoft.com/office/2007/relationships/hdphoto" Target="../media/hdphoto51.wdp"/><Relationship Id="rId10" Type="http://schemas.openxmlformats.org/officeDocument/2006/relationships/image" Target="../media/image72.png"/><Relationship Id="rId4" Type="http://schemas.openxmlformats.org/officeDocument/2006/relationships/image" Target="../media/image69.png"/><Relationship Id="rId9" Type="http://schemas.microsoft.com/office/2007/relationships/hdphoto" Target="../media/hdphoto53.wdp"/></Relationships>
</file>

<file path=ppt/slides/_rels/slide5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8" Type="http://schemas.openxmlformats.org/officeDocument/2006/relationships/hyperlink" Target="https://docs.flutter.dev/app-architecture/design-patterns/sql" TargetMode="External"/><Relationship Id="rId13" Type="http://schemas.openxmlformats.org/officeDocument/2006/relationships/hyperlink" Target="https://pub.dev/packages/path_provider" TargetMode="External"/><Relationship Id="rId3" Type="http://schemas.openxmlformats.org/officeDocument/2006/relationships/image" Target="../media/image2.jpeg"/><Relationship Id="rId7" Type="http://schemas.openxmlformats.org/officeDocument/2006/relationships/hyperlink" Target="https://drift.simonbinder.eu/setup/" TargetMode="External"/><Relationship Id="rId12" Type="http://schemas.openxmlformats.org/officeDocument/2006/relationships/hyperlink" Target="https://api.dart.dev/dart-core/String-class.html" TargetMode="External"/><Relationship Id="rId2" Type="http://schemas.openxmlformats.org/officeDocument/2006/relationships/notesSlide" Target="../notesSlides/notesSlide50.xml"/><Relationship Id="rId1" Type="http://schemas.openxmlformats.org/officeDocument/2006/relationships/slideLayout" Target="../slideLayouts/slideLayout13.xml"/><Relationship Id="rId6" Type="http://schemas.openxmlformats.org/officeDocument/2006/relationships/hyperlink" Target="https://api.dart.dev/dart-core/String/contains.html" TargetMode="External"/><Relationship Id="rId11" Type="http://schemas.openxmlformats.org/officeDocument/2006/relationships/hyperlink" Target="https://api.flutter.dev/flutter/widgets/" TargetMode="External"/><Relationship Id="rId5" Type="http://schemas.openxmlformats.org/officeDocument/2006/relationships/hyperlink" Target="https://drift.simonbinder.eu/dart_api/select/#joins" TargetMode="External"/><Relationship Id="rId10" Type="http://schemas.openxmlformats.org/officeDocument/2006/relationships/hyperlink" Target="https://www.sqlite.org/foreignkeys.html" TargetMode="External"/><Relationship Id="rId4" Type="http://schemas.openxmlformats.org/officeDocument/2006/relationships/hyperlink" Target="https://docs.flutter.dev/cookbook/persistence/sqlite" TargetMode="External"/><Relationship Id="rId9" Type="http://schemas.openxmlformats.org/officeDocument/2006/relationships/hyperlink" Target="https://www.sqlite.org/lang_createtable.html" TargetMode="External"/><Relationship Id="rId14" Type="http://schemas.openxmlformats.org/officeDocument/2006/relationships/hyperlink" Target="https://dart.dev/effective-dart/style#do-name-types-using-uppercamelcase" TargetMode="External"/></Relationships>
</file>

<file path=ppt/slides/_rels/slide5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pic>
        <p:nvPicPr>
          <p:cNvPr id="5" name="Picture Placeholder 4"/>
          <p:cNvPicPr>
            <a:picLocks noGrp="1" noChangeAspect="1"/>
          </p:cNvPicPr>
          <p:nvPr>
            <p:ph type="pic" sz="quarter" idx="13"/>
          </p:nvPr>
        </p:nvPicPr>
        <p:blipFill>
          <a:blip r:embed="rId2"/>
          <a:srcRect l="19440" r="19440"/>
          <a:stretch>
            <a:fillRect/>
          </a:stretch>
        </p:blipFill>
        <p:spPr>
          <a:xfrm>
            <a:off x="0" y="0"/>
            <a:ext cx="12192000" cy="6858000"/>
          </a:xfrm>
          <a:prstGeom prst="rect">
            <a:avLst/>
          </a:prstGeom>
        </p:spPr>
      </p:pic>
    </p:spTree>
    <p:extLst>
      <p:ext uri="{BB962C8B-B14F-4D97-AF65-F5344CB8AC3E}">
        <p14:creationId xmlns:p14="http://schemas.microsoft.com/office/powerpoint/2010/main" val="6271022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911379A-9783-C56B-234A-95BAC96B84EC}"/>
              </a:ext>
            </a:extLst>
          </p:cNvPr>
          <p:cNvSpPr/>
          <p:nvPr/>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Title 1">
            <a:extLst>
              <a:ext uri="{FF2B5EF4-FFF2-40B4-BE49-F238E27FC236}">
                <a16:creationId xmlns:a16="http://schemas.microsoft.com/office/drawing/2014/main" id="{795FF0E8-80F7-AA83-8870-B750B9965345}"/>
              </a:ext>
            </a:extLst>
          </p:cNvPr>
          <p:cNvSpPr txBox="1">
            <a:spLocks/>
          </p:cNvSpPr>
          <p:nvPr/>
        </p:nvSpPr>
        <p:spPr>
          <a:xfrm>
            <a:off x="1136915" y="335889"/>
            <a:ext cx="3355800" cy="411471"/>
          </a:xfrm>
          <a:prstGeom prst="rect">
            <a:avLst/>
          </a:prstGeom>
          <a:solidFill>
            <a:schemeClr val="tx1"/>
          </a:solid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vi-VN" sz="1800" b="1" i="0" u="none" strike="noStrike" kern="1200" cap="none" spc="0" normalizeH="0" baseline="0" noProof="0">
                <a:ln>
                  <a:noFill/>
                </a:ln>
                <a:solidFill>
                  <a:srgbClr val="0000CC"/>
                </a:solidFill>
                <a:effectLst>
                  <a:outerShdw blurRad="50800" dist="38100" dir="2700000" algn="tl" rotWithShape="0">
                    <a:prstClr val="black">
                      <a:alpha val="4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TRƯỜNG ĐẠI HỌC BÁCH KHOA</a:t>
            </a:r>
          </a:p>
        </p:txBody>
      </p:sp>
      <p:sp>
        <p:nvSpPr>
          <p:cNvPr id="10" name="Title 1">
            <a:extLst>
              <a:ext uri="{FF2B5EF4-FFF2-40B4-BE49-F238E27FC236}">
                <a16:creationId xmlns:a16="http://schemas.microsoft.com/office/drawing/2014/main" id="{09E8EEE8-2DB9-047A-7F17-F5268F387009}"/>
              </a:ext>
            </a:extLst>
          </p:cNvPr>
          <p:cNvSpPr txBox="1">
            <a:spLocks/>
          </p:cNvSpPr>
          <p:nvPr/>
        </p:nvSpPr>
        <p:spPr>
          <a:xfrm>
            <a:off x="1612333" y="2249782"/>
            <a:ext cx="9292040" cy="1637808"/>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err="1">
                <a:ln>
                  <a:noFill/>
                </a:ln>
                <a:solidFill>
                  <a:srgbClr val="0000CC"/>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Đề</a:t>
            </a:r>
            <a:r>
              <a:rPr kumimoji="0" lang="en-US" sz="4400" b="1" i="0" u="none" strike="noStrike" kern="1200" cap="none" spc="0" normalizeH="0" baseline="0" noProof="0">
                <a:ln>
                  <a:noFill/>
                </a:ln>
                <a:solidFill>
                  <a:srgbClr val="0000CC"/>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4400" b="1" i="0" u="none" strike="noStrike" kern="1200" cap="none" spc="0" normalizeH="0" baseline="0" noProof="0" err="1">
                <a:ln>
                  <a:noFill/>
                </a:ln>
                <a:solidFill>
                  <a:srgbClr val="0000CC"/>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tài</a:t>
            </a:r>
            <a:r>
              <a:rPr kumimoji="0" lang="en-US" sz="4400" b="1" i="0" u="none" strike="noStrike" kern="1200" cap="none" spc="0" normalizeH="0" baseline="0" noProof="0">
                <a:ln>
                  <a:noFill/>
                </a:ln>
                <a:solidFill>
                  <a:srgbClr val="0000CC"/>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 </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SQLite và Drift – Quản lý cơ sở dữ liệu quan hệ</a:t>
            </a:r>
            <a:endParaRPr kumimoji="0" lang="vi-VN" sz="4400" b="1" i="0" u="none" strike="noStrike" kern="1200" cap="none" spc="0" normalizeH="0" baseline="0" noProof="0">
              <a:ln>
                <a:noFill/>
              </a:ln>
              <a:solidFill>
                <a:srgbClr val="0000CC"/>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p:txBody>
      </p:sp>
      <p:sp>
        <p:nvSpPr>
          <p:cNvPr id="11" name="Title 1">
            <a:extLst>
              <a:ext uri="{FF2B5EF4-FFF2-40B4-BE49-F238E27FC236}">
                <a16:creationId xmlns:a16="http://schemas.microsoft.com/office/drawing/2014/main" id="{01F0FA32-AC66-869C-BC23-DC047C397F0F}"/>
              </a:ext>
            </a:extLst>
          </p:cNvPr>
          <p:cNvSpPr txBox="1">
            <a:spLocks/>
          </p:cNvSpPr>
          <p:nvPr/>
        </p:nvSpPr>
        <p:spPr>
          <a:xfrm>
            <a:off x="1136915" y="105829"/>
            <a:ext cx="2063487" cy="382190"/>
          </a:xfrm>
          <a:prstGeom prst="rect">
            <a:avLst/>
          </a:prstGeom>
          <a:solidFill>
            <a:schemeClr val="tx1"/>
          </a:solid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ĐẠI HỌC ĐÀ NẴNG</a:t>
            </a:r>
            <a:endParaRPr kumimoji="0" lang="en-US"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endParaRPr>
          </a:p>
        </p:txBody>
      </p:sp>
      <p:pic>
        <p:nvPicPr>
          <p:cNvPr id="1028" name="Picture 4" descr="Tải mẫu logo trường đại học Bách Khoa Đà Nẵng (DUT) file ...">
            <a:extLst>
              <a:ext uri="{FF2B5EF4-FFF2-40B4-BE49-F238E27FC236}">
                <a16:creationId xmlns:a16="http://schemas.microsoft.com/office/drawing/2014/main" id="{DC90530D-1DB1-3167-5CA9-EB798B77E5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963164" cy="96316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2" name="Title 1">
            <a:extLst>
              <a:ext uri="{FF2B5EF4-FFF2-40B4-BE49-F238E27FC236}">
                <a16:creationId xmlns:a16="http://schemas.microsoft.com/office/drawing/2014/main" id="{09E8EEE8-2DB9-047A-7F17-F5268F387009}"/>
              </a:ext>
            </a:extLst>
          </p:cNvPr>
          <p:cNvSpPr txBox="1">
            <a:spLocks/>
          </p:cNvSpPr>
          <p:nvPr/>
        </p:nvSpPr>
        <p:spPr>
          <a:xfrm>
            <a:off x="1221961" y="728923"/>
            <a:ext cx="3127764" cy="41147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KHOA </a:t>
            </a:r>
            <a:r>
              <a:rPr kumimoji="0" lang="en-US"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ĐIỆN TỬ - VIỄN THÔNG</a:t>
            </a:r>
            <a:endPar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888EDE71-E52E-8725-EFC5-A6F2CE64927E}"/>
              </a:ext>
            </a:extLst>
          </p:cNvPr>
          <p:cNvSpPr txBox="1">
            <a:spLocks/>
          </p:cNvSpPr>
          <p:nvPr/>
        </p:nvSpPr>
        <p:spPr>
          <a:xfrm>
            <a:off x="2270803" y="1337295"/>
            <a:ext cx="7975100" cy="729253"/>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a:ln>
                  <a:noFill/>
                </a:ln>
                <a:solidFill>
                  <a:srgbClr val="CD1D1D"/>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Học </a:t>
            </a:r>
            <a:r>
              <a:rPr kumimoji="0" lang="en-US" sz="3600" b="1" i="0" u="none" strike="noStrike" kern="1200" cap="none" spc="0" normalizeH="0" baseline="0" noProof="0" err="1">
                <a:ln>
                  <a:noFill/>
                </a:ln>
                <a:solidFill>
                  <a:srgbClr val="CD1D1D"/>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phần</a:t>
            </a:r>
            <a:r>
              <a:rPr kumimoji="0" lang="en-US" sz="3600" b="1" i="0" u="none" strike="noStrike" kern="1200" cap="none" spc="0" normalizeH="0" baseline="0" noProof="0">
                <a:ln>
                  <a:noFill/>
                </a:ln>
                <a:solidFill>
                  <a:srgbClr val="CD1D1D"/>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 Lập trình đa nền tảng</a:t>
            </a:r>
            <a:endParaRPr kumimoji="0" lang="vi-VN" sz="3600" b="1" i="0" u="none" strike="noStrike" kern="1200" cap="none" spc="0" normalizeH="0" baseline="0" noProof="0">
              <a:ln>
                <a:noFill/>
              </a:ln>
              <a:solidFill>
                <a:srgbClr val="CD1D1D"/>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941B6560-5BF1-5287-52D9-FDFE215D4489}"/>
              </a:ext>
            </a:extLst>
          </p:cNvPr>
          <p:cNvSpPr txBox="1">
            <a:spLocks/>
          </p:cNvSpPr>
          <p:nvPr/>
        </p:nvSpPr>
        <p:spPr>
          <a:xfrm>
            <a:off x="655333" y="4407211"/>
            <a:ext cx="9066486" cy="2571241"/>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Giảng viên hướng dẫn : </a:t>
            </a:r>
            <a:r>
              <a:rPr kumimoji="0" lang="en-US" sz="2400"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TS. Nguyễn Duy Nhật Viễn</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vi-VN" sz="2400" b="1"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L</a:t>
            </a:r>
            <a:r>
              <a:rPr kumimoji="0" lang="en-US" sz="2400" b="1"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ớp học phần 22.44 </a:t>
            </a:r>
            <a:r>
              <a:rPr kumimoji="0" lang="vi-VN" sz="2400" b="1"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vi-VN" sz="2400"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N</a:t>
            </a:r>
            <a:r>
              <a:rPr kumimoji="0" lang="en-US" sz="2400"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hóm: Bản – Huy</a:t>
            </a: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2400" b="1"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2400"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Lê Thanh Bản                  - 106220209</a:t>
            </a: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2400"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   			     Lưu Văn Thành Huy     - 106220218</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200" i="0" u="none" strike="noStrike" kern="1200" cap="none" spc="0" normalizeH="0" baseline="0" noProof="0">
              <a:ln>
                <a:noFill/>
              </a:ln>
              <a:solidFill>
                <a:srgbClr val="CD1D1D"/>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vi-VN" sz="2200" b="1" i="0" u="none" strike="noStrike" kern="1200" cap="none" spc="0" normalizeH="0" baseline="0" noProof="0">
              <a:ln>
                <a:noFill/>
              </a:ln>
              <a:solidFill>
                <a:srgbClr val="616163"/>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F5A000D-671F-6097-4572-AA53B4EADEE3}"/>
              </a:ext>
            </a:extLst>
          </p:cNvPr>
          <p:cNvSpPr txBox="1">
            <a:spLocks/>
          </p:cNvSpPr>
          <p:nvPr/>
        </p:nvSpPr>
        <p:spPr>
          <a:xfrm>
            <a:off x="11339814" y="6521726"/>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1600" b="1" i="0" u="none" strike="noStrike" kern="1200" cap="none" spc="0" normalizeH="0" baseline="0" noProof="0">
                <a:ln>
                  <a:noFill/>
                </a:ln>
                <a:solidFill>
                  <a:prstClr val="black">
                    <a:alpha val="80000"/>
                  </a:prstClr>
                </a:solidFill>
                <a:effectLst>
                  <a:outerShdw blurRad="38100" dist="38100" dir="2700000" algn="tl">
                    <a:srgbClr val="000000">
                      <a:alpha val="43137"/>
                    </a:srgbClr>
                  </a:outerShdw>
                </a:effectLst>
                <a:uLnTx/>
                <a:uFillTx/>
                <a:latin typeface="Cambria" panose="02040503050406030204" pitchFamily="18" charset="0"/>
                <a:ea typeface="Cambria" panose="02040503050406030204" pitchFamily="18" charset="0"/>
                <a:cs typeface="+mn-cs"/>
              </a:rPr>
              <a:t>PAGE </a:t>
            </a:r>
            <a:r>
              <a:rPr lang="en-US" sz="1600" b="1">
                <a:solidFill>
                  <a:prstClr val="black">
                    <a:alpha val="80000"/>
                  </a:prst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endParaRPr kumimoji="0" lang="en-US" sz="1600" b="1" i="0" u="none" strike="noStrike" kern="1200" cap="none" spc="0" normalizeH="0" baseline="0" noProof="0">
              <a:ln>
                <a:noFill/>
              </a:ln>
              <a:solidFill>
                <a:prstClr val="black">
                  <a:alpha val="80000"/>
                </a:prstClr>
              </a:solidFill>
              <a:effectLst>
                <a:outerShdw blurRad="38100" dist="38100" dir="2700000" algn="tl">
                  <a:srgbClr val="000000">
                    <a:alpha val="43137"/>
                  </a:srgbClr>
                </a:outerShdw>
              </a:effectLst>
              <a:uLnTx/>
              <a:uFillTx/>
              <a:latin typeface="Cambria" panose="02040503050406030204" pitchFamily="18" charset="0"/>
              <a:ea typeface="Cambria" panose="02040503050406030204" pitchFamily="18" charset="0"/>
              <a:cs typeface="+mn-cs"/>
            </a:endParaRPr>
          </a:p>
        </p:txBody>
      </p:sp>
    </p:spTree>
    <p:extLst>
      <p:ext uri="{BB962C8B-B14F-4D97-AF65-F5344CB8AC3E}">
        <p14:creationId xmlns:p14="http://schemas.microsoft.com/office/powerpoint/2010/main" val="7528142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7745FC9-39EF-D3FD-F505-8C0944CD9D44}"/>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Title 1">
            <a:extLst>
              <a:ext uri="{FF2B5EF4-FFF2-40B4-BE49-F238E27FC236}">
                <a16:creationId xmlns:a16="http://schemas.microsoft.com/office/drawing/2014/main" id="{09E8EEE8-2DB9-047A-7F17-F5268F387009}"/>
              </a:ext>
            </a:extLst>
          </p:cNvPr>
          <p:cNvSpPr txBox="1">
            <a:spLocks/>
          </p:cNvSpPr>
          <p:nvPr/>
        </p:nvSpPr>
        <p:spPr>
          <a:xfrm>
            <a:off x="1618497" y="985249"/>
            <a:ext cx="7778496" cy="1879261"/>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endParaRPr lang="vi-VN" sz="4400" b="1">
              <a:solidFill>
                <a:srgbClr val="FF0000"/>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626023D0-31B5-CFBD-9011-904BECB45C27}"/>
              </a:ext>
            </a:extLst>
          </p:cNvPr>
          <p:cNvSpPr txBox="1">
            <a:spLocks/>
          </p:cNvSpPr>
          <p:nvPr/>
        </p:nvSpPr>
        <p:spPr>
          <a:xfrm>
            <a:off x="1492778" y="1126475"/>
            <a:ext cx="9312407" cy="1637808"/>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Đề</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a:t>
            </a: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tài</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SQLite và Drift – Quản lý cơ sở dữ liệu quan hệ</a:t>
            </a:r>
            <a:endParaRPr lang="vi-VN"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3" name="Date Placeholder 3">
            <a:extLst>
              <a:ext uri="{FF2B5EF4-FFF2-40B4-BE49-F238E27FC236}">
                <a16:creationId xmlns:a16="http://schemas.microsoft.com/office/drawing/2014/main" id="{A210F029-1BBC-650D-93D5-C4098CD84D3D}"/>
              </a:ext>
            </a:extLst>
          </p:cNvPr>
          <p:cNvSpPr txBox="1">
            <a:spLocks/>
          </p:cNvSpPr>
          <p:nvPr/>
        </p:nvSpPr>
        <p:spPr>
          <a:xfrm>
            <a:off x="11310785" y="65548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p>
        </p:txBody>
      </p:sp>
      <p:sp>
        <p:nvSpPr>
          <p:cNvPr id="12" name="Content Placeholder 2">
            <a:extLst>
              <a:ext uri="{FF2B5EF4-FFF2-40B4-BE49-F238E27FC236}">
                <a16:creationId xmlns:a16="http://schemas.microsoft.com/office/drawing/2014/main" id="{9F174C0B-2869-FE3D-A7BA-9A6B2E691DB0}"/>
              </a:ext>
            </a:extLst>
          </p:cNvPr>
          <p:cNvSpPr txBox="1">
            <a:spLocks/>
          </p:cNvSpPr>
          <p:nvPr/>
        </p:nvSpPr>
        <p:spPr>
          <a:xfrm>
            <a:off x="756830" y="2084724"/>
            <a:ext cx="10784301" cy="4370807"/>
          </a:xfrm>
          <a:prstGeom prst="rect">
            <a:avLst/>
          </a:prstGeom>
        </p:spPr>
        <p:txBody>
          <a:bodyPr/>
          <a:lst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800" b="1">
              <a:solidFill>
                <a:srgbClr val="616163"/>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a:p>
            <a:pPr marL="0" indent="0">
              <a:buNone/>
            </a:pP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 </a:t>
            </a:r>
            <a:r>
              <a:rPr lang="en-US" sz="2400" b="1" err="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Giới</a:t>
            </a: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thiệu tổng quan </a:t>
            </a:r>
          </a:p>
          <a:p>
            <a:pPr marL="0" indent="0">
              <a:buNone/>
            </a:pP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 Ứng dụng quản lý danh sách sản phẩm với SQLite</a:t>
            </a:r>
          </a:p>
          <a:p>
            <a:pPr marL="0" indent="0">
              <a:buNone/>
            </a:pP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 Migrate sang Drift và so sánh ưu nhược điểm</a:t>
            </a:r>
          </a:p>
          <a:p>
            <a:pPr marL="0" indent="0">
              <a:buNone/>
            </a:pP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a:t>
            </a:r>
          </a:p>
          <a:p>
            <a:pPr marL="0" indent="0">
              <a:buNone/>
            </a:pP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Perfomance testing và optimization</a:t>
            </a:r>
          </a:p>
        </p:txBody>
      </p:sp>
      <p:sp>
        <p:nvSpPr>
          <p:cNvPr id="16" name="Title 1">
            <a:extLst>
              <a:ext uri="{FF2B5EF4-FFF2-40B4-BE49-F238E27FC236}">
                <a16:creationId xmlns:a16="http://schemas.microsoft.com/office/drawing/2014/main" id="{A4528537-CA55-2F21-ED21-05DF225BC7F2}"/>
              </a:ext>
            </a:extLst>
          </p:cNvPr>
          <p:cNvSpPr txBox="1">
            <a:spLocks/>
          </p:cNvSpPr>
          <p:nvPr/>
        </p:nvSpPr>
        <p:spPr>
          <a:xfrm>
            <a:off x="1136915" y="335889"/>
            <a:ext cx="3355800" cy="411471"/>
          </a:xfrm>
          <a:prstGeom prst="rect">
            <a:avLst/>
          </a:prstGeom>
          <a:solidFill>
            <a:schemeClr val="tx1"/>
          </a:solid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vi-VN" sz="1800" b="1" i="0" u="none" strike="noStrike" kern="1200" cap="none" spc="0" normalizeH="0" baseline="0" noProof="0">
                <a:ln>
                  <a:noFill/>
                </a:ln>
                <a:solidFill>
                  <a:srgbClr val="0000CC"/>
                </a:solidFill>
                <a:effectLst>
                  <a:outerShdw blurRad="50800" dist="38100" dir="2700000" algn="tl" rotWithShape="0">
                    <a:prstClr val="black">
                      <a:alpha val="4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TRƯỜNG ĐẠI HỌC BÁCH KHOA</a:t>
            </a:r>
          </a:p>
        </p:txBody>
      </p:sp>
      <p:sp>
        <p:nvSpPr>
          <p:cNvPr id="17" name="Title 1">
            <a:extLst>
              <a:ext uri="{FF2B5EF4-FFF2-40B4-BE49-F238E27FC236}">
                <a16:creationId xmlns:a16="http://schemas.microsoft.com/office/drawing/2014/main" id="{CC56A843-D7D3-361C-A3ED-654F52FEAF71}"/>
              </a:ext>
            </a:extLst>
          </p:cNvPr>
          <p:cNvSpPr txBox="1">
            <a:spLocks/>
          </p:cNvSpPr>
          <p:nvPr/>
        </p:nvSpPr>
        <p:spPr>
          <a:xfrm>
            <a:off x="1136915" y="105829"/>
            <a:ext cx="2063487" cy="382190"/>
          </a:xfrm>
          <a:prstGeom prst="rect">
            <a:avLst/>
          </a:prstGeom>
          <a:solidFill>
            <a:schemeClr val="tx1"/>
          </a:solid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ĐẠI HỌC ĐÀ NẴNG</a:t>
            </a:r>
            <a:endParaRPr kumimoji="0" lang="en-US"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endParaRPr>
          </a:p>
        </p:txBody>
      </p:sp>
      <p:pic>
        <p:nvPicPr>
          <p:cNvPr id="18" name="Picture 4" descr="Tải mẫu logo trường đại học Bách Khoa Đà Nẵng (DUT) file ...">
            <a:extLst>
              <a:ext uri="{FF2B5EF4-FFF2-40B4-BE49-F238E27FC236}">
                <a16:creationId xmlns:a16="http://schemas.microsoft.com/office/drawing/2014/main" id="{7DC84BEA-0F82-FE46-BC6A-8D8F3E33CA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963164" cy="96316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9" name="Title 1">
            <a:extLst>
              <a:ext uri="{FF2B5EF4-FFF2-40B4-BE49-F238E27FC236}">
                <a16:creationId xmlns:a16="http://schemas.microsoft.com/office/drawing/2014/main" id="{499BE751-8777-31BE-0D43-44D73DB69BD9}"/>
              </a:ext>
            </a:extLst>
          </p:cNvPr>
          <p:cNvSpPr txBox="1">
            <a:spLocks/>
          </p:cNvSpPr>
          <p:nvPr/>
        </p:nvSpPr>
        <p:spPr>
          <a:xfrm>
            <a:off x="1221961" y="728923"/>
            <a:ext cx="3127764" cy="41147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KHOA </a:t>
            </a:r>
            <a:r>
              <a:rPr kumimoji="0" lang="en-US"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ĐIỆN TỬ - VIỄN THÔNG</a:t>
            </a:r>
            <a:endPar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3141229998"/>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CB30C-0FD4-66EC-FF48-23F10EE52F8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9A38CD8-A33D-2D13-522A-FE608716BD89}"/>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Title 1">
            <a:extLst>
              <a:ext uri="{FF2B5EF4-FFF2-40B4-BE49-F238E27FC236}">
                <a16:creationId xmlns:a16="http://schemas.microsoft.com/office/drawing/2014/main" id="{49EEE22B-5A2E-15C7-6CB3-47C18F4A2A2B}"/>
              </a:ext>
            </a:extLst>
          </p:cNvPr>
          <p:cNvSpPr txBox="1">
            <a:spLocks/>
          </p:cNvSpPr>
          <p:nvPr/>
        </p:nvSpPr>
        <p:spPr>
          <a:xfrm>
            <a:off x="1618497" y="985249"/>
            <a:ext cx="7778496" cy="1879261"/>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endParaRPr lang="vi-VN" sz="4400" b="1">
              <a:solidFill>
                <a:srgbClr val="FF0000"/>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3B25B599-0F17-BE9D-15FA-F36C9BF74A27}"/>
              </a:ext>
            </a:extLst>
          </p:cNvPr>
          <p:cNvSpPr txBox="1">
            <a:spLocks/>
          </p:cNvSpPr>
          <p:nvPr/>
        </p:nvSpPr>
        <p:spPr>
          <a:xfrm>
            <a:off x="1492778" y="1126475"/>
            <a:ext cx="9312407" cy="1637808"/>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Đề</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a:t>
            </a: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tài</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SQLite và Drift – Quản lý cơ sở dữ liệu quan hệ</a:t>
            </a:r>
            <a:endParaRPr lang="vi-VN"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3" name="Date Placeholder 3">
            <a:extLst>
              <a:ext uri="{FF2B5EF4-FFF2-40B4-BE49-F238E27FC236}">
                <a16:creationId xmlns:a16="http://schemas.microsoft.com/office/drawing/2014/main" id="{BEF8DF5F-9CAA-EBE7-9DB5-2DA6E7F87C57}"/>
              </a:ext>
            </a:extLst>
          </p:cNvPr>
          <p:cNvSpPr txBox="1">
            <a:spLocks/>
          </p:cNvSpPr>
          <p:nvPr/>
        </p:nvSpPr>
        <p:spPr>
          <a:xfrm>
            <a:off x="11368842" y="65548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a:t>
            </a:r>
          </a:p>
        </p:txBody>
      </p:sp>
      <p:sp>
        <p:nvSpPr>
          <p:cNvPr id="12" name="Content Placeholder 2">
            <a:extLst>
              <a:ext uri="{FF2B5EF4-FFF2-40B4-BE49-F238E27FC236}">
                <a16:creationId xmlns:a16="http://schemas.microsoft.com/office/drawing/2014/main" id="{8EA90AB3-86FC-4929-9147-5181FE2759D6}"/>
              </a:ext>
            </a:extLst>
          </p:cNvPr>
          <p:cNvSpPr txBox="1">
            <a:spLocks/>
          </p:cNvSpPr>
          <p:nvPr/>
        </p:nvSpPr>
        <p:spPr>
          <a:xfrm>
            <a:off x="756830" y="2084724"/>
            <a:ext cx="10784301" cy="4370807"/>
          </a:xfrm>
          <a:prstGeom prst="rect">
            <a:avLst/>
          </a:prstGeom>
        </p:spPr>
        <p:txBody>
          <a:bodyPr/>
          <a:lst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800" b="1">
              <a:solidFill>
                <a:srgbClr val="616163"/>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a:p>
            <a:pPr marL="0" indent="0">
              <a:buNone/>
            </a:pP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 </a:t>
            </a:r>
            <a:r>
              <a:rPr lang="en-US" sz="2400" b="1" err="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Giới</a:t>
            </a: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thiệu tổng quan </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 Ứng dụng quản lý danh sách sản phẩm với SQLite</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 Migrate sang Drift và so sánh ưu nhược điểm</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Perfomance testing và optimization</a:t>
            </a:r>
          </a:p>
        </p:txBody>
      </p:sp>
      <p:sp>
        <p:nvSpPr>
          <p:cNvPr id="16" name="Title 1">
            <a:extLst>
              <a:ext uri="{FF2B5EF4-FFF2-40B4-BE49-F238E27FC236}">
                <a16:creationId xmlns:a16="http://schemas.microsoft.com/office/drawing/2014/main" id="{29D13A10-9473-8379-590F-911B485E886F}"/>
              </a:ext>
            </a:extLst>
          </p:cNvPr>
          <p:cNvSpPr txBox="1">
            <a:spLocks/>
          </p:cNvSpPr>
          <p:nvPr/>
        </p:nvSpPr>
        <p:spPr>
          <a:xfrm>
            <a:off x="1136915" y="335889"/>
            <a:ext cx="3355800" cy="411471"/>
          </a:xfrm>
          <a:prstGeom prst="rect">
            <a:avLst/>
          </a:prstGeom>
          <a:solidFill>
            <a:schemeClr val="tx1"/>
          </a:solid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vi-VN" sz="1800" b="1" i="0" u="none" strike="noStrike" kern="1200" cap="none" spc="0" normalizeH="0" baseline="0" noProof="0">
                <a:ln>
                  <a:noFill/>
                </a:ln>
                <a:solidFill>
                  <a:srgbClr val="0000CC"/>
                </a:solidFill>
                <a:effectLst>
                  <a:outerShdw blurRad="50800" dist="38100" dir="2700000" algn="tl" rotWithShape="0">
                    <a:prstClr val="black">
                      <a:alpha val="4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TRƯỜNG ĐẠI HỌC BÁCH KHOA</a:t>
            </a:r>
          </a:p>
        </p:txBody>
      </p:sp>
      <p:sp>
        <p:nvSpPr>
          <p:cNvPr id="17" name="Title 1">
            <a:extLst>
              <a:ext uri="{FF2B5EF4-FFF2-40B4-BE49-F238E27FC236}">
                <a16:creationId xmlns:a16="http://schemas.microsoft.com/office/drawing/2014/main" id="{AC211310-6E75-432B-E0A3-56EE24582270}"/>
              </a:ext>
            </a:extLst>
          </p:cNvPr>
          <p:cNvSpPr txBox="1">
            <a:spLocks/>
          </p:cNvSpPr>
          <p:nvPr/>
        </p:nvSpPr>
        <p:spPr>
          <a:xfrm>
            <a:off x="1136915" y="105829"/>
            <a:ext cx="2063487" cy="382190"/>
          </a:xfrm>
          <a:prstGeom prst="rect">
            <a:avLst/>
          </a:prstGeom>
          <a:solidFill>
            <a:schemeClr val="tx1"/>
          </a:solid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ĐẠI HỌC ĐÀ NẴNG</a:t>
            </a:r>
            <a:endParaRPr kumimoji="0" lang="en-US"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endParaRPr>
          </a:p>
        </p:txBody>
      </p:sp>
      <p:pic>
        <p:nvPicPr>
          <p:cNvPr id="18" name="Picture 4" descr="Tải mẫu logo trường đại học Bách Khoa Đà Nẵng (DUT) file ...">
            <a:extLst>
              <a:ext uri="{FF2B5EF4-FFF2-40B4-BE49-F238E27FC236}">
                <a16:creationId xmlns:a16="http://schemas.microsoft.com/office/drawing/2014/main" id="{4777C2C5-2AA6-1F4C-3DC7-4A66DEE21C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963164" cy="96316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9" name="Title 1">
            <a:extLst>
              <a:ext uri="{FF2B5EF4-FFF2-40B4-BE49-F238E27FC236}">
                <a16:creationId xmlns:a16="http://schemas.microsoft.com/office/drawing/2014/main" id="{CA839781-A99B-2B49-FE3F-7B5FDDE9B38F}"/>
              </a:ext>
            </a:extLst>
          </p:cNvPr>
          <p:cNvSpPr txBox="1">
            <a:spLocks/>
          </p:cNvSpPr>
          <p:nvPr/>
        </p:nvSpPr>
        <p:spPr>
          <a:xfrm>
            <a:off x="1221961" y="728923"/>
            <a:ext cx="3127764" cy="41147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KHOA </a:t>
            </a:r>
            <a:r>
              <a:rPr kumimoji="0" lang="en-US"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ĐIỆN TỬ - VIỄN THÔNG</a:t>
            </a:r>
            <a:endPar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368378971"/>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C233F-5104-B589-5EA2-D51232FA90E4}"/>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57982D4-A34E-D4FE-AE26-FE1AE3034F1B}"/>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AEFB6AE8-2684-5F3D-E135-5302BFF21D1D}"/>
              </a:ext>
            </a:extLst>
          </p:cNvPr>
          <p:cNvSpPr txBox="1">
            <a:spLocks/>
          </p:cNvSpPr>
          <p:nvPr/>
        </p:nvSpPr>
        <p:spPr>
          <a:xfrm>
            <a:off x="11397871" y="655075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a:t>
            </a:r>
          </a:p>
        </p:txBody>
      </p:sp>
      <p:sp>
        <p:nvSpPr>
          <p:cNvPr id="7" name="Title 10">
            <a:extLst>
              <a:ext uri="{FF2B5EF4-FFF2-40B4-BE49-F238E27FC236}">
                <a16:creationId xmlns:a16="http://schemas.microsoft.com/office/drawing/2014/main" id="{D9F6073F-F3FA-D968-F2E4-6B060F18E49F}"/>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Giới thiệu tổng quan</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0EEBD8BE-736F-0ADF-3389-87FD3DC2AE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7E69E17-AB61-0CE6-BB36-C05215463F44}"/>
              </a:ext>
            </a:extLst>
          </p:cNvPr>
          <p:cNvSpPr txBox="1"/>
          <p:nvPr/>
        </p:nvSpPr>
        <p:spPr>
          <a:xfrm>
            <a:off x="642164" y="1548581"/>
            <a:ext cx="10907669" cy="3231654"/>
          </a:xfrm>
          <a:prstGeom prst="rect">
            <a:avLst/>
          </a:prstGeom>
          <a:noFill/>
        </p:spPr>
        <p:txBody>
          <a:bodyPr wrap="square" rtlCol="0">
            <a:spAutoFit/>
          </a:bodyPr>
          <a:lstStyle/>
          <a:p>
            <a:pPr algn="just">
              <a:lnSpc>
                <a:spcPct val="150000"/>
              </a:lnSpc>
            </a:pPr>
            <a:r>
              <a:rPr lang="vi-VN" sz="2400" b="1">
                <a:solidFill>
                  <a:schemeClr val="bg1"/>
                </a:solidFill>
                <a:latin typeface="Cambria" panose="02040503050406030204" pitchFamily="18" charset="0"/>
                <a:ea typeface="Cambria" panose="02040503050406030204" pitchFamily="18" charset="0"/>
              </a:rPr>
              <a:t>Mục tiêu của nội dung này là</a:t>
            </a:r>
            <a:r>
              <a:rPr lang="vi-VN" sz="2400">
                <a:solidFill>
                  <a:schemeClr val="bg1"/>
                </a:solidFill>
                <a:latin typeface="Cambria" panose="02040503050406030204" pitchFamily="18" charset="0"/>
                <a:ea typeface="Cambria" panose="02040503050406030204" pitchFamily="18" charset="0"/>
              </a:rPr>
              <a:t> hiểu và thực hành hai cách tiếp cận quản lý cơ sở dữ liệu quan hệ trong Flutter:</a:t>
            </a:r>
          </a:p>
          <a:p>
            <a:pPr algn="just">
              <a:lnSpc>
                <a:spcPct val="150000"/>
              </a:lnSpc>
            </a:pPr>
            <a:r>
              <a:rPr lang="vi-VN" sz="2400">
                <a:solidFill>
                  <a:schemeClr val="bg1"/>
                </a:solidFill>
                <a:latin typeface="Cambria" panose="02040503050406030204" pitchFamily="18" charset="0"/>
                <a:ea typeface="Cambria" panose="02040503050406030204" pitchFamily="18" charset="0"/>
              </a:rPr>
              <a:t>1.	Sử dụng SQLite thuần – thao tác trực tiếp bằng câu lệnh SQL.</a:t>
            </a:r>
          </a:p>
          <a:p>
            <a:pPr algn="just">
              <a:lnSpc>
                <a:spcPct val="150000"/>
              </a:lnSpc>
            </a:pPr>
            <a:r>
              <a:rPr lang="vi-VN" sz="2400">
                <a:solidFill>
                  <a:schemeClr val="bg1"/>
                </a:solidFill>
                <a:latin typeface="Cambria" panose="02040503050406030204" pitchFamily="18" charset="0"/>
                <a:ea typeface="Cambria" panose="02040503050406030204" pitchFamily="18" charset="0"/>
              </a:rPr>
              <a:t>2.	Sử dụng Drift ORM (Object Relational Mapping) – thao tác với dữ liệu bằng đối tượng Dart thay vì câu lệnh SQL thủ công.</a:t>
            </a:r>
          </a:p>
          <a:p>
            <a:endParaRPr lang="en-US" sz="240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42384500"/>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F5583-49CE-1711-FE48-84AC1F202B8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BFF5295-A881-7BC8-6F36-25FFC8346AF0}"/>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Title 1">
            <a:extLst>
              <a:ext uri="{FF2B5EF4-FFF2-40B4-BE49-F238E27FC236}">
                <a16:creationId xmlns:a16="http://schemas.microsoft.com/office/drawing/2014/main" id="{FE16EB01-7F00-4F1F-4056-11FCC846B8AE}"/>
              </a:ext>
            </a:extLst>
          </p:cNvPr>
          <p:cNvSpPr txBox="1">
            <a:spLocks/>
          </p:cNvSpPr>
          <p:nvPr/>
        </p:nvSpPr>
        <p:spPr>
          <a:xfrm>
            <a:off x="1618497" y="985249"/>
            <a:ext cx="7778496" cy="1879261"/>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endParaRPr lang="vi-VN" sz="4400" b="1">
              <a:solidFill>
                <a:srgbClr val="FF0000"/>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9DEED661-6D79-A14C-D575-A281B9AE4523}"/>
              </a:ext>
            </a:extLst>
          </p:cNvPr>
          <p:cNvSpPr txBox="1">
            <a:spLocks/>
          </p:cNvSpPr>
          <p:nvPr/>
        </p:nvSpPr>
        <p:spPr>
          <a:xfrm>
            <a:off x="1492778" y="1126475"/>
            <a:ext cx="9312407" cy="1637808"/>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Đề</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a:t>
            </a: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tài</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SQLite và Drift – Quản lý cơ sở dữ liệu quan hệ</a:t>
            </a:r>
            <a:endParaRPr lang="vi-VN"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3" name="Date Placeholder 3">
            <a:extLst>
              <a:ext uri="{FF2B5EF4-FFF2-40B4-BE49-F238E27FC236}">
                <a16:creationId xmlns:a16="http://schemas.microsoft.com/office/drawing/2014/main" id="{0D15DFE8-1AE2-90B1-4FBC-D0C29BD4F14F}"/>
              </a:ext>
            </a:extLst>
          </p:cNvPr>
          <p:cNvSpPr txBox="1">
            <a:spLocks/>
          </p:cNvSpPr>
          <p:nvPr/>
        </p:nvSpPr>
        <p:spPr>
          <a:xfrm>
            <a:off x="11310785" y="65548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6</a:t>
            </a:r>
          </a:p>
        </p:txBody>
      </p:sp>
      <p:sp>
        <p:nvSpPr>
          <p:cNvPr id="12" name="Content Placeholder 2">
            <a:extLst>
              <a:ext uri="{FF2B5EF4-FFF2-40B4-BE49-F238E27FC236}">
                <a16:creationId xmlns:a16="http://schemas.microsoft.com/office/drawing/2014/main" id="{B70D168C-50D7-42CA-6E89-4D96A6DF4F17}"/>
              </a:ext>
            </a:extLst>
          </p:cNvPr>
          <p:cNvSpPr txBox="1">
            <a:spLocks/>
          </p:cNvSpPr>
          <p:nvPr/>
        </p:nvSpPr>
        <p:spPr>
          <a:xfrm>
            <a:off x="756830" y="2084724"/>
            <a:ext cx="10784301" cy="4370807"/>
          </a:xfrm>
          <a:prstGeom prst="rect">
            <a:avLst/>
          </a:prstGeom>
        </p:spPr>
        <p:txBody>
          <a:bodyPr/>
          <a:lst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800" b="1">
              <a:solidFill>
                <a:srgbClr val="616163"/>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 </a:t>
            </a:r>
            <a:r>
              <a:rPr lang="en-US" sz="2400" b="1" err="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Giới</a:t>
            </a: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thiệu tổng quan </a:t>
            </a:r>
          </a:p>
          <a:p>
            <a:pPr marL="0" indent="0">
              <a:buNone/>
            </a:pP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 Ứng dụng quản lý danh sách sản phẩm với SQLite</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 Migrate sang Drift và so sánh ưu nhược điểm</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Perfomance testing và optimization</a:t>
            </a:r>
          </a:p>
        </p:txBody>
      </p:sp>
      <p:sp>
        <p:nvSpPr>
          <p:cNvPr id="16" name="Title 1">
            <a:extLst>
              <a:ext uri="{FF2B5EF4-FFF2-40B4-BE49-F238E27FC236}">
                <a16:creationId xmlns:a16="http://schemas.microsoft.com/office/drawing/2014/main" id="{26BD237F-560B-142F-F9A4-4F5A23958E01}"/>
              </a:ext>
            </a:extLst>
          </p:cNvPr>
          <p:cNvSpPr txBox="1">
            <a:spLocks/>
          </p:cNvSpPr>
          <p:nvPr/>
        </p:nvSpPr>
        <p:spPr>
          <a:xfrm>
            <a:off x="1136915" y="335889"/>
            <a:ext cx="3355800" cy="411471"/>
          </a:xfrm>
          <a:prstGeom prst="rect">
            <a:avLst/>
          </a:prstGeom>
          <a:solidFill>
            <a:schemeClr val="tx1"/>
          </a:solid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vi-VN" sz="1800" b="1" i="0" u="none" strike="noStrike" kern="1200" cap="none" spc="0" normalizeH="0" baseline="0" noProof="0">
                <a:ln>
                  <a:noFill/>
                </a:ln>
                <a:solidFill>
                  <a:srgbClr val="0000CC"/>
                </a:solidFill>
                <a:effectLst>
                  <a:outerShdw blurRad="50800" dist="38100" dir="2700000" algn="tl" rotWithShape="0">
                    <a:prstClr val="black">
                      <a:alpha val="4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TRƯỜNG ĐẠI HỌC BÁCH KHOA</a:t>
            </a:r>
          </a:p>
        </p:txBody>
      </p:sp>
      <p:sp>
        <p:nvSpPr>
          <p:cNvPr id="17" name="Title 1">
            <a:extLst>
              <a:ext uri="{FF2B5EF4-FFF2-40B4-BE49-F238E27FC236}">
                <a16:creationId xmlns:a16="http://schemas.microsoft.com/office/drawing/2014/main" id="{A6C8712A-38AE-FF2E-6CDB-F604CB4952F8}"/>
              </a:ext>
            </a:extLst>
          </p:cNvPr>
          <p:cNvSpPr txBox="1">
            <a:spLocks/>
          </p:cNvSpPr>
          <p:nvPr/>
        </p:nvSpPr>
        <p:spPr>
          <a:xfrm>
            <a:off x="1136915" y="105829"/>
            <a:ext cx="2063487" cy="382190"/>
          </a:xfrm>
          <a:prstGeom prst="rect">
            <a:avLst/>
          </a:prstGeom>
          <a:solidFill>
            <a:schemeClr val="tx1"/>
          </a:solid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ĐẠI HỌC ĐÀ NẴNG</a:t>
            </a:r>
            <a:endParaRPr kumimoji="0" lang="en-US"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endParaRPr>
          </a:p>
        </p:txBody>
      </p:sp>
      <p:pic>
        <p:nvPicPr>
          <p:cNvPr id="18" name="Picture 4" descr="Tải mẫu logo trường đại học Bách Khoa Đà Nẵng (DUT) file ...">
            <a:extLst>
              <a:ext uri="{FF2B5EF4-FFF2-40B4-BE49-F238E27FC236}">
                <a16:creationId xmlns:a16="http://schemas.microsoft.com/office/drawing/2014/main" id="{CBA6B370-8EFC-63E5-8529-BA77A36633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963164" cy="96316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9" name="Title 1">
            <a:extLst>
              <a:ext uri="{FF2B5EF4-FFF2-40B4-BE49-F238E27FC236}">
                <a16:creationId xmlns:a16="http://schemas.microsoft.com/office/drawing/2014/main" id="{74E8E83F-2FE3-6783-2F7D-F7432DB0C75A}"/>
              </a:ext>
            </a:extLst>
          </p:cNvPr>
          <p:cNvSpPr txBox="1">
            <a:spLocks/>
          </p:cNvSpPr>
          <p:nvPr/>
        </p:nvSpPr>
        <p:spPr>
          <a:xfrm>
            <a:off x="1221961" y="728923"/>
            <a:ext cx="3127764" cy="41147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KHOA </a:t>
            </a:r>
            <a:r>
              <a:rPr kumimoji="0" lang="en-US"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ĐIỆN TỬ - VIỄN THÔNG</a:t>
            </a:r>
            <a:endPar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679405789"/>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15E03-E97F-982A-A99C-A892D552A80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E107EBE7-B805-51A7-2F85-86D112389157}"/>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EDE44564-2510-525B-D6EE-869F2E773D8A}"/>
              </a:ext>
            </a:extLst>
          </p:cNvPr>
          <p:cNvSpPr txBox="1">
            <a:spLocks/>
          </p:cNvSpPr>
          <p:nvPr/>
        </p:nvSpPr>
        <p:spPr>
          <a:xfrm>
            <a:off x="11339813"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7</a:t>
            </a:r>
          </a:p>
        </p:txBody>
      </p:sp>
      <p:sp>
        <p:nvSpPr>
          <p:cNvPr id="7" name="Title 10">
            <a:extLst>
              <a:ext uri="{FF2B5EF4-FFF2-40B4-BE49-F238E27FC236}">
                <a16:creationId xmlns:a16="http://schemas.microsoft.com/office/drawing/2014/main" id="{255DA0B6-FDE6-18BC-4383-504DDC2FC13C}"/>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902C9EB0-58D0-0688-3A6F-8B104C4974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65F01DA-AEE9-9C29-6EB9-8A00EE562D9E}"/>
              </a:ext>
            </a:extLst>
          </p:cNvPr>
          <p:cNvSpPr txBox="1"/>
          <p:nvPr/>
        </p:nvSpPr>
        <p:spPr>
          <a:xfrm>
            <a:off x="1506728" y="1754054"/>
            <a:ext cx="10213323" cy="2492990"/>
          </a:xfrm>
          <a:prstGeom prst="rect">
            <a:avLst/>
          </a:prstGeom>
          <a:noFill/>
        </p:spPr>
        <p:txBody>
          <a:bodyPr wrap="square" rtlCol="0">
            <a:spAutoFit/>
          </a:bodyPr>
          <a:lstStyle/>
          <a:p>
            <a:pPr>
              <a:lnSpc>
                <a:spcPct val="150000"/>
              </a:lnSpc>
            </a:pPr>
            <a:r>
              <a:rPr lang="en-US" sz="2400" b="1">
                <a:solidFill>
                  <a:schemeClr val="bg1"/>
                </a:solidFill>
                <a:latin typeface="Cambria" panose="02040503050406030204" pitchFamily="18" charset="0"/>
                <a:ea typeface="Cambria" panose="02040503050406030204" pitchFamily="18" charset="0"/>
              </a:rPr>
              <a:t>SQLite:</a:t>
            </a:r>
          </a:p>
          <a:p>
            <a:pPr marL="342900" indent="-342900">
              <a:buFont typeface="Arial" panose="020B0604020202020204" pitchFamily="34" charset="0"/>
              <a:buChar char="•"/>
            </a:pPr>
            <a:r>
              <a:rPr lang="vi-VN" sz="2400">
                <a:solidFill>
                  <a:schemeClr val="bg1"/>
                </a:solidFill>
                <a:latin typeface="Cambria" panose="02040503050406030204" pitchFamily="18" charset="0"/>
                <a:ea typeface="Cambria" panose="02040503050406030204" pitchFamily="18" charset="0"/>
              </a:rPr>
              <a:t>là một cơ sở dữ liệu quan hệ nhúng, mạnh mẽ để lưu trữ dữ liệu có</a:t>
            </a:r>
            <a:r>
              <a:rPr lang="en-US" sz="2400">
                <a:solidFill>
                  <a:schemeClr val="bg1"/>
                </a:solidFill>
                <a:latin typeface="Cambria" panose="02040503050406030204" pitchFamily="18" charset="0"/>
                <a:ea typeface="Cambria" panose="02040503050406030204" pitchFamily="18" charset="0"/>
              </a:rPr>
              <a:t> </a:t>
            </a:r>
            <a:r>
              <a:rPr lang="vi-VN" sz="2400">
                <a:solidFill>
                  <a:schemeClr val="bg1"/>
                </a:solidFill>
                <a:latin typeface="Cambria" panose="02040503050406030204" pitchFamily="18" charset="0"/>
                <a:ea typeface="Cambria" panose="02040503050406030204" pitchFamily="18" charset="0"/>
              </a:rPr>
              <a:t>cấu trúc dạng bảng.</a:t>
            </a:r>
          </a:p>
          <a:p>
            <a:pPr marL="342900" indent="-342900">
              <a:buFont typeface="Arial" panose="020B0604020202020204" pitchFamily="34" charset="0"/>
              <a:buChar char="•"/>
            </a:pPr>
            <a:r>
              <a:rPr lang="vi-VN" sz="2400">
                <a:solidFill>
                  <a:schemeClr val="bg1"/>
                </a:solidFill>
                <a:latin typeface="Cambria" panose="02040503050406030204" pitchFamily="18" charset="0"/>
                <a:ea typeface="Cambria" panose="02040503050406030204" pitchFamily="18" charset="0"/>
              </a:rPr>
              <a:t>Sử dụng thư viện sqflite để tương tác.</a:t>
            </a:r>
          </a:p>
          <a:p>
            <a:pPr marL="342900" indent="-342900">
              <a:buFont typeface="Arial" panose="020B0604020202020204" pitchFamily="34" charset="0"/>
              <a:buChar char="•"/>
            </a:pPr>
            <a:r>
              <a:rPr lang="vi-VN" sz="2400">
                <a:solidFill>
                  <a:schemeClr val="bg1"/>
                </a:solidFill>
                <a:latin typeface="Cambria" panose="02040503050406030204" pitchFamily="18" charset="0"/>
                <a:ea typeface="Cambria" panose="02040503050406030204" pitchFamily="18" charset="0"/>
              </a:rPr>
              <a:t>Phù hợp cho danh sách bài viết, sản phẩm, lịch sử giao dịch...</a:t>
            </a:r>
          </a:p>
          <a:p>
            <a:pPr marL="342900" indent="-342900">
              <a:buFont typeface="Arial" panose="020B0604020202020204" pitchFamily="34" charset="0"/>
              <a:buChar char="•"/>
            </a:pPr>
            <a:r>
              <a:rPr lang="vi-VN" sz="2400">
                <a:solidFill>
                  <a:schemeClr val="bg1"/>
                </a:solidFill>
                <a:latin typeface="Cambria" panose="02040503050406030204" pitchFamily="18" charset="0"/>
                <a:ea typeface="Cambria" panose="02040503050406030204" pitchFamily="18" charset="0"/>
              </a:rPr>
              <a:t>Yêu cầu viết các câu lệnh SQL thuần túy.</a:t>
            </a:r>
            <a:endParaRPr lang="en-US" sz="240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089525438"/>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E17CE-784D-AE57-92F4-2B26E381D54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76F7533-284E-54AA-8C88-1E110AE36440}"/>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5671CEA2-1E09-B1B3-8542-AE7E679D252C}"/>
              </a:ext>
            </a:extLst>
          </p:cNvPr>
          <p:cNvSpPr txBox="1">
            <a:spLocks/>
          </p:cNvSpPr>
          <p:nvPr/>
        </p:nvSpPr>
        <p:spPr>
          <a:xfrm>
            <a:off x="11339813"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8</a:t>
            </a:r>
          </a:p>
        </p:txBody>
      </p:sp>
      <p:sp>
        <p:nvSpPr>
          <p:cNvPr id="7" name="Title 10">
            <a:extLst>
              <a:ext uri="{FF2B5EF4-FFF2-40B4-BE49-F238E27FC236}">
                <a16:creationId xmlns:a16="http://schemas.microsoft.com/office/drawing/2014/main" id="{2CA28E3F-5F7B-E7FB-C253-ADA123886B34}"/>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D5E2446E-8C03-1D7D-7293-5B900CBA72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A5CEDA50-BC02-E304-3BDE-D5CC6FB3107C}"/>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r="19162"/>
          <a:stretch>
            <a:fillRect/>
          </a:stretch>
        </p:blipFill>
        <p:spPr>
          <a:xfrm>
            <a:off x="4437193" y="1540635"/>
            <a:ext cx="3603722" cy="4054662"/>
          </a:xfrm>
          <a:prstGeom prst="rect">
            <a:avLst/>
          </a:prstGeom>
        </p:spPr>
      </p:pic>
      <p:sp>
        <p:nvSpPr>
          <p:cNvPr id="6" name="TextBox 5">
            <a:extLst>
              <a:ext uri="{FF2B5EF4-FFF2-40B4-BE49-F238E27FC236}">
                <a16:creationId xmlns:a16="http://schemas.microsoft.com/office/drawing/2014/main" id="{E0B8C43F-BDF7-3770-562C-F44757CEEA6C}"/>
              </a:ext>
            </a:extLst>
          </p:cNvPr>
          <p:cNvSpPr txBox="1"/>
          <p:nvPr/>
        </p:nvSpPr>
        <p:spPr>
          <a:xfrm>
            <a:off x="530169" y="870857"/>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Tạo file “product_model.dart” định nghĩa lớp dữ liệu Product – cấu trúc của 1 sản phẩm trong app </a:t>
            </a:r>
          </a:p>
        </p:txBody>
      </p:sp>
      <p:cxnSp>
        <p:nvCxnSpPr>
          <p:cNvPr id="17" name="Straight Connector 16">
            <a:extLst>
              <a:ext uri="{FF2B5EF4-FFF2-40B4-BE49-F238E27FC236}">
                <a16:creationId xmlns:a16="http://schemas.microsoft.com/office/drawing/2014/main" id="{64A88480-DAFC-7824-D21B-8394C83EA287}"/>
              </a:ext>
            </a:extLst>
          </p:cNvPr>
          <p:cNvCxnSpPr>
            <a:cxnSpLocks/>
          </p:cNvCxnSpPr>
          <p:nvPr/>
        </p:nvCxnSpPr>
        <p:spPr>
          <a:xfrm>
            <a:off x="4151086" y="1434665"/>
            <a:ext cx="0" cy="4458135"/>
          </a:xfrm>
          <a:prstGeom prst="line">
            <a:avLst/>
          </a:prstGeom>
          <a:ln w="28575"/>
        </p:spPr>
        <p:style>
          <a:lnRef idx="3">
            <a:schemeClr val="dk1"/>
          </a:lnRef>
          <a:fillRef idx="0">
            <a:schemeClr val="dk1"/>
          </a:fillRef>
          <a:effectRef idx="2">
            <a:schemeClr val="dk1"/>
          </a:effectRef>
          <a:fontRef idx="minor">
            <a:schemeClr val="tx1"/>
          </a:fontRef>
        </p:style>
      </p:cxnSp>
      <p:pic>
        <p:nvPicPr>
          <p:cNvPr id="19" name="Picture 18">
            <a:extLst>
              <a:ext uri="{FF2B5EF4-FFF2-40B4-BE49-F238E27FC236}">
                <a16:creationId xmlns:a16="http://schemas.microsoft.com/office/drawing/2014/main" id="{BAC28F2C-A453-4771-6C25-3E5CD390A261}"/>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rcRect b="15992"/>
          <a:stretch>
            <a:fillRect/>
          </a:stretch>
        </p:blipFill>
        <p:spPr>
          <a:xfrm>
            <a:off x="530169" y="1434665"/>
            <a:ext cx="3238952" cy="4273569"/>
          </a:xfrm>
          <a:prstGeom prst="rect">
            <a:avLst/>
          </a:prstGeom>
        </p:spPr>
      </p:pic>
      <p:sp>
        <p:nvSpPr>
          <p:cNvPr id="20" name="Rectangle 19">
            <a:extLst>
              <a:ext uri="{FF2B5EF4-FFF2-40B4-BE49-F238E27FC236}">
                <a16:creationId xmlns:a16="http://schemas.microsoft.com/office/drawing/2014/main" id="{4E265211-331F-F4B9-FF04-C87DFA9FB20E}"/>
              </a:ext>
            </a:extLst>
          </p:cNvPr>
          <p:cNvSpPr/>
          <p:nvPr/>
        </p:nvSpPr>
        <p:spPr>
          <a:xfrm>
            <a:off x="638629" y="3570514"/>
            <a:ext cx="3130491" cy="246743"/>
          </a:xfrm>
          <a:prstGeom prst="rect">
            <a:avLst/>
          </a:prstGeom>
          <a:noFill/>
          <a:ln w="28575">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22" name="Graphic 21" descr="Back with solid fill">
            <a:extLst>
              <a:ext uri="{FF2B5EF4-FFF2-40B4-BE49-F238E27FC236}">
                <a16:creationId xmlns:a16="http://schemas.microsoft.com/office/drawing/2014/main" id="{E068EB3C-49CB-0556-5138-AEE3F9CA637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8151965">
            <a:off x="3502725" y="2960678"/>
            <a:ext cx="602463" cy="501343"/>
          </a:xfrm>
          <a:prstGeom prst="rect">
            <a:avLst/>
          </a:prstGeom>
        </p:spPr>
      </p:pic>
      <p:cxnSp>
        <p:nvCxnSpPr>
          <p:cNvPr id="2" name="Straight Connector 1">
            <a:extLst>
              <a:ext uri="{FF2B5EF4-FFF2-40B4-BE49-F238E27FC236}">
                <a16:creationId xmlns:a16="http://schemas.microsoft.com/office/drawing/2014/main" id="{93C2C1AF-8A99-D1F0-9495-11F235D7F0FB}"/>
              </a:ext>
            </a:extLst>
          </p:cNvPr>
          <p:cNvCxnSpPr>
            <a:cxnSpLocks/>
          </p:cNvCxnSpPr>
          <p:nvPr/>
        </p:nvCxnSpPr>
        <p:spPr>
          <a:xfrm>
            <a:off x="8215086" y="1434665"/>
            <a:ext cx="0" cy="4458135"/>
          </a:xfrm>
          <a:prstGeom prst="line">
            <a:avLst/>
          </a:prstGeom>
          <a:ln w="28575"/>
        </p:spPr>
        <p:style>
          <a:lnRef idx="3">
            <a:schemeClr val="dk1"/>
          </a:lnRef>
          <a:fillRef idx="0">
            <a:schemeClr val="dk1"/>
          </a:fillRef>
          <a:effectRef idx="2">
            <a:schemeClr val="dk1"/>
          </a:effectRef>
          <a:fontRef idx="minor">
            <a:schemeClr val="tx1"/>
          </a:fontRef>
        </p:style>
      </p:cxnSp>
      <p:sp>
        <p:nvSpPr>
          <p:cNvPr id="4" name="TextBox 3">
            <a:extLst>
              <a:ext uri="{FF2B5EF4-FFF2-40B4-BE49-F238E27FC236}">
                <a16:creationId xmlns:a16="http://schemas.microsoft.com/office/drawing/2014/main" id="{1862B5C6-F028-7038-CA55-E8B385EDFD5C}"/>
              </a:ext>
            </a:extLst>
          </p:cNvPr>
          <p:cNvSpPr txBox="1"/>
          <p:nvPr/>
        </p:nvSpPr>
        <p:spPr>
          <a:xfrm>
            <a:off x="8327021" y="1699194"/>
            <a:ext cx="3123121" cy="2246769"/>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Các thuộc tính cơ bản của lớp Product</a:t>
            </a:r>
          </a:p>
          <a:p>
            <a:endParaRPr lang="en-US" sz="2000">
              <a:solidFill>
                <a:schemeClr val="bg1"/>
              </a:solidFill>
              <a:latin typeface="Cambria" panose="02040503050406030204" pitchFamily="18" charset="0"/>
              <a:ea typeface="Cambria" panose="02040503050406030204" pitchFamily="18" charset="0"/>
            </a:endParaRPr>
          </a:p>
          <a:p>
            <a:endParaRPr lang="en-US" sz="2000">
              <a:solidFill>
                <a:schemeClr val="bg1"/>
              </a:solidFill>
              <a:latin typeface="Cambria" panose="02040503050406030204" pitchFamily="18" charset="0"/>
              <a:ea typeface="Cambria" panose="02040503050406030204" pitchFamily="18" charset="0"/>
            </a:endParaRPr>
          </a:p>
          <a:p>
            <a:endParaRPr lang="en-US" sz="2000">
              <a:solidFill>
                <a:schemeClr val="bg1"/>
              </a:solidFill>
              <a:latin typeface="Cambria" panose="02040503050406030204" pitchFamily="18" charset="0"/>
              <a:ea typeface="Cambria" panose="02040503050406030204" pitchFamily="18" charset="0"/>
            </a:endParaRPr>
          </a:p>
          <a:p>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rPr>
              <a:t>-  Hàm tạo cho lớp Product   </a:t>
            </a:r>
          </a:p>
        </p:txBody>
      </p:sp>
    </p:spTree>
    <p:extLst>
      <p:ext uri="{BB962C8B-B14F-4D97-AF65-F5344CB8AC3E}">
        <p14:creationId xmlns:p14="http://schemas.microsoft.com/office/powerpoint/2010/main" val="4209247362"/>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54E6E-C806-BB29-8E78-E7A51E6B3B0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246B30DF-9883-6E16-33B3-667AA6701D3B}"/>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CADAC114-00D6-665E-5D77-EB39412B4534}"/>
              </a:ext>
            </a:extLst>
          </p:cNvPr>
          <p:cNvSpPr txBox="1">
            <a:spLocks/>
          </p:cNvSpPr>
          <p:nvPr/>
        </p:nvSpPr>
        <p:spPr>
          <a:xfrm>
            <a:off x="11339813"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9</a:t>
            </a:r>
          </a:p>
        </p:txBody>
      </p:sp>
      <p:sp>
        <p:nvSpPr>
          <p:cNvPr id="7" name="Title 10">
            <a:extLst>
              <a:ext uri="{FF2B5EF4-FFF2-40B4-BE49-F238E27FC236}">
                <a16:creationId xmlns:a16="http://schemas.microsoft.com/office/drawing/2014/main" id="{AF75A963-FD22-E2A1-BA17-1C755A23A12C}"/>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A8931F74-6910-E6F9-3CB6-98D5B074B9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B558657-7456-C212-4346-B3730CC60209}"/>
              </a:ext>
            </a:extLst>
          </p:cNvPr>
          <p:cNvSpPr txBox="1"/>
          <p:nvPr/>
        </p:nvSpPr>
        <p:spPr>
          <a:xfrm>
            <a:off x="530169" y="870857"/>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“product_model.dart”</a:t>
            </a:r>
          </a:p>
        </p:txBody>
      </p:sp>
      <p:pic>
        <p:nvPicPr>
          <p:cNvPr id="15" name="Picture 14">
            <a:extLst>
              <a:ext uri="{FF2B5EF4-FFF2-40B4-BE49-F238E27FC236}">
                <a16:creationId xmlns:a16="http://schemas.microsoft.com/office/drawing/2014/main" id="{69BB64A7-C85D-02A2-C217-26884987A871}"/>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4422452" y="1540635"/>
            <a:ext cx="4277322" cy="4210638"/>
          </a:xfrm>
          <a:prstGeom prst="rect">
            <a:avLst/>
          </a:prstGeom>
        </p:spPr>
      </p:pic>
      <p:cxnSp>
        <p:nvCxnSpPr>
          <p:cNvPr id="17" name="Straight Connector 16">
            <a:extLst>
              <a:ext uri="{FF2B5EF4-FFF2-40B4-BE49-F238E27FC236}">
                <a16:creationId xmlns:a16="http://schemas.microsoft.com/office/drawing/2014/main" id="{CB370EC8-3277-A2B3-D475-64180CB34F41}"/>
              </a:ext>
            </a:extLst>
          </p:cNvPr>
          <p:cNvCxnSpPr>
            <a:cxnSpLocks/>
          </p:cNvCxnSpPr>
          <p:nvPr/>
        </p:nvCxnSpPr>
        <p:spPr>
          <a:xfrm>
            <a:off x="4151086" y="1434665"/>
            <a:ext cx="0" cy="4458135"/>
          </a:xfrm>
          <a:prstGeom prst="line">
            <a:avLst/>
          </a:prstGeom>
          <a:ln w="28575"/>
        </p:spPr>
        <p:style>
          <a:lnRef idx="3">
            <a:schemeClr val="dk1"/>
          </a:lnRef>
          <a:fillRef idx="0">
            <a:schemeClr val="dk1"/>
          </a:fillRef>
          <a:effectRef idx="2">
            <a:schemeClr val="dk1"/>
          </a:effectRef>
          <a:fontRef idx="minor">
            <a:schemeClr val="tx1"/>
          </a:fontRef>
        </p:style>
      </p:cxnSp>
      <p:pic>
        <p:nvPicPr>
          <p:cNvPr id="19" name="Picture 18">
            <a:extLst>
              <a:ext uri="{FF2B5EF4-FFF2-40B4-BE49-F238E27FC236}">
                <a16:creationId xmlns:a16="http://schemas.microsoft.com/office/drawing/2014/main" id="{8AA856A8-E5D4-486E-9F5F-4DBDD1C92B3C}"/>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rcRect b="15992"/>
          <a:stretch>
            <a:fillRect/>
          </a:stretch>
        </p:blipFill>
        <p:spPr>
          <a:xfrm>
            <a:off x="530169" y="1434665"/>
            <a:ext cx="3238952" cy="4273569"/>
          </a:xfrm>
          <a:prstGeom prst="rect">
            <a:avLst/>
          </a:prstGeom>
        </p:spPr>
      </p:pic>
      <p:sp>
        <p:nvSpPr>
          <p:cNvPr id="20" name="Rectangle 19">
            <a:extLst>
              <a:ext uri="{FF2B5EF4-FFF2-40B4-BE49-F238E27FC236}">
                <a16:creationId xmlns:a16="http://schemas.microsoft.com/office/drawing/2014/main" id="{AFA65367-A400-FB7A-7A01-1AC37F6BD58B}"/>
              </a:ext>
            </a:extLst>
          </p:cNvPr>
          <p:cNvSpPr/>
          <p:nvPr/>
        </p:nvSpPr>
        <p:spPr>
          <a:xfrm>
            <a:off x="638629" y="3570514"/>
            <a:ext cx="3130491" cy="246743"/>
          </a:xfrm>
          <a:prstGeom prst="rect">
            <a:avLst/>
          </a:prstGeom>
          <a:noFill/>
          <a:ln w="28575">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22" name="Graphic 21" descr="Back with solid fill">
            <a:extLst>
              <a:ext uri="{FF2B5EF4-FFF2-40B4-BE49-F238E27FC236}">
                <a16:creationId xmlns:a16="http://schemas.microsoft.com/office/drawing/2014/main" id="{23FD2A1C-0B60-6911-5474-896C022F293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8151965">
            <a:off x="3502725" y="2960678"/>
            <a:ext cx="602463" cy="501343"/>
          </a:xfrm>
          <a:prstGeom prst="rect">
            <a:avLst/>
          </a:prstGeom>
        </p:spPr>
      </p:pic>
      <p:cxnSp>
        <p:nvCxnSpPr>
          <p:cNvPr id="2" name="Straight Connector 1">
            <a:extLst>
              <a:ext uri="{FF2B5EF4-FFF2-40B4-BE49-F238E27FC236}">
                <a16:creationId xmlns:a16="http://schemas.microsoft.com/office/drawing/2014/main" id="{BB3BE60E-7BA7-DAA7-5191-20104798144C}"/>
              </a:ext>
            </a:extLst>
          </p:cNvPr>
          <p:cNvCxnSpPr>
            <a:cxnSpLocks/>
          </p:cNvCxnSpPr>
          <p:nvPr/>
        </p:nvCxnSpPr>
        <p:spPr>
          <a:xfrm>
            <a:off x="8534292" y="1464817"/>
            <a:ext cx="0" cy="4458135"/>
          </a:xfrm>
          <a:prstGeom prst="line">
            <a:avLst/>
          </a:prstGeom>
          <a:ln w="28575"/>
        </p:spPr>
        <p:style>
          <a:lnRef idx="3">
            <a:schemeClr val="dk1"/>
          </a:lnRef>
          <a:fillRef idx="0">
            <a:schemeClr val="dk1"/>
          </a:fillRef>
          <a:effectRef idx="2">
            <a:schemeClr val="dk1"/>
          </a:effectRef>
          <a:fontRef idx="minor">
            <a:schemeClr val="tx1"/>
          </a:fontRef>
        </p:style>
      </p:cxnSp>
      <p:sp>
        <p:nvSpPr>
          <p:cNvPr id="10" name="TextBox 9">
            <a:extLst>
              <a:ext uri="{FF2B5EF4-FFF2-40B4-BE49-F238E27FC236}">
                <a16:creationId xmlns:a16="http://schemas.microsoft.com/office/drawing/2014/main" id="{24D9F4F7-BA52-3BA3-DD8A-8C10DF825C1A}"/>
              </a:ext>
            </a:extLst>
          </p:cNvPr>
          <p:cNvSpPr txBox="1"/>
          <p:nvPr/>
        </p:nvSpPr>
        <p:spPr>
          <a:xfrm>
            <a:off x="8699774" y="1540635"/>
            <a:ext cx="2782978" cy="1015663"/>
          </a:xfrm>
          <a:prstGeom prst="rect">
            <a:avLst/>
          </a:prstGeom>
          <a:noFill/>
        </p:spPr>
        <p:txBody>
          <a:bodyPr wrap="square" rtlCol="0">
            <a:spAutoFit/>
          </a:bodyPr>
          <a:lstStyle/>
          <a:p>
            <a:pPr marL="342900" indent="-342900" algn="just">
              <a:buFontTx/>
              <a:buChar char="-"/>
            </a:pPr>
            <a:r>
              <a:rPr lang="en-US" sz="2000">
                <a:solidFill>
                  <a:schemeClr val="bg1"/>
                </a:solidFill>
                <a:latin typeface="Cambria" panose="02040503050406030204" pitchFamily="18" charset="0"/>
                <a:ea typeface="Cambria" panose="02040503050406030204" pitchFamily="18" charset="0"/>
              </a:rPr>
              <a:t>Phương thức chuyển từ đối tượng thành Map </a:t>
            </a:r>
          </a:p>
        </p:txBody>
      </p:sp>
      <p:sp>
        <p:nvSpPr>
          <p:cNvPr id="11" name="TextBox 10">
            <a:extLst>
              <a:ext uri="{FF2B5EF4-FFF2-40B4-BE49-F238E27FC236}">
                <a16:creationId xmlns:a16="http://schemas.microsoft.com/office/drawing/2014/main" id="{55945985-AF61-D2BC-1100-EE0583E4D875}"/>
              </a:ext>
            </a:extLst>
          </p:cNvPr>
          <p:cNvSpPr txBox="1"/>
          <p:nvPr/>
        </p:nvSpPr>
        <p:spPr>
          <a:xfrm>
            <a:off x="8699774" y="3536012"/>
            <a:ext cx="2782978" cy="1015663"/>
          </a:xfrm>
          <a:prstGeom prst="rect">
            <a:avLst/>
          </a:prstGeom>
          <a:noFill/>
        </p:spPr>
        <p:txBody>
          <a:bodyPr wrap="square" rtlCol="0">
            <a:spAutoFit/>
          </a:bodyPr>
          <a:lstStyle/>
          <a:p>
            <a:pPr marL="342900" indent="-342900" algn="just">
              <a:buFontTx/>
              <a:buChar char="-"/>
            </a:pPr>
            <a:r>
              <a:rPr lang="en-US" sz="2000">
                <a:solidFill>
                  <a:schemeClr val="bg1"/>
                </a:solidFill>
                <a:latin typeface="Cambria" panose="02040503050406030204" pitchFamily="18" charset="0"/>
                <a:ea typeface="Cambria" panose="02040503050406030204" pitchFamily="18" charset="0"/>
              </a:rPr>
              <a:t>Phương thức chuyển từ Map thành đối tượng</a:t>
            </a:r>
          </a:p>
        </p:txBody>
      </p:sp>
    </p:spTree>
    <p:extLst>
      <p:ext uri="{BB962C8B-B14F-4D97-AF65-F5344CB8AC3E}">
        <p14:creationId xmlns:p14="http://schemas.microsoft.com/office/powerpoint/2010/main" val="3745954469"/>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2BDF4-AEEE-A6B0-2DD9-E1A89CF3A87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D12BDD5-39A2-40DA-E19C-F7381A26F5E9}"/>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282B8F5A-EB60-4866-D5FF-B3EB27D7667F}"/>
              </a:ext>
            </a:extLst>
          </p:cNvPr>
          <p:cNvSpPr txBox="1">
            <a:spLocks/>
          </p:cNvSpPr>
          <p:nvPr/>
        </p:nvSpPr>
        <p:spPr>
          <a:xfrm>
            <a:off x="11339813"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10</a:t>
            </a:r>
          </a:p>
        </p:txBody>
      </p:sp>
      <p:sp>
        <p:nvSpPr>
          <p:cNvPr id="7" name="Title 10">
            <a:extLst>
              <a:ext uri="{FF2B5EF4-FFF2-40B4-BE49-F238E27FC236}">
                <a16:creationId xmlns:a16="http://schemas.microsoft.com/office/drawing/2014/main" id="{F944F99F-53FB-D6E9-3D2A-55C85A458096}"/>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A6443114-2616-3057-7436-B8F090286E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6D4D158-6A8B-D819-8E4F-756A217E052F}"/>
              </a:ext>
            </a:extLst>
          </p:cNvPr>
          <p:cNvSpPr txBox="1"/>
          <p:nvPr/>
        </p:nvSpPr>
        <p:spPr>
          <a:xfrm>
            <a:off x="530169" y="870857"/>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Tạo file “db_helper.dart” giúp khởi tạo và cung cấp các phương thức thao tác với cơ sở dữ liệu.</a:t>
            </a:r>
          </a:p>
        </p:txBody>
      </p:sp>
      <p:cxnSp>
        <p:nvCxnSpPr>
          <p:cNvPr id="17" name="Straight Connector 16">
            <a:extLst>
              <a:ext uri="{FF2B5EF4-FFF2-40B4-BE49-F238E27FC236}">
                <a16:creationId xmlns:a16="http://schemas.microsoft.com/office/drawing/2014/main" id="{932568D8-4560-B1E3-5492-B715EC442DE6}"/>
              </a:ext>
            </a:extLst>
          </p:cNvPr>
          <p:cNvCxnSpPr>
            <a:cxnSpLocks/>
          </p:cNvCxnSpPr>
          <p:nvPr/>
        </p:nvCxnSpPr>
        <p:spPr>
          <a:xfrm>
            <a:off x="4599751" y="1308334"/>
            <a:ext cx="0" cy="5093437"/>
          </a:xfrm>
          <a:prstGeom prst="line">
            <a:avLst/>
          </a:prstGeom>
          <a:ln w="28575"/>
        </p:spPr>
        <p:style>
          <a:lnRef idx="3">
            <a:schemeClr val="dk1"/>
          </a:lnRef>
          <a:fillRef idx="0">
            <a:schemeClr val="dk1"/>
          </a:fillRef>
          <a:effectRef idx="2">
            <a:schemeClr val="dk1"/>
          </a:effectRef>
          <a:fontRef idx="minor">
            <a:schemeClr val="tx1"/>
          </a:fontRef>
        </p:style>
      </p:cxnSp>
      <p:pic>
        <p:nvPicPr>
          <p:cNvPr id="19" name="Picture 18">
            <a:extLst>
              <a:ext uri="{FF2B5EF4-FFF2-40B4-BE49-F238E27FC236}">
                <a16:creationId xmlns:a16="http://schemas.microsoft.com/office/drawing/2014/main" id="{B76F7DC1-C1BB-64E5-8706-739934B5EAE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b="15992"/>
          <a:stretch>
            <a:fillRect/>
          </a:stretch>
        </p:blipFill>
        <p:spPr>
          <a:xfrm>
            <a:off x="638629" y="1472046"/>
            <a:ext cx="3238952" cy="4273569"/>
          </a:xfrm>
          <a:prstGeom prst="rect">
            <a:avLst/>
          </a:prstGeom>
        </p:spPr>
      </p:pic>
      <p:sp>
        <p:nvSpPr>
          <p:cNvPr id="20" name="Rectangle 19">
            <a:extLst>
              <a:ext uri="{FF2B5EF4-FFF2-40B4-BE49-F238E27FC236}">
                <a16:creationId xmlns:a16="http://schemas.microsoft.com/office/drawing/2014/main" id="{A0DAA345-6D84-023D-E40D-6A63C7C2F956}"/>
              </a:ext>
            </a:extLst>
          </p:cNvPr>
          <p:cNvSpPr/>
          <p:nvPr/>
        </p:nvSpPr>
        <p:spPr>
          <a:xfrm>
            <a:off x="638629" y="3135033"/>
            <a:ext cx="3238952" cy="294857"/>
          </a:xfrm>
          <a:prstGeom prst="rect">
            <a:avLst/>
          </a:prstGeom>
          <a:noFill/>
          <a:ln w="28575">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22" name="Graphic 21" descr="Back with solid fill">
            <a:extLst>
              <a:ext uri="{FF2B5EF4-FFF2-40B4-BE49-F238E27FC236}">
                <a16:creationId xmlns:a16="http://schemas.microsoft.com/office/drawing/2014/main" id="{D870544F-2E8F-6752-B441-92AE83526A0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8151965">
            <a:off x="3636200" y="2609025"/>
            <a:ext cx="602463" cy="501343"/>
          </a:xfrm>
          <a:prstGeom prst="rect">
            <a:avLst/>
          </a:prstGeom>
        </p:spPr>
      </p:pic>
      <p:pic>
        <p:nvPicPr>
          <p:cNvPr id="10" name="Picture 9">
            <a:extLst>
              <a:ext uri="{FF2B5EF4-FFF2-40B4-BE49-F238E27FC236}">
                <a16:creationId xmlns:a16="http://schemas.microsoft.com/office/drawing/2014/main" id="{1C363A45-497A-E0B7-98DD-2B3A3602CB11}"/>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5068254" y="1556398"/>
            <a:ext cx="5210902" cy="4286848"/>
          </a:xfrm>
          <a:prstGeom prst="rect">
            <a:avLst/>
          </a:prstGeom>
        </p:spPr>
      </p:pic>
    </p:spTree>
    <p:extLst>
      <p:ext uri="{BB962C8B-B14F-4D97-AF65-F5344CB8AC3E}">
        <p14:creationId xmlns:p14="http://schemas.microsoft.com/office/powerpoint/2010/main" val="795463044"/>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18489-C9E2-1622-36DE-76513CD8A5D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D972C3EB-AAD3-1C61-C9E8-172337B77587}"/>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A99E4ED8-59E6-019C-2AD1-6BA67E13D2E8}"/>
              </a:ext>
            </a:extLst>
          </p:cNvPr>
          <p:cNvSpPr txBox="1">
            <a:spLocks/>
          </p:cNvSpPr>
          <p:nvPr/>
        </p:nvSpPr>
        <p:spPr>
          <a:xfrm>
            <a:off x="11216981"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11</a:t>
            </a:r>
          </a:p>
        </p:txBody>
      </p:sp>
      <p:sp>
        <p:nvSpPr>
          <p:cNvPr id="7" name="Title 10">
            <a:extLst>
              <a:ext uri="{FF2B5EF4-FFF2-40B4-BE49-F238E27FC236}">
                <a16:creationId xmlns:a16="http://schemas.microsoft.com/office/drawing/2014/main" id="{7911A0C0-2F78-BCE2-24BE-64F3E4E9C7A4}"/>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512D8792-27E3-E9BC-56BB-53C1A2B4FB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7" name="Straight Connector 16">
            <a:extLst>
              <a:ext uri="{FF2B5EF4-FFF2-40B4-BE49-F238E27FC236}">
                <a16:creationId xmlns:a16="http://schemas.microsoft.com/office/drawing/2014/main" id="{7420AD93-4D1B-F6AC-91CC-A6A9DDE9833C}"/>
              </a:ext>
            </a:extLst>
          </p:cNvPr>
          <p:cNvCxnSpPr>
            <a:cxnSpLocks/>
          </p:cNvCxnSpPr>
          <p:nvPr/>
        </p:nvCxnSpPr>
        <p:spPr>
          <a:xfrm>
            <a:off x="5419610" y="791570"/>
            <a:ext cx="0" cy="5807099"/>
          </a:xfrm>
          <a:prstGeom prst="line">
            <a:avLst/>
          </a:prstGeom>
          <a:ln w="28575"/>
        </p:spPr>
        <p:style>
          <a:lnRef idx="3">
            <a:schemeClr val="dk1"/>
          </a:lnRef>
          <a:fillRef idx="0">
            <a:schemeClr val="dk1"/>
          </a:fillRef>
          <a:effectRef idx="2">
            <a:schemeClr val="dk1"/>
          </a:effectRef>
          <a:fontRef idx="minor">
            <a:schemeClr val="tx1"/>
          </a:fontRef>
        </p:style>
      </p:cxnSp>
      <p:pic>
        <p:nvPicPr>
          <p:cNvPr id="4" name="Picture 3">
            <a:extLst>
              <a:ext uri="{FF2B5EF4-FFF2-40B4-BE49-F238E27FC236}">
                <a16:creationId xmlns:a16="http://schemas.microsoft.com/office/drawing/2014/main" id="{C9B877F0-E481-B38F-8989-D885AAA5DB27}"/>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541090" y="1544477"/>
            <a:ext cx="4667901" cy="5087060"/>
          </a:xfrm>
          <a:prstGeom prst="rect">
            <a:avLst/>
          </a:prstGeom>
        </p:spPr>
      </p:pic>
      <p:sp>
        <p:nvSpPr>
          <p:cNvPr id="2" name="TextBox 1">
            <a:extLst>
              <a:ext uri="{FF2B5EF4-FFF2-40B4-BE49-F238E27FC236}">
                <a16:creationId xmlns:a16="http://schemas.microsoft.com/office/drawing/2014/main" id="{FAFF7536-457F-6C26-4D7A-DF44D6136EFC}"/>
              </a:ext>
            </a:extLst>
          </p:cNvPr>
          <p:cNvSpPr txBox="1"/>
          <p:nvPr/>
        </p:nvSpPr>
        <p:spPr>
          <a:xfrm>
            <a:off x="471949" y="636349"/>
            <a:ext cx="3421931" cy="823944"/>
          </a:xfrm>
          <a:prstGeom prst="rect">
            <a:avLst/>
          </a:prstGeom>
          <a:noFill/>
        </p:spPr>
        <p:txBody>
          <a:bodyPr wrap="square" rtlCol="0">
            <a:spAutoFit/>
          </a:bodyPr>
          <a:lstStyle/>
          <a:p>
            <a:pPr marL="342900" indent="-342900">
              <a:lnSpc>
                <a:spcPct val="125000"/>
              </a:lnSpc>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“db_helper”</a:t>
            </a:r>
          </a:p>
          <a:p>
            <a:pPr marL="342900" indent="-342900">
              <a:lnSpc>
                <a:spcPct val="125000"/>
              </a:lnSpc>
              <a:buFont typeface="Arial" panose="020B0604020202020204" pitchFamily="34" charset="0"/>
              <a:buChar char="•"/>
            </a:pPr>
            <a:r>
              <a:rPr lang="en-US" sz="2000">
                <a:solidFill>
                  <a:schemeClr val="bg1"/>
                </a:solidFill>
                <a:latin typeface="Cambria" panose="02040503050406030204" pitchFamily="18" charset="0"/>
                <a:ea typeface="Cambria" panose="02040503050406030204" pitchFamily="18" charset="0"/>
              </a:rPr>
              <a:t>Khởi tạo cơ sở dữ liệu:</a:t>
            </a:r>
          </a:p>
        </p:txBody>
      </p:sp>
      <p:sp>
        <p:nvSpPr>
          <p:cNvPr id="11" name="TextBox 10">
            <a:extLst>
              <a:ext uri="{FF2B5EF4-FFF2-40B4-BE49-F238E27FC236}">
                <a16:creationId xmlns:a16="http://schemas.microsoft.com/office/drawing/2014/main" id="{8275232E-7FDA-61D1-29E1-9100AE52ED12}"/>
              </a:ext>
            </a:extLst>
          </p:cNvPr>
          <p:cNvSpPr txBox="1"/>
          <p:nvPr/>
        </p:nvSpPr>
        <p:spPr>
          <a:xfrm>
            <a:off x="5691565" y="1460293"/>
            <a:ext cx="5807240" cy="4708981"/>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GetDatabasesPath(): </a:t>
            </a:r>
            <a:r>
              <a:rPr lang="vi-VN" sz="2000">
                <a:solidFill>
                  <a:schemeClr val="bg1"/>
                </a:solidFill>
                <a:latin typeface="Cambria" panose="02040503050406030204" pitchFamily="18" charset="0"/>
                <a:ea typeface="Cambria" panose="02040503050406030204" pitchFamily="18" charset="0"/>
              </a:rPr>
              <a:t>Lấy đường dẫn thư mục lưu database.</a:t>
            </a:r>
          </a:p>
          <a:p>
            <a:r>
              <a:rPr lang="en-US" sz="2000">
                <a:solidFill>
                  <a:schemeClr val="bg1"/>
                </a:solidFill>
                <a:latin typeface="Cambria" panose="02040503050406030204" pitchFamily="18" charset="0"/>
                <a:ea typeface="Cambria" panose="02040503050406030204" pitchFamily="18" charset="0"/>
              </a:rPr>
              <a:t>- join(): </a:t>
            </a:r>
            <a:r>
              <a:rPr lang="vi-VN" sz="2000">
                <a:solidFill>
                  <a:schemeClr val="bg1"/>
                </a:solidFill>
                <a:latin typeface="Cambria" panose="02040503050406030204" pitchFamily="18" charset="0"/>
                <a:ea typeface="Cambria" panose="02040503050406030204" pitchFamily="18" charset="0"/>
              </a:rPr>
              <a:t>Tạo đường dẫn đầy đủ</a:t>
            </a:r>
            <a:r>
              <a:rPr lang="en-US" sz="2000">
                <a:solidFill>
                  <a:schemeClr val="bg1"/>
                </a:solidFill>
                <a:latin typeface="Cambria" panose="02040503050406030204" pitchFamily="18" charset="0"/>
                <a:ea typeface="Cambria" panose="02040503050406030204" pitchFamily="18" charset="0"/>
              </a:rPr>
              <a:t> tới</a:t>
            </a:r>
            <a:r>
              <a:rPr lang="vi-VN" sz="2000">
                <a:solidFill>
                  <a:schemeClr val="bg1"/>
                </a:solidFill>
                <a:latin typeface="Cambria" panose="02040503050406030204" pitchFamily="18" charset="0"/>
                <a:ea typeface="Cambria" panose="02040503050406030204" pitchFamily="18" charset="0"/>
              </a:rPr>
              <a:t> products.db để lưu file cơ sở dữ liệu.</a:t>
            </a:r>
            <a:endParaRPr lang="en-US" sz="2000">
              <a:solidFill>
                <a:schemeClr val="bg1"/>
              </a:solidFill>
              <a:latin typeface="Cambria" panose="02040503050406030204" pitchFamily="18" charset="0"/>
              <a:ea typeface="Cambria" panose="02040503050406030204" pitchFamily="18" charset="0"/>
            </a:endParaRPr>
          </a:p>
          <a:p>
            <a:pPr marL="342900" indent="-342900">
              <a:buFontTx/>
              <a:buChar char="-"/>
            </a:pPr>
            <a:endParaRPr lang="en-US" sz="2000">
              <a:solidFill>
                <a:schemeClr val="bg1"/>
              </a:solidFill>
              <a:latin typeface="Cambria" panose="02040503050406030204" pitchFamily="18" charset="0"/>
              <a:ea typeface="Cambria" panose="02040503050406030204" pitchFamily="18" charset="0"/>
            </a:endParaRPr>
          </a:p>
          <a:p>
            <a:pPr marL="342900" indent="-342900">
              <a:buFontTx/>
              <a:buChar char="-"/>
            </a:pPr>
            <a:endParaRPr lang="en-US" sz="2000">
              <a:solidFill>
                <a:schemeClr val="bg1"/>
              </a:solidFill>
              <a:latin typeface="Cambria" panose="02040503050406030204" pitchFamily="18" charset="0"/>
              <a:ea typeface="Cambria" panose="02040503050406030204" pitchFamily="18" charset="0"/>
            </a:endParaRPr>
          </a:p>
          <a:p>
            <a:pPr marL="342900" indent="-342900">
              <a:buFontTx/>
              <a:buChar char="-"/>
            </a:pPr>
            <a:endParaRPr lang="vi-VN" sz="2000">
              <a:solidFill>
                <a:schemeClr val="bg1"/>
              </a:solidFill>
              <a:latin typeface="Cambria" panose="02040503050406030204" pitchFamily="18" charset="0"/>
              <a:ea typeface="Cambria" panose="02040503050406030204" pitchFamily="18" charset="0"/>
            </a:endParaRPr>
          </a:p>
          <a:p>
            <a:br>
              <a:rPr lang="vi-VN" sz="2000">
                <a:solidFill>
                  <a:schemeClr val="bg1"/>
                </a:solidFill>
                <a:latin typeface="Cambria" panose="02040503050406030204" pitchFamily="18" charset="0"/>
                <a:ea typeface="Cambria" panose="02040503050406030204" pitchFamily="18" charset="0"/>
              </a:rPr>
            </a:br>
            <a:r>
              <a:rPr lang="en-US" sz="2000">
                <a:solidFill>
                  <a:schemeClr val="bg1"/>
                </a:solidFill>
                <a:latin typeface="Cambria" panose="02040503050406030204" pitchFamily="18" charset="0"/>
                <a:ea typeface="Cambria" panose="02040503050406030204" pitchFamily="18" charset="0"/>
              </a:rPr>
              <a:t>- openDatabase(): </a:t>
            </a:r>
            <a:r>
              <a:rPr lang="vi-VN" sz="2000">
                <a:solidFill>
                  <a:schemeClr val="bg1"/>
                </a:solidFill>
                <a:latin typeface="Cambria" panose="02040503050406030204" pitchFamily="18" charset="0"/>
                <a:ea typeface="Cambria" panose="02040503050406030204" pitchFamily="18" charset="0"/>
              </a:rPr>
              <a:t>Mở (hoặc tạo mới) database tại path.</a:t>
            </a:r>
          </a:p>
          <a:p>
            <a:r>
              <a:rPr lang="en-US" sz="2000">
                <a:solidFill>
                  <a:schemeClr val="bg1"/>
                </a:solidFill>
                <a:latin typeface="Cambria" panose="02040503050406030204" pitchFamily="18" charset="0"/>
                <a:ea typeface="Cambria" panose="02040503050406030204" pitchFamily="18" charset="0"/>
              </a:rPr>
              <a:t>- </a:t>
            </a:r>
            <a:r>
              <a:rPr lang="vi-VN" sz="2000">
                <a:solidFill>
                  <a:schemeClr val="bg1"/>
                </a:solidFill>
                <a:latin typeface="Cambria" panose="02040503050406030204" pitchFamily="18" charset="0"/>
                <a:ea typeface="Cambria" panose="02040503050406030204" pitchFamily="18" charset="0"/>
              </a:rPr>
              <a:t>onCreate: callback khi database lần đầu được tạo → tạo bảng products.</a:t>
            </a:r>
          </a:p>
          <a:p>
            <a:r>
              <a:rPr lang="en-US" sz="2000">
                <a:solidFill>
                  <a:schemeClr val="bg1"/>
                </a:solidFill>
                <a:latin typeface="Cambria" panose="02040503050406030204" pitchFamily="18" charset="0"/>
                <a:ea typeface="Cambria" panose="02040503050406030204" pitchFamily="18" charset="0"/>
              </a:rPr>
              <a:t>- </a:t>
            </a:r>
            <a:r>
              <a:rPr lang="vi-VN" sz="2000">
                <a:solidFill>
                  <a:schemeClr val="bg1"/>
                </a:solidFill>
                <a:latin typeface="Cambria" panose="02040503050406030204" pitchFamily="18" charset="0"/>
                <a:ea typeface="Cambria" panose="02040503050406030204" pitchFamily="18" charset="0"/>
              </a:rPr>
              <a:t>version: 1: đánh số phiên bản DB để sau này nâng cấp (thêm cột, đổi cấu trúc...).</a:t>
            </a:r>
          </a:p>
          <a:p>
            <a:endParaRPr lang="vi-VN" sz="200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6915739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7C7CC-C935-14F0-D77C-2E06CAC155FA}"/>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A6D4DBBF-C492-DB5F-18FC-B977C4EF7D23}"/>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D122084D-23BC-89F4-E0E5-38E1087D48A9}"/>
              </a:ext>
            </a:extLst>
          </p:cNvPr>
          <p:cNvSpPr txBox="1">
            <a:spLocks/>
          </p:cNvSpPr>
          <p:nvPr/>
        </p:nvSpPr>
        <p:spPr>
          <a:xfrm>
            <a:off x="11230629"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12</a:t>
            </a:r>
          </a:p>
        </p:txBody>
      </p:sp>
      <p:sp>
        <p:nvSpPr>
          <p:cNvPr id="7" name="Title 10">
            <a:extLst>
              <a:ext uri="{FF2B5EF4-FFF2-40B4-BE49-F238E27FC236}">
                <a16:creationId xmlns:a16="http://schemas.microsoft.com/office/drawing/2014/main" id="{45C279D9-46B9-6AE4-0DDC-4C36E2523484}"/>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17F6FBE6-19B6-60D2-8EB6-4BDB8BB92D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EC98619-2F56-3BCC-0217-E95EE695B7EB}"/>
              </a:ext>
            </a:extLst>
          </p:cNvPr>
          <p:cNvSpPr txBox="1"/>
          <p:nvPr/>
        </p:nvSpPr>
        <p:spPr>
          <a:xfrm>
            <a:off x="723149" y="973627"/>
            <a:ext cx="5372845"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Các phương thức thao tác với cơ sở dữ liệu</a:t>
            </a:r>
          </a:p>
        </p:txBody>
      </p:sp>
      <p:cxnSp>
        <p:nvCxnSpPr>
          <p:cNvPr id="17" name="Straight Connector 16">
            <a:extLst>
              <a:ext uri="{FF2B5EF4-FFF2-40B4-BE49-F238E27FC236}">
                <a16:creationId xmlns:a16="http://schemas.microsoft.com/office/drawing/2014/main" id="{6BC71F4C-913E-0A57-2B1B-CF01ACB70E19}"/>
              </a:ext>
            </a:extLst>
          </p:cNvPr>
          <p:cNvCxnSpPr>
            <a:cxnSpLocks/>
          </p:cNvCxnSpPr>
          <p:nvPr/>
        </p:nvCxnSpPr>
        <p:spPr>
          <a:xfrm>
            <a:off x="6225314" y="973627"/>
            <a:ext cx="0" cy="5118811"/>
          </a:xfrm>
          <a:prstGeom prst="line">
            <a:avLst/>
          </a:prstGeom>
          <a:ln w="28575"/>
        </p:spPr>
        <p:style>
          <a:lnRef idx="3">
            <a:schemeClr val="dk1"/>
          </a:lnRef>
          <a:fillRef idx="0">
            <a:schemeClr val="dk1"/>
          </a:fillRef>
          <a:effectRef idx="2">
            <a:schemeClr val="dk1"/>
          </a:effectRef>
          <a:fontRef idx="minor">
            <a:schemeClr val="tx1"/>
          </a:fontRef>
        </p:style>
      </p:cxnSp>
      <p:pic>
        <p:nvPicPr>
          <p:cNvPr id="4" name="Picture 3">
            <a:extLst>
              <a:ext uri="{FF2B5EF4-FFF2-40B4-BE49-F238E27FC236}">
                <a16:creationId xmlns:a16="http://schemas.microsoft.com/office/drawing/2014/main" id="{2D301DB8-64DC-26D2-D78C-3092067DBF78}"/>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723149" y="1424537"/>
            <a:ext cx="5372850" cy="4667901"/>
          </a:xfrm>
          <a:prstGeom prst="rect">
            <a:avLst/>
          </a:prstGeom>
        </p:spPr>
      </p:pic>
      <p:sp>
        <p:nvSpPr>
          <p:cNvPr id="2" name="TextBox 1">
            <a:extLst>
              <a:ext uri="{FF2B5EF4-FFF2-40B4-BE49-F238E27FC236}">
                <a16:creationId xmlns:a16="http://schemas.microsoft.com/office/drawing/2014/main" id="{E4C13C29-2B81-7B91-F857-165891D09D37}"/>
              </a:ext>
            </a:extLst>
          </p:cNvPr>
          <p:cNvSpPr txBox="1"/>
          <p:nvPr/>
        </p:nvSpPr>
        <p:spPr>
          <a:xfrm>
            <a:off x="6438384" y="1583022"/>
            <a:ext cx="5281915" cy="1593385"/>
          </a:xfrm>
          <a:prstGeom prst="rect">
            <a:avLst/>
          </a:prstGeom>
          <a:noFill/>
        </p:spPr>
        <p:txBody>
          <a:bodyPr wrap="square" rtlCol="0">
            <a:spAutoFit/>
          </a:bodyPr>
          <a:lstStyle/>
          <a:p>
            <a:pPr marL="342900" indent="-342900">
              <a:lnSpc>
                <a:spcPct val="125000"/>
              </a:lnSpc>
              <a:buFontTx/>
              <a:buChar char="-"/>
            </a:pPr>
            <a:r>
              <a:rPr lang="en-US" sz="2000">
                <a:solidFill>
                  <a:schemeClr val="bg1"/>
                </a:solidFill>
                <a:latin typeface="Cambria" panose="02040503050406030204" pitchFamily="18" charset="0"/>
                <a:ea typeface="Cambria" panose="02040503050406030204" pitchFamily="18" charset="0"/>
              </a:rPr>
              <a:t>insertProduct(): Thêm vào cơ sở dữ liệu</a:t>
            </a:r>
          </a:p>
          <a:p>
            <a:pPr marL="342900" indent="-342900">
              <a:lnSpc>
                <a:spcPct val="125000"/>
              </a:lnSpc>
              <a:buFontTx/>
              <a:buChar char="-"/>
            </a:pPr>
            <a:r>
              <a:rPr lang="en-US" sz="2000">
                <a:solidFill>
                  <a:schemeClr val="bg1"/>
                </a:solidFill>
                <a:latin typeface="Cambria" panose="02040503050406030204" pitchFamily="18" charset="0"/>
                <a:ea typeface="Cambria" panose="02040503050406030204" pitchFamily="18" charset="0"/>
              </a:rPr>
              <a:t>getAllProducts(): Lấy ra từ cơ sở dữ liệu</a:t>
            </a:r>
          </a:p>
          <a:p>
            <a:pPr marL="342900" indent="-342900">
              <a:lnSpc>
                <a:spcPct val="125000"/>
              </a:lnSpc>
              <a:buFontTx/>
              <a:buChar char="-"/>
            </a:pPr>
            <a:r>
              <a:rPr lang="en-US" sz="2000">
                <a:solidFill>
                  <a:schemeClr val="bg1"/>
                </a:solidFill>
                <a:latin typeface="Cambria" panose="02040503050406030204" pitchFamily="18" charset="0"/>
                <a:ea typeface="Cambria" panose="02040503050406030204" pitchFamily="18" charset="0"/>
              </a:rPr>
              <a:t>updateProduct(): Cập nhật dữ liệu theo id</a:t>
            </a:r>
          </a:p>
          <a:p>
            <a:pPr marL="342900" indent="-342900">
              <a:lnSpc>
                <a:spcPct val="125000"/>
              </a:lnSpc>
              <a:buFontTx/>
              <a:buChar char="-"/>
            </a:pPr>
            <a:r>
              <a:rPr lang="en-US" sz="2000">
                <a:solidFill>
                  <a:schemeClr val="bg1"/>
                </a:solidFill>
                <a:latin typeface="Cambria" panose="02040503050406030204" pitchFamily="18" charset="0"/>
                <a:ea typeface="Cambria" panose="02040503050406030204" pitchFamily="18" charset="0"/>
              </a:rPr>
              <a:t>deleteProduct(): Xóa theo id</a:t>
            </a:r>
          </a:p>
        </p:txBody>
      </p:sp>
    </p:spTree>
    <p:extLst>
      <p:ext uri="{BB962C8B-B14F-4D97-AF65-F5344CB8AC3E}">
        <p14:creationId xmlns:p14="http://schemas.microsoft.com/office/powerpoint/2010/main" val="756104176"/>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E3E4F-BC4F-A8BC-AC22-71FD93CE8BD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2EED5026-4958-228F-AEA4-B6007593BD9D}"/>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9CDBFF83-9A53-5D89-B47B-E6E505453E00}"/>
              </a:ext>
            </a:extLst>
          </p:cNvPr>
          <p:cNvSpPr txBox="1">
            <a:spLocks/>
          </p:cNvSpPr>
          <p:nvPr/>
        </p:nvSpPr>
        <p:spPr>
          <a:xfrm>
            <a:off x="11257925"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13</a:t>
            </a:r>
          </a:p>
        </p:txBody>
      </p:sp>
      <p:sp>
        <p:nvSpPr>
          <p:cNvPr id="7" name="Title 10">
            <a:extLst>
              <a:ext uri="{FF2B5EF4-FFF2-40B4-BE49-F238E27FC236}">
                <a16:creationId xmlns:a16="http://schemas.microsoft.com/office/drawing/2014/main" id="{B23146C0-C268-F8BD-574F-D0F878F14F68}"/>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072B7989-A2A2-0582-1EE5-2465CC90B8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81697F1-03AA-C186-C314-D2EDF724BC60}"/>
              </a:ext>
            </a:extLst>
          </p:cNvPr>
          <p:cNvSpPr txBox="1"/>
          <p:nvPr/>
        </p:nvSpPr>
        <p:spPr>
          <a:xfrm>
            <a:off x="530169" y="870857"/>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Tạo file “main.dart” giúp hiển thị giao diện và thực hiện các thao tác với cơ sở dữ liệu.</a:t>
            </a:r>
          </a:p>
        </p:txBody>
      </p:sp>
      <p:cxnSp>
        <p:nvCxnSpPr>
          <p:cNvPr id="17" name="Straight Connector 16">
            <a:extLst>
              <a:ext uri="{FF2B5EF4-FFF2-40B4-BE49-F238E27FC236}">
                <a16:creationId xmlns:a16="http://schemas.microsoft.com/office/drawing/2014/main" id="{4348FC49-2AD7-9C84-5E24-900EA75A9601}"/>
              </a:ext>
            </a:extLst>
          </p:cNvPr>
          <p:cNvCxnSpPr>
            <a:cxnSpLocks/>
          </p:cNvCxnSpPr>
          <p:nvPr/>
        </p:nvCxnSpPr>
        <p:spPr>
          <a:xfrm>
            <a:off x="4599751" y="1308334"/>
            <a:ext cx="0" cy="5093437"/>
          </a:xfrm>
          <a:prstGeom prst="line">
            <a:avLst/>
          </a:prstGeom>
          <a:ln w="28575"/>
        </p:spPr>
        <p:style>
          <a:lnRef idx="3">
            <a:schemeClr val="dk1"/>
          </a:lnRef>
          <a:fillRef idx="0">
            <a:schemeClr val="dk1"/>
          </a:fillRef>
          <a:effectRef idx="2">
            <a:schemeClr val="dk1"/>
          </a:effectRef>
          <a:fontRef idx="minor">
            <a:schemeClr val="tx1"/>
          </a:fontRef>
        </p:style>
      </p:cxnSp>
      <p:pic>
        <p:nvPicPr>
          <p:cNvPr id="19" name="Picture 18">
            <a:extLst>
              <a:ext uri="{FF2B5EF4-FFF2-40B4-BE49-F238E27FC236}">
                <a16:creationId xmlns:a16="http://schemas.microsoft.com/office/drawing/2014/main" id="{BC720D94-3DF5-6C24-A4AC-FB22C3A16A90}"/>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b="15992"/>
          <a:stretch>
            <a:fillRect/>
          </a:stretch>
        </p:blipFill>
        <p:spPr>
          <a:xfrm>
            <a:off x="638629" y="1308334"/>
            <a:ext cx="3238952" cy="4273569"/>
          </a:xfrm>
          <a:prstGeom prst="rect">
            <a:avLst/>
          </a:prstGeom>
        </p:spPr>
      </p:pic>
      <p:sp>
        <p:nvSpPr>
          <p:cNvPr id="20" name="Rectangle 19">
            <a:extLst>
              <a:ext uri="{FF2B5EF4-FFF2-40B4-BE49-F238E27FC236}">
                <a16:creationId xmlns:a16="http://schemas.microsoft.com/office/drawing/2014/main" id="{779F9D02-8618-DA4C-68F6-4379617EB505}"/>
              </a:ext>
            </a:extLst>
          </p:cNvPr>
          <p:cNvSpPr/>
          <p:nvPr/>
        </p:nvSpPr>
        <p:spPr>
          <a:xfrm>
            <a:off x="698479" y="3166281"/>
            <a:ext cx="3179102" cy="278837"/>
          </a:xfrm>
          <a:prstGeom prst="rect">
            <a:avLst/>
          </a:prstGeom>
          <a:noFill/>
          <a:ln w="28575">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22" name="Graphic 21" descr="Back with solid fill">
            <a:extLst>
              <a:ext uri="{FF2B5EF4-FFF2-40B4-BE49-F238E27FC236}">
                <a16:creationId xmlns:a16="http://schemas.microsoft.com/office/drawing/2014/main" id="{39B8ED68-375B-0B88-5ED5-3742F876582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8151965">
            <a:off x="3696050" y="2630166"/>
            <a:ext cx="602463" cy="501343"/>
          </a:xfrm>
          <a:prstGeom prst="rect">
            <a:avLst/>
          </a:prstGeom>
        </p:spPr>
      </p:pic>
      <p:sp>
        <p:nvSpPr>
          <p:cNvPr id="10" name="TextBox 9">
            <a:extLst>
              <a:ext uri="{FF2B5EF4-FFF2-40B4-BE49-F238E27FC236}">
                <a16:creationId xmlns:a16="http://schemas.microsoft.com/office/drawing/2014/main" id="{4DB78544-67B0-E950-3CE7-E858266F1A78}"/>
              </a:ext>
            </a:extLst>
          </p:cNvPr>
          <p:cNvSpPr txBox="1"/>
          <p:nvPr/>
        </p:nvSpPr>
        <p:spPr>
          <a:xfrm>
            <a:off x="4722067" y="3753142"/>
            <a:ext cx="5609047" cy="707886"/>
          </a:xfrm>
          <a:prstGeom prst="rect">
            <a:avLst/>
          </a:prstGeom>
          <a:noFill/>
        </p:spPr>
        <p:txBody>
          <a:bodyPr wrap="square" rtlCol="0">
            <a:spAutoFit/>
          </a:bodyPr>
          <a:lstStyle/>
          <a:p>
            <a:pPr marL="342900" indent="-342900">
              <a:buFontTx/>
              <a:buChar char="-"/>
            </a:pPr>
            <a:r>
              <a:rPr lang="en-US" sz="2000">
                <a:solidFill>
                  <a:schemeClr val="bg1"/>
                </a:solidFill>
                <a:latin typeface="Cambria" panose="02040503050406030204" pitchFamily="18" charset="0"/>
                <a:ea typeface="Cambria" panose="02040503050406030204" pitchFamily="18" charset="0"/>
              </a:rPr>
              <a:t>Import các gói và file cần thiết.</a:t>
            </a:r>
          </a:p>
          <a:p>
            <a:pPr marL="342900" indent="-342900">
              <a:buFontTx/>
              <a:buChar char="-"/>
            </a:pPr>
            <a:r>
              <a:rPr lang="en-US" sz="2000">
                <a:solidFill>
                  <a:schemeClr val="bg1"/>
                </a:solidFill>
                <a:latin typeface="Cambria" panose="02040503050406030204" pitchFamily="18" charset="0"/>
                <a:ea typeface="Cambria" panose="02040503050406030204" pitchFamily="18" charset="0"/>
              </a:rPr>
              <a:t>Đảm bảo mở CSDL trước khi chạy giao diện.</a:t>
            </a:r>
          </a:p>
        </p:txBody>
      </p:sp>
      <p:pic>
        <p:nvPicPr>
          <p:cNvPr id="4" name="Picture 3">
            <a:extLst>
              <a:ext uri="{FF2B5EF4-FFF2-40B4-BE49-F238E27FC236}">
                <a16:creationId xmlns:a16="http://schemas.microsoft.com/office/drawing/2014/main" id="{4D3C9760-071A-A239-40B8-FB66A2981132}"/>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4829614" y="1402718"/>
            <a:ext cx="6224865" cy="2350423"/>
          </a:xfrm>
          <a:prstGeom prst="rect">
            <a:avLst/>
          </a:prstGeom>
        </p:spPr>
      </p:pic>
    </p:spTree>
    <p:extLst>
      <p:ext uri="{BB962C8B-B14F-4D97-AF65-F5344CB8AC3E}">
        <p14:creationId xmlns:p14="http://schemas.microsoft.com/office/powerpoint/2010/main" val="2060495321"/>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42BE4-AFA7-65AD-21E4-ADB955F235F3}"/>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0CD53590-8254-680F-2447-6A5757686174}"/>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3C0D35EA-F86C-6E48-38A1-92A9B060779B}"/>
              </a:ext>
            </a:extLst>
          </p:cNvPr>
          <p:cNvSpPr txBox="1">
            <a:spLocks/>
          </p:cNvSpPr>
          <p:nvPr/>
        </p:nvSpPr>
        <p:spPr>
          <a:xfrm>
            <a:off x="11230629"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14</a:t>
            </a:r>
          </a:p>
        </p:txBody>
      </p:sp>
      <p:sp>
        <p:nvSpPr>
          <p:cNvPr id="7" name="Title 10">
            <a:extLst>
              <a:ext uri="{FF2B5EF4-FFF2-40B4-BE49-F238E27FC236}">
                <a16:creationId xmlns:a16="http://schemas.microsoft.com/office/drawing/2014/main" id="{E95A2A87-DB6C-0061-8719-9463676E81C6}"/>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41DAF02B-E9A5-B23A-B435-D6C38EBCB0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E2493F7-BBB8-15D7-DD81-60CEAD094981}"/>
              </a:ext>
            </a:extLst>
          </p:cNvPr>
          <p:cNvSpPr txBox="1"/>
          <p:nvPr/>
        </p:nvSpPr>
        <p:spPr>
          <a:xfrm>
            <a:off x="530169" y="870857"/>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pic>
        <p:nvPicPr>
          <p:cNvPr id="12" name="Picture 11">
            <a:extLst>
              <a:ext uri="{FF2B5EF4-FFF2-40B4-BE49-F238E27FC236}">
                <a16:creationId xmlns:a16="http://schemas.microsoft.com/office/drawing/2014/main" id="{60B27ACB-F349-AE9A-795D-34536C179369}"/>
              </a:ext>
            </a:extLst>
          </p:cNvPr>
          <p:cNvPicPr>
            <a:picLocks noChangeAspect="1"/>
          </p:cNvPicPr>
          <p:nvPr/>
        </p:nvPicPr>
        <p:blipFill>
          <a:blip r:embed="rId4"/>
          <a:stretch>
            <a:fillRect/>
          </a:stretch>
        </p:blipFill>
        <p:spPr>
          <a:xfrm>
            <a:off x="638629" y="1465758"/>
            <a:ext cx="4972744" cy="4201111"/>
          </a:xfrm>
          <a:prstGeom prst="rect">
            <a:avLst/>
          </a:prstGeom>
        </p:spPr>
      </p:pic>
      <p:cxnSp>
        <p:nvCxnSpPr>
          <p:cNvPr id="14" name="Straight Connector 13">
            <a:extLst>
              <a:ext uri="{FF2B5EF4-FFF2-40B4-BE49-F238E27FC236}">
                <a16:creationId xmlns:a16="http://schemas.microsoft.com/office/drawing/2014/main" id="{50CA68DC-F899-C67F-9C05-A081ED03F8C8}"/>
              </a:ext>
            </a:extLst>
          </p:cNvPr>
          <p:cNvCxnSpPr>
            <a:cxnSpLocks/>
          </p:cNvCxnSpPr>
          <p:nvPr/>
        </p:nvCxnSpPr>
        <p:spPr>
          <a:xfrm>
            <a:off x="5611373" y="1465758"/>
            <a:ext cx="0" cy="4514691"/>
          </a:xfrm>
          <a:prstGeom prst="line">
            <a:avLst/>
          </a:prstGeom>
          <a:ln w="28575"/>
        </p:spPr>
        <p:style>
          <a:lnRef idx="3">
            <a:schemeClr val="dk1"/>
          </a:lnRef>
          <a:fillRef idx="0">
            <a:schemeClr val="dk1"/>
          </a:fillRef>
          <a:effectRef idx="2">
            <a:schemeClr val="dk1"/>
          </a:effectRef>
          <a:fontRef idx="minor">
            <a:schemeClr val="tx1"/>
          </a:fontRef>
        </p:style>
      </p:cxnSp>
      <p:sp>
        <p:nvSpPr>
          <p:cNvPr id="18" name="TextBox 17">
            <a:extLst>
              <a:ext uri="{FF2B5EF4-FFF2-40B4-BE49-F238E27FC236}">
                <a16:creationId xmlns:a16="http://schemas.microsoft.com/office/drawing/2014/main" id="{57560DA7-6B69-3ED0-6C8D-A38D5BA91C9E}"/>
              </a:ext>
            </a:extLst>
          </p:cNvPr>
          <p:cNvSpPr txBox="1"/>
          <p:nvPr/>
        </p:nvSpPr>
        <p:spPr>
          <a:xfrm>
            <a:off x="5785658" y="1361493"/>
            <a:ext cx="6406342" cy="707886"/>
          </a:xfrm>
          <a:prstGeom prst="rect">
            <a:avLst/>
          </a:prstGeom>
          <a:noFill/>
        </p:spPr>
        <p:txBody>
          <a:bodyPr wrap="square" rtlCol="0">
            <a:spAutoFit/>
          </a:bodyPr>
          <a:lstStyle/>
          <a:p>
            <a:pPr marL="342900" indent="-342900">
              <a:buFontTx/>
              <a:buChar char="-"/>
            </a:pPr>
            <a:r>
              <a:rPr lang="en-US" sz="2000">
                <a:solidFill>
                  <a:schemeClr val="bg1"/>
                </a:solidFill>
                <a:latin typeface="Cambria" panose="02040503050406030204" pitchFamily="18" charset="0"/>
                <a:ea typeface="Cambria" panose="02040503050406030204" pitchFamily="18" charset="0"/>
              </a:rPr>
              <a:t>ProductManager: Tạo widget có thể thay đổi dữ liệu trong quá trình chạy.</a:t>
            </a:r>
          </a:p>
        </p:txBody>
      </p:sp>
      <p:sp>
        <p:nvSpPr>
          <p:cNvPr id="24" name="TextBox 23">
            <a:extLst>
              <a:ext uri="{FF2B5EF4-FFF2-40B4-BE49-F238E27FC236}">
                <a16:creationId xmlns:a16="http://schemas.microsoft.com/office/drawing/2014/main" id="{86CC1071-8CCB-F6EE-7B32-046B64D60FFA}"/>
              </a:ext>
            </a:extLst>
          </p:cNvPr>
          <p:cNvSpPr txBox="1"/>
          <p:nvPr/>
        </p:nvSpPr>
        <p:spPr>
          <a:xfrm>
            <a:off x="5872687" y="2593832"/>
            <a:ext cx="6057997" cy="1015663"/>
          </a:xfrm>
          <a:prstGeom prst="rect">
            <a:avLst/>
          </a:prstGeom>
          <a:noFill/>
        </p:spPr>
        <p:txBody>
          <a:bodyPr wrap="square" rtlCol="0">
            <a:spAutoFit/>
          </a:bodyPr>
          <a:lstStyle/>
          <a:p>
            <a:pPr marL="342900" indent="-342900">
              <a:buFontTx/>
              <a:buChar char="-"/>
            </a:pPr>
            <a:r>
              <a:rPr lang="en-US" sz="2000">
                <a:solidFill>
                  <a:schemeClr val="bg1"/>
                </a:solidFill>
                <a:latin typeface="Cambria" panose="02040503050406030204" pitchFamily="18" charset="0"/>
                <a:ea typeface="Cambria" panose="02040503050406030204" pitchFamily="18" charset="0"/>
              </a:rPr>
              <a:t>TextEditingController(): Lấy input từ TextField.</a:t>
            </a:r>
          </a:p>
          <a:p>
            <a:pPr marL="342900" indent="-342900">
              <a:buFontTx/>
              <a:buChar char="-"/>
            </a:pPr>
            <a:r>
              <a:rPr lang="en-US" sz="2000">
                <a:solidFill>
                  <a:schemeClr val="bg1"/>
                </a:solidFill>
                <a:latin typeface="Cambria" panose="02040503050406030204" pitchFamily="18" charset="0"/>
                <a:ea typeface="Cambria" panose="02040503050406030204" pitchFamily="18" charset="0"/>
              </a:rPr>
              <a:t>products: Lưu danh sách hiện tại hiển thị</a:t>
            </a:r>
          </a:p>
          <a:p>
            <a:pPr marL="342900" indent="-342900">
              <a:buFontTx/>
              <a:buChar char="-"/>
            </a:pPr>
            <a:endParaRPr lang="en-US" sz="2000">
              <a:solidFill>
                <a:schemeClr val="bg1"/>
              </a:solidFill>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1E3F939F-E41A-2A77-9343-70DC8B7DEC59}"/>
              </a:ext>
            </a:extLst>
          </p:cNvPr>
          <p:cNvSpPr txBox="1"/>
          <p:nvPr/>
        </p:nvSpPr>
        <p:spPr>
          <a:xfrm>
            <a:off x="5785658" y="4071757"/>
            <a:ext cx="6057997" cy="1631216"/>
          </a:xfrm>
          <a:prstGeom prst="rect">
            <a:avLst/>
          </a:prstGeom>
          <a:noFill/>
        </p:spPr>
        <p:txBody>
          <a:bodyPr wrap="square" rtlCol="0">
            <a:spAutoFit/>
          </a:bodyPr>
          <a:lstStyle/>
          <a:p>
            <a:pPr marL="342900" indent="-342900">
              <a:buFontTx/>
              <a:buChar char="-"/>
            </a:pPr>
            <a:r>
              <a:rPr lang="en-US" sz="2000">
                <a:solidFill>
                  <a:schemeClr val="bg1"/>
                </a:solidFill>
                <a:latin typeface="Cambria" panose="02040503050406030204" pitchFamily="18" charset="0"/>
                <a:ea typeface="Cambria" panose="02040503050406030204" pitchFamily="18" charset="0"/>
              </a:rPr>
              <a:t>Khi widget khởi tạo, gọi _loadProducts() để đọc products từ CSDL.</a:t>
            </a:r>
          </a:p>
          <a:p>
            <a:pPr marL="342900" indent="-342900">
              <a:buFontTx/>
              <a:buChar char="-"/>
            </a:pPr>
            <a:r>
              <a:rPr lang="en-US" sz="2000">
                <a:solidFill>
                  <a:schemeClr val="bg1"/>
                </a:solidFill>
                <a:latin typeface="Cambria" panose="02040503050406030204" pitchFamily="18" charset="0"/>
                <a:ea typeface="Cambria" panose="02040503050406030204" pitchFamily="18" charset="0"/>
              </a:rPr>
              <a:t>Lấy danh sách từ CSDL rồi cập nhật state (gọi setState để rebuild giao diện).</a:t>
            </a:r>
          </a:p>
          <a:p>
            <a:pPr marL="342900" indent="-342900">
              <a:buFontTx/>
              <a:buChar char="-"/>
            </a:pPr>
            <a:endParaRPr lang="en-US" sz="200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256305375"/>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642F7-1D74-DC34-BCD8-B4CEE672102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93D92157-E8E4-4720-02C4-BE9F4CFBCB1E}"/>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05AE4BE7-59FD-DF3E-0148-F3E542C2446F}"/>
              </a:ext>
            </a:extLst>
          </p:cNvPr>
          <p:cNvSpPr txBox="1">
            <a:spLocks/>
          </p:cNvSpPr>
          <p:nvPr/>
        </p:nvSpPr>
        <p:spPr>
          <a:xfrm>
            <a:off x="11244277"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15</a:t>
            </a:r>
          </a:p>
        </p:txBody>
      </p:sp>
      <p:sp>
        <p:nvSpPr>
          <p:cNvPr id="7" name="Title 10">
            <a:extLst>
              <a:ext uri="{FF2B5EF4-FFF2-40B4-BE49-F238E27FC236}">
                <a16:creationId xmlns:a16="http://schemas.microsoft.com/office/drawing/2014/main" id="{B72E97EB-DCF3-2054-7889-166005067345}"/>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C0A657FE-6593-2990-C613-2A50524BA1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E099461-94B6-DBD6-0003-3A20B1D4F116}"/>
              </a:ext>
            </a:extLst>
          </p:cNvPr>
          <p:cNvSpPr txBox="1"/>
          <p:nvPr/>
        </p:nvSpPr>
        <p:spPr>
          <a:xfrm>
            <a:off x="530169" y="870857"/>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4" name="Straight Connector 13">
            <a:extLst>
              <a:ext uri="{FF2B5EF4-FFF2-40B4-BE49-F238E27FC236}">
                <a16:creationId xmlns:a16="http://schemas.microsoft.com/office/drawing/2014/main" id="{D9CC20CD-D9C4-1741-7959-AF2DB229BBC7}"/>
              </a:ext>
            </a:extLst>
          </p:cNvPr>
          <p:cNvCxnSpPr>
            <a:cxnSpLocks/>
          </p:cNvCxnSpPr>
          <p:nvPr/>
        </p:nvCxnSpPr>
        <p:spPr>
          <a:xfrm>
            <a:off x="6581665" y="1270967"/>
            <a:ext cx="0" cy="4514691"/>
          </a:xfrm>
          <a:prstGeom prst="line">
            <a:avLst/>
          </a:prstGeom>
          <a:ln w="28575"/>
        </p:spPr>
        <p:style>
          <a:lnRef idx="3">
            <a:schemeClr val="dk1"/>
          </a:lnRef>
          <a:fillRef idx="0">
            <a:schemeClr val="dk1"/>
          </a:fillRef>
          <a:effectRef idx="2">
            <a:schemeClr val="dk1"/>
          </a:effectRef>
          <a:fontRef idx="minor">
            <a:schemeClr val="tx1"/>
          </a:fontRef>
        </p:style>
      </p:cxnSp>
      <p:sp>
        <p:nvSpPr>
          <p:cNvPr id="18" name="TextBox 17">
            <a:extLst>
              <a:ext uri="{FF2B5EF4-FFF2-40B4-BE49-F238E27FC236}">
                <a16:creationId xmlns:a16="http://schemas.microsoft.com/office/drawing/2014/main" id="{DD4FDF9C-7415-5F80-F2FC-8D96B93C7821}"/>
              </a:ext>
            </a:extLst>
          </p:cNvPr>
          <p:cNvSpPr txBox="1"/>
          <p:nvPr/>
        </p:nvSpPr>
        <p:spPr>
          <a:xfrm>
            <a:off x="6636257" y="1462980"/>
            <a:ext cx="5501151" cy="1015663"/>
          </a:xfrm>
          <a:prstGeom prst="rect">
            <a:avLst/>
          </a:prstGeom>
          <a:noFill/>
        </p:spPr>
        <p:txBody>
          <a:bodyPr wrap="square" rtlCol="0">
            <a:spAutoFit/>
          </a:bodyPr>
          <a:lstStyle/>
          <a:p>
            <a:pPr marL="342900" indent="-342900">
              <a:buFontTx/>
              <a:buChar char="-"/>
            </a:pPr>
            <a:r>
              <a:rPr lang="vi-VN" sz="2000">
                <a:solidFill>
                  <a:schemeClr val="bg1"/>
                </a:solidFill>
                <a:latin typeface="Cambria" panose="02040503050406030204" pitchFamily="18" charset="0"/>
                <a:ea typeface="Cambria" panose="02040503050406030204" pitchFamily="18" charset="0"/>
              </a:rPr>
              <a:t>_addOrUpdateProduct</a:t>
            </a:r>
            <a:r>
              <a:rPr lang="en-US" sz="2000">
                <a:solidFill>
                  <a:schemeClr val="bg1"/>
                </a:solidFill>
                <a:latin typeface="Cambria" panose="02040503050406030204" pitchFamily="18" charset="0"/>
                <a:ea typeface="Cambria" panose="02040503050406030204" pitchFamily="18" charset="0"/>
              </a:rPr>
              <a:t>(</a:t>
            </a:r>
            <a:r>
              <a:rPr lang="vi-VN" sz="2000">
                <a:solidFill>
                  <a:schemeClr val="bg1"/>
                </a:solidFill>
                <a:latin typeface="Cambria" panose="02040503050406030204" pitchFamily="18" charset="0"/>
                <a:ea typeface="Cambria" panose="02040503050406030204" pitchFamily="18" charset="0"/>
              </a:rPr>
              <a:t>) phục vụ cả thêm và cập nhật: nếu product truyền vào null thì thêm, ngược lại cập nhật.</a:t>
            </a:r>
            <a:endParaRPr lang="en-US" sz="2000">
              <a:solidFill>
                <a:schemeClr val="bg1"/>
              </a:solidFill>
              <a:latin typeface="Cambria" panose="02040503050406030204" pitchFamily="18" charset="0"/>
              <a:ea typeface="Cambria" panose="02040503050406030204" pitchFamily="18" charset="0"/>
            </a:endParaRPr>
          </a:p>
        </p:txBody>
      </p:sp>
      <p:sp>
        <p:nvSpPr>
          <p:cNvPr id="24" name="TextBox 23">
            <a:extLst>
              <a:ext uri="{FF2B5EF4-FFF2-40B4-BE49-F238E27FC236}">
                <a16:creationId xmlns:a16="http://schemas.microsoft.com/office/drawing/2014/main" id="{611B6E80-2748-77A9-C207-A196B0D761F5}"/>
              </a:ext>
            </a:extLst>
          </p:cNvPr>
          <p:cNvSpPr txBox="1"/>
          <p:nvPr/>
        </p:nvSpPr>
        <p:spPr>
          <a:xfrm>
            <a:off x="6690286" y="3155345"/>
            <a:ext cx="5196885" cy="1015663"/>
          </a:xfrm>
          <a:prstGeom prst="rect">
            <a:avLst/>
          </a:prstGeom>
          <a:noFill/>
        </p:spPr>
        <p:txBody>
          <a:bodyPr wrap="square" rtlCol="0">
            <a:spAutoFit/>
          </a:bodyPr>
          <a:lstStyle/>
          <a:p>
            <a:pPr marL="342900" indent="-342900">
              <a:buFontTx/>
              <a:buChar char="-"/>
            </a:pPr>
            <a:r>
              <a:rPr lang="vi-VN" sz="2000">
                <a:solidFill>
                  <a:schemeClr val="bg1"/>
                </a:solidFill>
                <a:latin typeface="Cambria" panose="02040503050406030204" pitchFamily="18" charset="0"/>
                <a:ea typeface="Cambria" panose="02040503050406030204" pitchFamily="18" charset="0"/>
              </a:rPr>
              <a:t>tryParse(Text) chuyển chuỗi sang </a:t>
            </a:r>
            <a:r>
              <a:rPr lang="en-US" sz="2000">
                <a:solidFill>
                  <a:schemeClr val="bg1"/>
                </a:solidFill>
                <a:latin typeface="Cambria" panose="02040503050406030204" pitchFamily="18" charset="0"/>
                <a:ea typeface="Cambria" panose="02040503050406030204" pitchFamily="18" charset="0"/>
              </a:rPr>
              <a:t>kiểu dữ liệu khác </a:t>
            </a:r>
            <a:r>
              <a:rPr lang="vi-VN" sz="2000">
                <a:solidFill>
                  <a:schemeClr val="bg1"/>
                </a:solidFill>
                <a:latin typeface="Cambria" panose="02040503050406030204" pitchFamily="18" charset="0"/>
                <a:ea typeface="Cambria" panose="02040503050406030204" pitchFamily="18" charset="0"/>
              </a:rPr>
              <a:t>(trả null nếu không parse được). </a:t>
            </a:r>
            <a:endParaRPr lang="en-US" sz="2000">
              <a:solidFill>
                <a:schemeClr val="bg1"/>
              </a:solidFill>
              <a:latin typeface="Cambria" panose="02040503050406030204" pitchFamily="18" charset="0"/>
              <a:ea typeface="Cambria" panose="02040503050406030204" pitchFamily="18" charset="0"/>
            </a:endParaRPr>
          </a:p>
          <a:p>
            <a:pPr marL="342900" indent="-342900">
              <a:buFontTx/>
              <a:buChar char="-"/>
            </a:pPr>
            <a:endParaRPr lang="en-US" sz="2000">
              <a:solidFill>
                <a:schemeClr val="bg1"/>
              </a:solidFill>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1A420916-A5BC-2D8D-55A0-CA07D1041EFC}"/>
              </a:ext>
            </a:extLst>
          </p:cNvPr>
          <p:cNvSpPr txBox="1"/>
          <p:nvPr/>
        </p:nvSpPr>
        <p:spPr>
          <a:xfrm>
            <a:off x="6733801" y="4746201"/>
            <a:ext cx="5109856" cy="400110"/>
          </a:xfrm>
          <a:prstGeom prst="rect">
            <a:avLst/>
          </a:prstGeom>
          <a:noFill/>
        </p:spPr>
        <p:txBody>
          <a:bodyPr wrap="square" rtlCol="0">
            <a:spAutoFit/>
          </a:bodyPr>
          <a:lstStyle/>
          <a:p>
            <a:pPr marL="342900" indent="-342900">
              <a:buFontTx/>
              <a:buChar char="-"/>
            </a:pPr>
            <a:r>
              <a:rPr lang="en-US" sz="2000">
                <a:solidFill>
                  <a:schemeClr val="bg1"/>
                </a:solidFill>
                <a:latin typeface="Cambria" panose="02040503050406030204" pitchFamily="18" charset="0"/>
                <a:ea typeface="Cambria" panose="02040503050406030204" pitchFamily="18" charset="0"/>
              </a:rPr>
              <a:t>Nếu có lỗi thì SnackBar hiển thị thông báo</a:t>
            </a:r>
          </a:p>
        </p:txBody>
      </p:sp>
      <p:pic>
        <p:nvPicPr>
          <p:cNvPr id="5" name="Picture 4">
            <a:extLst>
              <a:ext uri="{FF2B5EF4-FFF2-40B4-BE49-F238E27FC236}">
                <a16:creationId xmlns:a16="http://schemas.microsoft.com/office/drawing/2014/main" id="{623AB929-DE5A-F846-A4C7-BADD22811AB5}"/>
              </a:ext>
            </a:extLst>
          </p:cNvPr>
          <p:cNvPicPr>
            <a:picLocks noChangeAspect="1"/>
          </p:cNvPicPr>
          <p:nvPr/>
        </p:nvPicPr>
        <p:blipFill>
          <a:blip r:embed="rId4"/>
          <a:stretch>
            <a:fillRect/>
          </a:stretch>
        </p:blipFill>
        <p:spPr>
          <a:xfrm>
            <a:off x="180259" y="1530441"/>
            <a:ext cx="6249272" cy="4172532"/>
          </a:xfrm>
          <a:prstGeom prst="rect">
            <a:avLst/>
          </a:prstGeom>
        </p:spPr>
      </p:pic>
    </p:spTree>
    <p:extLst>
      <p:ext uri="{BB962C8B-B14F-4D97-AF65-F5344CB8AC3E}">
        <p14:creationId xmlns:p14="http://schemas.microsoft.com/office/powerpoint/2010/main" val="612872529"/>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8D9CC-2012-D34F-7968-14D00CF4FDA3}"/>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B843DE9-CFDF-D950-8201-2802C5F93685}"/>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A0F04199-C3D1-E946-D315-F13D048DFC18}"/>
              </a:ext>
            </a:extLst>
          </p:cNvPr>
          <p:cNvSpPr txBox="1">
            <a:spLocks/>
          </p:cNvSpPr>
          <p:nvPr/>
        </p:nvSpPr>
        <p:spPr>
          <a:xfrm>
            <a:off x="11244277"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16</a:t>
            </a:r>
          </a:p>
        </p:txBody>
      </p:sp>
      <p:sp>
        <p:nvSpPr>
          <p:cNvPr id="7" name="Title 10">
            <a:extLst>
              <a:ext uri="{FF2B5EF4-FFF2-40B4-BE49-F238E27FC236}">
                <a16:creationId xmlns:a16="http://schemas.microsoft.com/office/drawing/2014/main" id="{BE2117AD-5F5D-360D-DA1F-3A5E83E67F90}"/>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AFBA9F2D-5859-5C09-A537-40A5E369DD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14CC21D-8DA4-4CB0-EF20-9EB5B7A6F1DD}"/>
              </a:ext>
            </a:extLst>
          </p:cNvPr>
          <p:cNvSpPr txBox="1"/>
          <p:nvPr/>
        </p:nvSpPr>
        <p:spPr>
          <a:xfrm>
            <a:off x="530169" y="870857"/>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4" name="Straight Connector 13">
            <a:extLst>
              <a:ext uri="{FF2B5EF4-FFF2-40B4-BE49-F238E27FC236}">
                <a16:creationId xmlns:a16="http://schemas.microsoft.com/office/drawing/2014/main" id="{9E8F7117-A14B-1508-0366-73438027E92D}"/>
              </a:ext>
            </a:extLst>
          </p:cNvPr>
          <p:cNvCxnSpPr>
            <a:cxnSpLocks/>
          </p:cNvCxnSpPr>
          <p:nvPr/>
        </p:nvCxnSpPr>
        <p:spPr>
          <a:xfrm>
            <a:off x="6261101" y="1320425"/>
            <a:ext cx="5115" cy="4971887"/>
          </a:xfrm>
          <a:prstGeom prst="line">
            <a:avLst/>
          </a:prstGeom>
          <a:ln w="28575"/>
        </p:spPr>
        <p:style>
          <a:lnRef idx="3">
            <a:schemeClr val="dk1"/>
          </a:lnRef>
          <a:fillRef idx="0">
            <a:schemeClr val="dk1"/>
          </a:fillRef>
          <a:effectRef idx="2">
            <a:schemeClr val="dk1"/>
          </a:effectRef>
          <a:fontRef idx="minor">
            <a:schemeClr val="tx1"/>
          </a:fontRef>
        </p:style>
      </p:cxnSp>
      <p:sp>
        <p:nvSpPr>
          <p:cNvPr id="24" name="TextBox 23">
            <a:extLst>
              <a:ext uri="{FF2B5EF4-FFF2-40B4-BE49-F238E27FC236}">
                <a16:creationId xmlns:a16="http://schemas.microsoft.com/office/drawing/2014/main" id="{71309BA0-3208-43C1-3C30-AAF3957C430B}"/>
              </a:ext>
            </a:extLst>
          </p:cNvPr>
          <p:cNvSpPr txBox="1"/>
          <p:nvPr/>
        </p:nvSpPr>
        <p:spPr>
          <a:xfrm>
            <a:off x="6406108" y="1671077"/>
            <a:ext cx="5707675" cy="707886"/>
          </a:xfrm>
          <a:prstGeom prst="rect">
            <a:avLst/>
          </a:prstGeom>
          <a:noFill/>
        </p:spPr>
        <p:txBody>
          <a:bodyPr wrap="square" rtlCol="0">
            <a:spAutoFit/>
          </a:bodyPr>
          <a:lstStyle/>
          <a:p>
            <a:pPr algn="just"/>
            <a:r>
              <a:rPr lang="en-US" sz="2000">
                <a:solidFill>
                  <a:schemeClr val="bg1"/>
                </a:solidFill>
                <a:latin typeface="Cambria" panose="02040503050406030204" pitchFamily="18" charset="0"/>
                <a:ea typeface="Cambria" panose="02040503050406030204" pitchFamily="18" charset="0"/>
              </a:rPr>
              <a:t>- </a:t>
            </a:r>
            <a:r>
              <a:rPr lang="vi-VN" sz="2000">
                <a:solidFill>
                  <a:schemeClr val="bg1"/>
                </a:solidFill>
                <a:latin typeface="Cambria" panose="02040503050406030204" pitchFamily="18" charset="0"/>
                <a:ea typeface="Cambria" panose="02040503050406030204" pitchFamily="18" charset="0"/>
              </a:rPr>
              <a:t>Tạo newProduct (nếu update thì product?.id)</a:t>
            </a:r>
            <a:r>
              <a:rPr lang="en-US" sz="2000">
                <a:solidFill>
                  <a:schemeClr val="bg1"/>
                </a:solidFill>
                <a:latin typeface="Cambria" panose="02040503050406030204" pitchFamily="18" charset="0"/>
                <a:ea typeface="Cambria" panose="02040503050406030204" pitchFamily="18" charset="0"/>
              </a:rPr>
              <a:t> trả id cũ)</a:t>
            </a:r>
          </a:p>
        </p:txBody>
      </p:sp>
      <p:sp>
        <p:nvSpPr>
          <p:cNvPr id="26" name="TextBox 25">
            <a:extLst>
              <a:ext uri="{FF2B5EF4-FFF2-40B4-BE49-F238E27FC236}">
                <a16:creationId xmlns:a16="http://schemas.microsoft.com/office/drawing/2014/main" id="{82094FDA-A297-8F41-7524-6C858D3C8D69}"/>
              </a:ext>
            </a:extLst>
          </p:cNvPr>
          <p:cNvSpPr txBox="1"/>
          <p:nvPr/>
        </p:nvSpPr>
        <p:spPr>
          <a:xfrm>
            <a:off x="6445270" y="4050234"/>
            <a:ext cx="5109856" cy="400110"/>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Hiện SnackBar thông báo thành công.</a:t>
            </a:r>
          </a:p>
        </p:txBody>
      </p:sp>
      <p:pic>
        <p:nvPicPr>
          <p:cNvPr id="11" name="Picture 10">
            <a:extLst>
              <a:ext uri="{FF2B5EF4-FFF2-40B4-BE49-F238E27FC236}">
                <a16:creationId xmlns:a16="http://schemas.microsoft.com/office/drawing/2014/main" id="{A05A4C00-2EBA-E12A-9B76-7FC796116978}"/>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499618" y="1320425"/>
            <a:ext cx="5582429" cy="4839375"/>
          </a:xfrm>
          <a:prstGeom prst="rect">
            <a:avLst/>
          </a:prstGeom>
        </p:spPr>
      </p:pic>
      <p:sp>
        <p:nvSpPr>
          <p:cNvPr id="13" name="TextBox 12">
            <a:extLst>
              <a:ext uri="{FF2B5EF4-FFF2-40B4-BE49-F238E27FC236}">
                <a16:creationId xmlns:a16="http://schemas.microsoft.com/office/drawing/2014/main" id="{FE132019-B162-2897-7BE6-18AFDA2253FE}"/>
              </a:ext>
            </a:extLst>
          </p:cNvPr>
          <p:cNvSpPr txBox="1"/>
          <p:nvPr/>
        </p:nvSpPr>
        <p:spPr>
          <a:xfrm>
            <a:off x="6377736" y="1270967"/>
            <a:ext cx="5814264" cy="400110"/>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Biến “now”: Tạo choỗi thời gian theo định dạng.</a:t>
            </a:r>
          </a:p>
        </p:txBody>
      </p:sp>
      <p:sp>
        <p:nvSpPr>
          <p:cNvPr id="16" name="TextBox 15">
            <a:extLst>
              <a:ext uri="{FF2B5EF4-FFF2-40B4-BE49-F238E27FC236}">
                <a16:creationId xmlns:a16="http://schemas.microsoft.com/office/drawing/2014/main" id="{B3C8F527-02CD-BFB4-A74E-2581DC98AE28}"/>
              </a:ext>
            </a:extLst>
          </p:cNvPr>
          <p:cNvSpPr txBox="1"/>
          <p:nvPr/>
        </p:nvSpPr>
        <p:spPr>
          <a:xfrm>
            <a:off x="6423449" y="3342348"/>
            <a:ext cx="5611318" cy="707886"/>
          </a:xfrm>
          <a:prstGeom prst="rect">
            <a:avLst/>
          </a:prstGeom>
          <a:noFill/>
        </p:spPr>
        <p:txBody>
          <a:bodyPr wrap="square" rtlCol="0">
            <a:spAutoFit/>
          </a:bodyPr>
          <a:lstStyle/>
          <a:p>
            <a:pPr algn="just"/>
            <a:r>
              <a:rPr lang="en-US" sz="2000">
                <a:solidFill>
                  <a:schemeClr val="bg1"/>
                </a:solidFill>
                <a:latin typeface="Cambria" panose="02040503050406030204" pitchFamily="18" charset="0"/>
                <a:ea typeface="Cambria" panose="02040503050406030204" pitchFamily="18" charset="0"/>
              </a:rPr>
              <a:t>- </a:t>
            </a:r>
            <a:r>
              <a:rPr lang="vi-VN" sz="2000">
                <a:solidFill>
                  <a:schemeClr val="bg1"/>
                </a:solidFill>
                <a:latin typeface="Cambria" panose="02040503050406030204" pitchFamily="18" charset="0"/>
                <a:ea typeface="Cambria" panose="02040503050406030204" pitchFamily="18" charset="0"/>
              </a:rPr>
              <a:t>Gọi DBHelper.insertProduct hoặc updateProduct tương ứng.</a:t>
            </a:r>
            <a:endParaRPr lang="en-US" sz="2000">
              <a:solidFill>
                <a:schemeClr val="bg1"/>
              </a:solidFill>
              <a:latin typeface="Cambria" panose="02040503050406030204" pitchFamily="18" charset="0"/>
              <a:ea typeface="Cambria" panose="02040503050406030204" pitchFamily="18" charset="0"/>
            </a:endParaRPr>
          </a:p>
        </p:txBody>
      </p:sp>
      <p:sp>
        <p:nvSpPr>
          <p:cNvPr id="19" name="TextBox 18">
            <a:extLst>
              <a:ext uri="{FF2B5EF4-FFF2-40B4-BE49-F238E27FC236}">
                <a16:creationId xmlns:a16="http://schemas.microsoft.com/office/drawing/2014/main" id="{1D25F697-38FF-8A97-E395-B81C8CA87B48}"/>
              </a:ext>
            </a:extLst>
          </p:cNvPr>
          <p:cNvSpPr txBox="1"/>
          <p:nvPr/>
        </p:nvSpPr>
        <p:spPr>
          <a:xfrm>
            <a:off x="6445269" y="5310747"/>
            <a:ext cx="5746731" cy="707886"/>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Dùng _clearFields() và _loadProducts() để refresh giao diện.</a:t>
            </a:r>
          </a:p>
        </p:txBody>
      </p:sp>
    </p:spTree>
    <p:extLst>
      <p:ext uri="{BB962C8B-B14F-4D97-AF65-F5344CB8AC3E}">
        <p14:creationId xmlns:p14="http://schemas.microsoft.com/office/powerpoint/2010/main" val="3972120174"/>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B043A-7F20-3A17-DE83-8885591057EF}"/>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3BCC82D8-C39F-3E39-A8DB-9D7D7E583220}"/>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602584B1-FA1C-3397-F790-1842898F9191}"/>
              </a:ext>
            </a:extLst>
          </p:cNvPr>
          <p:cNvSpPr txBox="1">
            <a:spLocks/>
          </p:cNvSpPr>
          <p:nvPr/>
        </p:nvSpPr>
        <p:spPr>
          <a:xfrm>
            <a:off x="11257925"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17</a:t>
            </a:r>
          </a:p>
        </p:txBody>
      </p:sp>
      <p:sp>
        <p:nvSpPr>
          <p:cNvPr id="7" name="Title 10">
            <a:extLst>
              <a:ext uri="{FF2B5EF4-FFF2-40B4-BE49-F238E27FC236}">
                <a16:creationId xmlns:a16="http://schemas.microsoft.com/office/drawing/2014/main" id="{72AD1C81-6CF3-798B-08CC-794955B12F62}"/>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BE143DC3-3547-22F2-C005-86AF6672FD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396DE9F-A51E-D4FA-1EE6-F81582059EDC}"/>
              </a:ext>
            </a:extLst>
          </p:cNvPr>
          <p:cNvSpPr txBox="1"/>
          <p:nvPr/>
        </p:nvSpPr>
        <p:spPr>
          <a:xfrm>
            <a:off x="530169" y="870857"/>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4" name="Straight Connector 13">
            <a:extLst>
              <a:ext uri="{FF2B5EF4-FFF2-40B4-BE49-F238E27FC236}">
                <a16:creationId xmlns:a16="http://schemas.microsoft.com/office/drawing/2014/main" id="{0E710841-991C-C133-3929-67E0B268A1BE}"/>
              </a:ext>
            </a:extLst>
          </p:cNvPr>
          <p:cNvCxnSpPr>
            <a:cxnSpLocks/>
          </p:cNvCxnSpPr>
          <p:nvPr/>
        </p:nvCxnSpPr>
        <p:spPr>
          <a:xfrm>
            <a:off x="5501715" y="1497596"/>
            <a:ext cx="5115" cy="4971887"/>
          </a:xfrm>
          <a:prstGeom prst="line">
            <a:avLst/>
          </a:prstGeom>
          <a:ln w="28575"/>
        </p:spPr>
        <p:style>
          <a:lnRef idx="3">
            <a:schemeClr val="dk1"/>
          </a:lnRef>
          <a:fillRef idx="0">
            <a:schemeClr val="dk1"/>
          </a:fillRef>
          <a:effectRef idx="2">
            <a:schemeClr val="dk1"/>
          </a:effectRef>
          <a:fontRef idx="minor">
            <a:schemeClr val="tx1"/>
          </a:fontRef>
        </p:style>
      </p:cxnSp>
      <p:sp>
        <p:nvSpPr>
          <p:cNvPr id="24" name="TextBox 23">
            <a:extLst>
              <a:ext uri="{FF2B5EF4-FFF2-40B4-BE49-F238E27FC236}">
                <a16:creationId xmlns:a16="http://schemas.microsoft.com/office/drawing/2014/main" id="{8BB0CAD8-DB66-1D26-526A-F0BE2D3D05DA}"/>
              </a:ext>
            </a:extLst>
          </p:cNvPr>
          <p:cNvSpPr txBox="1"/>
          <p:nvPr/>
        </p:nvSpPr>
        <p:spPr>
          <a:xfrm>
            <a:off x="5628678" y="1630447"/>
            <a:ext cx="6441473" cy="707886"/>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_deleteProduct(): </a:t>
            </a:r>
            <a:r>
              <a:rPr lang="vi-VN" sz="2000">
                <a:solidFill>
                  <a:schemeClr val="bg1"/>
                </a:solidFill>
                <a:latin typeface="Cambria" panose="02040503050406030204" pitchFamily="18" charset="0"/>
                <a:ea typeface="Cambria" panose="02040503050406030204" pitchFamily="18" charset="0"/>
              </a:rPr>
              <a:t>Xóa product theo id (dùng ! vì id nullable trong model). Sau đó reload danh sách.</a:t>
            </a:r>
            <a:endParaRPr lang="en-US" sz="2000">
              <a:solidFill>
                <a:schemeClr val="bg1"/>
              </a:solidFill>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CE58AB5E-C344-0175-D0FC-3FC3B68B3C2C}"/>
              </a:ext>
            </a:extLst>
          </p:cNvPr>
          <p:cNvSpPr txBox="1"/>
          <p:nvPr/>
        </p:nvSpPr>
        <p:spPr>
          <a:xfrm>
            <a:off x="5794042" y="3562382"/>
            <a:ext cx="5109856" cy="400110"/>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_clearFields(): Xóa nội dung input.</a:t>
            </a:r>
          </a:p>
        </p:txBody>
      </p:sp>
      <p:pic>
        <p:nvPicPr>
          <p:cNvPr id="4" name="Picture 3">
            <a:extLst>
              <a:ext uri="{FF2B5EF4-FFF2-40B4-BE49-F238E27FC236}">
                <a16:creationId xmlns:a16="http://schemas.microsoft.com/office/drawing/2014/main" id="{890335D5-67F0-F099-3E10-34FC01585B83}"/>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710010" y="1726355"/>
            <a:ext cx="4296375" cy="3019846"/>
          </a:xfrm>
          <a:prstGeom prst="rect">
            <a:avLst/>
          </a:prstGeom>
        </p:spPr>
      </p:pic>
    </p:spTree>
    <p:extLst>
      <p:ext uri="{BB962C8B-B14F-4D97-AF65-F5344CB8AC3E}">
        <p14:creationId xmlns:p14="http://schemas.microsoft.com/office/powerpoint/2010/main" val="314862776"/>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26E7B-EDB0-3192-B1A4-E967D74BCD4A}"/>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D1D78592-F49A-7C5E-09EA-CA76E1F921C9}"/>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65F42E59-F1F4-E871-F3ED-824ED1088650}"/>
              </a:ext>
            </a:extLst>
          </p:cNvPr>
          <p:cNvSpPr txBox="1">
            <a:spLocks/>
          </p:cNvSpPr>
          <p:nvPr/>
        </p:nvSpPr>
        <p:spPr>
          <a:xfrm>
            <a:off x="11230629"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18</a:t>
            </a:r>
          </a:p>
        </p:txBody>
      </p:sp>
      <p:sp>
        <p:nvSpPr>
          <p:cNvPr id="7" name="Title 10">
            <a:extLst>
              <a:ext uri="{FF2B5EF4-FFF2-40B4-BE49-F238E27FC236}">
                <a16:creationId xmlns:a16="http://schemas.microsoft.com/office/drawing/2014/main" id="{B6C5661E-D756-3A48-7B1B-C3179490D8E1}"/>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603EC507-06ED-7F35-51E5-5590FA4A01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21906AB-7682-C0BB-78CA-2E26EA8E0082}"/>
              </a:ext>
            </a:extLst>
          </p:cNvPr>
          <p:cNvSpPr txBox="1"/>
          <p:nvPr/>
        </p:nvSpPr>
        <p:spPr>
          <a:xfrm>
            <a:off x="530169" y="870857"/>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4" name="Straight Connector 13">
            <a:extLst>
              <a:ext uri="{FF2B5EF4-FFF2-40B4-BE49-F238E27FC236}">
                <a16:creationId xmlns:a16="http://schemas.microsoft.com/office/drawing/2014/main" id="{48255EA7-41E1-FDBB-D53F-EFC693829DE2}"/>
              </a:ext>
            </a:extLst>
          </p:cNvPr>
          <p:cNvCxnSpPr>
            <a:cxnSpLocks/>
          </p:cNvCxnSpPr>
          <p:nvPr/>
        </p:nvCxnSpPr>
        <p:spPr>
          <a:xfrm>
            <a:off x="5303692" y="1540635"/>
            <a:ext cx="5115" cy="4971887"/>
          </a:xfrm>
          <a:prstGeom prst="line">
            <a:avLst/>
          </a:prstGeom>
          <a:ln w="28575"/>
        </p:spPr>
        <p:style>
          <a:lnRef idx="3">
            <a:schemeClr val="dk1"/>
          </a:lnRef>
          <a:fillRef idx="0">
            <a:schemeClr val="dk1"/>
          </a:fillRef>
          <a:effectRef idx="2">
            <a:schemeClr val="dk1"/>
          </a:effectRef>
          <a:fontRef idx="minor">
            <a:schemeClr val="tx1"/>
          </a:fontRef>
        </p:style>
      </p:cxnSp>
      <p:sp>
        <p:nvSpPr>
          <p:cNvPr id="24" name="TextBox 23">
            <a:extLst>
              <a:ext uri="{FF2B5EF4-FFF2-40B4-BE49-F238E27FC236}">
                <a16:creationId xmlns:a16="http://schemas.microsoft.com/office/drawing/2014/main" id="{45BB4CF7-5701-C837-7469-5148EEDAF765}"/>
              </a:ext>
            </a:extLst>
          </p:cNvPr>
          <p:cNvSpPr txBox="1"/>
          <p:nvPr/>
        </p:nvSpPr>
        <p:spPr>
          <a:xfrm>
            <a:off x="5474117" y="1490008"/>
            <a:ext cx="6677892" cy="1938992"/>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a:t>
            </a:r>
            <a:r>
              <a:rPr lang="vi-VN" sz="2000">
                <a:solidFill>
                  <a:schemeClr val="bg1"/>
                </a:solidFill>
                <a:latin typeface="Cambria" panose="02040503050406030204" pitchFamily="18" charset="0"/>
                <a:ea typeface="Cambria" panose="02040503050406030204" pitchFamily="18" charset="0"/>
              </a:rPr>
              <a:t>Hàm _showForm()</a:t>
            </a:r>
            <a:r>
              <a:rPr lang="en-US" sz="2000">
                <a:solidFill>
                  <a:schemeClr val="bg1"/>
                </a:solidFill>
                <a:latin typeface="Cambria" panose="02040503050406030204" pitchFamily="18" charset="0"/>
                <a:ea typeface="Cambria" panose="02040503050406030204" pitchFamily="18" charset="0"/>
              </a:rPr>
              <a:t>:</a:t>
            </a:r>
            <a:r>
              <a:rPr lang="vi-VN" sz="2000">
                <a:solidFill>
                  <a:schemeClr val="bg1"/>
                </a:solidFill>
                <a:latin typeface="Cambria" panose="02040503050406030204" pitchFamily="18" charset="0"/>
                <a:ea typeface="Cambria" panose="02040503050406030204" pitchFamily="18" charset="0"/>
              </a:rPr>
              <a:t> dùng để hiển thị một hộp thoại cho người dùng nhập hoặc sửa thông tin sản phẩm.</a:t>
            </a:r>
            <a:endParaRPr lang="en-US" sz="2000">
              <a:solidFill>
                <a:schemeClr val="bg1"/>
              </a:solidFill>
              <a:latin typeface="Cambria" panose="02040503050406030204" pitchFamily="18" charset="0"/>
              <a:ea typeface="Cambria" panose="02040503050406030204" pitchFamily="18" charset="0"/>
            </a:endParaRPr>
          </a:p>
          <a:p>
            <a:pPr marL="342900" indent="-342900">
              <a:buFontTx/>
              <a:buChar char="-"/>
            </a:pPr>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rPr>
              <a:t>- Nếu product == null → form rỗng → thêm sản phẩm mới.</a:t>
            </a:r>
          </a:p>
          <a:p>
            <a:r>
              <a:rPr lang="en-US" sz="2000">
                <a:solidFill>
                  <a:schemeClr val="bg1"/>
                </a:solidFill>
                <a:latin typeface="Cambria" panose="02040503050406030204" pitchFamily="18" charset="0"/>
                <a:ea typeface="Cambria" panose="02040503050406030204" pitchFamily="18" charset="0"/>
              </a:rPr>
              <a:t>- Nếu product != null → form điền sẵn thông tin → cập nhật sản phẩm.</a:t>
            </a:r>
          </a:p>
        </p:txBody>
      </p:sp>
      <p:pic>
        <p:nvPicPr>
          <p:cNvPr id="11" name="Picture 10">
            <a:extLst>
              <a:ext uri="{FF2B5EF4-FFF2-40B4-BE49-F238E27FC236}">
                <a16:creationId xmlns:a16="http://schemas.microsoft.com/office/drawing/2014/main" id="{1AE88D5F-3E8D-06A2-9484-19D7A9F40563}"/>
              </a:ext>
            </a:extLst>
          </p:cNvPr>
          <p:cNvPicPr>
            <a:picLocks noChangeAspect="1"/>
          </p:cNvPicPr>
          <p:nvPr/>
        </p:nvPicPr>
        <p:blipFill>
          <a:blip r:embed="rId4"/>
          <a:stretch>
            <a:fillRect/>
          </a:stretch>
        </p:blipFill>
        <p:spPr>
          <a:xfrm>
            <a:off x="173751" y="1584277"/>
            <a:ext cx="4820323" cy="3772426"/>
          </a:xfrm>
          <a:prstGeom prst="rect">
            <a:avLst/>
          </a:prstGeom>
        </p:spPr>
      </p:pic>
    </p:spTree>
    <p:extLst>
      <p:ext uri="{BB962C8B-B14F-4D97-AF65-F5344CB8AC3E}">
        <p14:creationId xmlns:p14="http://schemas.microsoft.com/office/powerpoint/2010/main" val="2700733380"/>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53C67-912B-7D68-81A1-E654DA3469C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6778E48E-8C52-5B2C-DB01-26FA6659053F}"/>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33082CC1-2453-3F60-7B7C-3E6CF8D94827}"/>
              </a:ext>
            </a:extLst>
          </p:cNvPr>
          <p:cNvSpPr txBox="1">
            <a:spLocks/>
          </p:cNvSpPr>
          <p:nvPr/>
        </p:nvSpPr>
        <p:spPr>
          <a:xfrm>
            <a:off x="11230629"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19</a:t>
            </a:r>
          </a:p>
        </p:txBody>
      </p:sp>
      <p:sp>
        <p:nvSpPr>
          <p:cNvPr id="7" name="Title 10">
            <a:extLst>
              <a:ext uri="{FF2B5EF4-FFF2-40B4-BE49-F238E27FC236}">
                <a16:creationId xmlns:a16="http://schemas.microsoft.com/office/drawing/2014/main" id="{1E2E9E62-A674-6099-B8BC-36B1C1E37073}"/>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62F8D6B1-2CAA-CF58-EB0D-B51D9935DE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947613D-E284-B8A4-2DBE-3F45E6691377}"/>
              </a:ext>
            </a:extLst>
          </p:cNvPr>
          <p:cNvSpPr txBox="1"/>
          <p:nvPr/>
        </p:nvSpPr>
        <p:spPr>
          <a:xfrm>
            <a:off x="502660" y="681850"/>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4" name="Straight Connector 13">
            <a:extLst>
              <a:ext uri="{FF2B5EF4-FFF2-40B4-BE49-F238E27FC236}">
                <a16:creationId xmlns:a16="http://schemas.microsoft.com/office/drawing/2014/main" id="{9CB73A0B-5D37-FB78-25FF-62A0C7069F11}"/>
              </a:ext>
            </a:extLst>
          </p:cNvPr>
          <p:cNvCxnSpPr>
            <a:cxnSpLocks/>
          </p:cNvCxnSpPr>
          <p:nvPr/>
        </p:nvCxnSpPr>
        <p:spPr>
          <a:xfrm>
            <a:off x="6414728" y="1162621"/>
            <a:ext cx="0" cy="5359104"/>
          </a:xfrm>
          <a:prstGeom prst="line">
            <a:avLst/>
          </a:prstGeom>
          <a:ln w="28575"/>
        </p:spPr>
        <p:style>
          <a:lnRef idx="3">
            <a:schemeClr val="dk1"/>
          </a:lnRef>
          <a:fillRef idx="0">
            <a:schemeClr val="dk1"/>
          </a:fillRef>
          <a:effectRef idx="2">
            <a:schemeClr val="dk1"/>
          </a:effectRef>
          <a:fontRef idx="minor">
            <a:schemeClr val="tx1"/>
          </a:fontRef>
        </p:style>
      </p:cxnSp>
      <p:sp>
        <p:nvSpPr>
          <p:cNvPr id="24" name="TextBox 23">
            <a:extLst>
              <a:ext uri="{FF2B5EF4-FFF2-40B4-BE49-F238E27FC236}">
                <a16:creationId xmlns:a16="http://schemas.microsoft.com/office/drawing/2014/main" id="{29D3F63D-1A51-C171-6815-2BBB1CD8883F}"/>
              </a:ext>
            </a:extLst>
          </p:cNvPr>
          <p:cNvSpPr txBox="1"/>
          <p:nvPr/>
        </p:nvSpPr>
        <p:spPr>
          <a:xfrm>
            <a:off x="6612206" y="1162621"/>
            <a:ext cx="5416577" cy="2246769"/>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showDialog() là hàm Flutter hiển thị một</a:t>
            </a:r>
          </a:p>
          <a:p>
            <a:r>
              <a:rPr lang="en-US" sz="2000">
                <a:solidFill>
                  <a:schemeClr val="bg1"/>
                </a:solidFill>
                <a:latin typeface="Cambria" panose="02040503050406030204" pitchFamily="18" charset="0"/>
                <a:ea typeface="Cambria" panose="02040503050406030204" pitchFamily="18" charset="0"/>
              </a:rPr>
              <a:t>hộp thoại nằm trên giao diện hiện tại.</a:t>
            </a:r>
          </a:p>
          <a:p>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rPr>
              <a:t>- AlertDialog là kiểu hộp thoại có:</a:t>
            </a:r>
          </a:p>
          <a:p>
            <a:pPr marL="800100" lvl="1" indent="-342900">
              <a:buFont typeface="Arial" panose="020B0604020202020204" pitchFamily="34" charset="0"/>
              <a:buChar char="•"/>
            </a:pPr>
            <a:r>
              <a:rPr lang="en-US" sz="2000">
                <a:solidFill>
                  <a:schemeClr val="bg1"/>
                </a:solidFill>
                <a:latin typeface="Cambria" panose="02040503050406030204" pitchFamily="18" charset="0"/>
                <a:ea typeface="Cambria" panose="02040503050406030204" pitchFamily="18" charset="0"/>
              </a:rPr>
              <a:t>Tiêu đề (title)</a:t>
            </a:r>
          </a:p>
          <a:p>
            <a:pPr marL="800100" lvl="1" indent="-342900">
              <a:buFont typeface="Arial" panose="020B0604020202020204" pitchFamily="34" charset="0"/>
              <a:buChar char="•"/>
            </a:pPr>
            <a:r>
              <a:rPr lang="en-US" sz="2000">
                <a:solidFill>
                  <a:schemeClr val="bg1"/>
                </a:solidFill>
                <a:latin typeface="Cambria" panose="02040503050406030204" pitchFamily="18" charset="0"/>
                <a:ea typeface="Cambria" panose="02040503050406030204" pitchFamily="18" charset="0"/>
              </a:rPr>
              <a:t>Nội dung (content)</a:t>
            </a:r>
          </a:p>
          <a:p>
            <a:pPr marL="800100" lvl="1" indent="-342900">
              <a:buFont typeface="Arial" panose="020B0604020202020204" pitchFamily="34" charset="0"/>
              <a:buChar char="•"/>
            </a:pPr>
            <a:r>
              <a:rPr lang="en-US" sz="2000">
                <a:solidFill>
                  <a:schemeClr val="bg1"/>
                </a:solidFill>
                <a:latin typeface="Cambria" panose="02040503050406030204" pitchFamily="18" charset="0"/>
                <a:ea typeface="Cambria" panose="02040503050406030204" pitchFamily="18" charset="0"/>
              </a:rPr>
              <a:t>Các nút hành động (actions)</a:t>
            </a:r>
          </a:p>
        </p:txBody>
      </p:sp>
      <p:pic>
        <p:nvPicPr>
          <p:cNvPr id="4" name="Picture 3">
            <a:extLst>
              <a:ext uri="{FF2B5EF4-FFF2-40B4-BE49-F238E27FC236}">
                <a16:creationId xmlns:a16="http://schemas.microsoft.com/office/drawing/2014/main" id="{831E0855-DAC1-9977-BEC9-D313022029E7}"/>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406190" y="1162621"/>
            <a:ext cx="5811061" cy="5420481"/>
          </a:xfrm>
          <a:prstGeom prst="rect">
            <a:avLst/>
          </a:prstGeom>
        </p:spPr>
      </p:pic>
    </p:spTree>
    <p:extLst>
      <p:ext uri="{BB962C8B-B14F-4D97-AF65-F5344CB8AC3E}">
        <p14:creationId xmlns:p14="http://schemas.microsoft.com/office/powerpoint/2010/main" val="469085936"/>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412C9-B713-06E8-ABA7-1FBA8BF11E4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B2952EC-21F3-907D-C782-B2AFA798B0B7}"/>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02075131-DC41-C007-7DA9-8420879B976E}"/>
              </a:ext>
            </a:extLst>
          </p:cNvPr>
          <p:cNvSpPr txBox="1">
            <a:spLocks/>
          </p:cNvSpPr>
          <p:nvPr/>
        </p:nvSpPr>
        <p:spPr>
          <a:xfrm>
            <a:off x="11257925"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20</a:t>
            </a:r>
          </a:p>
        </p:txBody>
      </p:sp>
      <p:sp>
        <p:nvSpPr>
          <p:cNvPr id="7" name="Title 10">
            <a:extLst>
              <a:ext uri="{FF2B5EF4-FFF2-40B4-BE49-F238E27FC236}">
                <a16:creationId xmlns:a16="http://schemas.microsoft.com/office/drawing/2014/main" id="{1A4153D4-92BD-778B-D4CC-496247076A29}"/>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889203E4-C419-8C25-2DF1-C88F69B991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A36295E-1D24-D657-E71B-022C0D4BE0C3}"/>
              </a:ext>
            </a:extLst>
          </p:cNvPr>
          <p:cNvSpPr txBox="1"/>
          <p:nvPr/>
        </p:nvSpPr>
        <p:spPr>
          <a:xfrm>
            <a:off x="502660" y="681850"/>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4" name="Straight Connector 13">
            <a:extLst>
              <a:ext uri="{FF2B5EF4-FFF2-40B4-BE49-F238E27FC236}">
                <a16:creationId xmlns:a16="http://schemas.microsoft.com/office/drawing/2014/main" id="{6C5004F7-B89E-86EA-14CF-ABD69F2068E0}"/>
              </a:ext>
            </a:extLst>
          </p:cNvPr>
          <p:cNvCxnSpPr>
            <a:cxnSpLocks/>
          </p:cNvCxnSpPr>
          <p:nvPr/>
        </p:nvCxnSpPr>
        <p:spPr>
          <a:xfrm>
            <a:off x="6096000" y="1081960"/>
            <a:ext cx="0" cy="4325612"/>
          </a:xfrm>
          <a:prstGeom prst="line">
            <a:avLst/>
          </a:prstGeom>
          <a:ln w="28575"/>
        </p:spPr>
        <p:style>
          <a:lnRef idx="3">
            <a:schemeClr val="dk1"/>
          </a:lnRef>
          <a:fillRef idx="0">
            <a:schemeClr val="dk1"/>
          </a:fillRef>
          <a:effectRef idx="2">
            <a:schemeClr val="dk1"/>
          </a:effectRef>
          <a:fontRef idx="minor">
            <a:schemeClr val="tx1"/>
          </a:fontRef>
        </p:style>
      </p:cxnSp>
      <p:sp>
        <p:nvSpPr>
          <p:cNvPr id="24" name="TextBox 23">
            <a:extLst>
              <a:ext uri="{FF2B5EF4-FFF2-40B4-BE49-F238E27FC236}">
                <a16:creationId xmlns:a16="http://schemas.microsoft.com/office/drawing/2014/main" id="{FE11523D-A65F-9FDA-954D-6B8F7EF0AC78}"/>
              </a:ext>
            </a:extLst>
          </p:cNvPr>
          <p:cNvSpPr txBox="1"/>
          <p:nvPr/>
        </p:nvSpPr>
        <p:spPr>
          <a:xfrm>
            <a:off x="6414204" y="1182231"/>
            <a:ext cx="5614883" cy="2246769"/>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showDialog() là hàm Flutter hiển thị một hộp thoại nằm trên giao diện hiện tại.</a:t>
            </a:r>
          </a:p>
          <a:p>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rPr>
              <a:t>- AlertDialog là kiểu hộp thoại có:</a:t>
            </a:r>
          </a:p>
          <a:p>
            <a:pPr marL="800100" lvl="1" indent="-342900">
              <a:buFont typeface="Arial" panose="020B0604020202020204" pitchFamily="34" charset="0"/>
              <a:buChar char="•"/>
            </a:pPr>
            <a:r>
              <a:rPr lang="en-US" sz="2000">
                <a:solidFill>
                  <a:schemeClr val="bg1"/>
                </a:solidFill>
                <a:latin typeface="Cambria" panose="02040503050406030204" pitchFamily="18" charset="0"/>
                <a:ea typeface="Cambria" panose="02040503050406030204" pitchFamily="18" charset="0"/>
              </a:rPr>
              <a:t>Tiêu đề (title)</a:t>
            </a:r>
          </a:p>
          <a:p>
            <a:pPr marL="800100" lvl="1" indent="-342900">
              <a:buFont typeface="Arial" panose="020B0604020202020204" pitchFamily="34" charset="0"/>
              <a:buChar char="•"/>
            </a:pPr>
            <a:r>
              <a:rPr lang="en-US" sz="2000">
                <a:solidFill>
                  <a:schemeClr val="bg1"/>
                </a:solidFill>
                <a:latin typeface="Cambria" panose="02040503050406030204" pitchFamily="18" charset="0"/>
                <a:ea typeface="Cambria" panose="02040503050406030204" pitchFamily="18" charset="0"/>
              </a:rPr>
              <a:t>Nội dung (content)</a:t>
            </a:r>
          </a:p>
          <a:p>
            <a:pPr marL="800100" lvl="1" indent="-342900">
              <a:buFont typeface="Arial" panose="020B0604020202020204" pitchFamily="34" charset="0"/>
              <a:buChar char="•"/>
            </a:pPr>
            <a:r>
              <a:rPr lang="en-US" sz="2000">
                <a:solidFill>
                  <a:schemeClr val="bg1"/>
                </a:solidFill>
                <a:latin typeface="Cambria" panose="02040503050406030204" pitchFamily="18" charset="0"/>
                <a:ea typeface="Cambria" panose="02040503050406030204" pitchFamily="18" charset="0"/>
              </a:rPr>
              <a:t>Các nút hành động (actions)</a:t>
            </a:r>
          </a:p>
        </p:txBody>
      </p:sp>
      <p:pic>
        <p:nvPicPr>
          <p:cNvPr id="16" name="Picture 15">
            <a:extLst>
              <a:ext uri="{FF2B5EF4-FFF2-40B4-BE49-F238E27FC236}">
                <a16:creationId xmlns:a16="http://schemas.microsoft.com/office/drawing/2014/main" id="{D1B4C096-E334-35B9-6D10-E39E671B5080}"/>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l="4527"/>
          <a:stretch>
            <a:fillRect/>
          </a:stretch>
        </p:blipFill>
        <p:spPr>
          <a:xfrm>
            <a:off x="638628" y="1260727"/>
            <a:ext cx="5139168" cy="3954739"/>
          </a:xfrm>
          <a:prstGeom prst="rect">
            <a:avLst/>
          </a:prstGeom>
        </p:spPr>
      </p:pic>
    </p:spTree>
    <p:extLst>
      <p:ext uri="{BB962C8B-B14F-4D97-AF65-F5344CB8AC3E}">
        <p14:creationId xmlns:p14="http://schemas.microsoft.com/office/powerpoint/2010/main" val="4278124271"/>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0ECAD-C52B-B128-90F2-32C7E5A1BCB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5212FF1-BC3E-96DA-3A4C-CA6F42FCBE77}"/>
              </a:ext>
            </a:extLst>
          </p:cNvPr>
          <p:cNvSpPr/>
          <p:nvPr/>
        </p:nvSpPr>
        <p:spPr>
          <a:xfrm>
            <a:off x="0" y="2127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49923D86-B945-ED7A-6DF3-D554A5269A24}"/>
              </a:ext>
            </a:extLst>
          </p:cNvPr>
          <p:cNvSpPr txBox="1">
            <a:spLocks/>
          </p:cNvSpPr>
          <p:nvPr/>
        </p:nvSpPr>
        <p:spPr>
          <a:xfrm>
            <a:off x="11216981"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21</a:t>
            </a:r>
          </a:p>
        </p:txBody>
      </p:sp>
      <p:sp>
        <p:nvSpPr>
          <p:cNvPr id="7" name="Title 10">
            <a:extLst>
              <a:ext uri="{FF2B5EF4-FFF2-40B4-BE49-F238E27FC236}">
                <a16:creationId xmlns:a16="http://schemas.microsoft.com/office/drawing/2014/main" id="{33744379-497F-2B87-B07A-387B2B607FE4}"/>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6C62EC43-ED9A-18C2-1867-C5AAE77C35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EC46E87-E1ED-9062-C4E6-300AD17B5FA2}"/>
              </a:ext>
            </a:extLst>
          </p:cNvPr>
          <p:cNvSpPr txBox="1"/>
          <p:nvPr/>
        </p:nvSpPr>
        <p:spPr>
          <a:xfrm>
            <a:off x="502660" y="681850"/>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4" name="Straight Connector 13">
            <a:extLst>
              <a:ext uri="{FF2B5EF4-FFF2-40B4-BE49-F238E27FC236}">
                <a16:creationId xmlns:a16="http://schemas.microsoft.com/office/drawing/2014/main" id="{91173529-FFB7-10A5-1533-7E5E541C9A9B}"/>
              </a:ext>
            </a:extLst>
          </p:cNvPr>
          <p:cNvCxnSpPr>
            <a:cxnSpLocks/>
          </p:cNvCxnSpPr>
          <p:nvPr/>
        </p:nvCxnSpPr>
        <p:spPr>
          <a:xfrm>
            <a:off x="5629540" y="1081960"/>
            <a:ext cx="0" cy="5305416"/>
          </a:xfrm>
          <a:prstGeom prst="line">
            <a:avLst/>
          </a:prstGeom>
          <a:ln w="28575"/>
        </p:spPr>
        <p:style>
          <a:lnRef idx="3">
            <a:schemeClr val="dk1"/>
          </a:lnRef>
          <a:fillRef idx="0">
            <a:schemeClr val="dk1"/>
          </a:fillRef>
          <a:effectRef idx="2">
            <a:schemeClr val="dk1"/>
          </a:effectRef>
          <a:fontRef idx="minor">
            <a:schemeClr val="tx1"/>
          </a:fontRef>
        </p:style>
      </p:cxnSp>
      <p:pic>
        <p:nvPicPr>
          <p:cNvPr id="25" name="Picture 24">
            <a:extLst>
              <a:ext uri="{FF2B5EF4-FFF2-40B4-BE49-F238E27FC236}">
                <a16:creationId xmlns:a16="http://schemas.microsoft.com/office/drawing/2014/main" id="{ADF5410C-A621-810A-DD79-869D5A216E28}"/>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502660" y="1216309"/>
            <a:ext cx="4884248" cy="3441396"/>
          </a:xfrm>
          <a:prstGeom prst="rect">
            <a:avLst/>
          </a:prstGeom>
        </p:spPr>
      </p:pic>
      <p:pic>
        <p:nvPicPr>
          <p:cNvPr id="27" name="Picture 26">
            <a:extLst>
              <a:ext uri="{FF2B5EF4-FFF2-40B4-BE49-F238E27FC236}">
                <a16:creationId xmlns:a16="http://schemas.microsoft.com/office/drawing/2014/main" id="{6A11C92D-0C8A-0FCA-6921-551AEDAD25DC}"/>
              </a:ext>
            </a:extLst>
          </p:cNvPr>
          <p:cNvPicPr>
            <a:picLocks noChangeAspect="1"/>
          </p:cNvPicPr>
          <p:nvPr/>
        </p:nvPicPr>
        <p:blipFill>
          <a:blip r:embed="rId6"/>
          <a:stretch>
            <a:fillRect/>
          </a:stretch>
        </p:blipFill>
        <p:spPr>
          <a:xfrm>
            <a:off x="6335383" y="3981131"/>
            <a:ext cx="5039166" cy="2406245"/>
          </a:xfrm>
          <a:prstGeom prst="rect">
            <a:avLst/>
          </a:prstGeom>
          <a:ln>
            <a:noFill/>
          </a:ln>
          <a:effectLst>
            <a:outerShdw blurRad="292100" dist="139700" dir="2700000" algn="tl" rotWithShape="0">
              <a:srgbClr val="333333">
                <a:alpha val="65000"/>
              </a:srgbClr>
            </a:outerShdw>
          </a:effectLst>
        </p:spPr>
      </p:pic>
      <p:pic>
        <p:nvPicPr>
          <p:cNvPr id="29" name="Picture 28">
            <a:extLst>
              <a:ext uri="{FF2B5EF4-FFF2-40B4-BE49-F238E27FC236}">
                <a16:creationId xmlns:a16="http://schemas.microsoft.com/office/drawing/2014/main" id="{2699BB5D-2B7A-F092-90B6-8E524FFA997D}"/>
              </a:ext>
            </a:extLst>
          </p:cNvPr>
          <p:cNvPicPr>
            <a:picLocks noChangeAspect="1"/>
          </p:cNvPicPr>
          <p:nvPr/>
        </p:nvPicPr>
        <p:blipFill>
          <a:blip r:embed="rId7"/>
          <a:stretch>
            <a:fillRect/>
          </a:stretch>
        </p:blipFill>
        <p:spPr>
          <a:xfrm>
            <a:off x="6335382" y="1216309"/>
            <a:ext cx="5039166" cy="242323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3325851"/>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C3CD5-F676-3304-793B-EFADD1814596}"/>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AF35455-5101-CC4E-ED12-51A29136AF5E}"/>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43082CDC-EA69-F86E-3C37-A318597436B2}"/>
              </a:ext>
            </a:extLst>
          </p:cNvPr>
          <p:cNvSpPr txBox="1">
            <a:spLocks/>
          </p:cNvSpPr>
          <p:nvPr/>
        </p:nvSpPr>
        <p:spPr>
          <a:xfrm>
            <a:off x="11230629"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22</a:t>
            </a:r>
          </a:p>
        </p:txBody>
      </p:sp>
      <p:sp>
        <p:nvSpPr>
          <p:cNvPr id="7" name="Title 10">
            <a:extLst>
              <a:ext uri="{FF2B5EF4-FFF2-40B4-BE49-F238E27FC236}">
                <a16:creationId xmlns:a16="http://schemas.microsoft.com/office/drawing/2014/main" id="{789CBBFC-0D88-DD4D-E689-3B8485BDF0D7}"/>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41E3FA6B-42C1-F80C-00F0-C0BC42C82F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36C61C3-E677-F315-4447-794D2980CE75}"/>
              </a:ext>
            </a:extLst>
          </p:cNvPr>
          <p:cNvSpPr txBox="1"/>
          <p:nvPr/>
        </p:nvSpPr>
        <p:spPr>
          <a:xfrm>
            <a:off x="502660" y="681850"/>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pic>
        <p:nvPicPr>
          <p:cNvPr id="4" name="Picture 3">
            <a:extLst>
              <a:ext uri="{FF2B5EF4-FFF2-40B4-BE49-F238E27FC236}">
                <a16:creationId xmlns:a16="http://schemas.microsoft.com/office/drawing/2014/main" id="{30B103F5-A719-5C8E-B87C-4901D5394747}"/>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r="2164"/>
          <a:stretch>
            <a:fillRect/>
          </a:stretch>
        </p:blipFill>
        <p:spPr>
          <a:xfrm>
            <a:off x="502660" y="1060511"/>
            <a:ext cx="6179265" cy="5115639"/>
          </a:xfrm>
          <a:prstGeom prst="rect">
            <a:avLst/>
          </a:prstGeom>
        </p:spPr>
      </p:pic>
      <p:pic>
        <p:nvPicPr>
          <p:cNvPr id="12" name="Picture 11">
            <a:extLst>
              <a:ext uri="{FF2B5EF4-FFF2-40B4-BE49-F238E27FC236}">
                <a16:creationId xmlns:a16="http://schemas.microsoft.com/office/drawing/2014/main" id="{33B28EDF-603A-C65F-0E6E-7A00F576FC0F}"/>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7002653" y="1162621"/>
            <a:ext cx="5073433" cy="4338527"/>
          </a:xfrm>
          <a:prstGeom prst="rect">
            <a:avLst/>
          </a:prstGeom>
          <a:ln>
            <a:noFill/>
          </a:ln>
          <a:effectLst>
            <a:outerShdw blurRad="190500" algn="tl" rotWithShape="0">
              <a:srgbClr val="000000">
                <a:alpha val="70000"/>
              </a:srgbClr>
            </a:outerShdw>
          </a:effectLst>
        </p:spPr>
      </p:pic>
      <p:cxnSp>
        <p:nvCxnSpPr>
          <p:cNvPr id="14" name="Straight Connector 13">
            <a:extLst>
              <a:ext uri="{FF2B5EF4-FFF2-40B4-BE49-F238E27FC236}">
                <a16:creationId xmlns:a16="http://schemas.microsoft.com/office/drawing/2014/main" id="{251ACCAD-5216-F1F6-4BDE-C0DE38C9F130}"/>
              </a:ext>
            </a:extLst>
          </p:cNvPr>
          <p:cNvCxnSpPr>
            <a:cxnSpLocks/>
          </p:cNvCxnSpPr>
          <p:nvPr/>
        </p:nvCxnSpPr>
        <p:spPr>
          <a:xfrm>
            <a:off x="6787697" y="962994"/>
            <a:ext cx="0" cy="5310672"/>
          </a:xfrm>
          <a:prstGeom prst="line">
            <a:avLst/>
          </a:prstGeom>
          <a:ln w="28575"/>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543397033"/>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5B8AD-1365-B7AA-9E5C-50166867121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3561FD36-9BC5-C839-B977-C435CB3A4E2C}"/>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A96E0EA6-DB9E-B587-2AC1-CFEE8A7B7825}"/>
              </a:ext>
            </a:extLst>
          </p:cNvPr>
          <p:cNvSpPr txBox="1">
            <a:spLocks/>
          </p:cNvSpPr>
          <p:nvPr/>
        </p:nvSpPr>
        <p:spPr>
          <a:xfrm>
            <a:off x="11230629"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23</a:t>
            </a:r>
          </a:p>
        </p:txBody>
      </p:sp>
      <p:sp>
        <p:nvSpPr>
          <p:cNvPr id="7" name="Title 10">
            <a:extLst>
              <a:ext uri="{FF2B5EF4-FFF2-40B4-BE49-F238E27FC236}">
                <a16:creationId xmlns:a16="http://schemas.microsoft.com/office/drawing/2014/main" id="{64CBF772-844B-2D9A-883C-E6DD83401CB4}"/>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D7B6DA22-4F98-99BB-9D1F-A4D8B8F8B8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EE26004-BC44-BF85-B3F1-BD60B2EE36AD}"/>
              </a:ext>
            </a:extLst>
          </p:cNvPr>
          <p:cNvSpPr txBox="1"/>
          <p:nvPr/>
        </p:nvSpPr>
        <p:spPr>
          <a:xfrm>
            <a:off x="502660" y="681850"/>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4" name="Straight Connector 13">
            <a:extLst>
              <a:ext uri="{FF2B5EF4-FFF2-40B4-BE49-F238E27FC236}">
                <a16:creationId xmlns:a16="http://schemas.microsoft.com/office/drawing/2014/main" id="{E22F82D3-0D0E-D768-D13A-16C26B7C5AA0}"/>
              </a:ext>
            </a:extLst>
          </p:cNvPr>
          <p:cNvCxnSpPr>
            <a:cxnSpLocks/>
          </p:cNvCxnSpPr>
          <p:nvPr/>
        </p:nvCxnSpPr>
        <p:spPr>
          <a:xfrm>
            <a:off x="6842289" y="962994"/>
            <a:ext cx="0" cy="5452935"/>
          </a:xfrm>
          <a:prstGeom prst="line">
            <a:avLst/>
          </a:prstGeom>
          <a:ln w="28575"/>
        </p:spPr>
        <p:style>
          <a:lnRef idx="3">
            <a:schemeClr val="dk1"/>
          </a:lnRef>
          <a:fillRef idx="0">
            <a:schemeClr val="dk1"/>
          </a:fillRef>
          <a:effectRef idx="2">
            <a:schemeClr val="dk1"/>
          </a:effectRef>
          <a:fontRef idx="minor">
            <a:schemeClr val="tx1"/>
          </a:fontRef>
        </p:style>
      </p:cxnSp>
      <p:pic>
        <p:nvPicPr>
          <p:cNvPr id="4" name="Picture 3">
            <a:extLst>
              <a:ext uri="{FF2B5EF4-FFF2-40B4-BE49-F238E27FC236}">
                <a16:creationId xmlns:a16="http://schemas.microsoft.com/office/drawing/2014/main" id="{4BDD099F-ABD5-E751-09D8-2CF968C06330}"/>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r="2164"/>
          <a:stretch>
            <a:fillRect/>
          </a:stretch>
        </p:blipFill>
        <p:spPr>
          <a:xfrm>
            <a:off x="502660" y="1060511"/>
            <a:ext cx="6179265" cy="5115639"/>
          </a:xfrm>
          <a:prstGeom prst="rect">
            <a:avLst/>
          </a:prstGeom>
        </p:spPr>
      </p:pic>
      <p:pic>
        <p:nvPicPr>
          <p:cNvPr id="5" name="Picture 4">
            <a:extLst>
              <a:ext uri="{FF2B5EF4-FFF2-40B4-BE49-F238E27FC236}">
                <a16:creationId xmlns:a16="http://schemas.microsoft.com/office/drawing/2014/main" id="{8195D56B-23C1-6938-6183-9F36AE748265}"/>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rcRect b="5927"/>
          <a:stretch>
            <a:fillRect/>
          </a:stretch>
        </p:blipFill>
        <p:spPr>
          <a:xfrm>
            <a:off x="7039832" y="1066525"/>
            <a:ext cx="4856498" cy="2410656"/>
          </a:xfrm>
          <a:prstGeom prst="rect">
            <a:avLst/>
          </a:prstGeom>
        </p:spPr>
      </p:pic>
      <p:pic>
        <p:nvPicPr>
          <p:cNvPr id="11" name="Picture 10">
            <a:extLst>
              <a:ext uri="{FF2B5EF4-FFF2-40B4-BE49-F238E27FC236}">
                <a16:creationId xmlns:a16="http://schemas.microsoft.com/office/drawing/2014/main" id="{595DD7A6-56A5-D4F9-EAE8-59233E510439}"/>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7039839" y="3582976"/>
            <a:ext cx="4856491" cy="283295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485729271"/>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36624-8B37-C72C-D7F5-73C5788DCF13}"/>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629CAF21-3EE1-83D9-7536-12E46947D9C8}"/>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A6AC1601-AA70-F903-BFE7-9E7CF49A884D}"/>
              </a:ext>
            </a:extLst>
          </p:cNvPr>
          <p:cNvSpPr txBox="1">
            <a:spLocks/>
          </p:cNvSpPr>
          <p:nvPr/>
        </p:nvSpPr>
        <p:spPr>
          <a:xfrm>
            <a:off x="11244277"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24</a:t>
            </a:r>
          </a:p>
        </p:txBody>
      </p:sp>
      <p:sp>
        <p:nvSpPr>
          <p:cNvPr id="7" name="Title 10">
            <a:extLst>
              <a:ext uri="{FF2B5EF4-FFF2-40B4-BE49-F238E27FC236}">
                <a16:creationId xmlns:a16="http://schemas.microsoft.com/office/drawing/2014/main" id="{324F285D-E235-42A9-3789-C0009AEF647C}"/>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6E7E81FE-5FBF-7A5C-D5DC-B0E550BD97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9FE7955-29CE-985E-9868-EEFE67226EA1}"/>
              </a:ext>
            </a:extLst>
          </p:cNvPr>
          <p:cNvSpPr txBox="1"/>
          <p:nvPr/>
        </p:nvSpPr>
        <p:spPr>
          <a:xfrm>
            <a:off x="502660" y="681850"/>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pic>
        <p:nvPicPr>
          <p:cNvPr id="4" name="Picture 3">
            <a:extLst>
              <a:ext uri="{FF2B5EF4-FFF2-40B4-BE49-F238E27FC236}">
                <a16:creationId xmlns:a16="http://schemas.microsoft.com/office/drawing/2014/main" id="{9CAC7ABE-6532-571B-0F13-9790A7F6FDF5}"/>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r="2164"/>
          <a:stretch>
            <a:fillRect/>
          </a:stretch>
        </p:blipFill>
        <p:spPr>
          <a:xfrm>
            <a:off x="502660" y="1060511"/>
            <a:ext cx="6179265" cy="5115639"/>
          </a:xfrm>
          <a:prstGeom prst="rect">
            <a:avLst/>
          </a:prstGeom>
        </p:spPr>
      </p:pic>
      <p:pic>
        <p:nvPicPr>
          <p:cNvPr id="10" name="Picture 9">
            <a:extLst>
              <a:ext uri="{FF2B5EF4-FFF2-40B4-BE49-F238E27FC236}">
                <a16:creationId xmlns:a16="http://schemas.microsoft.com/office/drawing/2014/main" id="{EAC63192-577A-4FE7-75E3-0214D507502F}"/>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6974509" y="979687"/>
            <a:ext cx="5002003" cy="2391003"/>
          </a:xfrm>
          <a:prstGeom prst="rect">
            <a:avLst/>
          </a:prstGeom>
        </p:spPr>
      </p:pic>
      <p:pic>
        <p:nvPicPr>
          <p:cNvPr id="13" name="Picture 12">
            <a:extLst>
              <a:ext uri="{FF2B5EF4-FFF2-40B4-BE49-F238E27FC236}">
                <a16:creationId xmlns:a16="http://schemas.microsoft.com/office/drawing/2014/main" id="{342396B0-A7DC-A462-60B3-36395C509307}"/>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rcRect b="4025"/>
          <a:stretch>
            <a:fillRect/>
          </a:stretch>
        </p:blipFill>
        <p:spPr>
          <a:xfrm>
            <a:off x="6974508" y="3487311"/>
            <a:ext cx="5002001" cy="2372616"/>
          </a:xfrm>
          <a:prstGeom prst="rect">
            <a:avLst/>
          </a:prstGeom>
          <a:ln>
            <a:noFill/>
          </a:ln>
          <a:effectLst>
            <a:outerShdw blurRad="190500" algn="tl" rotWithShape="0">
              <a:srgbClr val="000000">
                <a:alpha val="70000"/>
              </a:srgbClr>
            </a:outerShdw>
          </a:effectLst>
        </p:spPr>
      </p:pic>
      <p:cxnSp>
        <p:nvCxnSpPr>
          <p:cNvPr id="14" name="Straight Connector 13">
            <a:extLst>
              <a:ext uri="{FF2B5EF4-FFF2-40B4-BE49-F238E27FC236}">
                <a16:creationId xmlns:a16="http://schemas.microsoft.com/office/drawing/2014/main" id="{B38F0CEA-B1BA-B72A-5C5F-33A6BF6D30D0}"/>
              </a:ext>
            </a:extLst>
          </p:cNvPr>
          <p:cNvCxnSpPr>
            <a:cxnSpLocks/>
          </p:cNvCxnSpPr>
          <p:nvPr/>
        </p:nvCxnSpPr>
        <p:spPr>
          <a:xfrm>
            <a:off x="6774049" y="962994"/>
            <a:ext cx="0" cy="5310672"/>
          </a:xfrm>
          <a:prstGeom prst="line">
            <a:avLst/>
          </a:prstGeom>
          <a:ln w="28575"/>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639435503"/>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97BA2-DD30-6588-5255-E3CDD533285D}"/>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E532248-A146-DEFF-57B8-1C962C48D0C0}"/>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Title 1">
            <a:extLst>
              <a:ext uri="{FF2B5EF4-FFF2-40B4-BE49-F238E27FC236}">
                <a16:creationId xmlns:a16="http://schemas.microsoft.com/office/drawing/2014/main" id="{EECBCF38-A6D9-C9F9-6B10-EB2C23D762FD}"/>
              </a:ext>
            </a:extLst>
          </p:cNvPr>
          <p:cNvSpPr txBox="1">
            <a:spLocks/>
          </p:cNvSpPr>
          <p:nvPr/>
        </p:nvSpPr>
        <p:spPr>
          <a:xfrm>
            <a:off x="1618497" y="985249"/>
            <a:ext cx="7778496" cy="1879261"/>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endParaRPr lang="vi-VN" sz="4400" b="1">
              <a:solidFill>
                <a:srgbClr val="FF0000"/>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9495E4EA-7393-A920-564A-9C1948A5A527}"/>
              </a:ext>
            </a:extLst>
          </p:cNvPr>
          <p:cNvSpPr txBox="1">
            <a:spLocks/>
          </p:cNvSpPr>
          <p:nvPr/>
        </p:nvSpPr>
        <p:spPr>
          <a:xfrm>
            <a:off x="1492778" y="1126475"/>
            <a:ext cx="9312407" cy="1637808"/>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Đề</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a:t>
            </a: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tài</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SQLite và Drift – Quản lý cơ sở dữ liệu quan hệ</a:t>
            </a:r>
            <a:endParaRPr lang="vi-VN"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3" name="Date Placeholder 3">
            <a:extLst>
              <a:ext uri="{FF2B5EF4-FFF2-40B4-BE49-F238E27FC236}">
                <a16:creationId xmlns:a16="http://schemas.microsoft.com/office/drawing/2014/main" id="{4C3F6888-7845-FC1F-6EFC-BB5DBB12B315}"/>
              </a:ext>
            </a:extLst>
          </p:cNvPr>
          <p:cNvSpPr txBox="1">
            <a:spLocks/>
          </p:cNvSpPr>
          <p:nvPr/>
        </p:nvSpPr>
        <p:spPr>
          <a:xfrm>
            <a:off x="11215249" y="65548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25</a:t>
            </a:r>
          </a:p>
        </p:txBody>
      </p:sp>
      <p:sp>
        <p:nvSpPr>
          <p:cNvPr id="12" name="Content Placeholder 2">
            <a:extLst>
              <a:ext uri="{FF2B5EF4-FFF2-40B4-BE49-F238E27FC236}">
                <a16:creationId xmlns:a16="http://schemas.microsoft.com/office/drawing/2014/main" id="{73832615-2955-0AB4-6EC8-D47D3C2779D2}"/>
              </a:ext>
            </a:extLst>
          </p:cNvPr>
          <p:cNvSpPr txBox="1">
            <a:spLocks/>
          </p:cNvSpPr>
          <p:nvPr/>
        </p:nvSpPr>
        <p:spPr>
          <a:xfrm>
            <a:off x="756830" y="2084724"/>
            <a:ext cx="10784301" cy="4370807"/>
          </a:xfrm>
          <a:prstGeom prst="rect">
            <a:avLst/>
          </a:prstGeom>
        </p:spPr>
        <p:txBody>
          <a:bodyPr/>
          <a:lst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800" b="1">
              <a:solidFill>
                <a:srgbClr val="616163"/>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 </a:t>
            </a:r>
            <a:r>
              <a:rPr lang="en-US" sz="2400" b="1" err="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Giới</a:t>
            </a: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thiệu tổng quan </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 Ứng dụng quản lý danh sách sản phẩm với SQLite</a:t>
            </a:r>
          </a:p>
          <a:p>
            <a:pPr marL="0" indent="0">
              <a:buNone/>
            </a:pP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 Migrate sang Drift và so sánh ưu nhược điểm</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Perfomance testing và optimization</a:t>
            </a:r>
          </a:p>
        </p:txBody>
      </p:sp>
      <p:sp>
        <p:nvSpPr>
          <p:cNvPr id="16" name="Title 1">
            <a:extLst>
              <a:ext uri="{FF2B5EF4-FFF2-40B4-BE49-F238E27FC236}">
                <a16:creationId xmlns:a16="http://schemas.microsoft.com/office/drawing/2014/main" id="{F39A41EA-8A43-EB43-7249-96FCD20DAAF9}"/>
              </a:ext>
            </a:extLst>
          </p:cNvPr>
          <p:cNvSpPr txBox="1">
            <a:spLocks/>
          </p:cNvSpPr>
          <p:nvPr/>
        </p:nvSpPr>
        <p:spPr>
          <a:xfrm>
            <a:off x="1136915" y="335889"/>
            <a:ext cx="3355800" cy="411471"/>
          </a:xfrm>
          <a:prstGeom prst="rect">
            <a:avLst/>
          </a:prstGeom>
          <a:solidFill>
            <a:schemeClr val="tx1"/>
          </a:solid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vi-VN" sz="1800" b="1" i="0" u="none" strike="noStrike" kern="1200" cap="none" spc="0" normalizeH="0" baseline="0" noProof="0">
                <a:ln>
                  <a:noFill/>
                </a:ln>
                <a:solidFill>
                  <a:srgbClr val="0000CC"/>
                </a:solidFill>
                <a:effectLst>
                  <a:outerShdw blurRad="50800" dist="38100" dir="2700000" algn="tl" rotWithShape="0">
                    <a:prstClr val="black">
                      <a:alpha val="4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TRƯỜNG ĐẠI HỌC BÁCH KHOA</a:t>
            </a:r>
          </a:p>
        </p:txBody>
      </p:sp>
      <p:sp>
        <p:nvSpPr>
          <p:cNvPr id="17" name="Title 1">
            <a:extLst>
              <a:ext uri="{FF2B5EF4-FFF2-40B4-BE49-F238E27FC236}">
                <a16:creationId xmlns:a16="http://schemas.microsoft.com/office/drawing/2014/main" id="{DBD0EA71-B704-A0AA-935C-4841D7C14566}"/>
              </a:ext>
            </a:extLst>
          </p:cNvPr>
          <p:cNvSpPr txBox="1">
            <a:spLocks/>
          </p:cNvSpPr>
          <p:nvPr/>
        </p:nvSpPr>
        <p:spPr>
          <a:xfrm>
            <a:off x="1136915" y="105829"/>
            <a:ext cx="2063487" cy="382190"/>
          </a:xfrm>
          <a:prstGeom prst="rect">
            <a:avLst/>
          </a:prstGeom>
          <a:solidFill>
            <a:schemeClr val="tx1"/>
          </a:solid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ĐẠI HỌC ĐÀ NẴNG</a:t>
            </a:r>
            <a:endParaRPr kumimoji="0" lang="en-US"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endParaRPr>
          </a:p>
        </p:txBody>
      </p:sp>
      <p:pic>
        <p:nvPicPr>
          <p:cNvPr id="18" name="Picture 4" descr="Tải mẫu logo trường đại học Bách Khoa Đà Nẵng (DUT) file ...">
            <a:extLst>
              <a:ext uri="{FF2B5EF4-FFF2-40B4-BE49-F238E27FC236}">
                <a16:creationId xmlns:a16="http://schemas.microsoft.com/office/drawing/2014/main" id="{4D74B174-7650-7B63-4484-7BB3A4BF08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963164" cy="96316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9" name="Title 1">
            <a:extLst>
              <a:ext uri="{FF2B5EF4-FFF2-40B4-BE49-F238E27FC236}">
                <a16:creationId xmlns:a16="http://schemas.microsoft.com/office/drawing/2014/main" id="{FD7EFF90-03AF-E9C6-8892-C7F74F327646}"/>
              </a:ext>
            </a:extLst>
          </p:cNvPr>
          <p:cNvSpPr txBox="1">
            <a:spLocks/>
          </p:cNvSpPr>
          <p:nvPr/>
        </p:nvSpPr>
        <p:spPr>
          <a:xfrm>
            <a:off x="1221961" y="728923"/>
            <a:ext cx="3127764" cy="41147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KHOA </a:t>
            </a:r>
            <a:r>
              <a:rPr kumimoji="0" lang="en-US"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ĐIỆN TỬ - VIỄN THÔNG</a:t>
            </a:r>
            <a:endPar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761745702"/>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D1E87-96CA-28BC-8954-3033B13076A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28A7F0C0-CC27-5860-5D0C-7DDA6A0EF0B6}"/>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89221C90-A1CF-78BA-5CBF-EEDECD553CDB}"/>
              </a:ext>
            </a:extLst>
          </p:cNvPr>
          <p:cNvSpPr txBox="1">
            <a:spLocks/>
          </p:cNvSpPr>
          <p:nvPr/>
        </p:nvSpPr>
        <p:spPr>
          <a:xfrm>
            <a:off x="11228897" y="65362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26</a:t>
            </a:r>
          </a:p>
        </p:txBody>
      </p:sp>
      <p:sp>
        <p:nvSpPr>
          <p:cNvPr id="7" name="Title 10">
            <a:extLst>
              <a:ext uri="{FF2B5EF4-FFF2-40B4-BE49-F238E27FC236}">
                <a16:creationId xmlns:a16="http://schemas.microsoft.com/office/drawing/2014/main" id="{54CD3F5D-8D65-5540-41D9-F5F170AB8516}"/>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Migrate sang Drift và so sánh ưu nhược điểm</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F1AE36D3-28A8-6E74-A812-2CAF87F21E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94A3CED-E085-8841-D707-7D6A534854E6}"/>
              </a:ext>
            </a:extLst>
          </p:cNvPr>
          <p:cNvSpPr txBox="1"/>
          <p:nvPr/>
        </p:nvSpPr>
        <p:spPr>
          <a:xfrm>
            <a:off x="812381" y="1723136"/>
            <a:ext cx="10639390" cy="2677656"/>
          </a:xfrm>
          <a:prstGeom prst="rect">
            <a:avLst/>
          </a:prstGeom>
          <a:noFill/>
        </p:spPr>
        <p:txBody>
          <a:bodyPr wrap="square" rtlCol="0">
            <a:spAutoFit/>
          </a:bodyPr>
          <a:lstStyle/>
          <a:p>
            <a:r>
              <a:rPr lang="en-US" sz="2400" b="1">
                <a:solidFill>
                  <a:schemeClr val="bg1"/>
                </a:solidFill>
                <a:latin typeface="Cambria" panose="02040503050406030204" pitchFamily="18" charset="0"/>
                <a:ea typeface="Cambria" panose="02040503050406030204" pitchFamily="18" charset="0"/>
              </a:rPr>
              <a:t>Drift:</a:t>
            </a:r>
          </a:p>
          <a:p>
            <a:pPr marL="342900" indent="-342900">
              <a:buFont typeface="Arial" panose="020B0604020202020204" pitchFamily="34" charset="0"/>
              <a:buChar char="•"/>
            </a:pPr>
            <a:r>
              <a:rPr lang="en-US" sz="2400">
                <a:solidFill>
                  <a:schemeClr val="bg1"/>
                </a:solidFill>
                <a:latin typeface="Cambria" panose="02040503050406030204" pitchFamily="18" charset="0"/>
                <a:ea typeface="Cambria" panose="02040503050406030204" pitchFamily="18" charset="0"/>
              </a:rPr>
              <a:t>L</a:t>
            </a:r>
            <a:r>
              <a:rPr lang="vi-VN" sz="2400">
                <a:solidFill>
                  <a:schemeClr val="bg1"/>
                </a:solidFill>
                <a:latin typeface="Cambria" panose="02040503050406030204" pitchFamily="18" charset="0"/>
                <a:ea typeface="Cambria" panose="02040503050406030204" pitchFamily="18" charset="0"/>
              </a:rPr>
              <a:t>à một thư viện ORM (Object-Relational Mapping) mạnh mẽ xây dựng</a:t>
            </a:r>
            <a:r>
              <a:rPr lang="en-US" sz="2400">
                <a:solidFill>
                  <a:schemeClr val="bg1"/>
                </a:solidFill>
                <a:latin typeface="Cambria" panose="02040503050406030204" pitchFamily="18" charset="0"/>
                <a:ea typeface="Cambria" panose="02040503050406030204" pitchFamily="18" charset="0"/>
              </a:rPr>
              <a:t> </a:t>
            </a:r>
            <a:r>
              <a:rPr lang="vi-VN" sz="2400">
                <a:solidFill>
                  <a:schemeClr val="bg1"/>
                </a:solidFill>
                <a:latin typeface="Cambria" panose="02040503050406030204" pitchFamily="18" charset="0"/>
                <a:ea typeface="Cambria" panose="02040503050406030204" pitchFamily="18" charset="0"/>
              </a:rPr>
              <a:t>trên SQLite.</a:t>
            </a:r>
          </a:p>
          <a:p>
            <a:pPr marL="342900" indent="-342900">
              <a:buFont typeface="Arial" panose="020B0604020202020204" pitchFamily="34" charset="0"/>
              <a:buChar char="•"/>
            </a:pPr>
            <a:r>
              <a:rPr lang="vi-VN" sz="2400">
                <a:solidFill>
                  <a:schemeClr val="bg1"/>
                </a:solidFill>
                <a:latin typeface="Cambria" panose="02040503050406030204" pitchFamily="18" charset="0"/>
                <a:ea typeface="Cambria" panose="02040503050406030204" pitchFamily="18" charset="0"/>
              </a:rPr>
              <a:t>Cung cấp API Dart an toàn kiểu (type-safe) để viết truy vấn,</a:t>
            </a:r>
            <a:r>
              <a:rPr lang="en-US" sz="2400">
                <a:solidFill>
                  <a:schemeClr val="bg1"/>
                </a:solidFill>
                <a:latin typeface="Cambria" panose="02040503050406030204" pitchFamily="18" charset="0"/>
                <a:ea typeface="Cambria" panose="02040503050406030204" pitchFamily="18" charset="0"/>
              </a:rPr>
              <a:t> </a:t>
            </a:r>
            <a:r>
              <a:rPr lang="vi-VN" sz="2400">
                <a:solidFill>
                  <a:schemeClr val="bg1"/>
                </a:solidFill>
                <a:latin typeface="Cambria" panose="02040503050406030204" pitchFamily="18" charset="0"/>
                <a:ea typeface="Cambria" panose="02040503050406030204" pitchFamily="18" charset="0"/>
              </a:rPr>
              <a:t>không cần SQL</a:t>
            </a:r>
            <a:r>
              <a:rPr lang="en-US" sz="2400">
                <a:solidFill>
                  <a:schemeClr val="bg1"/>
                </a:solidFill>
                <a:latin typeface="Cambria" panose="02040503050406030204" pitchFamily="18" charset="0"/>
                <a:ea typeface="Cambria" panose="02040503050406030204" pitchFamily="18" charset="0"/>
              </a:rPr>
              <a:t> </a:t>
            </a:r>
            <a:r>
              <a:rPr lang="vi-VN" sz="2400">
                <a:solidFill>
                  <a:schemeClr val="bg1"/>
                </a:solidFill>
                <a:latin typeface="Cambria" panose="02040503050406030204" pitchFamily="18" charset="0"/>
                <a:ea typeface="Cambria" panose="02040503050406030204" pitchFamily="18" charset="0"/>
              </a:rPr>
              <a:t>thuần.</a:t>
            </a:r>
          </a:p>
          <a:p>
            <a:pPr marL="342900" indent="-342900">
              <a:buFont typeface="Arial" panose="020B0604020202020204" pitchFamily="34" charset="0"/>
              <a:buChar char="•"/>
            </a:pPr>
            <a:r>
              <a:rPr lang="vi-VN" sz="2400">
                <a:solidFill>
                  <a:schemeClr val="bg1"/>
                </a:solidFill>
                <a:latin typeface="Cambria" panose="02040503050406030204" pitchFamily="18" charset="0"/>
                <a:ea typeface="Cambria" panose="02040503050406030204" pitchFamily="18" charset="0"/>
              </a:rPr>
              <a:t>Hỗ trợ streams, migrations tự động và các tính năng nâng cao.</a:t>
            </a:r>
          </a:p>
          <a:p>
            <a:pPr marL="342900" indent="-342900">
              <a:buFont typeface="Arial" panose="020B0604020202020204" pitchFamily="34" charset="0"/>
              <a:buChar char="•"/>
            </a:pPr>
            <a:r>
              <a:rPr lang="vi-VN" sz="2400">
                <a:solidFill>
                  <a:schemeClr val="bg1"/>
                </a:solidFill>
                <a:latin typeface="Cambria" panose="02040503050406030204" pitchFamily="18" charset="0"/>
                <a:ea typeface="Cambria" panose="02040503050406030204" pitchFamily="18" charset="0"/>
              </a:rPr>
              <a:t>Yêu cầu thiết lập phức tạp hơn với build_runner</a:t>
            </a:r>
            <a:endParaRPr lang="en-US" sz="240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47727216"/>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04FDD-ACDC-2246-87A6-C1D3556FBE3F}"/>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6C9FBEDB-5431-3919-BE0F-5CA9DCB4D4D9}"/>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247FA86A-F7AB-9E41-0D00-FB01DEE155EA}"/>
              </a:ext>
            </a:extLst>
          </p:cNvPr>
          <p:cNvSpPr txBox="1">
            <a:spLocks/>
          </p:cNvSpPr>
          <p:nvPr/>
        </p:nvSpPr>
        <p:spPr>
          <a:xfrm>
            <a:off x="11228897" y="65362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27</a:t>
            </a:r>
          </a:p>
        </p:txBody>
      </p:sp>
      <p:sp>
        <p:nvSpPr>
          <p:cNvPr id="7" name="Title 10">
            <a:extLst>
              <a:ext uri="{FF2B5EF4-FFF2-40B4-BE49-F238E27FC236}">
                <a16:creationId xmlns:a16="http://schemas.microsoft.com/office/drawing/2014/main" id="{ED37C527-F5DD-B0BF-D949-3ED8BC005D58}"/>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Migrate sang Drift và so sánh ưu nhược điểm</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3BEED629-9F8C-FE7F-E26B-971D15B74A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BBF2ED4-818A-7278-FE2D-0548BBC78F04}"/>
              </a:ext>
            </a:extLst>
          </p:cNvPr>
          <p:cNvSpPr txBox="1"/>
          <p:nvPr/>
        </p:nvSpPr>
        <p:spPr>
          <a:xfrm>
            <a:off x="173751" y="735342"/>
            <a:ext cx="10639390"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“product_table.dart” định nghĩa bảng Products trong cơ sở dữ liệu.</a:t>
            </a:r>
          </a:p>
        </p:txBody>
      </p:sp>
      <p:pic>
        <p:nvPicPr>
          <p:cNvPr id="5" name="Picture 4">
            <a:extLst>
              <a:ext uri="{FF2B5EF4-FFF2-40B4-BE49-F238E27FC236}">
                <a16:creationId xmlns:a16="http://schemas.microsoft.com/office/drawing/2014/main" id="{C16A9689-FBE3-67B4-8045-793E137CBB5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4523030" y="1226566"/>
            <a:ext cx="5724556" cy="2417278"/>
          </a:xfrm>
          <a:prstGeom prst="rect">
            <a:avLst/>
          </a:prstGeom>
        </p:spPr>
      </p:pic>
      <p:pic>
        <p:nvPicPr>
          <p:cNvPr id="10" name="Picture 9">
            <a:extLst>
              <a:ext uri="{FF2B5EF4-FFF2-40B4-BE49-F238E27FC236}">
                <a16:creationId xmlns:a16="http://schemas.microsoft.com/office/drawing/2014/main" id="{3718CD1A-DE45-E345-C555-CB899623B123}"/>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638629" y="1226566"/>
            <a:ext cx="3424831" cy="4983219"/>
          </a:xfrm>
          <a:prstGeom prst="rect">
            <a:avLst/>
          </a:prstGeom>
        </p:spPr>
      </p:pic>
      <p:cxnSp>
        <p:nvCxnSpPr>
          <p:cNvPr id="12" name="Straight Connector 11">
            <a:extLst>
              <a:ext uri="{FF2B5EF4-FFF2-40B4-BE49-F238E27FC236}">
                <a16:creationId xmlns:a16="http://schemas.microsoft.com/office/drawing/2014/main" id="{FBCF7608-0727-BFF3-720A-AF06FDDB8098}"/>
              </a:ext>
            </a:extLst>
          </p:cNvPr>
          <p:cNvCxnSpPr>
            <a:cxnSpLocks/>
          </p:cNvCxnSpPr>
          <p:nvPr/>
        </p:nvCxnSpPr>
        <p:spPr>
          <a:xfrm>
            <a:off x="4293245" y="1135452"/>
            <a:ext cx="0" cy="5074333"/>
          </a:xfrm>
          <a:prstGeom prst="line">
            <a:avLst/>
          </a:prstGeom>
          <a:ln w="28575"/>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D429D254-1066-A7C9-06C6-140B526EAF4E}"/>
              </a:ext>
            </a:extLst>
          </p:cNvPr>
          <p:cNvSpPr/>
          <p:nvPr/>
        </p:nvSpPr>
        <p:spPr>
          <a:xfrm>
            <a:off x="638628" y="3168868"/>
            <a:ext cx="3424831" cy="260131"/>
          </a:xfrm>
          <a:prstGeom prst="rect">
            <a:avLst/>
          </a:prstGeom>
          <a:noFill/>
          <a:ln w="28575">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7" name="Graphic 16" descr="Back with solid fill">
            <a:extLst>
              <a:ext uri="{FF2B5EF4-FFF2-40B4-BE49-F238E27FC236}">
                <a16:creationId xmlns:a16="http://schemas.microsoft.com/office/drawing/2014/main" id="{B26E9BB3-58A3-50EA-B06D-4D8E91026B4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7029497">
            <a:off x="3606336" y="2431824"/>
            <a:ext cx="725617" cy="725617"/>
          </a:xfrm>
          <a:prstGeom prst="rect">
            <a:avLst/>
          </a:prstGeom>
        </p:spPr>
      </p:pic>
      <p:sp>
        <p:nvSpPr>
          <p:cNvPr id="4" name="TextBox 3">
            <a:extLst>
              <a:ext uri="{FF2B5EF4-FFF2-40B4-BE49-F238E27FC236}">
                <a16:creationId xmlns:a16="http://schemas.microsoft.com/office/drawing/2014/main" id="{35197CED-4379-482C-7925-836B5D4A4E7F}"/>
              </a:ext>
            </a:extLst>
          </p:cNvPr>
          <p:cNvSpPr txBox="1"/>
          <p:nvPr/>
        </p:nvSpPr>
        <p:spPr>
          <a:xfrm>
            <a:off x="4523030" y="4003040"/>
            <a:ext cx="6290111" cy="707886"/>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Drift map class này thành bảng trong SQLite và sinh code tương ứng.</a:t>
            </a:r>
          </a:p>
        </p:txBody>
      </p:sp>
    </p:spTree>
    <p:extLst>
      <p:ext uri="{BB962C8B-B14F-4D97-AF65-F5344CB8AC3E}">
        <p14:creationId xmlns:p14="http://schemas.microsoft.com/office/powerpoint/2010/main" val="3833206078"/>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FA93F-8E7A-BEFF-B60E-A294979E6306}"/>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E1DBE645-C4B8-9482-3914-E20583FE86C1}"/>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A11BDC18-04D9-FD97-D4D1-0ED9A67099F0}"/>
              </a:ext>
            </a:extLst>
          </p:cNvPr>
          <p:cNvSpPr txBox="1">
            <a:spLocks/>
          </p:cNvSpPr>
          <p:nvPr/>
        </p:nvSpPr>
        <p:spPr>
          <a:xfrm>
            <a:off x="11228897" y="65362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28</a:t>
            </a:r>
          </a:p>
        </p:txBody>
      </p:sp>
      <p:sp>
        <p:nvSpPr>
          <p:cNvPr id="7" name="Title 10">
            <a:extLst>
              <a:ext uri="{FF2B5EF4-FFF2-40B4-BE49-F238E27FC236}">
                <a16:creationId xmlns:a16="http://schemas.microsoft.com/office/drawing/2014/main" id="{FD7F6C91-3F0D-2AA3-91CD-C20D7801EF30}"/>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Migrate sang Drift và so sánh ưu nhược điểm</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7A6DC258-DEAA-8C99-7F4D-4DA066A9C7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5DFFE97-094D-6C6C-C4AE-86C725671121}"/>
              </a:ext>
            </a:extLst>
          </p:cNvPr>
          <p:cNvSpPr txBox="1"/>
          <p:nvPr/>
        </p:nvSpPr>
        <p:spPr>
          <a:xfrm>
            <a:off x="173751" y="735342"/>
            <a:ext cx="10639390"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“app_database.dart” cấu hình và cung cấp các phương thức thao tác với cơ sở dữ liệu.</a:t>
            </a:r>
          </a:p>
        </p:txBody>
      </p:sp>
      <p:pic>
        <p:nvPicPr>
          <p:cNvPr id="10" name="Picture 9">
            <a:extLst>
              <a:ext uri="{FF2B5EF4-FFF2-40B4-BE49-F238E27FC236}">
                <a16:creationId xmlns:a16="http://schemas.microsoft.com/office/drawing/2014/main" id="{DF65406D-C828-7C1D-B61B-8D533ED3EF06}"/>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638629" y="1226566"/>
            <a:ext cx="3424831" cy="4983219"/>
          </a:xfrm>
          <a:prstGeom prst="rect">
            <a:avLst/>
          </a:prstGeom>
        </p:spPr>
      </p:pic>
      <p:cxnSp>
        <p:nvCxnSpPr>
          <p:cNvPr id="12" name="Straight Connector 11">
            <a:extLst>
              <a:ext uri="{FF2B5EF4-FFF2-40B4-BE49-F238E27FC236}">
                <a16:creationId xmlns:a16="http://schemas.microsoft.com/office/drawing/2014/main" id="{88A8E7DA-1E3B-A76E-195E-5CE35F2D970F}"/>
              </a:ext>
            </a:extLst>
          </p:cNvPr>
          <p:cNvCxnSpPr>
            <a:cxnSpLocks/>
          </p:cNvCxnSpPr>
          <p:nvPr/>
        </p:nvCxnSpPr>
        <p:spPr>
          <a:xfrm>
            <a:off x="4401931" y="1135452"/>
            <a:ext cx="0" cy="5297612"/>
          </a:xfrm>
          <a:prstGeom prst="line">
            <a:avLst/>
          </a:prstGeom>
          <a:ln w="28575"/>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98B43DCE-A4F9-2FCB-77E2-3DBD4C7B9E65}"/>
              </a:ext>
            </a:extLst>
          </p:cNvPr>
          <p:cNvSpPr/>
          <p:nvPr/>
        </p:nvSpPr>
        <p:spPr>
          <a:xfrm>
            <a:off x="696075" y="2748781"/>
            <a:ext cx="3424831" cy="260131"/>
          </a:xfrm>
          <a:prstGeom prst="rect">
            <a:avLst/>
          </a:prstGeom>
          <a:noFill/>
          <a:ln w="28575">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7" name="Graphic 16" descr="Back with solid fill">
            <a:extLst>
              <a:ext uri="{FF2B5EF4-FFF2-40B4-BE49-F238E27FC236}">
                <a16:creationId xmlns:a16="http://schemas.microsoft.com/office/drawing/2014/main" id="{EE04E548-9B66-0F42-E626-EA84D7A0904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7029497">
            <a:off x="3606336" y="1946979"/>
            <a:ext cx="725617" cy="725617"/>
          </a:xfrm>
          <a:prstGeom prst="rect">
            <a:avLst/>
          </a:prstGeom>
        </p:spPr>
      </p:pic>
      <p:pic>
        <p:nvPicPr>
          <p:cNvPr id="13" name="Picture 12">
            <a:extLst>
              <a:ext uri="{FF2B5EF4-FFF2-40B4-BE49-F238E27FC236}">
                <a16:creationId xmlns:a16="http://schemas.microsoft.com/office/drawing/2014/main" id="{41C4C603-7936-6761-30E8-1CDA3CDB5FB2}"/>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4895347" y="1222162"/>
            <a:ext cx="5315692" cy="5210902"/>
          </a:xfrm>
          <a:prstGeom prst="rect">
            <a:avLst/>
          </a:prstGeom>
        </p:spPr>
      </p:pic>
    </p:spTree>
    <p:extLst>
      <p:ext uri="{BB962C8B-B14F-4D97-AF65-F5344CB8AC3E}">
        <p14:creationId xmlns:p14="http://schemas.microsoft.com/office/powerpoint/2010/main" val="4128196884"/>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98B42-8EB7-BFF8-1E37-495F732772E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8BBF4B3-93A6-2057-1E41-20145F4EE1F6}"/>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082674EF-D569-8135-0321-5E9B7F5F80DA}"/>
              </a:ext>
            </a:extLst>
          </p:cNvPr>
          <p:cNvSpPr txBox="1">
            <a:spLocks/>
          </p:cNvSpPr>
          <p:nvPr/>
        </p:nvSpPr>
        <p:spPr>
          <a:xfrm>
            <a:off x="11228897" y="65362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29</a:t>
            </a:r>
          </a:p>
        </p:txBody>
      </p:sp>
      <p:sp>
        <p:nvSpPr>
          <p:cNvPr id="7" name="Title 10">
            <a:extLst>
              <a:ext uri="{FF2B5EF4-FFF2-40B4-BE49-F238E27FC236}">
                <a16:creationId xmlns:a16="http://schemas.microsoft.com/office/drawing/2014/main" id="{D0A6C8CA-E587-3FE3-70BA-5989F3593D9D}"/>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Migrate sang Drift và so sánh ưu nhược điểm</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24D16DF5-6254-676F-FE04-0FF8BE35C8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C2E3675-D93F-298D-7A14-581D88171668}"/>
              </a:ext>
            </a:extLst>
          </p:cNvPr>
          <p:cNvSpPr txBox="1"/>
          <p:nvPr/>
        </p:nvSpPr>
        <p:spPr>
          <a:xfrm>
            <a:off x="173751" y="735342"/>
            <a:ext cx="10639390"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“app_database.dart”</a:t>
            </a:r>
          </a:p>
        </p:txBody>
      </p:sp>
      <p:cxnSp>
        <p:nvCxnSpPr>
          <p:cNvPr id="12" name="Straight Connector 11">
            <a:extLst>
              <a:ext uri="{FF2B5EF4-FFF2-40B4-BE49-F238E27FC236}">
                <a16:creationId xmlns:a16="http://schemas.microsoft.com/office/drawing/2014/main" id="{EC167C46-979E-C7CA-F396-4870241EB341}"/>
              </a:ext>
            </a:extLst>
          </p:cNvPr>
          <p:cNvCxnSpPr>
            <a:cxnSpLocks/>
          </p:cNvCxnSpPr>
          <p:nvPr/>
        </p:nvCxnSpPr>
        <p:spPr>
          <a:xfrm>
            <a:off x="5759438" y="1139856"/>
            <a:ext cx="0" cy="5297612"/>
          </a:xfrm>
          <a:prstGeom prst="line">
            <a:avLst/>
          </a:prstGeom>
          <a:ln w="28575"/>
        </p:spPr>
        <p:style>
          <a:lnRef idx="1">
            <a:schemeClr val="dk1"/>
          </a:lnRef>
          <a:fillRef idx="0">
            <a:schemeClr val="dk1"/>
          </a:fillRef>
          <a:effectRef idx="0">
            <a:schemeClr val="dk1"/>
          </a:effectRef>
          <a:fontRef idx="minor">
            <a:schemeClr val="tx1"/>
          </a:fontRef>
        </p:style>
      </p:cxnSp>
      <p:pic>
        <p:nvPicPr>
          <p:cNvPr id="13" name="Picture 12">
            <a:extLst>
              <a:ext uri="{FF2B5EF4-FFF2-40B4-BE49-F238E27FC236}">
                <a16:creationId xmlns:a16="http://schemas.microsoft.com/office/drawing/2014/main" id="{5216B1D6-C263-7694-6161-225A570807AF}"/>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292256" y="1226566"/>
            <a:ext cx="5315692" cy="5210902"/>
          </a:xfrm>
          <a:prstGeom prst="rect">
            <a:avLst/>
          </a:prstGeom>
        </p:spPr>
      </p:pic>
      <p:sp>
        <p:nvSpPr>
          <p:cNvPr id="4" name="TextBox 3">
            <a:extLst>
              <a:ext uri="{FF2B5EF4-FFF2-40B4-BE49-F238E27FC236}">
                <a16:creationId xmlns:a16="http://schemas.microsoft.com/office/drawing/2014/main" id="{7D3827E3-1D7B-7963-52DE-FB8984DF3656}"/>
              </a:ext>
            </a:extLst>
          </p:cNvPr>
          <p:cNvSpPr txBox="1"/>
          <p:nvPr/>
        </p:nvSpPr>
        <p:spPr>
          <a:xfrm>
            <a:off x="5991366" y="1135452"/>
            <a:ext cx="5728679" cy="2362826"/>
          </a:xfrm>
          <a:prstGeom prst="rect">
            <a:avLst/>
          </a:prstGeom>
          <a:noFill/>
        </p:spPr>
        <p:txBody>
          <a:bodyPr wrap="square" rtlCol="0">
            <a:spAutoFit/>
          </a:bodyPr>
          <a:lstStyle/>
          <a:p>
            <a:pPr marL="342900" indent="-342900">
              <a:lnSpc>
                <a:spcPct val="125000"/>
              </a:lnSpc>
              <a:buFontTx/>
              <a:buChar char="-"/>
            </a:pPr>
            <a:r>
              <a:rPr lang="vi-VN" sz="2000">
                <a:solidFill>
                  <a:schemeClr val="bg1"/>
                </a:solidFill>
                <a:latin typeface="Cambria" panose="02040503050406030204" pitchFamily="18" charset="0"/>
                <a:ea typeface="Cambria" panose="02040503050406030204" pitchFamily="18" charset="0"/>
              </a:rPr>
              <a:t>@DriftDatabase: Khai báo bảng thuộc </a:t>
            </a:r>
            <a:r>
              <a:rPr lang="en-US" sz="2000">
                <a:solidFill>
                  <a:schemeClr val="bg1"/>
                </a:solidFill>
                <a:latin typeface="Cambria" panose="02040503050406030204" pitchFamily="18" charset="0"/>
                <a:ea typeface="Cambria" panose="02040503050406030204" pitchFamily="18" charset="0"/>
              </a:rPr>
              <a:t>CSDL.</a:t>
            </a:r>
          </a:p>
          <a:p>
            <a:pPr marL="342900" indent="-342900">
              <a:lnSpc>
                <a:spcPct val="125000"/>
              </a:lnSpc>
              <a:buFontTx/>
              <a:buChar char="-"/>
            </a:pPr>
            <a:r>
              <a:rPr lang="en-US" sz="2000">
                <a:solidFill>
                  <a:schemeClr val="bg1"/>
                </a:solidFill>
                <a:latin typeface="Cambria" panose="02040503050406030204" pitchFamily="18" charset="0"/>
                <a:ea typeface="Cambria" panose="02040503050406030204" pitchFamily="18" charset="0"/>
              </a:rPr>
              <a:t>_$AppDatabase: Lớp sinh tự động.</a:t>
            </a:r>
          </a:p>
          <a:p>
            <a:pPr marL="342900" indent="-342900">
              <a:lnSpc>
                <a:spcPct val="125000"/>
              </a:lnSpc>
              <a:buFontTx/>
              <a:buChar char="-"/>
            </a:pPr>
            <a:r>
              <a:rPr lang="en-US" sz="2000">
                <a:solidFill>
                  <a:schemeClr val="bg1"/>
                </a:solidFill>
                <a:latin typeface="Cambria" panose="02040503050406030204" pitchFamily="18" charset="0"/>
                <a:ea typeface="Cambria" panose="02040503050406030204" pitchFamily="18" charset="0"/>
              </a:rPr>
              <a:t>schemaVersion: Phiên bản cấu trúc CSDL (dùng khi nâng cấp schema).</a:t>
            </a:r>
          </a:p>
          <a:p>
            <a:pPr marL="342900" indent="-342900">
              <a:lnSpc>
                <a:spcPct val="125000"/>
              </a:lnSpc>
              <a:buFontTx/>
              <a:buChar char="-"/>
            </a:pPr>
            <a:r>
              <a:rPr lang="en-US" sz="2000">
                <a:solidFill>
                  <a:schemeClr val="bg1"/>
                </a:solidFill>
                <a:latin typeface="Cambria" panose="02040503050406030204" pitchFamily="18" charset="0"/>
                <a:ea typeface="Cambria" panose="02040503050406030204" pitchFamily="18" charset="0"/>
              </a:rPr>
              <a:t>Tạo kết nối đến file SQLite thông qua _openConnection()</a:t>
            </a:r>
          </a:p>
        </p:txBody>
      </p:sp>
    </p:spTree>
    <p:extLst>
      <p:ext uri="{BB962C8B-B14F-4D97-AF65-F5344CB8AC3E}">
        <p14:creationId xmlns:p14="http://schemas.microsoft.com/office/powerpoint/2010/main" val="2868197140"/>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B6448-2888-FDB5-24A2-FD6607150290}"/>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20DB6E8-C487-219D-5759-E1F3138C6553}"/>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5FB1AAB7-1539-42D1-7E47-E6078646538E}"/>
              </a:ext>
            </a:extLst>
          </p:cNvPr>
          <p:cNvSpPr txBox="1">
            <a:spLocks/>
          </p:cNvSpPr>
          <p:nvPr/>
        </p:nvSpPr>
        <p:spPr>
          <a:xfrm>
            <a:off x="11215249" y="65362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30</a:t>
            </a:r>
          </a:p>
        </p:txBody>
      </p:sp>
      <p:sp>
        <p:nvSpPr>
          <p:cNvPr id="7" name="Title 10">
            <a:extLst>
              <a:ext uri="{FF2B5EF4-FFF2-40B4-BE49-F238E27FC236}">
                <a16:creationId xmlns:a16="http://schemas.microsoft.com/office/drawing/2014/main" id="{7C5700FE-5FD1-2DAC-C8C0-5F45A602DC22}"/>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Migrate sang Drift và so sánh ưu nhược điểm</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DDE15711-DC74-297C-2759-E95A4DC24E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447F734-BD84-DD63-7A39-C292BE8F26E7}"/>
              </a:ext>
            </a:extLst>
          </p:cNvPr>
          <p:cNvSpPr txBox="1"/>
          <p:nvPr/>
        </p:nvSpPr>
        <p:spPr>
          <a:xfrm>
            <a:off x="173750" y="735342"/>
            <a:ext cx="12018249"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 tạo</a:t>
            </a:r>
            <a:r>
              <a:rPr lang="vi-VN" sz="2000">
                <a:solidFill>
                  <a:schemeClr val="bg1"/>
                </a:solidFill>
                <a:latin typeface="Cambria" panose="02040503050406030204" pitchFamily="18" charset="0"/>
                <a:ea typeface="Cambria" panose="02040503050406030204" pitchFamily="18" charset="0"/>
              </a:rPr>
              <a:t> giao diện người dùng (UI) và </a:t>
            </a:r>
            <a:r>
              <a:rPr lang="en-US" sz="2000">
                <a:solidFill>
                  <a:schemeClr val="bg1"/>
                </a:solidFill>
                <a:latin typeface="Cambria" panose="02040503050406030204" pitchFamily="18" charset="0"/>
                <a:ea typeface="Cambria" panose="02040503050406030204" pitchFamily="18" charset="0"/>
              </a:rPr>
              <a:t>kết nối các phương thức để </a:t>
            </a:r>
            <a:r>
              <a:rPr lang="vi-VN" sz="2000">
                <a:solidFill>
                  <a:schemeClr val="bg1"/>
                </a:solidFill>
                <a:latin typeface="Cambria" panose="02040503050406030204" pitchFamily="18" charset="0"/>
                <a:ea typeface="Cambria" panose="02040503050406030204" pitchFamily="18" charset="0"/>
              </a:rPr>
              <a:t>thao tác với dữ liệu.</a:t>
            </a:r>
            <a:endParaRPr lang="en-US" sz="2000">
              <a:solidFill>
                <a:schemeClr val="bg1"/>
              </a:solidFill>
              <a:latin typeface="Cambria" panose="02040503050406030204" pitchFamily="18" charset="0"/>
              <a:ea typeface="Cambria" panose="02040503050406030204" pitchFamily="18" charset="0"/>
            </a:endParaRPr>
          </a:p>
        </p:txBody>
      </p:sp>
      <p:pic>
        <p:nvPicPr>
          <p:cNvPr id="10" name="Picture 9">
            <a:extLst>
              <a:ext uri="{FF2B5EF4-FFF2-40B4-BE49-F238E27FC236}">
                <a16:creationId xmlns:a16="http://schemas.microsoft.com/office/drawing/2014/main" id="{2DB7936C-A857-C188-5D38-1870466677FB}"/>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638629" y="1226566"/>
            <a:ext cx="3424831" cy="4983219"/>
          </a:xfrm>
          <a:prstGeom prst="rect">
            <a:avLst/>
          </a:prstGeom>
        </p:spPr>
      </p:pic>
      <p:cxnSp>
        <p:nvCxnSpPr>
          <p:cNvPr id="12" name="Straight Connector 11">
            <a:extLst>
              <a:ext uri="{FF2B5EF4-FFF2-40B4-BE49-F238E27FC236}">
                <a16:creationId xmlns:a16="http://schemas.microsoft.com/office/drawing/2014/main" id="{4DC2080A-4F3E-5626-8483-8B154FCB152D}"/>
              </a:ext>
            </a:extLst>
          </p:cNvPr>
          <p:cNvCxnSpPr>
            <a:cxnSpLocks/>
          </p:cNvCxnSpPr>
          <p:nvPr/>
        </p:nvCxnSpPr>
        <p:spPr>
          <a:xfrm>
            <a:off x="4387246" y="1135452"/>
            <a:ext cx="0" cy="5297612"/>
          </a:xfrm>
          <a:prstGeom prst="line">
            <a:avLst/>
          </a:prstGeom>
          <a:ln w="28575"/>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ACEC44C7-9463-61E4-7611-9A44794F2604}"/>
              </a:ext>
            </a:extLst>
          </p:cNvPr>
          <p:cNvSpPr/>
          <p:nvPr/>
        </p:nvSpPr>
        <p:spPr>
          <a:xfrm>
            <a:off x="638629" y="3428999"/>
            <a:ext cx="3424831" cy="192250"/>
          </a:xfrm>
          <a:prstGeom prst="rect">
            <a:avLst/>
          </a:prstGeom>
          <a:noFill/>
          <a:ln w="28575">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7" name="Graphic 16" descr="Back with solid fill">
            <a:extLst>
              <a:ext uri="{FF2B5EF4-FFF2-40B4-BE49-F238E27FC236}">
                <a16:creationId xmlns:a16="http://schemas.microsoft.com/office/drawing/2014/main" id="{2882B94F-B31C-BE44-2307-007A6890E5D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7029497">
            <a:off x="3548889" y="2627197"/>
            <a:ext cx="725617" cy="725617"/>
          </a:xfrm>
          <a:prstGeom prst="rect">
            <a:avLst/>
          </a:prstGeom>
        </p:spPr>
      </p:pic>
      <p:pic>
        <p:nvPicPr>
          <p:cNvPr id="5" name="Picture 4">
            <a:extLst>
              <a:ext uri="{FF2B5EF4-FFF2-40B4-BE49-F238E27FC236}">
                <a16:creationId xmlns:a16="http://schemas.microsoft.com/office/drawing/2014/main" id="{E322C814-4E23-03ED-6FDC-B29CCAC2D00F}"/>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4845242" y="1203109"/>
            <a:ext cx="5087060" cy="5229955"/>
          </a:xfrm>
          <a:prstGeom prst="rect">
            <a:avLst/>
          </a:prstGeom>
        </p:spPr>
      </p:pic>
    </p:spTree>
    <p:extLst>
      <p:ext uri="{BB962C8B-B14F-4D97-AF65-F5344CB8AC3E}">
        <p14:creationId xmlns:p14="http://schemas.microsoft.com/office/powerpoint/2010/main" val="463183837"/>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19004-130E-31AA-FFB8-2B3F16FA3B04}"/>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D99045F0-0F68-2FCD-41E6-BDD6CDCE8B98}"/>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FD164BAD-F9CF-4006-95CE-BD1D2ABE6DBE}"/>
              </a:ext>
            </a:extLst>
          </p:cNvPr>
          <p:cNvSpPr txBox="1">
            <a:spLocks/>
          </p:cNvSpPr>
          <p:nvPr/>
        </p:nvSpPr>
        <p:spPr>
          <a:xfrm>
            <a:off x="11201601" y="65362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31</a:t>
            </a:r>
          </a:p>
        </p:txBody>
      </p:sp>
      <p:sp>
        <p:nvSpPr>
          <p:cNvPr id="7" name="Title 10">
            <a:extLst>
              <a:ext uri="{FF2B5EF4-FFF2-40B4-BE49-F238E27FC236}">
                <a16:creationId xmlns:a16="http://schemas.microsoft.com/office/drawing/2014/main" id="{670502E4-2728-2053-0800-4D3DB5C55020}"/>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Migrate sang Drift và so sánh ưu nhược điểm</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C1EEB2AB-C494-D7A0-9360-E35533A387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47B80F1-44E6-2D21-DBBE-384A5787D487}"/>
              </a:ext>
            </a:extLst>
          </p:cNvPr>
          <p:cNvSpPr txBox="1"/>
          <p:nvPr/>
        </p:nvSpPr>
        <p:spPr>
          <a:xfrm>
            <a:off x="173750" y="735342"/>
            <a:ext cx="12018249"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2" name="Straight Connector 11">
            <a:extLst>
              <a:ext uri="{FF2B5EF4-FFF2-40B4-BE49-F238E27FC236}">
                <a16:creationId xmlns:a16="http://schemas.microsoft.com/office/drawing/2014/main" id="{51D915DD-1E0F-7FAD-9980-4F9BBBBDE9DC}"/>
              </a:ext>
            </a:extLst>
          </p:cNvPr>
          <p:cNvCxnSpPr>
            <a:cxnSpLocks/>
          </p:cNvCxnSpPr>
          <p:nvPr/>
        </p:nvCxnSpPr>
        <p:spPr>
          <a:xfrm>
            <a:off x="5540508" y="1074736"/>
            <a:ext cx="0" cy="5297612"/>
          </a:xfrm>
          <a:prstGeom prst="line">
            <a:avLst/>
          </a:prstGeom>
          <a:ln w="28575"/>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97A98F17-1126-80A5-486D-2D5A6B1B7574}"/>
              </a:ext>
            </a:extLst>
          </p:cNvPr>
          <p:cNvSpPr txBox="1"/>
          <p:nvPr/>
        </p:nvSpPr>
        <p:spPr>
          <a:xfrm>
            <a:off x="5784113" y="1135452"/>
            <a:ext cx="6234138" cy="707886"/>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ProductPage nhận 1 tham số db kiểu AppDatabase để gọi các phương thức.</a:t>
            </a:r>
          </a:p>
        </p:txBody>
      </p:sp>
      <p:pic>
        <p:nvPicPr>
          <p:cNvPr id="13" name="Picture 12">
            <a:extLst>
              <a:ext uri="{FF2B5EF4-FFF2-40B4-BE49-F238E27FC236}">
                <a16:creationId xmlns:a16="http://schemas.microsoft.com/office/drawing/2014/main" id="{FA43C01F-6FC8-EF14-117A-BBA4188F8AEF}"/>
              </a:ext>
            </a:extLst>
          </p:cNvPr>
          <p:cNvPicPr>
            <a:picLocks noChangeAspect="1"/>
          </p:cNvPicPr>
          <p:nvPr/>
        </p:nvPicPr>
        <p:blipFill>
          <a:blip r:embed="rId4"/>
          <a:stretch>
            <a:fillRect/>
          </a:stretch>
        </p:blipFill>
        <p:spPr>
          <a:xfrm>
            <a:off x="406190" y="1269604"/>
            <a:ext cx="5094998" cy="3867661"/>
          </a:xfrm>
          <a:prstGeom prst="rect">
            <a:avLst/>
          </a:prstGeom>
        </p:spPr>
      </p:pic>
      <p:sp>
        <p:nvSpPr>
          <p:cNvPr id="14" name="TextBox 13">
            <a:extLst>
              <a:ext uri="{FF2B5EF4-FFF2-40B4-BE49-F238E27FC236}">
                <a16:creationId xmlns:a16="http://schemas.microsoft.com/office/drawing/2014/main" id="{635E09B4-9E3A-3AE6-FC7F-4CB020566DEF}"/>
              </a:ext>
            </a:extLst>
          </p:cNvPr>
          <p:cNvSpPr txBox="1"/>
          <p:nvPr/>
        </p:nvSpPr>
        <p:spPr>
          <a:xfrm>
            <a:off x="5784113" y="2344189"/>
            <a:ext cx="6234137" cy="2246769"/>
          </a:xfrm>
          <a:prstGeom prst="rect">
            <a:avLst/>
          </a:prstGeom>
          <a:noFill/>
        </p:spPr>
        <p:txBody>
          <a:bodyPr wrap="square" rtlCol="0">
            <a:spAutoFit/>
          </a:bodyPr>
          <a:lstStyle/>
          <a:p>
            <a:endParaRPr lang="en-US" sz="2000">
              <a:solidFill>
                <a:schemeClr val="bg1"/>
              </a:solidFill>
              <a:latin typeface="Cambria" panose="02040503050406030204" pitchFamily="18" charset="0"/>
              <a:ea typeface="Cambria" panose="02040503050406030204" pitchFamily="18" charset="0"/>
            </a:endParaRPr>
          </a:p>
          <a:p>
            <a:endParaRPr lang="en-US" sz="2000">
              <a:solidFill>
                <a:schemeClr val="bg1"/>
              </a:solidFill>
              <a:latin typeface="Cambria" panose="02040503050406030204" pitchFamily="18" charset="0"/>
              <a:ea typeface="Cambria" panose="02040503050406030204" pitchFamily="18" charset="0"/>
            </a:endParaRPr>
          </a:p>
          <a:p>
            <a:endParaRPr lang="en-US" sz="2000">
              <a:solidFill>
                <a:schemeClr val="bg1"/>
              </a:solidFill>
              <a:latin typeface="Cambria" panose="02040503050406030204" pitchFamily="18" charset="0"/>
              <a:ea typeface="Cambria" panose="02040503050406030204" pitchFamily="18" charset="0"/>
            </a:endParaRPr>
          </a:p>
          <a:p>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rPr>
              <a:t>_refresh() để load danh sách lúc widget khởi tạo.</a:t>
            </a:r>
          </a:p>
          <a:p>
            <a:r>
              <a:rPr lang="en-US" sz="2000">
                <a:solidFill>
                  <a:schemeClr val="bg1"/>
                </a:solidFill>
                <a:latin typeface="Cambria" panose="02040503050406030204" pitchFamily="18" charset="0"/>
                <a:ea typeface="Cambria" panose="02040503050406030204" pitchFamily="18" charset="0"/>
              </a:rPr>
              <a:t>- Gán lại _productList bằng widget.db.getAllProducts() và gọi setState() để rebuild lại giao diện.</a:t>
            </a:r>
          </a:p>
        </p:txBody>
      </p:sp>
    </p:spTree>
    <p:extLst>
      <p:ext uri="{BB962C8B-B14F-4D97-AF65-F5344CB8AC3E}">
        <p14:creationId xmlns:p14="http://schemas.microsoft.com/office/powerpoint/2010/main" val="2990264809"/>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859FB-85DC-1BD1-96E5-7589C79612D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1F373D4-D53C-23E6-44AB-672C97746F77}"/>
              </a:ext>
            </a:extLst>
          </p:cNvPr>
          <p:cNvSpPr/>
          <p:nvPr/>
        </p:nvSpPr>
        <p:spPr>
          <a:xfrm>
            <a:off x="0"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63FAC8E7-5F4B-8BFE-9F87-AA340FE08D82}"/>
              </a:ext>
            </a:extLst>
          </p:cNvPr>
          <p:cNvSpPr txBox="1">
            <a:spLocks/>
          </p:cNvSpPr>
          <p:nvPr/>
        </p:nvSpPr>
        <p:spPr>
          <a:xfrm>
            <a:off x="11215249" y="65362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32</a:t>
            </a:r>
          </a:p>
        </p:txBody>
      </p:sp>
      <p:sp>
        <p:nvSpPr>
          <p:cNvPr id="7" name="Title 10">
            <a:extLst>
              <a:ext uri="{FF2B5EF4-FFF2-40B4-BE49-F238E27FC236}">
                <a16:creationId xmlns:a16="http://schemas.microsoft.com/office/drawing/2014/main" id="{72818D99-1DF6-FC81-1FA0-F40A62652CDC}"/>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Migrate sang Drift và so sánh ưu nhược điểm</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6A7A4DDB-C412-1623-E83D-3A53E75625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0D3CF47-4263-6CEA-09AA-805E141C0AD9}"/>
              </a:ext>
            </a:extLst>
          </p:cNvPr>
          <p:cNvSpPr txBox="1"/>
          <p:nvPr/>
        </p:nvSpPr>
        <p:spPr>
          <a:xfrm>
            <a:off x="173750" y="735342"/>
            <a:ext cx="12018249"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1" name="Straight Connector 10">
            <a:extLst>
              <a:ext uri="{FF2B5EF4-FFF2-40B4-BE49-F238E27FC236}">
                <a16:creationId xmlns:a16="http://schemas.microsoft.com/office/drawing/2014/main" id="{D0FC3F12-CE67-9B41-51C7-9E437BCC756A}"/>
              </a:ext>
            </a:extLst>
          </p:cNvPr>
          <p:cNvCxnSpPr>
            <a:cxnSpLocks/>
          </p:cNvCxnSpPr>
          <p:nvPr/>
        </p:nvCxnSpPr>
        <p:spPr>
          <a:xfrm>
            <a:off x="7307873" y="960669"/>
            <a:ext cx="0" cy="5460365"/>
          </a:xfrm>
          <a:prstGeom prst="line">
            <a:avLst/>
          </a:prstGeom>
          <a:ln w="28575"/>
        </p:spPr>
        <p:style>
          <a:lnRef idx="1">
            <a:schemeClr val="dk1"/>
          </a:lnRef>
          <a:fillRef idx="0">
            <a:schemeClr val="dk1"/>
          </a:fillRef>
          <a:effectRef idx="0">
            <a:schemeClr val="dk1"/>
          </a:effectRef>
          <a:fontRef idx="minor">
            <a:schemeClr val="tx1"/>
          </a:fontRef>
        </p:style>
      </p:cxnSp>
      <p:pic>
        <p:nvPicPr>
          <p:cNvPr id="16" name="Picture 15">
            <a:extLst>
              <a:ext uri="{FF2B5EF4-FFF2-40B4-BE49-F238E27FC236}">
                <a16:creationId xmlns:a16="http://schemas.microsoft.com/office/drawing/2014/main" id="{7F19C88D-CBCB-4B76-995B-BE8B2008C708}"/>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212042" y="1075875"/>
            <a:ext cx="7068536" cy="5229955"/>
          </a:xfrm>
          <a:prstGeom prst="rect">
            <a:avLst/>
          </a:prstGeom>
        </p:spPr>
      </p:pic>
      <p:pic>
        <p:nvPicPr>
          <p:cNvPr id="22" name="Picture 21">
            <a:extLst>
              <a:ext uri="{FF2B5EF4-FFF2-40B4-BE49-F238E27FC236}">
                <a16:creationId xmlns:a16="http://schemas.microsoft.com/office/drawing/2014/main" id="{A02DDF6E-A689-65B6-6488-A1BA41E5292D}"/>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7424819" y="1043474"/>
            <a:ext cx="4650234" cy="2301147"/>
          </a:xfrm>
          <a:prstGeom prst="rect">
            <a:avLst/>
          </a:prstGeom>
          <a:ln>
            <a:noFill/>
          </a:ln>
          <a:effectLst>
            <a:outerShdw blurRad="190500" algn="tl" rotWithShape="0">
              <a:srgbClr val="000000">
                <a:alpha val="70000"/>
              </a:srgbClr>
            </a:outerShdw>
          </a:effectLst>
        </p:spPr>
      </p:pic>
      <p:pic>
        <p:nvPicPr>
          <p:cNvPr id="24" name="Picture 23">
            <a:extLst>
              <a:ext uri="{FF2B5EF4-FFF2-40B4-BE49-F238E27FC236}">
                <a16:creationId xmlns:a16="http://schemas.microsoft.com/office/drawing/2014/main" id="{527F0127-2F4E-9ACA-A978-0A2D35B9C42C}"/>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rcRect t="1" b="1227"/>
          <a:stretch>
            <a:fillRect/>
          </a:stretch>
        </p:blipFill>
        <p:spPr>
          <a:xfrm>
            <a:off x="7411163" y="3429000"/>
            <a:ext cx="4677545" cy="230114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555384803"/>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0954F-3888-294A-9F7D-85A53E0F6C86}"/>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2780C3FC-EC90-B5A2-9CDE-5691172CEE9D}"/>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A984E874-3834-C348-4C35-393683BAF6AC}"/>
              </a:ext>
            </a:extLst>
          </p:cNvPr>
          <p:cNvSpPr txBox="1">
            <a:spLocks/>
          </p:cNvSpPr>
          <p:nvPr/>
        </p:nvSpPr>
        <p:spPr>
          <a:xfrm>
            <a:off x="11215249" y="65362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33</a:t>
            </a:r>
          </a:p>
        </p:txBody>
      </p:sp>
      <p:sp>
        <p:nvSpPr>
          <p:cNvPr id="7" name="Title 10">
            <a:extLst>
              <a:ext uri="{FF2B5EF4-FFF2-40B4-BE49-F238E27FC236}">
                <a16:creationId xmlns:a16="http://schemas.microsoft.com/office/drawing/2014/main" id="{F320915E-1CDD-BD7F-87BC-BD0035B22AC8}"/>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Migrate sang Drift và so sánh ưu nhược điểm</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87F91370-80AE-7562-0FB0-12DB7ADBEB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3DD5BED-75E3-A67F-A65E-976573EC87DB}"/>
              </a:ext>
            </a:extLst>
          </p:cNvPr>
          <p:cNvSpPr txBox="1"/>
          <p:nvPr/>
        </p:nvSpPr>
        <p:spPr>
          <a:xfrm>
            <a:off x="173750" y="735342"/>
            <a:ext cx="12018249"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2" name="Straight Connector 11">
            <a:extLst>
              <a:ext uri="{FF2B5EF4-FFF2-40B4-BE49-F238E27FC236}">
                <a16:creationId xmlns:a16="http://schemas.microsoft.com/office/drawing/2014/main" id="{1E7A0497-0C2D-8722-8F38-66AC932C0136}"/>
              </a:ext>
            </a:extLst>
          </p:cNvPr>
          <p:cNvCxnSpPr>
            <a:cxnSpLocks/>
          </p:cNvCxnSpPr>
          <p:nvPr/>
        </p:nvCxnSpPr>
        <p:spPr>
          <a:xfrm>
            <a:off x="5076484" y="1135452"/>
            <a:ext cx="0" cy="5297612"/>
          </a:xfrm>
          <a:prstGeom prst="line">
            <a:avLst/>
          </a:prstGeom>
          <a:ln w="28575"/>
        </p:spPr>
        <p:style>
          <a:lnRef idx="1">
            <a:schemeClr val="dk1"/>
          </a:lnRef>
          <a:fillRef idx="0">
            <a:schemeClr val="dk1"/>
          </a:fillRef>
          <a:effectRef idx="0">
            <a:schemeClr val="dk1"/>
          </a:effectRef>
          <a:fontRef idx="minor">
            <a:schemeClr val="tx1"/>
          </a:fontRef>
        </p:style>
      </p:cxnSp>
      <p:pic>
        <p:nvPicPr>
          <p:cNvPr id="16" name="Picture 15">
            <a:extLst>
              <a:ext uri="{FF2B5EF4-FFF2-40B4-BE49-F238E27FC236}">
                <a16:creationId xmlns:a16="http://schemas.microsoft.com/office/drawing/2014/main" id="{0C0FF67F-2BCB-BF77-A9DD-A1E8939F2C6D}"/>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406190" y="1187711"/>
            <a:ext cx="4015680" cy="2300543"/>
          </a:xfrm>
          <a:prstGeom prst="rect">
            <a:avLst/>
          </a:prstGeom>
        </p:spPr>
      </p:pic>
      <p:pic>
        <p:nvPicPr>
          <p:cNvPr id="18" name="Picture 17">
            <a:extLst>
              <a:ext uri="{FF2B5EF4-FFF2-40B4-BE49-F238E27FC236}">
                <a16:creationId xmlns:a16="http://schemas.microsoft.com/office/drawing/2014/main" id="{46D59F0A-1544-66EA-FB6D-822C73B3E311}"/>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445552" y="3784258"/>
            <a:ext cx="4077738" cy="2300543"/>
          </a:xfrm>
          <a:prstGeom prst="rect">
            <a:avLst/>
          </a:prstGeom>
        </p:spPr>
      </p:pic>
      <p:pic>
        <p:nvPicPr>
          <p:cNvPr id="20" name="Picture 19">
            <a:extLst>
              <a:ext uri="{FF2B5EF4-FFF2-40B4-BE49-F238E27FC236}">
                <a16:creationId xmlns:a16="http://schemas.microsoft.com/office/drawing/2014/main" id="{A1FFBFEC-450C-4D14-4962-A8F85D0FC12F}"/>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rcRect t="3493" b="1077"/>
          <a:stretch>
            <a:fillRect/>
          </a:stretch>
        </p:blipFill>
        <p:spPr>
          <a:xfrm>
            <a:off x="6143721" y="1187711"/>
            <a:ext cx="4295619" cy="2596547"/>
          </a:xfrm>
          <a:prstGeom prst="rect">
            <a:avLst/>
          </a:prstGeom>
        </p:spPr>
      </p:pic>
      <p:pic>
        <p:nvPicPr>
          <p:cNvPr id="22" name="Picture 21">
            <a:extLst>
              <a:ext uri="{FF2B5EF4-FFF2-40B4-BE49-F238E27FC236}">
                <a16:creationId xmlns:a16="http://schemas.microsoft.com/office/drawing/2014/main" id="{068521CE-B0FB-6E1E-C723-DDECEABA3A3A}"/>
              </a:ext>
            </a:extLst>
          </p:cNvPr>
          <p:cNvPicPr>
            <a:picLocks noChangeAspect="1"/>
          </p:cNvPicPr>
          <p:nvPr/>
        </p:nvPicPr>
        <p:blipFill>
          <a:blip r:embed="rId10">
            <a:extLst>
              <a:ext uri="{BEBA8EAE-BF5A-486C-A8C5-ECC9F3942E4B}">
                <a14:imgProps xmlns:a14="http://schemas.microsoft.com/office/drawing/2010/main">
                  <a14:imgLayer r:embed="rId11">
                    <a14:imgEffect>
                      <a14:sharpenSoften amount="25000"/>
                    </a14:imgEffect>
                  </a14:imgLayer>
                </a14:imgProps>
              </a:ext>
            </a:extLst>
          </a:blip>
          <a:stretch>
            <a:fillRect/>
          </a:stretch>
        </p:blipFill>
        <p:spPr>
          <a:xfrm>
            <a:off x="6143726" y="3830357"/>
            <a:ext cx="4295618" cy="2602707"/>
          </a:xfrm>
          <a:prstGeom prst="rect">
            <a:avLst/>
          </a:prstGeom>
        </p:spPr>
      </p:pic>
    </p:spTree>
    <p:extLst>
      <p:ext uri="{BB962C8B-B14F-4D97-AF65-F5344CB8AC3E}">
        <p14:creationId xmlns:p14="http://schemas.microsoft.com/office/powerpoint/2010/main" val="1826349444"/>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D4474-2BF0-AA31-65ED-DD6B55651B77}"/>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DF7D7B1-8D3D-8200-1AED-7EE73265A451}"/>
              </a:ext>
            </a:extLst>
          </p:cNvPr>
          <p:cNvSpPr/>
          <p:nvPr/>
        </p:nvSpPr>
        <p:spPr>
          <a:xfrm>
            <a:off x="0"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9A5FB858-E3D4-932C-297C-06EC88B582F9}"/>
              </a:ext>
            </a:extLst>
          </p:cNvPr>
          <p:cNvSpPr txBox="1">
            <a:spLocks/>
          </p:cNvSpPr>
          <p:nvPr/>
        </p:nvSpPr>
        <p:spPr>
          <a:xfrm>
            <a:off x="11215249" y="65362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34</a:t>
            </a:r>
          </a:p>
        </p:txBody>
      </p:sp>
      <p:sp>
        <p:nvSpPr>
          <p:cNvPr id="7" name="Title 10">
            <a:extLst>
              <a:ext uri="{FF2B5EF4-FFF2-40B4-BE49-F238E27FC236}">
                <a16:creationId xmlns:a16="http://schemas.microsoft.com/office/drawing/2014/main" id="{E74AF3F5-0086-F23D-A699-DDB0D6A0D350}"/>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Migrate sang Drift và so sánh ưu nhược điểm</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40C0BD1A-FDA6-928C-6C0E-2E30D8869A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4ED51CD-2083-5B22-843F-4C14AE72C30B}"/>
              </a:ext>
            </a:extLst>
          </p:cNvPr>
          <p:cNvSpPr txBox="1"/>
          <p:nvPr/>
        </p:nvSpPr>
        <p:spPr>
          <a:xfrm>
            <a:off x="173750" y="735342"/>
            <a:ext cx="12018249"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2" name="Straight Connector 11">
            <a:extLst>
              <a:ext uri="{FF2B5EF4-FFF2-40B4-BE49-F238E27FC236}">
                <a16:creationId xmlns:a16="http://schemas.microsoft.com/office/drawing/2014/main" id="{99DAB64B-5B0C-ADB0-E100-A24989649E02}"/>
              </a:ext>
            </a:extLst>
          </p:cNvPr>
          <p:cNvCxnSpPr>
            <a:cxnSpLocks/>
          </p:cNvCxnSpPr>
          <p:nvPr/>
        </p:nvCxnSpPr>
        <p:spPr>
          <a:xfrm>
            <a:off x="6448084" y="1135452"/>
            <a:ext cx="0" cy="5297612"/>
          </a:xfrm>
          <a:prstGeom prst="line">
            <a:avLst/>
          </a:prstGeom>
          <a:ln w="28575"/>
        </p:spPr>
        <p:style>
          <a:lnRef idx="1">
            <a:schemeClr val="dk1"/>
          </a:lnRef>
          <a:fillRef idx="0">
            <a:schemeClr val="dk1"/>
          </a:fillRef>
          <a:effectRef idx="0">
            <a:schemeClr val="dk1"/>
          </a:effectRef>
          <a:fontRef idx="minor">
            <a:schemeClr val="tx1"/>
          </a:fontRef>
        </p:style>
      </p:cxnSp>
      <p:pic>
        <p:nvPicPr>
          <p:cNvPr id="5" name="Picture 4">
            <a:extLst>
              <a:ext uri="{FF2B5EF4-FFF2-40B4-BE49-F238E27FC236}">
                <a16:creationId xmlns:a16="http://schemas.microsoft.com/office/drawing/2014/main" id="{3D180F57-DB8E-2099-0297-A638A7418C96}"/>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470002" y="1321058"/>
            <a:ext cx="4124901" cy="1238423"/>
          </a:xfrm>
          <a:prstGeom prst="rect">
            <a:avLst/>
          </a:prstGeom>
        </p:spPr>
      </p:pic>
      <p:pic>
        <p:nvPicPr>
          <p:cNvPr id="10" name="Picture 9">
            <a:extLst>
              <a:ext uri="{FF2B5EF4-FFF2-40B4-BE49-F238E27FC236}">
                <a16:creationId xmlns:a16="http://schemas.microsoft.com/office/drawing/2014/main" id="{C9254430-0683-CDD1-59D3-DE4EBA75F5CC}"/>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rcRect t="6357"/>
          <a:stretch>
            <a:fillRect/>
          </a:stretch>
        </p:blipFill>
        <p:spPr>
          <a:xfrm>
            <a:off x="6843738" y="3536468"/>
            <a:ext cx="4677541" cy="2896596"/>
          </a:xfrm>
          <a:prstGeom prst="rect">
            <a:avLst/>
          </a:prstGeom>
        </p:spPr>
      </p:pic>
      <p:pic>
        <p:nvPicPr>
          <p:cNvPr id="13" name="Picture 12">
            <a:extLst>
              <a:ext uri="{FF2B5EF4-FFF2-40B4-BE49-F238E27FC236}">
                <a16:creationId xmlns:a16="http://schemas.microsoft.com/office/drawing/2014/main" id="{CCE7E186-780B-1B9C-C58D-D53B9387FBB7}"/>
              </a:ext>
            </a:extLst>
          </p:cNvPr>
          <p:cNvPicPr>
            <a:picLocks noChangeAspect="1"/>
          </p:cNvPicPr>
          <p:nvPr/>
        </p:nvPicPr>
        <p:blipFill>
          <a:blip r:embed="rId8"/>
          <a:stretch>
            <a:fillRect/>
          </a:stretch>
        </p:blipFill>
        <p:spPr>
          <a:xfrm>
            <a:off x="470002" y="3436374"/>
            <a:ext cx="5582429" cy="2705478"/>
          </a:xfrm>
          <a:prstGeom prst="rect">
            <a:avLst/>
          </a:prstGeom>
        </p:spPr>
      </p:pic>
      <p:pic>
        <p:nvPicPr>
          <p:cNvPr id="14" name="Picture 13">
            <a:extLst>
              <a:ext uri="{FF2B5EF4-FFF2-40B4-BE49-F238E27FC236}">
                <a16:creationId xmlns:a16="http://schemas.microsoft.com/office/drawing/2014/main" id="{6E96D094-661F-B818-8FC1-A5A867751A6D}"/>
              </a:ext>
            </a:extLst>
          </p:cNvPr>
          <p:cNvPicPr>
            <a:picLocks noChangeAspect="1"/>
          </p:cNvPicPr>
          <p:nvPr/>
        </p:nvPicPr>
        <p:blipFill>
          <a:blip r:embed="rId9">
            <a:extLst>
              <a:ext uri="{BEBA8EAE-BF5A-486C-A8C5-ECC9F3942E4B}">
                <a14:imgProps xmlns:a14="http://schemas.microsoft.com/office/drawing/2010/main">
                  <a14:imgLayer r:embed="rId10">
                    <a14:imgEffect>
                      <a14:sharpenSoften amount="25000"/>
                    </a14:imgEffect>
                  </a14:imgLayer>
                </a14:imgProps>
              </a:ext>
            </a:extLst>
          </a:blip>
          <a:srcRect t="1" b="1227"/>
          <a:stretch>
            <a:fillRect/>
          </a:stretch>
        </p:blipFill>
        <p:spPr>
          <a:xfrm>
            <a:off x="6843738" y="1124943"/>
            <a:ext cx="4677545" cy="2301147"/>
          </a:xfrm>
          <a:prstGeom prst="rect">
            <a:avLst/>
          </a:prstGeom>
          <a:ln>
            <a:noFill/>
          </a:ln>
          <a:effectLst>
            <a:outerShdw blurRad="190500" algn="tl" rotWithShape="0">
              <a:srgbClr val="000000">
                <a:alpha val="70000"/>
              </a:srgbClr>
            </a:outerShdw>
          </a:effectLst>
        </p:spPr>
      </p:pic>
      <p:sp>
        <p:nvSpPr>
          <p:cNvPr id="15" name="Rectangle 14">
            <a:extLst>
              <a:ext uri="{FF2B5EF4-FFF2-40B4-BE49-F238E27FC236}">
                <a16:creationId xmlns:a16="http://schemas.microsoft.com/office/drawing/2014/main" id="{805E71CE-290A-50E5-F2E9-290C7B328773}"/>
              </a:ext>
            </a:extLst>
          </p:cNvPr>
          <p:cNvSpPr/>
          <p:nvPr/>
        </p:nvSpPr>
        <p:spPr>
          <a:xfrm>
            <a:off x="11095893" y="1414859"/>
            <a:ext cx="313636" cy="400110"/>
          </a:xfrm>
          <a:prstGeom prst="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7" name="Graphic 16" descr="Back with solid fill">
            <a:extLst>
              <a:ext uri="{FF2B5EF4-FFF2-40B4-BE49-F238E27FC236}">
                <a16:creationId xmlns:a16="http://schemas.microsoft.com/office/drawing/2014/main" id="{EAF197A6-9D67-E65D-FFFE-40CE7D6766F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21268662">
            <a:off x="11430145" y="1370314"/>
            <a:ext cx="450173" cy="450173"/>
          </a:xfrm>
          <a:prstGeom prst="rect">
            <a:avLst/>
          </a:prstGeom>
        </p:spPr>
      </p:pic>
      <p:sp>
        <p:nvSpPr>
          <p:cNvPr id="19" name="Rectangle 18">
            <a:extLst>
              <a:ext uri="{FF2B5EF4-FFF2-40B4-BE49-F238E27FC236}">
                <a16:creationId xmlns:a16="http://schemas.microsoft.com/office/drawing/2014/main" id="{ADD2485D-BA31-3176-980E-44D9E90286B2}"/>
              </a:ext>
            </a:extLst>
          </p:cNvPr>
          <p:cNvSpPr/>
          <p:nvPr/>
        </p:nvSpPr>
        <p:spPr>
          <a:xfrm>
            <a:off x="6868419" y="6122658"/>
            <a:ext cx="1538599" cy="310406"/>
          </a:xfrm>
          <a:prstGeom prst="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20" name="Graphic 19" descr="Back with solid fill">
            <a:extLst>
              <a:ext uri="{FF2B5EF4-FFF2-40B4-BE49-F238E27FC236}">
                <a16:creationId xmlns:a16="http://schemas.microsoft.com/office/drawing/2014/main" id="{533BD9B5-11C2-B362-0CF9-A304A7AC044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21268662">
            <a:off x="8437885" y="6144789"/>
            <a:ext cx="406140" cy="406140"/>
          </a:xfrm>
          <a:prstGeom prst="rect">
            <a:avLst/>
          </a:prstGeom>
        </p:spPr>
      </p:pic>
    </p:spTree>
    <p:extLst>
      <p:ext uri="{BB962C8B-B14F-4D97-AF65-F5344CB8AC3E}">
        <p14:creationId xmlns:p14="http://schemas.microsoft.com/office/powerpoint/2010/main" val="1977939560"/>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60A1-F81F-DB38-710E-030FD61C2A73}"/>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94D49FF9-F456-A82D-F9D3-6023EBB8C04C}"/>
              </a:ext>
            </a:extLst>
          </p:cNvPr>
          <p:cNvSpPr/>
          <p:nvPr/>
        </p:nvSpPr>
        <p:spPr>
          <a:xfrm>
            <a:off x="0"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4F016DBB-F459-DA68-625D-34271A9844E3}"/>
              </a:ext>
            </a:extLst>
          </p:cNvPr>
          <p:cNvSpPr txBox="1">
            <a:spLocks/>
          </p:cNvSpPr>
          <p:nvPr/>
        </p:nvSpPr>
        <p:spPr>
          <a:xfrm>
            <a:off x="11215249" y="65362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35</a:t>
            </a:r>
          </a:p>
        </p:txBody>
      </p:sp>
      <p:sp>
        <p:nvSpPr>
          <p:cNvPr id="7" name="Title 10">
            <a:extLst>
              <a:ext uri="{FF2B5EF4-FFF2-40B4-BE49-F238E27FC236}">
                <a16:creationId xmlns:a16="http://schemas.microsoft.com/office/drawing/2014/main" id="{83316073-6D38-9A3A-19C1-03007392AA2B}"/>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Migrate sang Drift và so sánh ưu nhược điểm</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C346A571-ED23-0289-C27D-6940ACEAFA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03BCF3DD-B7EF-A664-C417-0AE59AD3861F}"/>
              </a:ext>
            </a:extLst>
          </p:cNvPr>
          <p:cNvSpPr txBox="1"/>
          <p:nvPr/>
        </p:nvSpPr>
        <p:spPr>
          <a:xfrm>
            <a:off x="1007118" y="917789"/>
            <a:ext cx="2952469" cy="400110"/>
          </a:xfrm>
          <a:prstGeom prst="rect">
            <a:avLst/>
          </a:prstGeom>
          <a:noFill/>
        </p:spPr>
        <p:txBody>
          <a:bodyPr wrap="square" rtlCol="0">
            <a:spAutoFit/>
          </a:bodyPr>
          <a:lstStyle/>
          <a:p>
            <a:pPr marL="342900" indent="-342900">
              <a:buFont typeface="Wingdings" panose="05000000000000000000" pitchFamily="2" charset="2"/>
              <a:buChar char="§"/>
            </a:pPr>
            <a:r>
              <a:rPr lang="en-US" sz="2000" b="1">
                <a:solidFill>
                  <a:schemeClr val="bg1"/>
                </a:solidFill>
                <a:latin typeface="Cambria" panose="02040503050406030204" pitchFamily="18" charset="0"/>
                <a:ea typeface="Cambria" panose="02040503050406030204" pitchFamily="18" charset="0"/>
              </a:rPr>
              <a:t>So sánh:</a:t>
            </a:r>
          </a:p>
        </p:txBody>
      </p:sp>
      <p:graphicFrame>
        <p:nvGraphicFramePr>
          <p:cNvPr id="2" name="Table 1">
            <a:extLst>
              <a:ext uri="{FF2B5EF4-FFF2-40B4-BE49-F238E27FC236}">
                <a16:creationId xmlns:a16="http://schemas.microsoft.com/office/drawing/2014/main" id="{E6CE22F6-2B04-2D61-D910-32578531D7BD}"/>
              </a:ext>
            </a:extLst>
          </p:cNvPr>
          <p:cNvGraphicFramePr>
            <a:graphicFrameLocks noGrp="1"/>
          </p:cNvGraphicFramePr>
          <p:nvPr>
            <p:extLst>
              <p:ext uri="{D42A27DB-BD31-4B8C-83A1-F6EECF244321}">
                <p14:modId xmlns:p14="http://schemas.microsoft.com/office/powerpoint/2010/main" val="3115381798"/>
              </p:ext>
            </p:extLst>
          </p:nvPr>
        </p:nvGraphicFramePr>
        <p:xfrm>
          <a:off x="1610436" y="1591461"/>
          <a:ext cx="9471546" cy="4225041"/>
        </p:xfrm>
        <a:graphic>
          <a:graphicData uri="http://schemas.openxmlformats.org/drawingml/2006/table">
            <a:tbl>
              <a:tblPr firstRow="1" bandRow="1">
                <a:tableStyleId>{D7AC3CCA-C797-4891-BE02-D94E43425B78}</a:tableStyleId>
              </a:tblPr>
              <a:tblGrid>
                <a:gridCol w="2947916">
                  <a:extLst>
                    <a:ext uri="{9D8B030D-6E8A-4147-A177-3AD203B41FA5}">
                      <a16:colId xmlns:a16="http://schemas.microsoft.com/office/drawing/2014/main" val="2564253195"/>
                    </a:ext>
                  </a:extLst>
                </a:gridCol>
                <a:gridCol w="3366448">
                  <a:extLst>
                    <a:ext uri="{9D8B030D-6E8A-4147-A177-3AD203B41FA5}">
                      <a16:colId xmlns:a16="http://schemas.microsoft.com/office/drawing/2014/main" val="2905256297"/>
                    </a:ext>
                  </a:extLst>
                </a:gridCol>
                <a:gridCol w="3157182">
                  <a:extLst>
                    <a:ext uri="{9D8B030D-6E8A-4147-A177-3AD203B41FA5}">
                      <a16:colId xmlns:a16="http://schemas.microsoft.com/office/drawing/2014/main" val="2317794420"/>
                    </a:ext>
                  </a:extLst>
                </a:gridCol>
              </a:tblGrid>
              <a:tr h="466580">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Tiêu chí</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SQLite thuần</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Drift ORM</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extLst>
                  <a:ext uri="{0D108BD9-81ED-4DB2-BD59-A6C34878D82A}">
                    <a16:rowId xmlns:a16="http://schemas.microsoft.com/office/drawing/2014/main" val="1226257331"/>
                  </a:ext>
                </a:extLst>
              </a:tr>
              <a:tr h="466580">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Cú pháp</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SQL thủ công</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Code Dart type-safe</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extLst>
                  <a:ext uri="{0D108BD9-81ED-4DB2-BD59-A6C34878D82A}">
                    <a16:rowId xmlns:a16="http://schemas.microsoft.com/office/drawing/2014/main" val="3899969406"/>
                  </a:ext>
                </a:extLst>
              </a:tr>
              <a:tr h="790790">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Dễ bảo trì</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Khó (phải sửa query)</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Dễ (Drift sinh mã tự động)</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extLst>
                  <a:ext uri="{0D108BD9-81ED-4DB2-BD59-A6C34878D82A}">
                    <a16:rowId xmlns:a16="http://schemas.microsoft.com/office/drawing/2014/main" val="3285416663"/>
                  </a:ext>
                </a:extLst>
              </a:tr>
              <a:tr h="790790">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Tính an toàn kiểu dữ liệu</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Không có</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Có kiểm tra kiểu trong compile-time</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extLst>
                  <a:ext uri="{0D108BD9-81ED-4DB2-BD59-A6C34878D82A}">
                    <a16:rowId xmlns:a16="http://schemas.microsoft.com/office/drawing/2014/main" val="65670676"/>
                  </a:ext>
                </a:extLst>
              </a:tr>
              <a:tr h="520390">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Migration</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Thủ công</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Tự động hỗ trợ versioning</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extLst>
                  <a:ext uri="{0D108BD9-81ED-4DB2-BD59-A6C34878D82A}">
                    <a16:rowId xmlns:a16="http://schemas.microsoft.com/office/drawing/2014/main" val="1101265866"/>
                  </a:ext>
                </a:extLst>
              </a:tr>
              <a:tr h="723331">
                <a:tc>
                  <a:txBody>
                    <a:bodyPr/>
                    <a:lstStyle/>
                    <a:p>
                      <a:pPr algn="just">
                        <a:lnSpc>
                          <a:spcPct val="107000"/>
                        </a:lnSpc>
                        <a:spcAft>
                          <a:spcPts val="800"/>
                        </a:spcAft>
                        <a:buNone/>
                      </a:pPr>
                      <a:r>
                        <a:rPr lang="en-US" sz="2000" b="0" kern="100">
                          <a:effectLst/>
                          <a:latin typeface="Cambria" panose="02040503050406030204" pitchFamily="18" charset="0"/>
                          <a:ea typeface="Cambria" panose="02040503050406030204" pitchFamily="18" charset="0"/>
                          <a:cs typeface="Times New Roman" panose="02020603050405020304" pitchFamily="18" charset="0"/>
                        </a:rPr>
                        <a:t>Hiệu năng</a:t>
                      </a:r>
                    </a:p>
                  </a:txBody>
                  <a:tcPr marL="68580" marR="68580" marT="0" marB="0" anchor="ctr">
                    <a:solidFill>
                      <a:schemeClr val="tx1"/>
                    </a:solidFill>
                  </a:tcPr>
                </a:tc>
                <a:tc>
                  <a:txBody>
                    <a:bodyPr/>
                    <a:lstStyle/>
                    <a:p>
                      <a:pPr algn="just">
                        <a:lnSpc>
                          <a:spcPct val="107000"/>
                        </a:lnSpc>
                        <a:spcAft>
                          <a:spcPts val="800"/>
                        </a:spcAft>
                        <a:buNone/>
                      </a:pPr>
                      <a:r>
                        <a:rPr lang="en-US" sz="2000" b="0" kern="100">
                          <a:effectLst/>
                          <a:latin typeface="Cambria" panose="02040503050406030204" pitchFamily="18" charset="0"/>
                          <a:ea typeface="Cambria" panose="02040503050406030204" pitchFamily="18" charset="0"/>
                          <a:cs typeface="Times New Roman" panose="02020603050405020304" pitchFamily="18" charset="0"/>
                        </a:rPr>
                        <a:t>Nhanh hơn chút</a:t>
                      </a:r>
                    </a:p>
                  </a:txBody>
                  <a:tcPr marL="68580" marR="68580" marT="0" marB="0" anchor="ctr">
                    <a:solidFill>
                      <a:schemeClr val="tx1"/>
                    </a:solidFill>
                  </a:tcPr>
                </a:tc>
                <a:tc>
                  <a:txBody>
                    <a:bodyPr/>
                    <a:lstStyle/>
                    <a:p>
                      <a:pPr algn="just">
                        <a:lnSpc>
                          <a:spcPct val="107000"/>
                        </a:lnSpc>
                        <a:spcAft>
                          <a:spcPts val="800"/>
                        </a:spcAft>
                        <a:buNone/>
                      </a:pPr>
                      <a:r>
                        <a:rPr lang="en-US" sz="2000" b="0" kern="100">
                          <a:effectLst/>
                          <a:latin typeface="Cambria" panose="02040503050406030204" pitchFamily="18" charset="0"/>
                          <a:ea typeface="Cambria" panose="02040503050406030204" pitchFamily="18" charset="0"/>
                          <a:cs typeface="Times New Roman" panose="02020603050405020304" pitchFamily="18" charset="0"/>
                        </a:rPr>
                        <a:t>Chậm hơn chút (do qua lớp ORM)</a:t>
                      </a:r>
                    </a:p>
                  </a:txBody>
                  <a:tcPr marL="68580" marR="68580" marT="0" marB="0" anchor="ctr">
                    <a:solidFill>
                      <a:schemeClr val="tx1"/>
                    </a:solidFill>
                  </a:tcPr>
                </a:tc>
                <a:extLst>
                  <a:ext uri="{0D108BD9-81ED-4DB2-BD59-A6C34878D82A}">
                    <a16:rowId xmlns:a16="http://schemas.microsoft.com/office/drawing/2014/main" val="2513060036"/>
                  </a:ext>
                </a:extLst>
              </a:tr>
              <a:tr h="466580">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Phù hợp cho</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Ứng dụng nhỏ, ít bảng</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Ứng dụng lớn, phức tạp</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extLst>
                  <a:ext uri="{0D108BD9-81ED-4DB2-BD59-A6C34878D82A}">
                    <a16:rowId xmlns:a16="http://schemas.microsoft.com/office/drawing/2014/main" val="484341593"/>
                  </a:ext>
                </a:extLst>
              </a:tr>
            </a:tbl>
          </a:graphicData>
        </a:graphic>
      </p:graphicFrame>
    </p:spTree>
    <p:extLst>
      <p:ext uri="{BB962C8B-B14F-4D97-AF65-F5344CB8AC3E}">
        <p14:creationId xmlns:p14="http://schemas.microsoft.com/office/powerpoint/2010/main" val="1490970860"/>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FFA8A-6142-4975-D3AA-A56703B5CC5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14C627A8-2909-9C9B-1F2D-88B57F572CFD}"/>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Title 1">
            <a:extLst>
              <a:ext uri="{FF2B5EF4-FFF2-40B4-BE49-F238E27FC236}">
                <a16:creationId xmlns:a16="http://schemas.microsoft.com/office/drawing/2014/main" id="{2EF12968-E361-24CB-E58B-5443B702C4B6}"/>
              </a:ext>
            </a:extLst>
          </p:cNvPr>
          <p:cNvSpPr txBox="1">
            <a:spLocks/>
          </p:cNvSpPr>
          <p:nvPr/>
        </p:nvSpPr>
        <p:spPr>
          <a:xfrm>
            <a:off x="1618497" y="985249"/>
            <a:ext cx="7778496" cy="1879261"/>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endParaRPr lang="vi-VN" sz="4400" b="1">
              <a:solidFill>
                <a:srgbClr val="FF0000"/>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ECA39AC6-9F44-D81C-BDBE-50B5421B26DE}"/>
              </a:ext>
            </a:extLst>
          </p:cNvPr>
          <p:cNvSpPr txBox="1">
            <a:spLocks/>
          </p:cNvSpPr>
          <p:nvPr/>
        </p:nvSpPr>
        <p:spPr>
          <a:xfrm>
            <a:off x="1492778" y="1126475"/>
            <a:ext cx="9312407" cy="1637808"/>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Đề</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a:t>
            </a: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tài</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SQLite và Drift – Quản lý cơ sở dữ liệu quan hệ</a:t>
            </a:r>
            <a:endParaRPr lang="vi-VN"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3" name="Date Placeholder 3">
            <a:extLst>
              <a:ext uri="{FF2B5EF4-FFF2-40B4-BE49-F238E27FC236}">
                <a16:creationId xmlns:a16="http://schemas.microsoft.com/office/drawing/2014/main" id="{5BD3A3ED-90EF-CC15-E0BC-F660FC72E14E}"/>
              </a:ext>
            </a:extLst>
          </p:cNvPr>
          <p:cNvSpPr txBox="1">
            <a:spLocks/>
          </p:cNvSpPr>
          <p:nvPr/>
        </p:nvSpPr>
        <p:spPr>
          <a:xfrm>
            <a:off x="11215249" y="6513896"/>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36</a:t>
            </a:r>
          </a:p>
        </p:txBody>
      </p:sp>
      <p:sp>
        <p:nvSpPr>
          <p:cNvPr id="12" name="Content Placeholder 2">
            <a:extLst>
              <a:ext uri="{FF2B5EF4-FFF2-40B4-BE49-F238E27FC236}">
                <a16:creationId xmlns:a16="http://schemas.microsoft.com/office/drawing/2014/main" id="{FC0E9C2B-9C2A-4CBE-EF73-1F5CFD4D941A}"/>
              </a:ext>
            </a:extLst>
          </p:cNvPr>
          <p:cNvSpPr txBox="1">
            <a:spLocks/>
          </p:cNvSpPr>
          <p:nvPr/>
        </p:nvSpPr>
        <p:spPr>
          <a:xfrm>
            <a:off x="756830" y="2084724"/>
            <a:ext cx="10784301" cy="4370807"/>
          </a:xfrm>
          <a:prstGeom prst="rect">
            <a:avLst/>
          </a:prstGeom>
        </p:spPr>
        <p:txBody>
          <a:bodyPr/>
          <a:lst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800" b="1">
              <a:solidFill>
                <a:srgbClr val="616163"/>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 </a:t>
            </a:r>
            <a:r>
              <a:rPr lang="en-US" sz="2400" b="1" err="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Giới</a:t>
            </a: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thiệu tổng quan </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 Ứng dụng quản lý danh sách sản phẩm với SQLite</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 Migrate sang Drift và so sánh ưu nhược điểm</a:t>
            </a:r>
          </a:p>
          <a:p>
            <a:pPr marL="0" indent="0">
              <a:buNone/>
            </a:pP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Perfomance testing và optimization</a:t>
            </a:r>
          </a:p>
        </p:txBody>
      </p:sp>
      <p:sp>
        <p:nvSpPr>
          <p:cNvPr id="16" name="Title 1">
            <a:extLst>
              <a:ext uri="{FF2B5EF4-FFF2-40B4-BE49-F238E27FC236}">
                <a16:creationId xmlns:a16="http://schemas.microsoft.com/office/drawing/2014/main" id="{541847D8-695D-6F35-F23E-D8F45A8038DC}"/>
              </a:ext>
            </a:extLst>
          </p:cNvPr>
          <p:cNvSpPr txBox="1">
            <a:spLocks/>
          </p:cNvSpPr>
          <p:nvPr/>
        </p:nvSpPr>
        <p:spPr>
          <a:xfrm>
            <a:off x="1136915" y="335889"/>
            <a:ext cx="3355800" cy="411471"/>
          </a:xfrm>
          <a:prstGeom prst="rect">
            <a:avLst/>
          </a:prstGeom>
          <a:solidFill>
            <a:schemeClr val="tx1"/>
          </a:solid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vi-VN" sz="1800" b="1" i="0" u="none" strike="noStrike" kern="1200" cap="none" spc="0" normalizeH="0" baseline="0" noProof="0">
                <a:ln>
                  <a:noFill/>
                </a:ln>
                <a:solidFill>
                  <a:srgbClr val="0000CC"/>
                </a:solidFill>
                <a:effectLst>
                  <a:outerShdw blurRad="50800" dist="38100" dir="2700000" algn="tl" rotWithShape="0">
                    <a:prstClr val="black">
                      <a:alpha val="4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TRƯỜNG ĐẠI HỌC BÁCH KHOA</a:t>
            </a:r>
          </a:p>
        </p:txBody>
      </p:sp>
      <p:sp>
        <p:nvSpPr>
          <p:cNvPr id="17" name="Title 1">
            <a:extLst>
              <a:ext uri="{FF2B5EF4-FFF2-40B4-BE49-F238E27FC236}">
                <a16:creationId xmlns:a16="http://schemas.microsoft.com/office/drawing/2014/main" id="{82934FC0-C7F8-9E59-CA78-1614E6B5E9EC}"/>
              </a:ext>
            </a:extLst>
          </p:cNvPr>
          <p:cNvSpPr txBox="1">
            <a:spLocks/>
          </p:cNvSpPr>
          <p:nvPr/>
        </p:nvSpPr>
        <p:spPr>
          <a:xfrm>
            <a:off x="1136915" y="105829"/>
            <a:ext cx="2063487" cy="382190"/>
          </a:xfrm>
          <a:prstGeom prst="rect">
            <a:avLst/>
          </a:prstGeom>
          <a:solidFill>
            <a:schemeClr val="tx1"/>
          </a:solid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ĐẠI HỌC ĐÀ NẴNG</a:t>
            </a:r>
            <a:endParaRPr kumimoji="0" lang="en-US"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endParaRPr>
          </a:p>
        </p:txBody>
      </p:sp>
      <p:pic>
        <p:nvPicPr>
          <p:cNvPr id="18" name="Picture 4" descr="Tải mẫu logo trường đại học Bách Khoa Đà Nẵng (DUT) file ...">
            <a:extLst>
              <a:ext uri="{FF2B5EF4-FFF2-40B4-BE49-F238E27FC236}">
                <a16:creationId xmlns:a16="http://schemas.microsoft.com/office/drawing/2014/main" id="{490796DC-A7AE-73F4-80FB-48DF190E98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963164" cy="96316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9" name="Title 1">
            <a:extLst>
              <a:ext uri="{FF2B5EF4-FFF2-40B4-BE49-F238E27FC236}">
                <a16:creationId xmlns:a16="http://schemas.microsoft.com/office/drawing/2014/main" id="{84B132F8-5D79-E9F0-FD93-6AAD1D2F6CA3}"/>
              </a:ext>
            </a:extLst>
          </p:cNvPr>
          <p:cNvSpPr txBox="1">
            <a:spLocks/>
          </p:cNvSpPr>
          <p:nvPr/>
        </p:nvSpPr>
        <p:spPr>
          <a:xfrm>
            <a:off x="1221961" y="728923"/>
            <a:ext cx="3127764" cy="41147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KHOA </a:t>
            </a:r>
            <a:r>
              <a:rPr kumimoji="0" lang="en-US"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ĐIỆN TỬ - VIỄN THÔNG</a:t>
            </a:r>
            <a:endPar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641655732"/>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F7FEC-22D9-3B59-2143-7E43CEC98FA6}"/>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690B999D-15CD-38DD-FC3C-9C5234E2CF9A}"/>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56FA3343-F5C5-3AD0-1F2F-61F8878F7386}"/>
              </a:ext>
            </a:extLst>
          </p:cNvPr>
          <p:cNvSpPr txBox="1">
            <a:spLocks/>
          </p:cNvSpPr>
          <p:nvPr/>
        </p:nvSpPr>
        <p:spPr>
          <a:xfrm>
            <a:off x="11216116" y="6509811"/>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37</a:t>
            </a:r>
          </a:p>
        </p:txBody>
      </p:sp>
      <p:sp>
        <p:nvSpPr>
          <p:cNvPr id="7" name="Title 10">
            <a:extLst>
              <a:ext uri="{FF2B5EF4-FFF2-40B4-BE49-F238E27FC236}">
                <a16:creationId xmlns:a16="http://schemas.microsoft.com/office/drawing/2014/main" id="{9A9F81B0-D9D1-B441-9CC3-61DAA0A7AD05}"/>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 </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3DD8AAC9-C71F-1C86-3CF8-2C0065E37C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1D81641-30C1-8B58-C5C6-512809ED79C2}"/>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1063097" y="1676137"/>
            <a:ext cx="4505445" cy="4495756"/>
          </a:xfrm>
          <a:prstGeom prst="rect">
            <a:avLst/>
          </a:prstGeom>
        </p:spPr>
      </p:pic>
      <p:sp>
        <p:nvSpPr>
          <p:cNvPr id="6" name="TextBox 5">
            <a:extLst>
              <a:ext uri="{FF2B5EF4-FFF2-40B4-BE49-F238E27FC236}">
                <a16:creationId xmlns:a16="http://schemas.microsoft.com/office/drawing/2014/main" id="{20FD25C9-F41A-A81B-5DE5-44724C5F75F3}"/>
              </a:ext>
            </a:extLst>
          </p:cNvPr>
          <p:cNvSpPr txBox="1"/>
          <p:nvPr/>
        </p:nvSpPr>
        <p:spPr>
          <a:xfrm>
            <a:off x="638629" y="1202287"/>
            <a:ext cx="2913463"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Category model:</a:t>
            </a:r>
          </a:p>
        </p:txBody>
      </p:sp>
      <p:pic>
        <p:nvPicPr>
          <p:cNvPr id="2" name="Picture 1">
            <a:extLst>
              <a:ext uri="{FF2B5EF4-FFF2-40B4-BE49-F238E27FC236}">
                <a16:creationId xmlns:a16="http://schemas.microsoft.com/office/drawing/2014/main" id="{08920DFF-317F-E775-0DF8-14339F103362}"/>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6292165" y="1720382"/>
            <a:ext cx="4920808" cy="2647334"/>
          </a:xfrm>
          <a:prstGeom prst="rect">
            <a:avLst/>
          </a:prstGeom>
        </p:spPr>
      </p:pic>
      <p:sp>
        <p:nvSpPr>
          <p:cNvPr id="4" name="TextBox 3">
            <a:extLst>
              <a:ext uri="{FF2B5EF4-FFF2-40B4-BE49-F238E27FC236}">
                <a16:creationId xmlns:a16="http://schemas.microsoft.com/office/drawing/2014/main" id="{03013164-D122-A007-29CF-614E371D0DB9}"/>
              </a:ext>
            </a:extLst>
          </p:cNvPr>
          <p:cNvSpPr txBox="1"/>
          <p:nvPr/>
        </p:nvSpPr>
        <p:spPr>
          <a:xfrm>
            <a:off x="5862982" y="1189113"/>
            <a:ext cx="2913463"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Product model:</a:t>
            </a:r>
          </a:p>
        </p:txBody>
      </p:sp>
      <p:cxnSp>
        <p:nvCxnSpPr>
          <p:cNvPr id="10" name="Straight Connector 9">
            <a:extLst>
              <a:ext uri="{FF2B5EF4-FFF2-40B4-BE49-F238E27FC236}">
                <a16:creationId xmlns:a16="http://schemas.microsoft.com/office/drawing/2014/main" id="{68CBE675-BE7E-CCBB-8156-41DD1B3E7BCC}"/>
              </a:ext>
            </a:extLst>
          </p:cNvPr>
          <p:cNvCxnSpPr>
            <a:cxnSpLocks/>
          </p:cNvCxnSpPr>
          <p:nvPr/>
        </p:nvCxnSpPr>
        <p:spPr>
          <a:xfrm>
            <a:off x="5703422" y="1179871"/>
            <a:ext cx="0" cy="5115599"/>
          </a:xfrm>
          <a:prstGeom prst="line">
            <a:avLst/>
          </a:prstGeom>
          <a:ln w="28575"/>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520C5B3F-6B50-D4D9-CB61-EEF3A52B0690}"/>
              </a:ext>
            </a:extLst>
          </p:cNvPr>
          <p:cNvSpPr txBox="1"/>
          <p:nvPr/>
        </p:nvSpPr>
        <p:spPr>
          <a:xfrm>
            <a:off x="638629" y="757511"/>
            <a:ext cx="3552093" cy="400110"/>
          </a:xfrm>
          <a:prstGeom prst="rect">
            <a:avLst/>
          </a:prstGeom>
          <a:noFill/>
        </p:spPr>
        <p:txBody>
          <a:bodyPr wrap="square" rtlCol="0">
            <a:spAutoFit/>
          </a:bodyPr>
          <a:lstStyle/>
          <a:p>
            <a:pPr marL="342900" indent="-342900">
              <a:buFont typeface="Wingdings" panose="05000000000000000000" pitchFamily="2" charset="2"/>
              <a:buChar char="Ø"/>
            </a:pPr>
            <a:r>
              <a:rPr lang="en-US" sz="2000" b="1">
                <a:solidFill>
                  <a:schemeClr val="bg1"/>
                </a:solidFill>
                <a:latin typeface="Cambria" panose="02040503050406030204" pitchFamily="18" charset="0"/>
                <a:ea typeface="Cambria" panose="02040503050406030204" pitchFamily="18" charset="0"/>
              </a:rPr>
              <a:t>Với SQLite:</a:t>
            </a:r>
          </a:p>
        </p:txBody>
      </p:sp>
    </p:spTree>
    <p:extLst>
      <p:ext uri="{BB962C8B-B14F-4D97-AF65-F5344CB8AC3E}">
        <p14:creationId xmlns:p14="http://schemas.microsoft.com/office/powerpoint/2010/main" val="1256427942"/>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36CF1-0B3D-9BFE-C6A8-B65CB47CDD55}"/>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1560D070-8168-8355-6CA4-DED049767DF3}"/>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38147BFF-BA41-118C-D8DB-EF5C83024141}"/>
              </a:ext>
            </a:extLst>
          </p:cNvPr>
          <p:cNvSpPr txBox="1">
            <a:spLocks/>
          </p:cNvSpPr>
          <p:nvPr/>
        </p:nvSpPr>
        <p:spPr>
          <a:xfrm>
            <a:off x="11202468" y="6509811"/>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38</a:t>
            </a:r>
          </a:p>
        </p:txBody>
      </p:sp>
      <p:sp>
        <p:nvSpPr>
          <p:cNvPr id="7" name="Title 10">
            <a:extLst>
              <a:ext uri="{FF2B5EF4-FFF2-40B4-BE49-F238E27FC236}">
                <a16:creationId xmlns:a16="http://schemas.microsoft.com/office/drawing/2014/main" id="{C72AC84C-A458-0C03-412D-CCC13E7163CB}"/>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 </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5336107E-D552-26A8-3089-E94159000E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0912638-3711-B280-2818-AD08C029DBB1}"/>
              </a:ext>
            </a:extLst>
          </p:cNvPr>
          <p:cNvSpPr txBox="1"/>
          <p:nvPr/>
        </p:nvSpPr>
        <p:spPr>
          <a:xfrm>
            <a:off x="673456" y="687930"/>
            <a:ext cx="2913463"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Tạo bảng với SQLite:</a:t>
            </a:r>
          </a:p>
        </p:txBody>
      </p:sp>
      <p:pic>
        <p:nvPicPr>
          <p:cNvPr id="15" name="Picture 14">
            <a:extLst>
              <a:ext uri="{FF2B5EF4-FFF2-40B4-BE49-F238E27FC236}">
                <a16:creationId xmlns:a16="http://schemas.microsoft.com/office/drawing/2014/main" id="{554142E4-DF7C-57B5-669F-F652E2FC9603}"/>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960064" y="1100408"/>
            <a:ext cx="4582164" cy="5039428"/>
          </a:xfrm>
          <a:prstGeom prst="rect">
            <a:avLst/>
          </a:prstGeom>
        </p:spPr>
      </p:pic>
      <p:cxnSp>
        <p:nvCxnSpPr>
          <p:cNvPr id="4" name="Straight Connector 3">
            <a:extLst>
              <a:ext uri="{FF2B5EF4-FFF2-40B4-BE49-F238E27FC236}">
                <a16:creationId xmlns:a16="http://schemas.microsoft.com/office/drawing/2014/main" id="{0F442806-C74A-72BC-6CB3-B0A72EBE9786}"/>
              </a:ext>
            </a:extLst>
          </p:cNvPr>
          <p:cNvCxnSpPr>
            <a:cxnSpLocks/>
          </p:cNvCxnSpPr>
          <p:nvPr/>
        </p:nvCxnSpPr>
        <p:spPr>
          <a:xfrm>
            <a:off x="5701249" y="687930"/>
            <a:ext cx="0" cy="5826047"/>
          </a:xfrm>
          <a:prstGeom prst="line">
            <a:avLst/>
          </a:prstGeom>
          <a:ln w="28575"/>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49715870-0856-C5BE-2C75-2ED8BFB2AE49}"/>
              </a:ext>
            </a:extLst>
          </p:cNvPr>
          <p:cNvSpPr txBox="1"/>
          <p:nvPr/>
        </p:nvSpPr>
        <p:spPr>
          <a:xfrm>
            <a:off x="5818559" y="673002"/>
            <a:ext cx="2913463"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Tạo bảng với Drift:</a:t>
            </a:r>
          </a:p>
        </p:txBody>
      </p:sp>
      <p:pic>
        <p:nvPicPr>
          <p:cNvPr id="17" name="Picture 16">
            <a:extLst>
              <a:ext uri="{FF2B5EF4-FFF2-40B4-BE49-F238E27FC236}">
                <a16:creationId xmlns:a16="http://schemas.microsoft.com/office/drawing/2014/main" id="{46EEBA49-642B-3E7A-CB16-AF02BA7089BB}"/>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6007492" y="1071877"/>
            <a:ext cx="5449060" cy="3153215"/>
          </a:xfrm>
          <a:prstGeom prst="rect">
            <a:avLst/>
          </a:prstGeom>
        </p:spPr>
      </p:pic>
      <p:pic>
        <p:nvPicPr>
          <p:cNvPr id="19" name="Picture 18">
            <a:extLst>
              <a:ext uri="{FF2B5EF4-FFF2-40B4-BE49-F238E27FC236}">
                <a16:creationId xmlns:a16="http://schemas.microsoft.com/office/drawing/2014/main" id="{F275D06B-7D2B-0E36-68B8-EBBA76DD0C70}"/>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5993844" y="4170500"/>
            <a:ext cx="4696480" cy="2343477"/>
          </a:xfrm>
          <a:prstGeom prst="rect">
            <a:avLst/>
          </a:prstGeom>
        </p:spPr>
      </p:pic>
    </p:spTree>
    <p:extLst>
      <p:ext uri="{BB962C8B-B14F-4D97-AF65-F5344CB8AC3E}">
        <p14:creationId xmlns:p14="http://schemas.microsoft.com/office/powerpoint/2010/main" val="1459298959"/>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37988-0A1F-05D2-599A-EFD3AEDAF0CD}"/>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BB3EB1B-D733-5263-B120-AB43221BE617}"/>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A6FFF8C2-5B3F-A216-6B23-4D5A7B008E10}"/>
              </a:ext>
            </a:extLst>
          </p:cNvPr>
          <p:cNvSpPr txBox="1">
            <a:spLocks/>
          </p:cNvSpPr>
          <p:nvPr/>
        </p:nvSpPr>
        <p:spPr>
          <a:xfrm>
            <a:off x="11216116" y="6509811"/>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39</a:t>
            </a:r>
          </a:p>
        </p:txBody>
      </p:sp>
      <p:sp>
        <p:nvSpPr>
          <p:cNvPr id="7" name="Title 10">
            <a:extLst>
              <a:ext uri="{FF2B5EF4-FFF2-40B4-BE49-F238E27FC236}">
                <a16:creationId xmlns:a16="http://schemas.microsoft.com/office/drawing/2014/main" id="{F45DAE8B-07DF-9552-6863-870048BC5879}"/>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 </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83FD1B5C-ED7A-40B9-B6FA-636F9F06C6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EA10A8B-FB17-FDDE-CFC9-4399339FFBD7}"/>
              </a:ext>
            </a:extLst>
          </p:cNvPr>
          <p:cNvSpPr txBox="1"/>
          <p:nvPr/>
        </p:nvSpPr>
        <p:spPr>
          <a:xfrm>
            <a:off x="379317" y="1112075"/>
            <a:ext cx="2913463"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Với SQLite:</a:t>
            </a:r>
          </a:p>
        </p:txBody>
      </p:sp>
      <p:sp>
        <p:nvSpPr>
          <p:cNvPr id="2" name="TextBox 1">
            <a:extLst>
              <a:ext uri="{FF2B5EF4-FFF2-40B4-BE49-F238E27FC236}">
                <a16:creationId xmlns:a16="http://schemas.microsoft.com/office/drawing/2014/main" id="{5E4E7CDE-2FFD-26FE-9EC8-4D2FA7740E52}"/>
              </a:ext>
            </a:extLst>
          </p:cNvPr>
          <p:cNvSpPr txBox="1"/>
          <p:nvPr/>
        </p:nvSpPr>
        <p:spPr>
          <a:xfrm>
            <a:off x="638629" y="656577"/>
            <a:ext cx="11193977" cy="400110"/>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Ngoài các phương thức CRUD thao tác với product thì còn có các phương thức sau:</a:t>
            </a:r>
          </a:p>
        </p:txBody>
      </p:sp>
      <p:cxnSp>
        <p:nvCxnSpPr>
          <p:cNvPr id="4" name="Straight Connector 3">
            <a:extLst>
              <a:ext uri="{FF2B5EF4-FFF2-40B4-BE49-F238E27FC236}">
                <a16:creationId xmlns:a16="http://schemas.microsoft.com/office/drawing/2014/main" id="{85450528-2452-7013-CD42-3AE1C3F0B913}"/>
              </a:ext>
            </a:extLst>
          </p:cNvPr>
          <p:cNvCxnSpPr>
            <a:cxnSpLocks/>
          </p:cNvCxnSpPr>
          <p:nvPr/>
        </p:nvCxnSpPr>
        <p:spPr>
          <a:xfrm>
            <a:off x="5693713" y="1198470"/>
            <a:ext cx="0" cy="4369817"/>
          </a:xfrm>
          <a:prstGeom prst="line">
            <a:avLst/>
          </a:prstGeom>
          <a:ln w="28575"/>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B313ADE6-721E-1F1E-0ADE-381BC0E7CE97}"/>
              </a:ext>
            </a:extLst>
          </p:cNvPr>
          <p:cNvSpPr txBox="1"/>
          <p:nvPr/>
        </p:nvSpPr>
        <p:spPr>
          <a:xfrm>
            <a:off x="6041407" y="1112075"/>
            <a:ext cx="2913463"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Với Drift:</a:t>
            </a:r>
          </a:p>
        </p:txBody>
      </p:sp>
      <p:pic>
        <p:nvPicPr>
          <p:cNvPr id="12" name="Picture 11">
            <a:extLst>
              <a:ext uri="{FF2B5EF4-FFF2-40B4-BE49-F238E27FC236}">
                <a16:creationId xmlns:a16="http://schemas.microsoft.com/office/drawing/2014/main" id="{48B17E36-7A8B-7198-8890-AB0F02F57488}"/>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406190" y="1574560"/>
            <a:ext cx="4391638" cy="1486107"/>
          </a:xfrm>
          <a:prstGeom prst="rect">
            <a:avLst/>
          </a:prstGeom>
        </p:spPr>
      </p:pic>
      <p:pic>
        <p:nvPicPr>
          <p:cNvPr id="16" name="Picture 15">
            <a:extLst>
              <a:ext uri="{FF2B5EF4-FFF2-40B4-BE49-F238E27FC236}">
                <a16:creationId xmlns:a16="http://schemas.microsoft.com/office/drawing/2014/main" id="{43C62666-9795-F14C-00D7-9D29F4E46254}"/>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406190" y="3156756"/>
            <a:ext cx="5172797" cy="2286319"/>
          </a:xfrm>
          <a:prstGeom prst="rect">
            <a:avLst/>
          </a:prstGeom>
        </p:spPr>
      </p:pic>
      <p:pic>
        <p:nvPicPr>
          <p:cNvPr id="17" name="Picture 16">
            <a:extLst>
              <a:ext uri="{FF2B5EF4-FFF2-40B4-BE49-F238E27FC236}">
                <a16:creationId xmlns:a16="http://schemas.microsoft.com/office/drawing/2014/main" id="{3C4AD108-3C76-88AA-0EFE-6C910A7676CF}"/>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5999512" y="1716676"/>
            <a:ext cx="5678127" cy="2717657"/>
          </a:xfrm>
          <a:prstGeom prst="rect">
            <a:avLst/>
          </a:prstGeom>
        </p:spPr>
      </p:pic>
      <p:pic>
        <p:nvPicPr>
          <p:cNvPr id="19" name="Picture 18">
            <a:extLst>
              <a:ext uri="{FF2B5EF4-FFF2-40B4-BE49-F238E27FC236}">
                <a16:creationId xmlns:a16="http://schemas.microsoft.com/office/drawing/2014/main" id="{823732A7-90D1-D4A6-4094-2BA4C33EBE35}"/>
              </a:ext>
            </a:extLst>
          </p:cNvPr>
          <p:cNvPicPr>
            <a:picLocks noChangeAspect="1"/>
          </p:cNvPicPr>
          <p:nvPr/>
        </p:nvPicPr>
        <p:blipFill>
          <a:blip r:embed="rId10"/>
          <a:stretch>
            <a:fillRect/>
          </a:stretch>
        </p:blipFill>
        <p:spPr>
          <a:xfrm>
            <a:off x="6042359" y="4434333"/>
            <a:ext cx="5677692" cy="1105054"/>
          </a:xfrm>
          <a:prstGeom prst="rect">
            <a:avLst/>
          </a:prstGeom>
        </p:spPr>
      </p:pic>
    </p:spTree>
    <p:extLst>
      <p:ext uri="{BB962C8B-B14F-4D97-AF65-F5344CB8AC3E}">
        <p14:creationId xmlns:p14="http://schemas.microsoft.com/office/powerpoint/2010/main" val="1194706772"/>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9A911-D3E2-8D57-AC95-BD008EAB5B0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FBC21A1-4C0E-8822-BC81-BC04E94C72A1}"/>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7E1C553F-D923-7CAF-980D-2289DE6B4BEE}"/>
              </a:ext>
            </a:extLst>
          </p:cNvPr>
          <p:cNvSpPr txBox="1">
            <a:spLocks/>
          </p:cNvSpPr>
          <p:nvPr/>
        </p:nvSpPr>
        <p:spPr>
          <a:xfrm>
            <a:off x="11216116" y="6496163"/>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40</a:t>
            </a:r>
          </a:p>
        </p:txBody>
      </p:sp>
      <p:sp>
        <p:nvSpPr>
          <p:cNvPr id="7" name="Title 10">
            <a:extLst>
              <a:ext uri="{FF2B5EF4-FFF2-40B4-BE49-F238E27FC236}">
                <a16:creationId xmlns:a16="http://schemas.microsoft.com/office/drawing/2014/main" id="{24BB3705-9FC0-458B-D7A8-3401A49E30AA}"/>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 </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8836642C-B086-1EC6-62A0-EA371A66D1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5D22A70-3BDB-62E3-AF2E-783FA25A1E45}"/>
              </a:ext>
            </a:extLst>
          </p:cNvPr>
          <p:cNvSpPr txBox="1"/>
          <p:nvPr/>
        </p:nvSpPr>
        <p:spPr>
          <a:xfrm>
            <a:off x="406190" y="825586"/>
            <a:ext cx="3336073"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Truy vấn với SQLite: </a:t>
            </a:r>
          </a:p>
        </p:txBody>
      </p:sp>
      <p:pic>
        <p:nvPicPr>
          <p:cNvPr id="10" name="Picture 9">
            <a:extLst>
              <a:ext uri="{FF2B5EF4-FFF2-40B4-BE49-F238E27FC236}">
                <a16:creationId xmlns:a16="http://schemas.microsoft.com/office/drawing/2014/main" id="{8E344154-84F2-2B21-D501-BEA673D9683B}"/>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t="-1" b="-3439"/>
          <a:stretch>
            <a:fillRect/>
          </a:stretch>
        </p:blipFill>
        <p:spPr>
          <a:xfrm>
            <a:off x="406190" y="1225696"/>
            <a:ext cx="5612046" cy="5102744"/>
          </a:xfrm>
          <a:prstGeom prst="rect">
            <a:avLst/>
          </a:prstGeom>
        </p:spPr>
      </p:pic>
      <p:pic>
        <p:nvPicPr>
          <p:cNvPr id="5" name="Picture 4">
            <a:extLst>
              <a:ext uri="{FF2B5EF4-FFF2-40B4-BE49-F238E27FC236}">
                <a16:creationId xmlns:a16="http://schemas.microsoft.com/office/drawing/2014/main" id="{184F066C-CF7D-2E45-3019-416F0195BDFB}"/>
              </a:ext>
            </a:extLst>
          </p:cNvPr>
          <p:cNvPicPr>
            <a:picLocks noChangeAspect="1"/>
          </p:cNvPicPr>
          <p:nvPr/>
        </p:nvPicPr>
        <p:blipFill>
          <a:blip r:embed="rId6"/>
          <a:stretch>
            <a:fillRect/>
          </a:stretch>
        </p:blipFill>
        <p:spPr>
          <a:xfrm>
            <a:off x="6018236" y="1300840"/>
            <a:ext cx="6049890" cy="4513101"/>
          </a:xfrm>
          <a:prstGeom prst="rect">
            <a:avLst/>
          </a:prstGeom>
        </p:spPr>
      </p:pic>
      <p:cxnSp>
        <p:nvCxnSpPr>
          <p:cNvPr id="2" name="Straight Connector 1">
            <a:extLst>
              <a:ext uri="{FF2B5EF4-FFF2-40B4-BE49-F238E27FC236}">
                <a16:creationId xmlns:a16="http://schemas.microsoft.com/office/drawing/2014/main" id="{8831E6B0-5DBD-A60B-BBDD-37448E2C9682}"/>
              </a:ext>
            </a:extLst>
          </p:cNvPr>
          <p:cNvCxnSpPr>
            <a:cxnSpLocks/>
          </p:cNvCxnSpPr>
          <p:nvPr/>
        </p:nvCxnSpPr>
        <p:spPr>
          <a:xfrm>
            <a:off x="5850340" y="899151"/>
            <a:ext cx="0" cy="5316478"/>
          </a:xfrm>
          <a:prstGeom prst="line">
            <a:avLst/>
          </a:prstGeom>
          <a:ln w="28575"/>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CC6D1E3F-1B43-DF6D-3C43-3FA02F441097}"/>
              </a:ext>
            </a:extLst>
          </p:cNvPr>
          <p:cNvSpPr txBox="1"/>
          <p:nvPr/>
        </p:nvSpPr>
        <p:spPr>
          <a:xfrm>
            <a:off x="6000463" y="837051"/>
            <a:ext cx="3336073"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Truy vấn với Drift: </a:t>
            </a:r>
          </a:p>
        </p:txBody>
      </p:sp>
    </p:spTree>
    <p:extLst>
      <p:ext uri="{BB962C8B-B14F-4D97-AF65-F5344CB8AC3E}">
        <p14:creationId xmlns:p14="http://schemas.microsoft.com/office/powerpoint/2010/main" val="1872589899"/>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D3588-D0E4-0629-0F5B-2281859B449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0F749B11-E415-5809-98BF-E2C87F50CD2C}"/>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433B5849-753E-BBD5-58A5-B8F979165C29}"/>
              </a:ext>
            </a:extLst>
          </p:cNvPr>
          <p:cNvSpPr txBox="1">
            <a:spLocks/>
          </p:cNvSpPr>
          <p:nvPr/>
        </p:nvSpPr>
        <p:spPr>
          <a:xfrm>
            <a:off x="11202468" y="6496163"/>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41</a:t>
            </a:r>
          </a:p>
        </p:txBody>
      </p:sp>
      <p:sp>
        <p:nvSpPr>
          <p:cNvPr id="7" name="Title 10">
            <a:extLst>
              <a:ext uri="{FF2B5EF4-FFF2-40B4-BE49-F238E27FC236}">
                <a16:creationId xmlns:a16="http://schemas.microsoft.com/office/drawing/2014/main" id="{8C48A5D6-43E7-08C3-7CEC-17FFF7405B8B}"/>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 </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371910BF-2532-0330-402D-C577C1D4DF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8A173E3-7931-8556-6672-A92CAB95F0B9}"/>
              </a:ext>
            </a:extLst>
          </p:cNvPr>
          <p:cNvSpPr txBox="1"/>
          <p:nvPr/>
        </p:nvSpPr>
        <p:spPr>
          <a:xfrm>
            <a:off x="406190" y="739197"/>
            <a:ext cx="62180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main.dart + DB_helper.dart: Kết hợp và sử dụng</a:t>
            </a:r>
          </a:p>
        </p:txBody>
      </p:sp>
      <p:pic>
        <p:nvPicPr>
          <p:cNvPr id="10" name="Picture 9">
            <a:extLst>
              <a:ext uri="{FF2B5EF4-FFF2-40B4-BE49-F238E27FC236}">
                <a16:creationId xmlns:a16="http://schemas.microsoft.com/office/drawing/2014/main" id="{ACA2D172-FD5A-ABD9-A579-99DB1919F5C9}"/>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b="62426"/>
          <a:stretch>
            <a:fillRect/>
          </a:stretch>
        </p:blipFill>
        <p:spPr>
          <a:xfrm>
            <a:off x="291228" y="4697201"/>
            <a:ext cx="5612046" cy="1853554"/>
          </a:xfrm>
          <a:prstGeom prst="rect">
            <a:avLst/>
          </a:prstGeom>
        </p:spPr>
      </p:pic>
      <p:cxnSp>
        <p:nvCxnSpPr>
          <p:cNvPr id="2" name="Straight Connector 1">
            <a:extLst>
              <a:ext uri="{FF2B5EF4-FFF2-40B4-BE49-F238E27FC236}">
                <a16:creationId xmlns:a16="http://schemas.microsoft.com/office/drawing/2014/main" id="{9A50256A-6B30-3C7C-C985-BF4C63D3BF81}"/>
              </a:ext>
            </a:extLst>
          </p:cNvPr>
          <p:cNvCxnSpPr>
            <a:cxnSpLocks/>
          </p:cNvCxnSpPr>
          <p:nvPr/>
        </p:nvCxnSpPr>
        <p:spPr>
          <a:xfrm>
            <a:off x="6512580" y="1234277"/>
            <a:ext cx="0" cy="5316478"/>
          </a:xfrm>
          <a:prstGeom prst="line">
            <a:avLst/>
          </a:prstGeom>
          <a:ln w="28575"/>
        </p:spPr>
        <p:style>
          <a:lnRef idx="1">
            <a:schemeClr val="dk1"/>
          </a:lnRef>
          <a:fillRef idx="0">
            <a:schemeClr val="dk1"/>
          </a:fillRef>
          <a:effectRef idx="0">
            <a:schemeClr val="dk1"/>
          </a:effectRef>
          <a:fontRef idx="minor">
            <a:schemeClr val="tx1"/>
          </a:fontRef>
        </p:style>
      </p:cxnSp>
      <p:pic>
        <p:nvPicPr>
          <p:cNvPr id="11" name="Picture 10">
            <a:extLst>
              <a:ext uri="{FF2B5EF4-FFF2-40B4-BE49-F238E27FC236}">
                <a16:creationId xmlns:a16="http://schemas.microsoft.com/office/drawing/2014/main" id="{0FB7FBD6-EE74-30C0-57A1-3E4C7B25D2DD}"/>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6784685" y="1424216"/>
            <a:ext cx="5244392" cy="3594946"/>
          </a:xfrm>
          <a:prstGeom prst="rect">
            <a:avLst/>
          </a:prstGeom>
          <a:ln>
            <a:noFill/>
          </a:ln>
          <a:effectLst>
            <a:outerShdw blurRad="190500" algn="tl" rotWithShape="0">
              <a:srgbClr val="000000">
                <a:alpha val="70000"/>
              </a:srgbClr>
            </a:outerShdw>
          </a:effectLst>
        </p:spPr>
      </p:pic>
      <p:pic>
        <p:nvPicPr>
          <p:cNvPr id="12" name="Picture 11">
            <a:extLst>
              <a:ext uri="{FF2B5EF4-FFF2-40B4-BE49-F238E27FC236}">
                <a16:creationId xmlns:a16="http://schemas.microsoft.com/office/drawing/2014/main" id="{BD17F58B-3813-B7A6-89CC-AF496F385218}"/>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291228" y="1176297"/>
            <a:ext cx="5377091" cy="1555636"/>
          </a:xfrm>
          <a:prstGeom prst="rect">
            <a:avLst/>
          </a:prstGeom>
        </p:spPr>
      </p:pic>
      <p:pic>
        <p:nvPicPr>
          <p:cNvPr id="13" name="Picture 12">
            <a:extLst>
              <a:ext uri="{FF2B5EF4-FFF2-40B4-BE49-F238E27FC236}">
                <a16:creationId xmlns:a16="http://schemas.microsoft.com/office/drawing/2014/main" id="{41C90CAB-1260-F5D9-67A0-8CC6FBD3FB57}"/>
              </a:ext>
            </a:extLst>
          </p:cNvPr>
          <p:cNvPicPr>
            <a:picLocks noChangeAspect="1"/>
          </p:cNvPicPr>
          <p:nvPr/>
        </p:nvPicPr>
        <p:blipFill>
          <a:blip r:embed="rId10">
            <a:extLst>
              <a:ext uri="{BEBA8EAE-BF5A-486C-A8C5-ECC9F3942E4B}">
                <a14:imgProps xmlns:a14="http://schemas.microsoft.com/office/drawing/2010/main">
                  <a14:imgLayer r:embed="rId11">
                    <a14:imgEffect>
                      <a14:sharpenSoften amount="25000"/>
                    </a14:imgEffect>
                  </a14:imgLayer>
                </a14:imgProps>
              </a:ext>
            </a:extLst>
          </a:blip>
          <a:stretch>
            <a:fillRect/>
          </a:stretch>
        </p:blipFill>
        <p:spPr>
          <a:xfrm>
            <a:off x="291228" y="2616298"/>
            <a:ext cx="6120635" cy="2203428"/>
          </a:xfrm>
          <a:prstGeom prst="rect">
            <a:avLst/>
          </a:prstGeom>
        </p:spPr>
      </p:pic>
    </p:spTree>
    <p:extLst>
      <p:ext uri="{BB962C8B-B14F-4D97-AF65-F5344CB8AC3E}">
        <p14:creationId xmlns:p14="http://schemas.microsoft.com/office/powerpoint/2010/main" val="1192625421"/>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4ED97-BD1F-CE1F-09B2-0B23618C8F37}"/>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9447A195-8416-9946-6F57-07FC239C8EEE}"/>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43CA2E53-4466-BB58-8E69-69E9CF52ADEB}"/>
              </a:ext>
            </a:extLst>
          </p:cNvPr>
          <p:cNvSpPr txBox="1">
            <a:spLocks/>
          </p:cNvSpPr>
          <p:nvPr/>
        </p:nvSpPr>
        <p:spPr>
          <a:xfrm>
            <a:off x="11216116" y="6537107"/>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42</a:t>
            </a:r>
          </a:p>
        </p:txBody>
      </p:sp>
      <p:sp>
        <p:nvSpPr>
          <p:cNvPr id="7" name="Title 10">
            <a:extLst>
              <a:ext uri="{FF2B5EF4-FFF2-40B4-BE49-F238E27FC236}">
                <a16:creationId xmlns:a16="http://schemas.microsoft.com/office/drawing/2014/main" id="{4478DAF5-1685-7DC1-5C08-F0A93A1AB392}"/>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 </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653E6930-6016-6F6A-D421-361898FB2B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68CED971-4F5A-3C71-657A-04CC55D78DB6}"/>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t="37021"/>
          <a:stretch>
            <a:fillRect/>
          </a:stretch>
        </p:blipFill>
        <p:spPr>
          <a:xfrm>
            <a:off x="418301" y="3413996"/>
            <a:ext cx="5612046" cy="3106751"/>
          </a:xfrm>
          <a:prstGeom prst="rect">
            <a:avLst/>
          </a:prstGeom>
        </p:spPr>
      </p:pic>
      <p:cxnSp>
        <p:nvCxnSpPr>
          <p:cNvPr id="2" name="Straight Connector 1">
            <a:extLst>
              <a:ext uri="{FF2B5EF4-FFF2-40B4-BE49-F238E27FC236}">
                <a16:creationId xmlns:a16="http://schemas.microsoft.com/office/drawing/2014/main" id="{88C26465-A489-18F1-F59C-BD4CA4AECC88}"/>
              </a:ext>
            </a:extLst>
          </p:cNvPr>
          <p:cNvCxnSpPr>
            <a:cxnSpLocks/>
          </p:cNvCxnSpPr>
          <p:nvPr/>
        </p:nvCxnSpPr>
        <p:spPr>
          <a:xfrm>
            <a:off x="6667818" y="1210568"/>
            <a:ext cx="0" cy="5310179"/>
          </a:xfrm>
          <a:prstGeom prst="line">
            <a:avLst/>
          </a:prstGeom>
          <a:ln w="28575"/>
        </p:spPr>
        <p:style>
          <a:lnRef idx="1">
            <a:schemeClr val="dk1"/>
          </a:lnRef>
          <a:fillRef idx="0">
            <a:schemeClr val="dk1"/>
          </a:fillRef>
          <a:effectRef idx="0">
            <a:schemeClr val="dk1"/>
          </a:effectRef>
          <a:fontRef idx="minor">
            <a:schemeClr val="tx1"/>
          </a:fontRef>
        </p:style>
      </p:cxnSp>
      <p:pic>
        <p:nvPicPr>
          <p:cNvPr id="11" name="Picture 10">
            <a:extLst>
              <a:ext uri="{FF2B5EF4-FFF2-40B4-BE49-F238E27FC236}">
                <a16:creationId xmlns:a16="http://schemas.microsoft.com/office/drawing/2014/main" id="{1DFA6E05-4FAC-91EB-4D89-1BD5CD90ECC2}"/>
              </a:ext>
            </a:extLst>
          </p:cNvPr>
          <p:cNvPicPr>
            <a:picLocks noChangeAspect="1"/>
          </p:cNvPicPr>
          <p:nvPr/>
        </p:nvPicPr>
        <p:blipFill>
          <a:blip r:embed="rId6"/>
          <a:stretch>
            <a:fillRect/>
          </a:stretch>
        </p:blipFill>
        <p:spPr>
          <a:xfrm>
            <a:off x="6886873" y="1315387"/>
            <a:ext cx="5086072" cy="3486421"/>
          </a:xfrm>
          <a:prstGeom prst="rect">
            <a:avLst/>
          </a:prstGeom>
          <a:ln>
            <a:noFill/>
          </a:ln>
          <a:effectLst>
            <a:outerShdw blurRad="190500" algn="tl" rotWithShape="0">
              <a:srgbClr val="000000">
                <a:alpha val="70000"/>
              </a:srgbClr>
            </a:outerShdw>
          </a:effectLst>
        </p:spPr>
      </p:pic>
      <p:sp>
        <p:nvSpPr>
          <p:cNvPr id="4" name="TextBox 3">
            <a:extLst>
              <a:ext uri="{FF2B5EF4-FFF2-40B4-BE49-F238E27FC236}">
                <a16:creationId xmlns:a16="http://schemas.microsoft.com/office/drawing/2014/main" id="{4376F0AA-F061-642E-705E-3237CCF0327F}"/>
              </a:ext>
            </a:extLst>
          </p:cNvPr>
          <p:cNvSpPr txBox="1"/>
          <p:nvPr/>
        </p:nvSpPr>
        <p:spPr>
          <a:xfrm>
            <a:off x="406190" y="744303"/>
            <a:ext cx="62180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main.dart + DB_helper.dart: Kết hợp và sử dụng</a:t>
            </a:r>
          </a:p>
        </p:txBody>
      </p:sp>
      <p:pic>
        <p:nvPicPr>
          <p:cNvPr id="5" name="Picture 4">
            <a:extLst>
              <a:ext uri="{FF2B5EF4-FFF2-40B4-BE49-F238E27FC236}">
                <a16:creationId xmlns:a16="http://schemas.microsoft.com/office/drawing/2014/main" id="{05EBE2FE-C4D2-0818-C229-BB773BC9EFE4}"/>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25000"/>
                    </a14:imgEffect>
                  </a14:imgLayer>
                </a14:imgProps>
              </a:ext>
            </a:extLst>
          </a:blip>
          <a:stretch>
            <a:fillRect/>
          </a:stretch>
        </p:blipFill>
        <p:spPr>
          <a:xfrm>
            <a:off x="418301" y="1210568"/>
            <a:ext cx="6120635" cy="2203428"/>
          </a:xfrm>
          <a:prstGeom prst="rect">
            <a:avLst/>
          </a:prstGeom>
        </p:spPr>
      </p:pic>
    </p:spTree>
    <p:extLst>
      <p:ext uri="{BB962C8B-B14F-4D97-AF65-F5344CB8AC3E}">
        <p14:creationId xmlns:p14="http://schemas.microsoft.com/office/powerpoint/2010/main" val="1597090710"/>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38A2B-94F5-6CB7-238A-F85646EEB5B5}"/>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8720B3C-C368-3691-3D88-93CE1202EE66}"/>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6FE88A30-C42E-BB71-CC09-789F6B5A8A1F}"/>
              </a:ext>
            </a:extLst>
          </p:cNvPr>
          <p:cNvSpPr txBox="1">
            <a:spLocks/>
          </p:cNvSpPr>
          <p:nvPr/>
        </p:nvSpPr>
        <p:spPr>
          <a:xfrm>
            <a:off x="11229764" y="655075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43</a:t>
            </a:r>
          </a:p>
        </p:txBody>
      </p:sp>
      <p:sp>
        <p:nvSpPr>
          <p:cNvPr id="7" name="Title 10">
            <a:extLst>
              <a:ext uri="{FF2B5EF4-FFF2-40B4-BE49-F238E27FC236}">
                <a16:creationId xmlns:a16="http://schemas.microsoft.com/office/drawing/2014/main" id="{FB67E0B5-3DA5-BBD1-D93C-AE5365AA5788}"/>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 </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213E8058-5187-ABF3-6CF3-37957A624C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28B8B021-BA47-3BC4-851F-7A52837806A0}"/>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t="37021"/>
          <a:stretch>
            <a:fillRect/>
          </a:stretch>
        </p:blipFill>
        <p:spPr>
          <a:xfrm>
            <a:off x="418301" y="3413996"/>
            <a:ext cx="5612046" cy="3106751"/>
          </a:xfrm>
          <a:prstGeom prst="rect">
            <a:avLst/>
          </a:prstGeom>
        </p:spPr>
      </p:pic>
      <p:sp>
        <p:nvSpPr>
          <p:cNvPr id="4" name="TextBox 3">
            <a:extLst>
              <a:ext uri="{FF2B5EF4-FFF2-40B4-BE49-F238E27FC236}">
                <a16:creationId xmlns:a16="http://schemas.microsoft.com/office/drawing/2014/main" id="{0B578159-A541-22B7-A40B-54129A4DAB08}"/>
              </a:ext>
            </a:extLst>
          </p:cNvPr>
          <p:cNvSpPr txBox="1"/>
          <p:nvPr/>
        </p:nvSpPr>
        <p:spPr>
          <a:xfrm>
            <a:off x="406190" y="744303"/>
            <a:ext cx="62180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main.dart + DB_helper.dart: Kết hợp và sử dụng</a:t>
            </a:r>
          </a:p>
        </p:txBody>
      </p:sp>
      <p:pic>
        <p:nvPicPr>
          <p:cNvPr id="5" name="Picture 4">
            <a:extLst>
              <a:ext uri="{FF2B5EF4-FFF2-40B4-BE49-F238E27FC236}">
                <a16:creationId xmlns:a16="http://schemas.microsoft.com/office/drawing/2014/main" id="{F0DDC4F4-7855-CD43-30B8-A43647D89ACC}"/>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418301" y="1210568"/>
            <a:ext cx="6120635" cy="2203428"/>
          </a:xfrm>
          <a:prstGeom prst="rect">
            <a:avLst/>
          </a:prstGeom>
        </p:spPr>
      </p:pic>
      <p:pic>
        <p:nvPicPr>
          <p:cNvPr id="14" name="Picture 13">
            <a:extLst>
              <a:ext uri="{FF2B5EF4-FFF2-40B4-BE49-F238E27FC236}">
                <a16:creationId xmlns:a16="http://schemas.microsoft.com/office/drawing/2014/main" id="{E4B0C78D-5DC5-CEEA-FA82-3CC60FFE6898}"/>
              </a:ext>
            </a:extLst>
          </p:cNvPr>
          <p:cNvPicPr>
            <a:picLocks noChangeAspect="1"/>
          </p:cNvPicPr>
          <p:nvPr/>
        </p:nvPicPr>
        <p:blipFill>
          <a:blip r:embed="rId8"/>
          <a:stretch>
            <a:fillRect/>
          </a:stretch>
        </p:blipFill>
        <p:spPr>
          <a:xfrm>
            <a:off x="6683219" y="1523852"/>
            <a:ext cx="5430070" cy="4147278"/>
          </a:xfrm>
          <a:prstGeom prst="rect">
            <a:avLst/>
          </a:prstGeom>
          <a:ln>
            <a:noFill/>
          </a:ln>
          <a:effectLst>
            <a:outerShdw blurRad="190500" algn="tl" rotWithShape="0">
              <a:srgbClr val="000000">
                <a:alpha val="70000"/>
              </a:srgbClr>
            </a:outerShdw>
          </a:effectLst>
        </p:spPr>
      </p:pic>
      <p:cxnSp>
        <p:nvCxnSpPr>
          <p:cNvPr id="2" name="Straight Connector 1">
            <a:extLst>
              <a:ext uri="{FF2B5EF4-FFF2-40B4-BE49-F238E27FC236}">
                <a16:creationId xmlns:a16="http://schemas.microsoft.com/office/drawing/2014/main" id="{47BC108B-F12F-A941-0179-0F97B8696494}"/>
              </a:ext>
            </a:extLst>
          </p:cNvPr>
          <p:cNvCxnSpPr>
            <a:cxnSpLocks/>
          </p:cNvCxnSpPr>
          <p:nvPr/>
        </p:nvCxnSpPr>
        <p:spPr>
          <a:xfrm>
            <a:off x="6538936" y="1240576"/>
            <a:ext cx="0" cy="5310179"/>
          </a:xfrm>
          <a:prstGeom prst="line">
            <a:avLst/>
          </a:prstGeom>
          <a:ln w="285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50379324"/>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84E58-5397-FF55-E798-D83B2C61060C}"/>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5F779CD7-C299-C4A5-6ECB-DBB6A68D5550}"/>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22995F12-7610-0345-2284-BCB6E23F7E8C}"/>
              </a:ext>
            </a:extLst>
          </p:cNvPr>
          <p:cNvSpPr txBox="1">
            <a:spLocks/>
          </p:cNvSpPr>
          <p:nvPr/>
        </p:nvSpPr>
        <p:spPr>
          <a:xfrm>
            <a:off x="11202468" y="655075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44</a:t>
            </a:r>
          </a:p>
        </p:txBody>
      </p:sp>
      <p:sp>
        <p:nvSpPr>
          <p:cNvPr id="7" name="Title 10">
            <a:extLst>
              <a:ext uri="{FF2B5EF4-FFF2-40B4-BE49-F238E27FC236}">
                <a16:creationId xmlns:a16="http://schemas.microsoft.com/office/drawing/2014/main" id="{8A925FB1-1FEC-C351-0770-6E2931DA26D3}"/>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 </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C845954C-7C0C-7CDE-285C-E2E90FAC64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A88C165C-D7F1-EE25-15EF-820F94921CBA}"/>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t="37021"/>
          <a:stretch>
            <a:fillRect/>
          </a:stretch>
        </p:blipFill>
        <p:spPr>
          <a:xfrm>
            <a:off x="418301" y="3413996"/>
            <a:ext cx="5612046" cy="3106751"/>
          </a:xfrm>
          <a:prstGeom prst="rect">
            <a:avLst/>
          </a:prstGeom>
        </p:spPr>
      </p:pic>
      <p:cxnSp>
        <p:nvCxnSpPr>
          <p:cNvPr id="2" name="Straight Connector 1">
            <a:extLst>
              <a:ext uri="{FF2B5EF4-FFF2-40B4-BE49-F238E27FC236}">
                <a16:creationId xmlns:a16="http://schemas.microsoft.com/office/drawing/2014/main" id="{0B7930BB-C20D-690C-6561-CE4B488F87A5}"/>
              </a:ext>
            </a:extLst>
          </p:cNvPr>
          <p:cNvCxnSpPr>
            <a:cxnSpLocks/>
          </p:cNvCxnSpPr>
          <p:nvPr/>
        </p:nvCxnSpPr>
        <p:spPr>
          <a:xfrm>
            <a:off x="6667818" y="1210568"/>
            <a:ext cx="0" cy="5310179"/>
          </a:xfrm>
          <a:prstGeom prst="line">
            <a:avLst/>
          </a:prstGeom>
          <a:ln w="28575"/>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597C36EF-7BA5-966B-D1B3-B060DB2F10D6}"/>
              </a:ext>
            </a:extLst>
          </p:cNvPr>
          <p:cNvSpPr txBox="1"/>
          <p:nvPr/>
        </p:nvSpPr>
        <p:spPr>
          <a:xfrm>
            <a:off x="406190" y="744303"/>
            <a:ext cx="62180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main.dart + DB_helper.dart: Kết hợp và sử dụng</a:t>
            </a:r>
          </a:p>
        </p:txBody>
      </p:sp>
      <p:pic>
        <p:nvPicPr>
          <p:cNvPr id="5" name="Picture 4">
            <a:extLst>
              <a:ext uri="{FF2B5EF4-FFF2-40B4-BE49-F238E27FC236}">
                <a16:creationId xmlns:a16="http://schemas.microsoft.com/office/drawing/2014/main" id="{227BEC17-44E0-6D5F-3667-957514A271EA}"/>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418301" y="1210568"/>
            <a:ext cx="6120635" cy="2203428"/>
          </a:xfrm>
          <a:prstGeom prst="rect">
            <a:avLst/>
          </a:prstGeom>
        </p:spPr>
      </p:pic>
      <p:pic>
        <p:nvPicPr>
          <p:cNvPr id="12" name="Picture 11">
            <a:extLst>
              <a:ext uri="{FF2B5EF4-FFF2-40B4-BE49-F238E27FC236}">
                <a16:creationId xmlns:a16="http://schemas.microsoft.com/office/drawing/2014/main" id="{B72A76DB-FCF2-9EFB-A140-1AF9D809C753}"/>
              </a:ext>
            </a:extLst>
          </p:cNvPr>
          <p:cNvPicPr>
            <a:picLocks noChangeAspect="1"/>
          </p:cNvPicPr>
          <p:nvPr/>
        </p:nvPicPr>
        <p:blipFill>
          <a:blip r:embed="rId8"/>
          <a:stretch>
            <a:fillRect/>
          </a:stretch>
        </p:blipFill>
        <p:spPr>
          <a:xfrm>
            <a:off x="6866466" y="1340451"/>
            <a:ext cx="5118272" cy="2313178"/>
          </a:xfrm>
          <a:prstGeom prst="rect">
            <a:avLst/>
          </a:prstGeom>
          <a:ln>
            <a:noFill/>
          </a:ln>
          <a:effectLst>
            <a:outerShdw blurRad="190500" algn="tl" rotWithShape="0">
              <a:srgbClr val="000000">
                <a:alpha val="70000"/>
              </a:srgbClr>
            </a:outerShdw>
          </a:effectLst>
        </p:spPr>
      </p:pic>
      <p:pic>
        <p:nvPicPr>
          <p:cNvPr id="14" name="Picture 13">
            <a:extLst>
              <a:ext uri="{FF2B5EF4-FFF2-40B4-BE49-F238E27FC236}">
                <a16:creationId xmlns:a16="http://schemas.microsoft.com/office/drawing/2014/main" id="{1B89F912-C52B-E5AD-6BA1-F523AD4B1A0B}"/>
              </a:ext>
            </a:extLst>
          </p:cNvPr>
          <p:cNvPicPr>
            <a:picLocks noChangeAspect="1"/>
          </p:cNvPicPr>
          <p:nvPr/>
        </p:nvPicPr>
        <p:blipFill>
          <a:blip r:embed="rId9"/>
          <a:stretch>
            <a:fillRect/>
          </a:stretch>
        </p:blipFill>
        <p:spPr>
          <a:xfrm>
            <a:off x="6866466" y="3774888"/>
            <a:ext cx="5118272" cy="1437702"/>
          </a:xfrm>
          <a:prstGeom prst="rect">
            <a:avLst/>
          </a:prstGeom>
          <a:ln>
            <a:noFill/>
          </a:ln>
          <a:effectLst>
            <a:outerShdw blurRad="190500" algn="tl" rotWithShape="0">
              <a:srgbClr val="000000">
                <a:alpha val="70000"/>
              </a:srgbClr>
            </a:outerShdw>
          </a:effectLst>
        </p:spPr>
      </p:pic>
      <p:pic>
        <p:nvPicPr>
          <p:cNvPr id="18" name="Picture 17">
            <a:extLst>
              <a:ext uri="{FF2B5EF4-FFF2-40B4-BE49-F238E27FC236}">
                <a16:creationId xmlns:a16="http://schemas.microsoft.com/office/drawing/2014/main" id="{67081760-F772-E635-1920-A0212CFE70DB}"/>
              </a:ext>
            </a:extLst>
          </p:cNvPr>
          <p:cNvPicPr>
            <a:picLocks noChangeAspect="1"/>
          </p:cNvPicPr>
          <p:nvPr/>
        </p:nvPicPr>
        <p:blipFill>
          <a:blip r:embed="rId10"/>
          <a:stretch>
            <a:fillRect/>
          </a:stretch>
        </p:blipFill>
        <p:spPr>
          <a:xfrm>
            <a:off x="6866466" y="5333849"/>
            <a:ext cx="5118271" cy="100195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450919772"/>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83E5E-33C3-372F-0538-F2D31858174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B4BAFA7-E6E6-7A42-D610-240CC7473FE9}"/>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Title 1">
            <a:extLst>
              <a:ext uri="{FF2B5EF4-FFF2-40B4-BE49-F238E27FC236}">
                <a16:creationId xmlns:a16="http://schemas.microsoft.com/office/drawing/2014/main" id="{2A9706DC-7526-FFA0-8A15-BF35251898AC}"/>
              </a:ext>
            </a:extLst>
          </p:cNvPr>
          <p:cNvSpPr txBox="1">
            <a:spLocks/>
          </p:cNvSpPr>
          <p:nvPr/>
        </p:nvSpPr>
        <p:spPr>
          <a:xfrm>
            <a:off x="1618497" y="985249"/>
            <a:ext cx="7778496" cy="1879261"/>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endParaRPr lang="vi-VN" sz="4400" b="1">
              <a:solidFill>
                <a:srgbClr val="FF0000"/>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1F216869-A29A-A712-4379-05DDBD5DC064}"/>
              </a:ext>
            </a:extLst>
          </p:cNvPr>
          <p:cNvSpPr txBox="1">
            <a:spLocks/>
          </p:cNvSpPr>
          <p:nvPr/>
        </p:nvSpPr>
        <p:spPr>
          <a:xfrm>
            <a:off x="1492778" y="1126475"/>
            <a:ext cx="9312407" cy="1637808"/>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Đề</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a:t>
            </a: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tài</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SQLite và Drift – Quản lý cơ sở dữ liệu quan hệ</a:t>
            </a:r>
            <a:endParaRPr lang="vi-VN"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3" name="Date Placeholder 3">
            <a:extLst>
              <a:ext uri="{FF2B5EF4-FFF2-40B4-BE49-F238E27FC236}">
                <a16:creationId xmlns:a16="http://schemas.microsoft.com/office/drawing/2014/main" id="{0B56C679-121C-AA66-8FDD-003F7D0B3FEA}"/>
              </a:ext>
            </a:extLst>
          </p:cNvPr>
          <p:cNvSpPr txBox="1">
            <a:spLocks/>
          </p:cNvSpPr>
          <p:nvPr/>
        </p:nvSpPr>
        <p:spPr>
          <a:xfrm>
            <a:off x="11228897" y="6527544"/>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45</a:t>
            </a:r>
          </a:p>
        </p:txBody>
      </p:sp>
      <p:sp>
        <p:nvSpPr>
          <p:cNvPr id="12" name="Content Placeholder 2">
            <a:extLst>
              <a:ext uri="{FF2B5EF4-FFF2-40B4-BE49-F238E27FC236}">
                <a16:creationId xmlns:a16="http://schemas.microsoft.com/office/drawing/2014/main" id="{FB661AA7-D25C-F18E-22C0-F2AA7DBEA438}"/>
              </a:ext>
            </a:extLst>
          </p:cNvPr>
          <p:cNvSpPr txBox="1">
            <a:spLocks/>
          </p:cNvSpPr>
          <p:nvPr/>
        </p:nvSpPr>
        <p:spPr>
          <a:xfrm>
            <a:off x="756830" y="2084724"/>
            <a:ext cx="10784301" cy="4370807"/>
          </a:xfrm>
          <a:prstGeom prst="rect">
            <a:avLst/>
          </a:prstGeom>
        </p:spPr>
        <p:txBody>
          <a:bodyPr/>
          <a:lst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800" b="1">
              <a:solidFill>
                <a:srgbClr val="616163"/>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 </a:t>
            </a:r>
            <a:r>
              <a:rPr lang="en-US" sz="2400" b="1" err="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Giới</a:t>
            </a: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thiệu tổng quan </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 Ứng dụng quản lý danh sách sản phẩm với SQLite</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 Migrate sang Drift và so sánh ưu nhược điểm</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a:t>
            </a:r>
          </a:p>
          <a:p>
            <a:pPr marL="0" indent="0">
              <a:buNone/>
            </a:pP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Perfomance testing và optimization</a:t>
            </a:r>
          </a:p>
        </p:txBody>
      </p:sp>
      <p:sp>
        <p:nvSpPr>
          <p:cNvPr id="16" name="Title 1">
            <a:extLst>
              <a:ext uri="{FF2B5EF4-FFF2-40B4-BE49-F238E27FC236}">
                <a16:creationId xmlns:a16="http://schemas.microsoft.com/office/drawing/2014/main" id="{E5609A88-02C0-CD21-0343-6DAADD04996E}"/>
              </a:ext>
            </a:extLst>
          </p:cNvPr>
          <p:cNvSpPr txBox="1">
            <a:spLocks/>
          </p:cNvSpPr>
          <p:nvPr/>
        </p:nvSpPr>
        <p:spPr>
          <a:xfrm>
            <a:off x="1136915" y="335889"/>
            <a:ext cx="3355800" cy="411471"/>
          </a:xfrm>
          <a:prstGeom prst="rect">
            <a:avLst/>
          </a:prstGeom>
          <a:solidFill>
            <a:schemeClr val="tx1"/>
          </a:solid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vi-VN" sz="1800" b="1" i="0" u="none" strike="noStrike" kern="1200" cap="none" spc="0" normalizeH="0" baseline="0" noProof="0">
                <a:ln>
                  <a:noFill/>
                </a:ln>
                <a:solidFill>
                  <a:srgbClr val="0000CC"/>
                </a:solidFill>
                <a:effectLst>
                  <a:outerShdw blurRad="50800" dist="38100" dir="2700000" algn="tl" rotWithShape="0">
                    <a:prstClr val="black">
                      <a:alpha val="4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TRƯỜNG ĐẠI HỌC BÁCH KHOA</a:t>
            </a:r>
          </a:p>
        </p:txBody>
      </p:sp>
      <p:sp>
        <p:nvSpPr>
          <p:cNvPr id="17" name="Title 1">
            <a:extLst>
              <a:ext uri="{FF2B5EF4-FFF2-40B4-BE49-F238E27FC236}">
                <a16:creationId xmlns:a16="http://schemas.microsoft.com/office/drawing/2014/main" id="{97E075EB-7010-31D9-2386-699E2828006E}"/>
              </a:ext>
            </a:extLst>
          </p:cNvPr>
          <p:cNvSpPr txBox="1">
            <a:spLocks/>
          </p:cNvSpPr>
          <p:nvPr/>
        </p:nvSpPr>
        <p:spPr>
          <a:xfrm>
            <a:off x="1136915" y="105829"/>
            <a:ext cx="2063487" cy="382190"/>
          </a:xfrm>
          <a:prstGeom prst="rect">
            <a:avLst/>
          </a:prstGeom>
          <a:solidFill>
            <a:schemeClr val="tx1"/>
          </a:solid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ĐẠI HỌC ĐÀ NẴNG</a:t>
            </a:r>
            <a:endParaRPr kumimoji="0" lang="en-US"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endParaRPr>
          </a:p>
        </p:txBody>
      </p:sp>
      <p:pic>
        <p:nvPicPr>
          <p:cNvPr id="18" name="Picture 4" descr="Tải mẫu logo trường đại học Bách Khoa Đà Nẵng (DUT) file ...">
            <a:extLst>
              <a:ext uri="{FF2B5EF4-FFF2-40B4-BE49-F238E27FC236}">
                <a16:creationId xmlns:a16="http://schemas.microsoft.com/office/drawing/2014/main" id="{468E0EBE-9580-D1F7-9899-5968E40CDA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963164" cy="96316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9" name="Title 1">
            <a:extLst>
              <a:ext uri="{FF2B5EF4-FFF2-40B4-BE49-F238E27FC236}">
                <a16:creationId xmlns:a16="http://schemas.microsoft.com/office/drawing/2014/main" id="{EE8628B9-34A3-1CE1-E14C-31BCD5ABB45B}"/>
              </a:ext>
            </a:extLst>
          </p:cNvPr>
          <p:cNvSpPr txBox="1">
            <a:spLocks/>
          </p:cNvSpPr>
          <p:nvPr/>
        </p:nvSpPr>
        <p:spPr>
          <a:xfrm>
            <a:off x="1221961" y="728923"/>
            <a:ext cx="3127764" cy="41147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KHOA </a:t>
            </a:r>
            <a:r>
              <a:rPr kumimoji="0" lang="en-US"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ĐIỆN TỬ - VIỄN THÔNG</a:t>
            </a:r>
            <a:endPar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4234142508"/>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27ED0-DB69-0098-4568-E05F066714F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1D7D8F87-8ABD-5AE5-F3F6-AF183B683F7F}"/>
              </a:ext>
            </a:extLst>
          </p:cNvPr>
          <p:cNvSpPr/>
          <p:nvPr/>
        </p:nvSpPr>
        <p:spPr>
          <a:xfrm>
            <a:off x="0" y="6051"/>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a:latin typeface="Cambria" panose="02040503050406030204" pitchFamily="18" charset="0"/>
              <a:ea typeface="Cambria" panose="02040503050406030204" pitchFamily="18" charset="0"/>
            </a:endParaRPr>
          </a:p>
        </p:txBody>
      </p:sp>
      <p:sp>
        <p:nvSpPr>
          <p:cNvPr id="3" name="Date Placeholder 3">
            <a:extLst>
              <a:ext uri="{FF2B5EF4-FFF2-40B4-BE49-F238E27FC236}">
                <a16:creationId xmlns:a16="http://schemas.microsoft.com/office/drawing/2014/main" id="{8682BB99-C3DD-0954-8A52-88BB34F035FE}"/>
              </a:ext>
            </a:extLst>
          </p:cNvPr>
          <p:cNvSpPr txBox="1">
            <a:spLocks/>
          </p:cNvSpPr>
          <p:nvPr/>
        </p:nvSpPr>
        <p:spPr>
          <a:xfrm>
            <a:off x="11202469" y="6519624"/>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46</a:t>
            </a:r>
          </a:p>
        </p:txBody>
      </p:sp>
      <p:sp>
        <p:nvSpPr>
          <p:cNvPr id="7" name="Title 10">
            <a:extLst>
              <a:ext uri="{FF2B5EF4-FFF2-40B4-BE49-F238E27FC236}">
                <a16:creationId xmlns:a16="http://schemas.microsoft.com/office/drawing/2014/main" id="{2A77C701-8ED9-180E-CC0B-6A6C1561E03C}"/>
              </a:ext>
            </a:extLst>
          </p:cNvPr>
          <p:cNvSpPr txBox="1">
            <a:spLocks/>
          </p:cNvSpPr>
          <p:nvPr/>
        </p:nvSpPr>
        <p:spPr>
          <a:xfrm>
            <a:off x="812382" y="90835"/>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dirty="0">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Performance testing </a:t>
            </a:r>
            <a:r>
              <a:rPr lang="en-US" sz="3200" b="1" dirty="0" err="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và</a:t>
            </a:r>
            <a:r>
              <a:rPr lang="en-US" sz="3200" b="1" dirty="0">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optimization</a:t>
            </a:r>
            <a:endParaRPr lang="en-US" sz="3200" b="1" dirty="0">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0345788B-97B3-7958-CE3C-AE7D10D358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2" y="227146"/>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42452D4-0898-CD08-BDDE-CAD534021D50}"/>
              </a:ext>
            </a:extLst>
          </p:cNvPr>
          <p:cNvSpPr txBox="1"/>
          <p:nvPr/>
        </p:nvSpPr>
        <p:spPr>
          <a:xfrm>
            <a:off x="925238" y="1308016"/>
            <a:ext cx="10219114" cy="5247590"/>
          </a:xfrm>
          <a:prstGeom prst="rect">
            <a:avLst/>
          </a:prstGeom>
          <a:noFill/>
        </p:spPr>
        <p:txBody>
          <a:bodyPr wrap="square" rtlCol="0">
            <a:spAutoFit/>
          </a:bodyPr>
          <a:lstStyle/>
          <a:p>
            <a:pPr marL="285750" indent="-285750" algn="just">
              <a:lnSpc>
                <a:spcPct val="125000"/>
              </a:lnSpc>
              <a:buFont typeface="Wingdings" panose="05000000000000000000" pitchFamily="2" charset="2"/>
              <a:buChar char="q"/>
            </a:pPr>
            <a:r>
              <a:rPr lang="en-US" sz="2000" b="1" dirty="0">
                <a:solidFill>
                  <a:schemeClr val="bg1"/>
                </a:solidFill>
                <a:latin typeface="Cambria" panose="02040503050406030204" pitchFamily="18" charset="0"/>
                <a:ea typeface="Cambria" panose="02040503050406030204" pitchFamily="18" charset="0"/>
              </a:rPr>
              <a:t>P</a:t>
            </a:r>
            <a:r>
              <a:rPr lang="vi-VN" sz="2000" b="1" dirty="0">
                <a:solidFill>
                  <a:schemeClr val="bg1"/>
                </a:solidFill>
                <a:latin typeface="Cambria" panose="02040503050406030204" pitchFamily="18" charset="0"/>
                <a:ea typeface="Cambria" panose="02040503050406030204" pitchFamily="18" charset="0"/>
              </a:rPr>
              <a:t>erformance Testing</a:t>
            </a:r>
            <a:r>
              <a:rPr lang="vi-VN" sz="2000" dirty="0">
                <a:solidFill>
                  <a:schemeClr val="bg1"/>
                </a:solidFill>
                <a:latin typeface="Cambria" panose="02040503050406030204" pitchFamily="18" charset="0"/>
                <a:ea typeface="Cambria" panose="02040503050406030204" pitchFamily="18" charset="0"/>
              </a:rPr>
              <a:t> là quá trình đo lường và đánh giá tốc độ, độ ổn định và khả năng xử lý của hệ thống khi thực hiện các tác vụ cụ thể (như truy vấn, ghi dữ liệu, cập nhật, </a:t>
            </a:r>
            <a:r>
              <a:rPr lang="vi-VN" sz="2000">
                <a:solidFill>
                  <a:schemeClr val="bg1"/>
                </a:solidFill>
                <a:latin typeface="Cambria" panose="02040503050406030204" pitchFamily="18" charset="0"/>
                <a:ea typeface="Cambria" panose="02040503050406030204" pitchFamily="18" charset="0"/>
              </a:rPr>
              <a:t>xóa...).</a:t>
            </a:r>
            <a:endParaRPr lang="en-US" sz="2000" dirty="0">
              <a:solidFill>
                <a:schemeClr val="bg1"/>
              </a:solidFill>
              <a:latin typeface="Cambria" panose="02040503050406030204" pitchFamily="18" charset="0"/>
              <a:ea typeface="Cambria" panose="02040503050406030204" pitchFamily="18" charset="0"/>
            </a:endParaRPr>
          </a:p>
          <a:p>
            <a:pPr marL="742950" lvl="1" indent="-285750" algn="just">
              <a:lnSpc>
                <a:spcPct val="125000"/>
              </a:lnSpc>
              <a:buFont typeface="Arial" panose="020B0604020202020204" pitchFamily="34" charset="0"/>
              <a:buChar char="•"/>
            </a:pPr>
            <a:r>
              <a:rPr lang="en-US" sz="2000" b="1">
                <a:solidFill>
                  <a:schemeClr val="bg1"/>
                </a:solidFill>
                <a:latin typeface="Cambria" panose="02040503050406030204" pitchFamily="18" charset="0"/>
                <a:ea typeface="Cambria" panose="02040503050406030204" pitchFamily="18" charset="0"/>
              </a:rPr>
              <a:t>Mục tiêu:</a:t>
            </a:r>
          </a:p>
          <a:p>
            <a:pPr lvl="1" algn="just">
              <a:lnSpc>
                <a:spcPct val="125000"/>
              </a:lnSpc>
            </a:pPr>
            <a:r>
              <a:rPr lang="en-US" sz="2000">
                <a:solidFill>
                  <a:schemeClr val="bg1"/>
                </a:solidFill>
                <a:latin typeface="Cambria" panose="02040503050406030204" pitchFamily="18" charset="0"/>
                <a:ea typeface="Cambria" panose="02040503050406030204" pitchFamily="18" charset="0"/>
              </a:rPr>
              <a:t>     Xác định hệ thống chạy nhanh hay chậm</a:t>
            </a:r>
          </a:p>
          <a:p>
            <a:pPr algn="just">
              <a:lnSpc>
                <a:spcPct val="125000"/>
              </a:lnSpc>
            </a:pPr>
            <a:endParaRPr lang="en-US" sz="2000" b="1" dirty="0">
              <a:solidFill>
                <a:schemeClr val="bg1"/>
              </a:solidFill>
              <a:latin typeface="Cambria" panose="02040503050406030204" pitchFamily="18" charset="0"/>
              <a:ea typeface="Cambria" panose="02040503050406030204" pitchFamily="18" charset="0"/>
            </a:endParaRPr>
          </a:p>
          <a:p>
            <a:pPr marL="285750" indent="-285750" algn="just">
              <a:lnSpc>
                <a:spcPct val="125000"/>
              </a:lnSpc>
              <a:buFont typeface="Wingdings" panose="05000000000000000000" pitchFamily="2" charset="2"/>
              <a:buChar char="q"/>
            </a:pPr>
            <a:r>
              <a:rPr lang="vi-VN" sz="2000" b="1" dirty="0">
                <a:solidFill>
                  <a:schemeClr val="bg1"/>
                </a:solidFill>
                <a:latin typeface="Cambria" panose="02040503050406030204" pitchFamily="18" charset="0"/>
                <a:ea typeface="Cambria" panose="02040503050406030204" pitchFamily="18" charset="0"/>
              </a:rPr>
              <a:t>Optimization</a:t>
            </a:r>
            <a:r>
              <a:rPr lang="vi-VN" sz="2000" dirty="0">
                <a:solidFill>
                  <a:schemeClr val="bg1"/>
                </a:solidFill>
                <a:latin typeface="Cambria" panose="02040503050406030204" pitchFamily="18" charset="0"/>
                <a:ea typeface="Cambria" panose="02040503050406030204" pitchFamily="18" charset="0"/>
              </a:rPr>
              <a:t> là quá trình cải thiện mã nguồn hoặc cấu hình để hệ thống chạy nhanh hơn, tốn ít tài nguyên hơn mà vẫn đảm bảo kết quả </a:t>
            </a:r>
            <a:r>
              <a:rPr lang="vi-VN" sz="2000">
                <a:solidFill>
                  <a:schemeClr val="bg1"/>
                </a:solidFill>
                <a:latin typeface="Cambria" panose="02040503050406030204" pitchFamily="18" charset="0"/>
                <a:ea typeface="Cambria" panose="02040503050406030204" pitchFamily="18" charset="0"/>
              </a:rPr>
              <a:t>chính xác</a:t>
            </a:r>
            <a:r>
              <a:rPr lang="en-US" sz="2000">
                <a:solidFill>
                  <a:schemeClr val="bg1"/>
                </a:solidFill>
                <a:latin typeface="Cambria" panose="02040503050406030204" pitchFamily="18" charset="0"/>
                <a:ea typeface="Cambria" panose="02040503050406030204" pitchFamily="18" charset="0"/>
              </a:rPr>
              <a:t>.</a:t>
            </a:r>
            <a:endParaRPr lang="en-US" sz="2000" dirty="0">
              <a:solidFill>
                <a:schemeClr val="bg1"/>
              </a:solidFill>
              <a:latin typeface="Cambria" panose="02040503050406030204" pitchFamily="18" charset="0"/>
              <a:ea typeface="Cambria" panose="02040503050406030204" pitchFamily="18" charset="0"/>
            </a:endParaRPr>
          </a:p>
          <a:p>
            <a:pPr marL="742950" lvl="1" indent="-285750" eaLnBrk="0" fontAlgn="base" hangingPunct="0">
              <a:lnSpc>
                <a:spcPct val="125000"/>
              </a:lnSpc>
              <a:spcBef>
                <a:spcPct val="0"/>
              </a:spcBef>
              <a:spcAft>
                <a:spcPct val="0"/>
              </a:spcAft>
              <a:buFont typeface="Arial" panose="020B0604020202020204" pitchFamily="34" charset="0"/>
              <a:buChar char="•"/>
            </a:pPr>
            <a:r>
              <a:rPr lang="en-US" altLang="en-US" sz="2000" b="1">
                <a:solidFill>
                  <a:schemeClr val="bg1"/>
                </a:solidFill>
                <a:latin typeface="Cambria" panose="02040503050406030204" pitchFamily="18" charset="0"/>
                <a:ea typeface="Cambria" panose="02040503050406030204" pitchFamily="18" charset="0"/>
                <a:cs typeface="Times New Roman" panose="02020603050405020304" pitchFamily="18" charset="0"/>
              </a:rPr>
              <a:t>Mục tiêu:</a:t>
            </a:r>
          </a:p>
          <a:p>
            <a:pPr lvl="1" eaLnBrk="0" fontAlgn="base" hangingPunct="0">
              <a:lnSpc>
                <a:spcPct val="125000"/>
              </a:lnSpc>
              <a:spcBef>
                <a:spcPct val="0"/>
              </a:spcBef>
              <a:spcAft>
                <a:spcPct val="0"/>
              </a:spcAft>
            </a:pPr>
            <a:r>
              <a:rPr lang="en-US" altLang="en-US" sz="2000">
                <a:solidFill>
                  <a:schemeClr val="bg1"/>
                </a:solidFill>
                <a:latin typeface="Cambria" panose="02040503050406030204" pitchFamily="18" charset="0"/>
                <a:ea typeface="Cambria" panose="02040503050406030204" pitchFamily="18" charset="0"/>
                <a:cs typeface="Times New Roman" panose="02020603050405020304" pitchFamily="18" charset="0"/>
              </a:rPr>
              <a:t>    Giảm thời gian xử lý (speed up)</a:t>
            </a:r>
          </a:p>
          <a:p>
            <a:pPr lvl="1" eaLnBrk="0" fontAlgn="base" hangingPunct="0">
              <a:lnSpc>
                <a:spcPct val="125000"/>
              </a:lnSpc>
              <a:spcBef>
                <a:spcPct val="0"/>
              </a:spcBef>
              <a:spcAft>
                <a:spcPct val="0"/>
              </a:spcAft>
            </a:pPr>
            <a:r>
              <a:rPr lang="en-US" altLang="en-US" sz="2000">
                <a:solidFill>
                  <a:schemeClr val="bg1"/>
                </a:solidFill>
                <a:latin typeface="Cambria" panose="02040503050406030204" pitchFamily="18" charset="0"/>
                <a:ea typeface="Cambria" panose="02040503050406030204" pitchFamily="18" charset="0"/>
                <a:cs typeface="Times New Roman" panose="02020603050405020304" pitchFamily="18" charset="0"/>
              </a:rPr>
              <a:t>    Giảm sử dụng CPU/RAM/disk</a:t>
            </a:r>
          </a:p>
          <a:p>
            <a:pPr lvl="1" eaLnBrk="0" fontAlgn="base" hangingPunct="0">
              <a:lnSpc>
                <a:spcPct val="125000"/>
              </a:lnSpc>
              <a:spcBef>
                <a:spcPct val="0"/>
              </a:spcBef>
              <a:spcAft>
                <a:spcPct val="0"/>
              </a:spcAft>
            </a:pPr>
            <a:r>
              <a:rPr lang="en-US" altLang="en-US" sz="2000">
                <a:solidFill>
                  <a:schemeClr val="bg1"/>
                </a:solidFill>
                <a:latin typeface="Cambria" panose="02040503050406030204" pitchFamily="18" charset="0"/>
                <a:ea typeface="Cambria" panose="02040503050406030204" pitchFamily="18" charset="0"/>
                <a:cs typeface="Times New Roman" panose="02020603050405020304" pitchFamily="18" charset="0"/>
              </a:rPr>
              <a:t>    Tăng hiệu quả khi xử lý dữ liệu lớn</a:t>
            </a:r>
          </a:p>
          <a:p>
            <a:pPr algn="just"/>
            <a:endParaRPr lang="en-US" sz="2000" dirty="0">
              <a:solidFill>
                <a:schemeClr val="bg1"/>
              </a:solidFill>
              <a:latin typeface="Cambria" panose="02040503050406030204" pitchFamily="18" charset="0"/>
              <a:ea typeface="Cambria" panose="02040503050406030204" pitchFamily="18" charset="0"/>
            </a:endParaRPr>
          </a:p>
          <a:p>
            <a:pPr algn="just"/>
            <a:endParaRPr lang="en-US" sz="2000" dirty="0">
              <a:solidFill>
                <a:schemeClr val="bg1"/>
              </a:solidFill>
              <a:latin typeface="Cambria" panose="02040503050406030204" pitchFamily="18" charset="0"/>
              <a:ea typeface="Cambria" panose="02040503050406030204" pitchFamily="18" charset="0"/>
            </a:endParaRPr>
          </a:p>
          <a:p>
            <a:pPr algn="just"/>
            <a:endParaRPr lang="en-US" sz="2000" dirty="0">
              <a:solidFill>
                <a:schemeClr val="bg1"/>
              </a:solidFill>
              <a:latin typeface="Cambria" panose="02040503050406030204" pitchFamily="18" charset="0"/>
              <a:ea typeface="Cambria" panose="02040503050406030204" pitchFamily="18" charset="0"/>
            </a:endParaRPr>
          </a:p>
        </p:txBody>
      </p:sp>
      <p:sp>
        <p:nvSpPr>
          <p:cNvPr id="4" name="Rectangle 1">
            <a:extLst>
              <a:ext uri="{FF2B5EF4-FFF2-40B4-BE49-F238E27FC236}">
                <a16:creationId xmlns:a16="http://schemas.microsoft.com/office/drawing/2014/main" id="{E37CE8F5-E79A-2481-4A5B-5C78D90B3853}"/>
              </a:ext>
            </a:extLst>
          </p:cNvPr>
          <p:cNvSpPr>
            <a:spLocks noChangeArrowheads="1"/>
          </p:cNvSpPr>
          <p:nvPr/>
        </p:nvSpPr>
        <p:spPr bwMode="auto">
          <a:xfrm>
            <a:off x="1" y="-109220"/>
            <a:ext cx="29848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901115547"/>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0E579-CD28-F99E-C33E-9966B9371AD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D802B0C-2402-1E30-D033-F4680382F028}"/>
              </a:ext>
            </a:extLst>
          </p:cNvPr>
          <p:cNvSpPr>
            <a:spLocks noGrp="1"/>
          </p:cNvSpPr>
          <p:nvPr>
            <p:ph idx="1"/>
          </p:nvPr>
        </p:nvSpPr>
        <p:spPr/>
        <p:txBody>
          <a:bodyPr/>
          <a:lstStyle/>
          <a:p>
            <a:endParaRPr lang="en-US" dirty="0"/>
          </a:p>
        </p:txBody>
      </p:sp>
      <p:sp>
        <p:nvSpPr>
          <p:cNvPr id="4" name="Picture Placeholder 3">
            <a:extLst>
              <a:ext uri="{FF2B5EF4-FFF2-40B4-BE49-F238E27FC236}">
                <a16:creationId xmlns:a16="http://schemas.microsoft.com/office/drawing/2014/main" id="{6F331971-721F-A243-F28A-47006165524A}"/>
              </a:ext>
            </a:extLst>
          </p:cNvPr>
          <p:cNvSpPr>
            <a:spLocks noGrp="1"/>
          </p:cNvSpPr>
          <p:nvPr>
            <p:ph type="pic" sz="quarter" idx="13"/>
          </p:nvPr>
        </p:nvSpPr>
        <p:spPr/>
        <p:txBody>
          <a:bodyPr/>
          <a:lstStyle/>
          <a:p>
            <a:endParaRPr lang="en-US"/>
          </a:p>
        </p:txBody>
      </p:sp>
      <p:sp>
        <p:nvSpPr>
          <p:cNvPr id="5" name="Picture Placeholder 4">
            <a:extLst>
              <a:ext uri="{FF2B5EF4-FFF2-40B4-BE49-F238E27FC236}">
                <a16:creationId xmlns:a16="http://schemas.microsoft.com/office/drawing/2014/main" id="{CA92BE9A-0CE4-F24D-FE17-23FB80C7E0A7}"/>
              </a:ext>
            </a:extLst>
          </p:cNvPr>
          <p:cNvSpPr>
            <a:spLocks noGrp="1"/>
          </p:cNvSpPr>
          <p:nvPr>
            <p:ph type="pic" sz="quarter" idx="14"/>
          </p:nvPr>
        </p:nvSpPr>
        <p:spPr/>
        <p:txBody>
          <a:bodyPr/>
          <a:lstStyle/>
          <a:p>
            <a:endParaRPr lang="en-US"/>
          </a:p>
        </p:txBody>
      </p:sp>
      <p:sp>
        <p:nvSpPr>
          <p:cNvPr id="6" name="Picture Placeholder 5">
            <a:extLst>
              <a:ext uri="{FF2B5EF4-FFF2-40B4-BE49-F238E27FC236}">
                <a16:creationId xmlns:a16="http://schemas.microsoft.com/office/drawing/2014/main" id="{8811FE77-4ECE-5FAF-4878-5C669899F093}"/>
              </a:ext>
            </a:extLst>
          </p:cNvPr>
          <p:cNvSpPr>
            <a:spLocks noGrp="1"/>
          </p:cNvSpPr>
          <p:nvPr>
            <p:ph type="pic" sz="quarter" idx="15"/>
          </p:nvPr>
        </p:nvSpPr>
        <p:spPr/>
        <p:txBody>
          <a:bodyPr/>
          <a:lstStyle/>
          <a:p>
            <a:endParaRPr lang="en-US"/>
          </a:p>
        </p:txBody>
      </p:sp>
      <p:sp>
        <p:nvSpPr>
          <p:cNvPr id="7" name="Date Placeholder 6">
            <a:extLst>
              <a:ext uri="{FF2B5EF4-FFF2-40B4-BE49-F238E27FC236}">
                <a16:creationId xmlns:a16="http://schemas.microsoft.com/office/drawing/2014/main" id="{434CE19C-38BF-1B8C-4FB4-C90D29D7F636}"/>
              </a:ext>
            </a:extLst>
          </p:cNvPr>
          <p:cNvSpPr>
            <a:spLocks noGrp="1"/>
          </p:cNvSpPr>
          <p:nvPr>
            <p:ph type="dt" sz="half" idx="10"/>
          </p:nvPr>
        </p:nvSpPr>
        <p:spPr/>
        <p:txBody>
          <a:bodyPr/>
          <a:lstStyle/>
          <a:p>
            <a:r>
              <a:rPr lang="en-US"/>
              <a:t>Tuesday, February 2, 20XX</a:t>
            </a:r>
          </a:p>
        </p:txBody>
      </p:sp>
      <p:sp>
        <p:nvSpPr>
          <p:cNvPr id="8" name="Footer Placeholder 7">
            <a:extLst>
              <a:ext uri="{FF2B5EF4-FFF2-40B4-BE49-F238E27FC236}">
                <a16:creationId xmlns:a16="http://schemas.microsoft.com/office/drawing/2014/main" id="{7F1D28AB-7C6D-F70A-98BD-C2A7610A5619}"/>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FD1838C2-89BC-16DD-8573-57B8E85C22FB}"/>
              </a:ext>
            </a:extLst>
          </p:cNvPr>
          <p:cNvSpPr>
            <a:spLocks noGrp="1"/>
          </p:cNvSpPr>
          <p:nvPr>
            <p:ph type="sldNum" sz="quarter" idx="12"/>
          </p:nvPr>
        </p:nvSpPr>
        <p:spPr/>
        <p:txBody>
          <a:bodyPr/>
          <a:lstStyle/>
          <a:p>
            <a:fld id="{DBA1B0FB-D917-4C8C-928F-313BD683BF39}" type="slidenum">
              <a:rPr lang="en-US" smtClean="0"/>
              <a:t>47</a:t>
            </a:fld>
            <a:endParaRPr lang="en-US"/>
          </a:p>
        </p:txBody>
      </p:sp>
      <p:sp>
        <p:nvSpPr>
          <p:cNvPr id="11" name="Rectangle 10">
            <a:extLst>
              <a:ext uri="{FF2B5EF4-FFF2-40B4-BE49-F238E27FC236}">
                <a16:creationId xmlns:a16="http://schemas.microsoft.com/office/drawing/2014/main" id="{D0130E37-FD83-F276-DCB2-495BC9A0BEE7}"/>
              </a:ext>
            </a:extLst>
          </p:cNvPr>
          <p:cNvSpPr/>
          <p:nvPr/>
        </p:nvSpPr>
        <p:spPr>
          <a:xfrm>
            <a:off x="-1" y="-14748"/>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marL="457200" indent="-457200" algn="ctr">
              <a:buFont typeface="Arial" panose="020B0604020202020204" pitchFamily="34" charset="0"/>
              <a:buChar char="•"/>
            </a:pPr>
            <a:endParaRPr lang="en-US" sz="3200" b="1" dirty="0">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12" name="Picture 4" descr="Tải mẫu logo trường đại học Bách Khoa Đà Nẵng (DUT) file ...">
            <a:extLst>
              <a:ext uri="{FF2B5EF4-FFF2-40B4-BE49-F238E27FC236}">
                <a16:creationId xmlns:a16="http://schemas.microsoft.com/office/drawing/2014/main" id="{87622E38-8C7C-739B-9D61-6C248C064D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E4C990F7-9C98-E3E2-64C6-B6A6CDB7EB75}"/>
              </a:ext>
            </a:extLst>
          </p:cNvPr>
          <p:cNvSpPr txBox="1"/>
          <p:nvPr/>
        </p:nvSpPr>
        <p:spPr>
          <a:xfrm>
            <a:off x="1299883" y="62543"/>
            <a:ext cx="9063317" cy="584775"/>
          </a:xfrm>
          <a:prstGeom prst="rect">
            <a:avLst/>
          </a:prstGeom>
          <a:noFill/>
        </p:spPr>
        <p:txBody>
          <a:bodyPr wrap="square" rtlCol="0">
            <a:spAutoFit/>
          </a:bodyPr>
          <a:lstStyle/>
          <a:p>
            <a:pPr algn="ctr"/>
            <a:r>
              <a:rPr lang="en-US" sz="3200" b="1" dirty="0">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Performance testing </a:t>
            </a:r>
            <a:r>
              <a:rPr lang="en-US" sz="3200" b="1" dirty="0" err="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và</a:t>
            </a:r>
            <a:r>
              <a:rPr lang="en-US" sz="3200" b="1" dirty="0">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optimization</a:t>
            </a:r>
            <a:endParaRPr lang="en-US" sz="3200" b="1" dirty="0">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0138B1B2-F0A7-7DB3-DB8A-8CA64BD2D3C7}"/>
              </a:ext>
            </a:extLst>
          </p:cNvPr>
          <p:cNvSpPr txBox="1"/>
          <p:nvPr/>
        </p:nvSpPr>
        <p:spPr>
          <a:xfrm>
            <a:off x="550863" y="836392"/>
            <a:ext cx="2506102" cy="400110"/>
          </a:xfrm>
          <a:prstGeom prst="rect">
            <a:avLst/>
          </a:prstGeom>
          <a:noFill/>
        </p:spPr>
        <p:txBody>
          <a:bodyPr wrap="square" rtlCol="0">
            <a:spAutoFit/>
          </a:bodyPr>
          <a:lstStyle/>
          <a:p>
            <a:pPr marL="285750" indent="-285750">
              <a:buFont typeface="Arial" panose="020B0604020202020204" pitchFamily="34" charset="0"/>
              <a:buChar char="•"/>
            </a:pPr>
            <a:r>
              <a:rPr lang="en-US" sz="2000" dirty="0" err="1">
                <a:solidFill>
                  <a:schemeClr val="bg1"/>
                </a:solidFill>
                <a:latin typeface="Cambria" panose="02040503050406030204" pitchFamily="18" charset="0"/>
                <a:ea typeface="Cambria" panose="02040503050406030204" pitchFamily="18" charset="0"/>
              </a:rPr>
              <a:t>Cấu</a:t>
            </a:r>
            <a:r>
              <a:rPr lang="en-US" sz="2000" dirty="0">
                <a:solidFill>
                  <a:schemeClr val="bg1"/>
                </a:solidFill>
                <a:latin typeface="Cambria" panose="02040503050406030204" pitchFamily="18" charset="0"/>
                <a:ea typeface="Cambria" panose="02040503050406030204" pitchFamily="18" charset="0"/>
              </a:rPr>
              <a:t> </a:t>
            </a:r>
            <a:r>
              <a:rPr lang="en-US" sz="2000" dirty="0" err="1">
                <a:solidFill>
                  <a:schemeClr val="bg1"/>
                </a:solidFill>
                <a:latin typeface="Cambria" panose="02040503050406030204" pitchFamily="18" charset="0"/>
                <a:ea typeface="Cambria" panose="02040503050406030204" pitchFamily="18" charset="0"/>
              </a:rPr>
              <a:t>trúc</a:t>
            </a:r>
            <a:r>
              <a:rPr lang="en-US" sz="2000" dirty="0">
                <a:solidFill>
                  <a:schemeClr val="bg1"/>
                </a:solidFill>
                <a:latin typeface="Cambria" panose="02040503050406030204" pitchFamily="18" charset="0"/>
                <a:ea typeface="Cambria" panose="02040503050406030204" pitchFamily="18" charset="0"/>
              </a:rPr>
              <a:t> file</a:t>
            </a:r>
          </a:p>
        </p:txBody>
      </p:sp>
      <p:sp>
        <p:nvSpPr>
          <p:cNvPr id="23" name="TextBox 22">
            <a:extLst>
              <a:ext uri="{FF2B5EF4-FFF2-40B4-BE49-F238E27FC236}">
                <a16:creationId xmlns:a16="http://schemas.microsoft.com/office/drawing/2014/main" id="{D8EBB48A-99F9-2162-EF3F-7BA35DDB4D12}"/>
              </a:ext>
            </a:extLst>
          </p:cNvPr>
          <p:cNvSpPr txBox="1"/>
          <p:nvPr/>
        </p:nvSpPr>
        <p:spPr>
          <a:xfrm>
            <a:off x="4975412" y="1596771"/>
            <a:ext cx="1631576" cy="369332"/>
          </a:xfrm>
          <a:prstGeom prst="rect">
            <a:avLst/>
          </a:prstGeom>
          <a:noFill/>
        </p:spPr>
        <p:txBody>
          <a:bodyPr wrap="square" rtlCol="0">
            <a:spAutoFit/>
          </a:bodyPr>
          <a:lstStyle/>
          <a:p>
            <a:endParaRPr lang="en-US" dirty="0"/>
          </a:p>
        </p:txBody>
      </p:sp>
      <p:pic>
        <p:nvPicPr>
          <p:cNvPr id="26" name="Picture 25">
            <a:extLst>
              <a:ext uri="{FF2B5EF4-FFF2-40B4-BE49-F238E27FC236}">
                <a16:creationId xmlns:a16="http://schemas.microsoft.com/office/drawing/2014/main" id="{1F946DCE-B5F8-CA44-BCAA-C144ACE44E1E}"/>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5084756" y="1630865"/>
            <a:ext cx="5451316" cy="968397"/>
          </a:xfrm>
          <a:prstGeom prst="rect">
            <a:avLst/>
          </a:prstGeom>
        </p:spPr>
      </p:pic>
      <p:sp>
        <p:nvSpPr>
          <p:cNvPr id="27" name="TextBox 26">
            <a:extLst>
              <a:ext uri="{FF2B5EF4-FFF2-40B4-BE49-F238E27FC236}">
                <a16:creationId xmlns:a16="http://schemas.microsoft.com/office/drawing/2014/main" id="{D45ED64A-8250-B601-B00B-BA089F8C5FD6}"/>
              </a:ext>
            </a:extLst>
          </p:cNvPr>
          <p:cNvSpPr txBox="1"/>
          <p:nvPr/>
        </p:nvSpPr>
        <p:spPr>
          <a:xfrm>
            <a:off x="4493501" y="832039"/>
            <a:ext cx="6592964" cy="707886"/>
          </a:xfrm>
          <a:prstGeom prst="rect">
            <a:avLst/>
          </a:prstGeom>
          <a:noFill/>
        </p:spPr>
        <p:txBody>
          <a:bodyPr wrap="square" rtlCol="0">
            <a:spAutoFit/>
          </a:bodyPr>
          <a:lstStyle/>
          <a:p>
            <a:pPr marL="342900" indent="-342900">
              <a:buFont typeface="Arial" panose="020B0604020202020204" pitchFamily="34" charset="0"/>
              <a:buChar char="•"/>
            </a:pPr>
            <a:r>
              <a:rPr lang="vi-VN" sz="2000" dirty="0">
                <a:solidFill>
                  <a:schemeClr val="bg1"/>
                </a:solidFill>
                <a:latin typeface="Cambria" panose="02040503050406030204" pitchFamily="18" charset="0"/>
                <a:ea typeface="Cambria" panose="02040503050406030204" pitchFamily="18" charset="0"/>
                <a:cs typeface="Times New Roman" panose="02020603050405020304" pitchFamily="18" charset="0"/>
              </a:rPr>
              <a:t>Trong </a:t>
            </a:r>
            <a:r>
              <a:rPr lang="en-US" sz="20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sqlite_bechmak.dark</a:t>
            </a:r>
            <a:r>
              <a:rPr lang="en-US" sz="2000"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sz="20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và</a:t>
            </a:r>
            <a:r>
              <a:rPr lang="en-US" sz="2000"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sz="20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drift_benchmark.dart</a:t>
            </a:r>
            <a:endParaRPr lang="vi-VN" sz="2000"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a:p>
            <a:r>
              <a:rPr lang="en-US" sz="200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vi-VN" sz="200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vi-VN" sz="2000" dirty="0">
                <a:solidFill>
                  <a:schemeClr val="bg1"/>
                </a:solidFill>
                <a:latin typeface="Cambria" panose="02040503050406030204" pitchFamily="18" charset="0"/>
                <a:ea typeface="Cambria" panose="02040503050406030204" pitchFamily="18" charset="0"/>
                <a:cs typeface="Times New Roman" panose="02020603050405020304" pitchFamily="18" charset="0"/>
              </a:rPr>
              <a:t>Chuẩn bị data </a:t>
            </a:r>
            <a:r>
              <a:rPr lang="en-US" sz="2000" dirty="0">
                <a:solidFill>
                  <a:schemeClr val="bg1"/>
                </a:solidFill>
                <a:latin typeface="Cambria" panose="02040503050406030204" pitchFamily="18" charset="0"/>
                <a:ea typeface="Cambria" panose="02040503050406030204" pitchFamily="18" charset="0"/>
                <a:cs typeface="Times New Roman" panose="02020603050405020304" pitchFamily="18" charset="0"/>
              </a:rPr>
              <a:t>:</a:t>
            </a:r>
            <a:endParaRPr lang="vi-VN" sz="2000"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D124855A-D1BF-3EE5-AA8A-29C4892DEDAF}"/>
              </a:ext>
            </a:extLst>
          </p:cNvPr>
          <p:cNvSpPr txBox="1"/>
          <p:nvPr/>
        </p:nvSpPr>
        <p:spPr>
          <a:xfrm>
            <a:off x="5084756" y="2669933"/>
            <a:ext cx="6087036" cy="400110"/>
          </a:xfrm>
          <a:prstGeom prst="rect">
            <a:avLst/>
          </a:prstGeom>
          <a:noFill/>
        </p:spPr>
        <p:txBody>
          <a:bodyPr wrap="square" rtlCol="0">
            <a:spAutoFit/>
          </a:bodyPr>
          <a:lstStyle/>
          <a:p>
            <a:r>
              <a:rPr lang="vi-VN" sz="2000" dirty="0">
                <a:solidFill>
                  <a:schemeClr val="bg1"/>
                </a:solidFill>
                <a:latin typeface="Cambria" panose="02040503050406030204" pitchFamily="18" charset="0"/>
                <a:ea typeface="Cambria" panose="02040503050406030204" pitchFamily="18" charset="0"/>
              </a:rPr>
              <a:t>=&gt; Tạo ra danh sách </a:t>
            </a:r>
            <a:r>
              <a:rPr lang="vi-VN" sz="2000">
                <a:solidFill>
                  <a:schemeClr val="bg1"/>
                </a:solidFill>
                <a:latin typeface="Cambria" panose="02040503050406030204" pitchFamily="18" charset="0"/>
                <a:ea typeface="Cambria" panose="02040503050406030204" pitchFamily="18" charset="0"/>
              </a:rPr>
              <a:t>100</a:t>
            </a:r>
            <a:r>
              <a:rPr lang="en-US" sz="2000">
                <a:solidFill>
                  <a:schemeClr val="bg1"/>
                </a:solidFill>
                <a:latin typeface="Cambria" panose="02040503050406030204" pitchFamily="18" charset="0"/>
                <a:ea typeface="Cambria" panose="02040503050406030204" pitchFamily="18" charset="0"/>
              </a:rPr>
              <a:t>00</a:t>
            </a:r>
            <a:r>
              <a:rPr lang="vi-VN" sz="2000">
                <a:solidFill>
                  <a:schemeClr val="bg1"/>
                </a:solidFill>
                <a:latin typeface="Cambria" panose="02040503050406030204" pitchFamily="18" charset="0"/>
                <a:ea typeface="Cambria" panose="02040503050406030204" pitchFamily="18" charset="0"/>
              </a:rPr>
              <a:t> </a:t>
            </a:r>
            <a:r>
              <a:rPr lang="vi-VN" sz="2000" dirty="0">
                <a:solidFill>
                  <a:schemeClr val="bg1"/>
                </a:solidFill>
                <a:latin typeface="Cambria" panose="02040503050406030204" pitchFamily="18" charset="0"/>
                <a:ea typeface="Cambria" panose="02040503050406030204" pitchFamily="18" charset="0"/>
              </a:rPr>
              <a:t>bản ghi để kiểm thử</a:t>
            </a:r>
            <a:endParaRPr lang="en-US" sz="2000" dirty="0">
              <a:solidFill>
                <a:schemeClr val="bg1"/>
              </a:solidFill>
              <a:latin typeface="Cambria" panose="02040503050406030204" pitchFamily="18" charset="0"/>
              <a:ea typeface="Cambria" panose="02040503050406030204" pitchFamily="18" charset="0"/>
            </a:endParaRPr>
          </a:p>
        </p:txBody>
      </p:sp>
      <p:pic>
        <p:nvPicPr>
          <p:cNvPr id="14" name="Picture 13">
            <a:extLst>
              <a:ext uri="{FF2B5EF4-FFF2-40B4-BE49-F238E27FC236}">
                <a16:creationId xmlns:a16="http://schemas.microsoft.com/office/drawing/2014/main" id="{49D03289-113D-F36F-92D9-BE1F2AC54B67}"/>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Layer>
                </a14:imgProps>
              </a:ext>
            </a:extLst>
          </a:blip>
          <a:srcRect r="29826" b="1030"/>
          <a:stretch>
            <a:fillRect/>
          </a:stretch>
        </p:blipFill>
        <p:spPr>
          <a:xfrm>
            <a:off x="628679" y="1359334"/>
            <a:ext cx="3270502" cy="3201937"/>
          </a:xfrm>
          <a:prstGeom prst="rect">
            <a:avLst/>
          </a:prstGeom>
        </p:spPr>
      </p:pic>
      <p:pic>
        <p:nvPicPr>
          <p:cNvPr id="19" name="Picture 18">
            <a:extLst>
              <a:ext uri="{FF2B5EF4-FFF2-40B4-BE49-F238E27FC236}">
                <a16:creationId xmlns:a16="http://schemas.microsoft.com/office/drawing/2014/main" id="{031F6996-F703-051D-D21F-AE47DF110E19}"/>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25000"/>
                    </a14:imgEffect>
                  </a14:imgLayer>
                </a14:imgProps>
              </a:ext>
            </a:extLst>
          </a:blip>
          <a:stretch>
            <a:fillRect/>
          </a:stretch>
        </p:blipFill>
        <p:spPr>
          <a:xfrm>
            <a:off x="5084754" y="3660016"/>
            <a:ext cx="5451316" cy="2609121"/>
          </a:xfrm>
          <a:prstGeom prst="rect">
            <a:avLst/>
          </a:prstGeom>
        </p:spPr>
      </p:pic>
      <p:sp>
        <p:nvSpPr>
          <p:cNvPr id="21" name="TextBox 20">
            <a:extLst>
              <a:ext uri="{FF2B5EF4-FFF2-40B4-BE49-F238E27FC236}">
                <a16:creationId xmlns:a16="http://schemas.microsoft.com/office/drawing/2014/main" id="{37A0A904-5E2E-8D41-3FDC-435D079AF6D8}"/>
              </a:ext>
            </a:extLst>
          </p:cNvPr>
          <p:cNvSpPr txBox="1"/>
          <p:nvPr/>
        </p:nvSpPr>
        <p:spPr>
          <a:xfrm>
            <a:off x="4550514" y="3189235"/>
            <a:ext cx="4592097" cy="400110"/>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latin typeface="Cambria" panose="02040503050406030204" pitchFamily="18" charset="0"/>
                <a:ea typeface="Cambria" panose="02040503050406030204" pitchFamily="18" charset="0"/>
              </a:rPr>
              <a:t>Trong file </a:t>
            </a:r>
            <a:r>
              <a:rPr lang="en-US" sz="2000" dirty="0" err="1">
                <a:solidFill>
                  <a:schemeClr val="bg1"/>
                </a:solidFill>
                <a:latin typeface="Cambria" panose="02040503050406030204" pitchFamily="18" charset="0"/>
                <a:ea typeface="Cambria" panose="02040503050406030204" pitchFamily="18" charset="0"/>
              </a:rPr>
              <a:t>BenchmarkTimer.dart</a:t>
            </a:r>
            <a:endParaRPr lang="en-US" sz="2000" dirty="0">
              <a:solidFill>
                <a:schemeClr val="bg1"/>
              </a:solidFill>
              <a:latin typeface="Cambria" panose="02040503050406030204" pitchFamily="18" charset="0"/>
              <a:ea typeface="Cambria" panose="02040503050406030204" pitchFamily="18" charset="0"/>
            </a:endParaRPr>
          </a:p>
        </p:txBody>
      </p:sp>
      <p:cxnSp>
        <p:nvCxnSpPr>
          <p:cNvPr id="10" name="Straight Connector 9">
            <a:extLst>
              <a:ext uri="{FF2B5EF4-FFF2-40B4-BE49-F238E27FC236}">
                <a16:creationId xmlns:a16="http://schemas.microsoft.com/office/drawing/2014/main" id="{04DCA450-148D-1116-E64D-24C597F01BEA}"/>
              </a:ext>
            </a:extLst>
          </p:cNvPr>
          <p:cNvCxnSpPr>
            <a:cxnSpLocks/>
          </p:cNvCxnSpPr>
          <p:nvPr/>
        </p:nvCxnSpPr>
        <p:spPr>
          <a:xfrm>
            <a:off x="4160738" y="941696"/>
            <a:ext cx="0" cy="5418161"/>
          </a:xfrm>
          <a:prstGeom prst="line">
            <a:avLst/>
          </a:prstGeom>
          <a:ln w="28575"/>
        </p:spPr>
        <p:style>
          <a:lnRef idx="1">
            <a:schemeClr val="dk1"/>
          </a:lnRef>
          <a:fillRef idx="0">
            <a:schemeClr val="dk1"/>
          </a:fillRef>
          <a:effectRef idx="0">
            <a:schemeClr val="dk1"/>
          </a:effectRef>
          <a:fontRef idx="minor">
            <a:schemeClr val="tx1"/>
          </a:fontRef>
        </p:style>
      </p:cxnSp>
      <p:sp>
        <p:nvSpPr>
          <p:cNvPr id="15" name="Date Placeholder 3">
            <a:extLst>
              <a:ext uri="{FF2B5EF4-FFF2-40B4-BE49-F238E27FC236}">
                <a16:creationId xmlns:a16="http://schemas.microsoft.com/office/drawing/2014/main" id="{A92DA997-A295-1049-78A0-EDD6AC88DA4D}"/>
              </a:ext>
            </a:extLst>
          </p:cNvPr>
          <p:cNvSpPr txBox="1">
            <a:spLocks/>
          </p:cNvSpPr>
          <p:nvPr/>
        </p:nvSpPr>
        <p:spPr>
          <a:xfrm>
            <a:off x="11202469" y="6519624"/>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47</a:t>
            </a:r>
          </a:p>
        </p:txBody>
      </p:sp>
    </p:spTree>
    <p:extLst>
      <p:ext uri="{BB962C8B-B14F-4D97-AF65-F5344CB8AC3E}">
        <p14:creationId xmlns:p14="http://schemas.microsoft.com/office/powerpoint/2010/main" val="5718769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A9F6C-C121-E055-1EBD-D0978D265EF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5E26EBBA-6F2A-2966-27AD-4D6DCD3A9789}"/>
              </a:ext>
            </a:extLst>
          </p:cNvPr>
          <p:cNvSpPr/>
          <p:nvPr/>
        </p:nvSpPr>
        <p:spPr>
          <a:xfrm>
            <a:off x="0"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3" name="Date Placeholder 3">
            <a:extLst>
              <a:ext uri="{FF2B5EF4-FFF2-40B4-BE49-F238E27FC236}">
                <a16:creationId xmlns:a16="http://schemas.microsoft.com/office/drawing/2014/main" id="{68372D09-E98A-753A-0923-A1CCCC653083}"/>
              </a:ext>
            </a:extLst>
          </p:cNvPr>
          <p:cNvSpPr txBox="1">
            <a:spLocks/>
          </p:cNvSpPr>
          <p:nvPr/>
        </p:nvSpPr>
        <p:spPr>
          <a:xfrm>
            <a:off x="11176904" y="6523459"/>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48</a:t>
            </a:r>
          </a:p>
        </p:txBody>
      </p:sp>
      <p:sp>
        <p:nvSpPr>
          <p:cNvPr id="7" name="Title 10">
            <a:extLst>
              <a:ext uri="{FF2B5EF4-FFF2-40B4-BE49-F238E27FC236}">
                <a16:creationId xmlns:a16="http://schemas.microsoft.com/office/drawing/2014/main" id="{E3BBB015-8BE3-FDA6-F932-EEEA8EA7FAF4}"/>
              </a:ext>
            </a:extLst>
          </p:cNvPr>
          <p:cNvSpPr txBox="1">
            <a:spLocks/>
          </p:cNvSpPr>
          <p:nvPr/>
        </p:nvSpPr>
        <p:spPr>
          <a:xfrm>
            <a:off x="812381" y="67055"/>
            <a:ext cx="10907670" cy="46487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dirty="0">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Performance testing </a:t>
            </a:r>
            <a:r>
              <a:rPr lang="en-US" sz="3200" b="1" dirty="0" err="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và</a:t>
            </a:r>
            <a:r>
              <a:rPr lang="en-US" sz="3200" b="1" dirty="0">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optimization</a:t>
            </a:r>
            <a:endParaRPr lang="en-US" sz="3200" b="1" dirty="0">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94982706-7096-001D-8F43-5207E63C08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625" y="88185"/>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27AF492-F42A-01A9-CD0F-F852D51A4E61}"/>
              </a:ext>
            </a:extLst>
          </p:cNvPr>
          <p:cNvSpPr txBox="1"/>
          <p:nvPr/>
        </p:nvSpPr>
        <p:spPr>
          <a:xfrm>
            <a:off x="174405" y="640186"/>
            <a:ext cx="3263153" cy="400110"/>
          </a:xfrm>
          <a:prstGeom prst="rect">
            <a:avLst/>
          </a:prstGeom>
          <a:noFill/>
        </p:spPr>
        <p:txBody>
          <a:bodyPr wrap="square" rtlCol="0">
            <a:spAutoFit/>
          </a:bodyPr>
          <a:lstStyle/>
          <a:p>
            <a:pPr marL="342900" indent="-342900">
              <a:buFont typeface="Wingdings" panose="05000000000000000000" pitchFamily="2" charset="2"/>
              <a:buChar char="q"/>
            </a:pPr>
            <a:r>
              <a:rPr lang="vi-VN" sz="2000" b="1" dirty="0">
                <a:solidFill>
                  <a:schemeClr val="bg1"/>
                </a:solidFill>
                <a:latin typeface="Cambria" panose="02040503050406030204" pitchFamily="18" charset="0"/>
                <a:ea typeface="Cambria" panose="02040503050406030204" pitchFamily="18" charset="0"/>
              </a:rPr>
              <a:t>Bước kiểm thử :</a:t>
            </a:r>
            <a:endParaRPr lang="en-US" sz="2000" b="1" dirty="0">
              <a:solidFill>
                <a:schemeClr val="bg1"/>
              </a:solidFill>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AE40C44D-CA64-6D7A-8C23-95FC5B8BA51C}"/>
              </a:ext>
            </a:extLst>
          </p:cNvPr>
          <p:cNvSpPr txBox="1"/>
          <p:nvPr/>
        </p:nvSpPr>
        <p:spPr>
          <a:xfrm>
            <a:off x="206489" y="997220"/>
            <a:ext cx="2889637" cy="646331"/>
          </a:xfrm>
          <a:prstGeom prst="rect">
            <a:avLst/>
          </a:prstGeom>
          <a:noFill/>
        </p:spPr>
        <p:txBody>
          <a:bodyPr wrap="square" rtlCol="0">
            <a:spAutoFit/>
          </a:bodyPr>
          <a:lstStyle/>
          <a:p>
            <a:r>
              <a:rPr lang="en-US" b="1" dirty="0">
                <a:solidFill>
                  <a:schemeClr val="bg1"/>
                </a:solidFill>
                <a:latin typeface="Cambria" panose="02040503050406030204" pitchFamily="18" charset="0"/>
                <a:ea typeface="Cambria" panose="02040503050406030204" pitchFamily="18" charset="0"/>
                <a:cs typeface="Times New Roman" panose="02020603050405020304" pitchFamily="18" charset="0"/>
              </a:rPr>
              <a:t>Drift: </a:t>
            </a:r>
            <a:r>
              <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rPr>
              <a:t>Insert </a:t>
            </a:r>
            <a:r>
              <a:rPr lang="en-US"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từng</a:t>
            </a:r>
            <a:r>
              <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err="1">
                <a:solidFill>
                  <a:schemeClr val="bg1"/>
                </a:solidFill>
                <a:latin typeface="Cambria" panose="02040503050406030204" pitchFamily="18" charset="0"/>
                <a:ea typeface="Cambria" panose="02040503050406030204" pitchFamily="18" charset="0"/>
                <a:cs typeface="Times New Roman" panose="02020603050405020304" pitchFamily="18" charset="0"/>
              </a:rPr>
              <a:t>bản</a:t>
            </a:r>
            <a:r>
              <a:rPr lang="en-US">
                <a:solidFill>
                  <a:schemeClr val="bg1"/>
                </a:solidFill>
                <a:latin typeface="Cambria" panose="02040503050406030204" pitchFamily="18" charset="0"/>
                <a:ea typeface="Cambria" panose="02040503050406030204" pitchFamily="18" charset="0"/>
                <a:cs typeface="Times New Roman" panose="02020603050405020304" pitchFamily="18" charset="0"/>
              </a:rPr>
              <a:t> ghi</a:t>
            </a:r>
            <a:endPar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a:p>
            <a:endParaRPr lang="en-US" b="1"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E50AB8A5-28DC-3896-B856-B294EAB4DC3C}"/>
              </a:ext>
            </a:extLst>
          </p:cNvPr>
          <p:cNvSpPr txBox="1"/>
          <p:nvPr/>
        </p:nvSpPr>
        <p:spPr>
          <a:xfrm>
            <a:off x="267712" y="3928215"/>
            <a:ext cx="2889637" cy="923330"/>
          </a:xfrm>
          <a:prstGeom prst="rect">
            <a:avLst/>
          </a:prstGeom>
          <a:noFill/>
        </p:spPr>
        <p:txBody>
          <a:bodyPr wrap="square" rtlCol="0">
            <a:spAutoFit/>
          </a:bodyPr>
          <a:lstStyle/>
          <a:p>
            <a:r>
              <a:rPr lang="vi-VN" b="1" dirty="0">
                <a:solidFill>
                  <a:schemeClr val="bg1"/>
                </a:solidFill>
                <a:latin typeface="Cambria" panose="02040503050406030204" pitchFamily="18" charset="0"/>
                <a:ea typeface="Cambria" panose="02040503050406030204" pitchFamily="18" charset="0"/>
                <a:cs typeface="Times New Roman" panose="02020603050405020304" pitchFamily="18" charset="0"/>
              </a:rPr>
              <a:t>SQli</a:t>
            </a:r>
            <a:r>
              <a:rPr lang="en-US" b="1" dirty="0">
                <a:solidFill>
                  <a:schemeClr val="bg1"/>
                </a:solidFill>
                <a:latin typeface="Cambria" panose="02040503050406030204" pitchFamily="18" charset="0"/>
                <a:ea typeface="Cambria" panose="02040503050406030204" pitchFamily="18" charset="0"/>
                <a:cs typeface="Times New Roman" panose="02020603050405020304" pitchFamily="18" charset="0"/>
              </a:rPr>
              <a:t>t</a:t>
            </a:r>
            <a:r>
              <a:rPr lang="vi-VN" b="1" dirty="0">
                <a:solidFill>
                  <a:schemeClr val="bg1"/>
                </a:solidFill>
                <a:latin typeface="Cambria" panose="02040503050406030204" pitchFamily="18" charset="0"/>
                <a:ea typeface="Cambria" panose="02040503050406030204" pitchFamily="18" charset="0"/>
                <a:cs typeface="Times New Roman" panose="02020603050405020304" pitchFamily="18" charset="0"/>
              </a:rPr>
              <a:t>e</a:t>
            </a:r>
            <a:r>
              <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rPr>
              <a:t>: Insert </a:t>
            </a:r>
            <a:r>
              <a:rPr lang="en-US"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từng</a:t>
            </a:r>
            <a:r>
              <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err="1">
                <a:solidFill>
                  <a:schemeClr val="bg1"/>
                </a:solidFill>
                <a:latin typeface="Cambria" panose="02040503050406030204" pitchFamily="18" charset="0"/>
                <a:ea typeface="Cambria" panose="02040503050406030204" pitchFamily="18" charset="0"/>
                <a:cs typeface="Times New Roman" panose="02020603050405020304" pitchFamily="18" charset="0"/>
              </a:rPr>
              <a:t>bản</a:t>
            </a:r>
            <a:r>
              <a:rPr lang="en-US">
                <a:solidFill>
                  <a:schemeClr val="bg1"/>
                </a:solidFill>
                <a:latin typeface="Cambria" panose="02040503050406030204" pitchFamily="18" charset="0"/>
                <a:ea typeface="Cambria" panose="02040503050406030204" pitchFamily="18" charset="0"/>
                <a:cs typeface="Times New Roman" panose="02020603050405020304" pitchFamily="18" charset="0"/>
              </a:rPr>
              <a:t> ghi</a:t>
            </a:r>
            <a:endPar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a:p>
            <a:endParaRPr lang="en-US" b="1"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a:p>
            <a:endParaRPr lang="en-US" b="1" dirty="0">
              <a:latin typeface="Cambria" panose="02040503050406030204" pitchFamily="18" charset="0"/>
              <a:ea typeface="Cambria" panose="020405030504060302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23EB837F-8028-DC1B-562E-C00300059DB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3398087" y="4046659"/>
            <a:ext cx="7398249" cy="2406659"/>
          </a:xfrm>
          <a:prstGeom prst="rect">
            <a:avLst/>
          </a:prstGeom>
        </p:spPr>
      </p:pic>
      <p:pic>
        <p:nvPicPr>
          <p:cNvPr id="20" name="Picture 19">
            <a:extLst>
              <a:ext uri="{FF2B5EF4-FFF2-40B4-BE49-F238E27FC236}">
                <a16:creationId xmlns:a16="http://schemas.microsoft.com/office/drawing/2014/main" id="{43E3069D-5037-E8E0-DDBE-27793E61E225}"/>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3437558" y="1040296"/>
            <a:ext cx="6349094" cy="2887919"/>
          </a:xfrm>
          <a:prstGeom prst="rect">
            <a:avLst/>
          </a:prstGeom>
        </p:spPr>
      </p:pic>
    </p:spTree>
    <p:extLst>
      <p:ext uri="{BB962C8B-B14F-4D97-AF65-F5344CB8AC3E}">
        <p14:creationId xmlns:p14="http://schemas.microsoft.com/office/powerpoint/2010/main" val="2794738540"/>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932DA-8903-17EB-C930-7DE6366EF7B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3A94809C-3DE3-56CD-0DB0-570064A428E9}"/>
              </a:ext>
            </a:extLst>
          </p:cNvPr>
          <p:cNvSpPr/>
          <p:nvPr/>
        </p:nvSpPr>
        <p:spPr>
          <a:xfrm>
            <a:off x="0"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3" name="Date Placeholder 3">
            <a:extLst>
              <a:ext uri="{FF2B5EF4-FFF2-40B4-BE49-F238E27FC236}">
                <a16:creationId xmlns:a16="http://schemas.microsoft.com/office/drawing/2014/main" id="{849B4B43-9679-0368-8947-E33F92107553}"/>
              </a:ext>
            </a:extLst>
          </p:cNvPr>
          <p:cNvSpPr txBox="1">
            <a:spLocks/>
          </p:cNvSpPr>
          <p:nvPr/>
        </p:nvSpPr>
        <p:spPr>
          <a:xfrm>
            <a:off x="11204202" y="6537107"/>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49</a:t>
            </a:r>
          </a:p>
        </p:txBody>
      </p:sp>
      <p:sp>
        <p:nvSpPr>
          <p:cNvPr id="7" name="Title 10">
            <a:extLst>
              <a:ext uri="{FF2B5EF4-FFF2-40B4-BE49-F238E27FC236}">
                <a16:creationId xmlns:a16="http://schemas.microsoft.com/office/drawing/2014/main" id="{C4E2143B-E2BF-0EDC-E0E0-8387A9E27041}"/>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dirty="0">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Performance testing </a:t>
            </a:r>
            <a:r>
              <a:rPr lang="en-US" sz="3200" b="1" dirty="0" err="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và</a:t>
            </a:r>
            <a:r>
              <a:rPr lang="en-US" sz="3200" b="1" dirty="0">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optimization</a:t>
            </a:r>
            <a:endParaRPr lang="en-US" sz="3200" b="1" dirty="0">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24CC3A99-80F1-9B82-DA7D-57A11EDCA5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97EFB3B-9BB8-F055-7888-30AB3DD4C823}"/>
              </a:ext>
            </a:extLst>
          </p:cNvPr>
          <p:cNvSpPr txBox="1"/>
          <p:nvPr/>
        </p:nvSpPr>
        <p:spPr>
          <a:xfrm>
            <a:off x="174405" y="704354"/>
            <a:ext cx="3263153" cy="400110"/>
          </a:xfrm>
          <a:prstGeom prst="rect">
            <a:avLst/>
          </a:prstGeom>
          <a:noFill/>
        </p:spPr>
        <p:txBody>
          <a:bodyPr wrap="square" rtlCol="0">
            <a:spAutoFit/>
          </a:bodyPr>
          <a:lstStyle/>
          <a:p>
            <a:pPr marL="342900" indent="-342900">
              <a:buFont typeface="Wingdings" panose="05000000000000000000" pitchFamily="2" charset="2"/>
              <a:buChar char="q"/>
            </a:pPr>
            <a:r>
              <a:rPr lang="vi-VN" sz="2000" b="1" dirty="0">
                <a:solidFill>
                  <a:schemeClr val="bg1"/>
                </a:solidFill>
                <a:latin typeface="Cambria" panose="02040503050406030204" pitchFamily="18" charset="0"/>
                <a:ea typeface="Cambria" panose="02040503050406030204" pitchFamily="18" charset="0"/>
              </a:rPr>
              <a:t>Bước kiểm thử :</a:t>
            </a:r>
            <a:endParaRPr lang="en-US" sz="2000" b="1" dirty="0">
              <a:solidFill>
                <a:schemeClr val="bg1"/>
              </a:solidFill>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76F64F58-D763-91C8-24AA-E9DBC18B0846}"/>
              </a:ext>
            </a:extLst>
          </p:cNvPr>
          <p:cNvSpPr txBox="1"/>
          <p:nvPr/>
        </p:nvSpPr>
        <p:spPr>
          <a:xfrm>
            <a:off x="190447" y="1045346"/>
            <a:ext cx="2616921" cy="646331"/>
          </a:xfrm>
          <a:prstGeom prst="rect">
            <a:avLst/>
          </a:prstGeom>
          <a:noFill/>
        </p:spPr>
        <p:txBody>
          <a:bodyPr wrap="square" rtlCol="0">
            <a:spAutoFit/>
          </a:bodyPr>
          <a:lstStyle/>
          <a:p>
            <a:r>
              <a:rPr lang="en-US" b="1" dirty="0">
                <a:solidFill>
                  <a:schemeClr val="bg1"/>
                </a:solidFill>
                <a:latin typeface="Cambria" panose="02040503050406030204" pitchFamily="18" charset="0"/>
                <a:ea typeface="Cambria" panose="02040503050406030204" pitchFamily="18" charset="0"/>
                <a:cs typeface="Times New Roman" panose="02020603050405020304" pitchFamily="18" charset="0"/>
              </a:rPr>
              <a:t>Drift</a:t>
            </a:r>
            <a:r>
              <a:rPr lang="en-US" b="1">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a:solidFill>
                  <a:schemeClr val="bg1"/>
                </a:solidFill>
                <a:latin typeface="Cambria" panose="02040503050406030204" pitchFamily="18" charset="0"/>
                <a:ea typeface="Cambria" panose="02040503050406030204" pitchFamily="18" charset="0"/>
                <a:cs typeface="Times New Roman" panose="02020603050405020304" pitchFamily="18" charset="0"/>
              </a:rPr>
              <a:t>Xóa </a:t>
            </a:r>
            <a:r>
              <a:rPr lang="en-US"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từng</a:t>
            </a:r>
            <a:r>
              <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err="1">
                <a:solidFill>
                  <a:schemeClr val="bg1"/>
                </a:solidFill>
                <a:latin typeface="Cambria" panose="02040503050406030204" pitchFamily="18" charset="0"/>
                <a:ea typeface="Cambria" panose="02040503050406030204" pitchFamily="18" charset="0"/>
                <a:cs typeface="Times New Roman" panose="02020603050405020304" pitchFamily="18" charset="0"/>
              </a:rPr>
              <a:t>bản</a:t>
            </a:r>
            <a:r>
              <a:rPr lang="en-US">
                <a:solidFill>
                  <a:schemeClr val="bg1"/>
                </a:solidFill>
                <a:latin typeface="Cambria" panose="02040503050406030204" pitchFamily="18" charset="0"/>
                <a:ea typeface="Cambria" panose="02040503050406030204" pitchFamily="18" charset="0"/>
                <a:cs typeface="Times New Roman" panose="02020603050405020304" pitchFamily="18" charset="0"/>
              </a:rPr>
              <a:t> ghi</a:t>
            </a:r>
            <a:endPar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a:p>
            <a:endParaRPr lang="en-US" b="1"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6FD87A43-9FA5-BCD9-C452-D7AF85A813D3}"/>
              </a:ext>
            </a:extLst>
          </p:cNvPr>
          <p:cNvSpPr txBox="1"/>
          <p:nvPr/>
        </p:nvSpPr>
        <p:spPr>
          <a:xfrm>
            <a:off x="226975" y="3821162"/>
            <a:ext cx="2738756" cy="923330"/>
          </a:xfrm>
          <a:prstGeom prst="rect">
            <a:avLst/>
          </a:prstGeom>
          <a:noFill/>
        </p:spPr>
        <p:txBody>
          <a:bodyPr wrap="square" rtlCol="0">
            <a:spAutoFit/>
          </a:bodyPr>
          <a:lstStyle/>
          <a:p>
            <a:r>
              <a:rPr lang="vi-VN" b="1" dirty="0">
                <a:solidFill>
                  <a:schemeClr val="bg1"/>
                </a:solidFill>
                <a:latin typeface="Cambria" panose="02040503050406030204" pitchFamily="18" charset="0"/>
                <a:ea typeface="Cambria" panose="02040503050406030204" pitchFamily="18" charset="0"/>
                <a:cs typeface="Times New Roman" panose="02020603050405020304" pitchFamily="18" charset="0"/>
              </a:rPr>
              <a:t>SQli</a:t>
            </a:r>
            <a:r>
              <a:rPr lang="en-US" b="1" dirty="0">
                <a:solidFill>
                  <a:schemeClr val="bg1"/>
                </a:solidFill>
                <a:latin typeface="Cambria" panose="02040503050406030204" pitchFamily="18" charset="0"/>
                <a:ea typeface="Cambria" panose="02040503050406030204" pitchFamily="18" charset="0"/>
                <a:cs typeface="Times New Roman" panose="02020603050405020304" pitchFamily="18" charset="0"/>
              </a:rPr>
              <a:t>t</a:t>
            </a:r>
            <a:r>
              <a:rPr lang="vi-VN" b="1" dirty="0">
                <a:solidFill>
                  <a:schemeClr val="bg1"/>
                </a:solidFill>
                <a:latin typeface="Cambria" panose="02040503050406030204" pitchFamily="18" charset="0"/>
                <a:ea typeface="Cambria" panose="02040503050406030204" pitchFamily="18" charset="0"/>
                <a:cs typeface="Times New Roman" panose="02020603050405020304" pitchFamily="18" charset="0"/>
              </a:rPr>
              <a:t>e</a:t>
            </a:r>
            <a:r>
              <a:rPr lang="en-US">
                <a:solidFill>
                  <a:schemeClr val="bg1"/>
                </a:solidFill>
                <a:latin typeface="Cambria" panose="02040503050406030204" pitchFamily="18" charset="0"/>
                <a:ea typeface="Cambria" panose="02040503050406030204" pitchFamily="18" charset="0"/>
                <a:cs typeface="Times New Roman" panose="02020603050405020304" pitchFamily="18" charset="0"/>
              </a:rPr>
              <a:t>: Xóa </a:t>
            </a:r>
            <a:r>
              <a:rPr lang="en-US"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từng</a:t>
            </a:r>
            <a:r>
              <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bản</a:t>
            </a:r>
            <a:r>
              <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ghi</a:t>
            </a:r>
            <a:endPar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a:p>
            <a:endParaRPr lang="en-US" b="1"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a:p>
            <a:endParaRPr lang="en-US" b="1" dirty="0">
              <a:latin typeface="Cambria" panose="02040503050406030204" pitchFamily="18" charset="0"/>
              <a:ea typeface="Cambria" panose="020405030504060302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6AD96C1B-87CF-9721-7C71-9A861660344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2912508" y="3882615"/>
            <a:ext cx="6725028" cy="2668140"/>
          </a:xfrm>
          <a:prstGeom prst="rect">
            <a:avLst/>
          </a:prstGeom>
        </p:spPr>
      </p:pic>
      <p:pic>
        <p:nvPicPr>
          <p:cNvPr id="13" name="Picture 12">
            <a:extLst>
              <a:ext uri="{FF2B5EF4-FFF2-40B4-BE49-F238E27FC236}">
                <a16:creationId xmlns:a16="http://schemas.microsoft.com/office/drawing/2014/main" id="{2B374A30-42A5-048F-CDFF-39788A707391}"/>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2965731" y="1083334"/>
            <a:ext cx="7076627" cy="2719260"/>
          </a:xfrm>
          <a:prstGeom prst="rect">
            <a:avLst/>
          </a:prstGeom>
        </p:spPr>
      </p:pic>
    </p:spTree>
    <p:extLst>
      <p:ext uri="{BB962C8B-B14F-4D97-AF65-F5344CB8AC3E}">
        <p14:creationId xmlns:p14="http://schemas.microsoft.com/office/powerpoint/2010/main" val="2169393180"/>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6203E-7BD6-74A7-BE66-F56C3CE3AB1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9BAF38E5-2107-79DB-B5ED-E59D244F5F21}"/>
              </a:ext>
            </a:extLst>
          </p:cNvPr>
          <p:cNvSpPr/>
          <p:nvPr/>
        </p:nvSpPr>
        <p:spPr>
          <a:xfrm>
            <a:off x="-10532" y="-13648"/>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endParaRPr lang="en-US" dirty="0">
              <a:solidFill>
                <a:schemeClr val="bg1"/>
              </a:solidFill>
            </a:endParaRPr>
          </a:p>
        </p:txBody>
      </p:sp>
      <p:sp>
        <p:nvSpPr>
          <p:cNvPr id="3" name="Date Placeholder 3">
            <a:extLst>
              <a:ext uri="{FF2B5EF4-FFF2-40B4-BE49-F238E27FC236}">
                <a16:creationId xmlns:a16="http://schemas.microsoft.com/office/drawing/2014/main" id="{1E424E7F-A674-F7AB-0477-A75562353805}"/>
              </a:ext>
            </a:extLst>
          </p:cNvPr>
          <p:cNvSpPr txBox="1">
            <a:spLocks/>
          </p:cNvSpPr>
          <p:nvPr/>
        </p:nvSpPr>
        <p:spPr>
          <a:xfrm>
            <a:off x="11231496" y="655075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50</a:t>
            </a:r>
          </a:p>
        </p:txBody>
      </p:sp>
      <p:sp>
        <p:nvSpPr>
          <p:cNvPr id="7" name="Title 10">
            <a:extLst>
              <a:ext uri="{FF2B5EF4-FFF2-40B4-BE49-F238E27FC236}">
                <a16:creationId xmlns:a16="http://schemas.microsoft.com/office/drawing/2014/main" id="{0A007FB9-12B8-69AB-7B44-D2BFFCCF33DE}"/>
              </a:ext>
            </a:extLst>
          </p:cNvPr>
          <p:cNvSpPr txBox="1">
            <a:spLocks/>
          </p:cNvSpPr>
          <p:nvPr/>
        </p:nvSpPr>
        <p:spPr>
          <a:xfrm>
            <a:off x="812381" y="-114304"/>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dirty="0">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Performance testing </a:t>
            </a:r>
            <a:r>
              <a:rPr lang="en-US" sz="3200" b="1" dirty="0" err="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và</a:t>
            </a:r>
            <a:r>
              <a:rPr lang="en-US" sz="3200" b="1" dirty="0">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optimization</a:t>
            </a:r>
            <a:endParaRPr lang="en-US" sz="3200" b="1" dirty="0">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7A17BF92-4866-4F4C-4A32-4845592B63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79159"/>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B806D12-3FAF-6CE3-29D8-E539DB4DE115}"/>
              </a:ext>
            </a:extLst>
          </p:cNvPr>
          <p:cNvSpPr txBox="1"/>
          <p:nvPr/>
        </p:nvSpPr>
        <p:spPr>
          <a:xfrm>
            <a:off x="505160" y="666235"/>
            <a:ext cx="2322576" cy="400110"/>
          </a:xfrm>
          <a:prstGeom prst="rect">
            <a:avLst/>
          </a:prstGeom>
          <a:noFill/>
        </p:spPr>
        <p:txBody>
          <a:bodyPr wrap="square" rtlCol="0">
            <a:spAutoFit/>
          </a:bodyPr>
          <a:lstStyle/>
          <a:p>
            <a:pPr marL="285750" indent="-285750">
              <a:buFont typeface="Wingdings" panose="05000000000000000000" pitchFamily="2" charset="2"/>
              <a:buChar char="q"/>
            </a:pPr>
            <a:r>
              <a:rPr lang="vi-VN" sz="2000" b="1" dirty="0">
                <a:solidFill>
                  <a:schemeClr val="bg1"/>
                </a:solidFill>
                <a:latin typeface="Cambria" panose="02040503050406030204" pitchFamily="18" charset="0"/>
                <a:ea typeface="Cambria" panose="02040503050406030204" pitchFamily="18" charset="0"/>
              </a:rPr>
              <a:t>Tối ưu hóa</a:t>
            </a:r>
            <a:endParaRPr lang="en-US" sz="2000" b="1" dirty="0">
              <a:solidFill>
                <a:schemeClr val="bg1"/>
              </a:solidFill>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D88F3D00-349C-09AF-F7FE-09370BA7BB0C}"/>
              </a:ext>
            </a:extLst>
          </p:cNvPr>
          <p:cNvSpPr txBox="1"/>
          <p:nvPr/>
        </p:nvSpPr>
        <p:spPr>
          <a:xfrm>
            <a:off x="520310" y="993257"/>
            <a:ext cx="2973235" cy="369332"/>
          </a:xfrm>
          <a:prstGeom prst="rect">
            <a:avLst/>
          </a:prstGeom>
          <a:noFill/>
        </p:spPr>
        <p:txBody>
          <a:bodyPr wrap="square" rtlCol="0">
            <a:spAutoFit/>
          </a:bodyPr>
          <a:lstStyle/>
          <a:p>
            <a:r>
              <a:rPr lang="en-US" dirty="0" err="1">
                <a:solidFill>
                  <a:schemeClr val="bg1"/>
                </a:solidFill>
                <a:latin typeface="Cambria" panose="02040503050406030204" pitchFamily="18" charset="0"/>
                <a:ea typeface="Cambria" panose="02040503050406030204" pitchFamily="18" charset="0"/>
              </a:rPr>
              <a:t>Dùng</a:t>
            </a:r>
            <a:r>
              <a:rPr lang="en-US" dirty="0">
                <a:solidFill>
                  <a:schemeClr val="bg1"/>
                </a:solidFill>
                <a:latin typeface="Cambria" panose="02040503050406030204" pitchFamily="18" charset="0"/>
                <a:ea typeface="Cambria" panose="02040503050406030204" pitchFamily="18" charset="0"/>
              </a:rPr>
              <a:t> batch </a:t>
            </a:r>
            <a:r>
              <a:rPr lang="en-US" dirty="0" err="1">
                <a:solidFill>
                  <a:schemeClr val="bg1"/>
                </a:solidFill>
                <a:latin typeface="Cambria" panose="02040503050406030204" pitchFamily="18" charset="0"/>
                <a:ea typeface="Cambria" panose="02040503050406030204" pitchFamily="18" charset="0"/>
              </a:rPr>
              <a:t>trong</a:t>
            </a:r>
            <a:r>
              <a:rPr lang="en-US" dirty="0">
                <a:solidFill>
                  <a:schemeClr val="bg1"/>
                </a:solidFill>
                <a:latin typeface="Cambria" panose="02040503050406030204" pitchFamily="18" charset="0"/>
                <a:ea typeface="Cambria" panose="02040503050406030204" pitchFamily="18" charset="0"/>
              </a:rPr>
              <a:t> Drift</a:t>
            </a:r>
            <a:r>
              <a:rPr lang="vi-VN" dirty="0">
                <a:solidFill>
                  <a:schemeClr val="bg1"/>
                </a:solidFill>
                <a:latin typeface="Cambria" panose="02040503050406030204" pitchFamily="18" charset="0"/>
                <a:ea typeface="Cambria" panose="02040503050406030204" pitchFamily="18" charset="0"/>
              </a:rPr>
              <a:t> :</a:t>
            </a:r>
            <a:endParaRPr lang="en-US" dirty="0">
              <a:solidFill>
                <a:schemeClr val="bg1"/>
              </a:solidFill>
              <a:latin typeface="Cambria" panose="02040503050406030204" pitchFamily="18" charset="0"/>
              <a:ea typeface="Cambria" panose="02040503050406030204" pitchFamily="18" charset="0"/>
            </a:endParaRPr>
          </a:p>
        </p:txBody>
      </p:sp>
      <p:sp>
        <p:nvSpPr>
          <p:cNvPr id="10" name="TextBox 9">
            <a:extLst>
              <a:ext uri="{FF2B5EF4-FFF2-40B4-BE49-F238E27FC236}">
                <a16:creationId xmlns:a16="http://schemas.microsoft.com/office/drawing/2014/main" id="{E6D497E9-AC2C-03DF-EB12-B09D81FC0E8C}"/>
              </a:ext>
            </a:extLst>
          </p:cNvPr>
          <p:cNvSpPr txBox="1"/>
          <p:nvPr/>
        </p:nvSpPr>
        <p:spPr>
          <a:xfrm>
            <a:off x="5947053" y="988043"/>
            <a:ext cx="4378214" cy="646331"/>
          </a:xfrm>
          <a:prstGeom prst="rect">
            <a:avLst/>
          </a:prstGeom>
          <a:noFill/>
        </p:spPr>
        <p:txBody>
          <a:bodyPr wrap="square" rtlCol="0">
            <a:spAutoFit/>
          </a:bodyPr>
          <a:lstStyle/>
          <a:p>
            <a:r>
              <a:rPr lang="en-US"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Dùng</a:t>
            </a:r>
            <a:r>
              <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rPr>
              <a:t> Transaction </a:t>
            </a:r>
            <a:r>
              <a:rPr lang="en-US"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trong</a:t>
            </a:r>
            <a:r>
              <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vi-VN" dirty="0">
                <a:solidFill>
                  <a:schemeClr val="bg1"/>
                </a:solidFill>
                <a:latin typeface="Cambria" panose="02040503050406030204" pitchFamily="18" charset="0"/>
                <a:ea typeface="Cambria" panose="02040503050406030204" pitchFamily="18" charset="0"/>
                <a:cs typeface="Times New Roman" panose="02020603050405020304" pitchFamily="18" charset="0"/>
              </a:rPr>
              <a:t>SQLite:</a:t>
            </a:r>
            <a:endPar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a:p>
            <a:endPar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p:txBody>
      </p:sp>
      <p:cxnSp>
        <p:nvCxnSpPr>
          <p:cNvPr id="12" name="Straight Connector 11">
            <a:extLst>
              <a:ext uri="{FF2B5EF4-FFF2-40B4-BE49-F238E27FC236}">
                <a16:creationId xmlns:a16="http://schemas.microsoft.com/office/drawing/2014/main" id="{30E05742-4D2E-9435-C311-436435B00523}"/>
              </a:ext>
            </a:extLst>
          </p:cNvPr>
          <p:cNvCxnSpPr>
            <a:cxnSpLocks/>
          </p:cNvCxnSpPr>
          <p:nvPr/>
        </p:nvCxnSpPr>
        <p:spPr>
          <a:xfrm>
            <a:off x="5616984" y="1072713"/>
            <a:ext cx="0" cy="5307486"/>
          </a:xfrm>
          <a:prstGeom prst="line">
            <a:avLst/>
          </a:prstGeom>
          <a:ln w="28575"/>
        </p:spPr>
        <p:style>
          <a:lnRef idx="1">
            <a:schemeClr val="dk1"/>
          </a:lnRef>
          <a:fillRef idx="0">
            <a:schemeClr val="dk1"/>
          </a:fillRef>
          <a:effectRef idx="0">
            <a:schemeClr val="dk1"/>
          </a:effectRef>
          <a:fontRef idx="minor">
            <a:schemeClr val="tx1"/>
          </a:fontRef>
        </p:style>
      </p:cxnSp>
      <p:pic>
        <p:nvPicPr>
          <p:cNvPr id="13" name="Picture 12">
            <a:extLst>
              <a:ext uri="{FF2B5EF4-FFF2-40B4-BE49-F238E27FC236}">
                <a16:creationId xmlns:a16="http://schemas.microsoft.com/office/drawing/2014/main" id="{8FABE477-3B65-FD54-FA46-D16CEB6ED21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5947053" y="1378477"/>
            <a:ext cx="5090088" cy="3222930"/>
          </a:xfrm>
          <a:prstGeom prst="rect">
            <a:avLst/>
          </a:prstGeom>
        </p:spPr>
      </p:pic>
      <p:pic>
        <p:nvPicPr>
          <p:cNvPr id="15" name="Picture 14">
            <a:extLst>
              <a:ext uri="{FF2B5EF4-FFF2-40B4-BE49-F238E27FC236}">
                <a16:creationId xmlns:a16="http://schemas.microsoft.com/office/drawing/2014/main" id="{85C31AF8-7C66-4D61-837B-3E5EB44A9A26}"/>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rcRect r="2546" b="986"/>
          <a:stretch>
            <a:fillRect/>
          </a:stretch>
        </p:blipFill>
        <p:spPr>
          <a:xfrm>
            <a:off x="173751" y="1393367"/>
            <a:ext cx="5283615" cy="3038903"/>
          </a:xfrm>
          <a:prstGeom prst="rect">
            <a:avLst/>
          </a:prstGeom>
        </p:spPr>
      </p:pic>
      <p:pic>
        <p:nvPicPr>
          <p:cNvPr id="21" name="Picture 20">
            <a:extLst>
              <a:ext uri="{FF2B5EF4-FFF2-40B4-BE49-F238E27FC236}">
                <a16:creationId xmlns:a16="http://schemas.microsoft.com/office/drawing/2014/main" id="{D8769DB2-4A79-5669-623A-CDB6AD267F3E}"/>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812380" y="4734296"/>
            <a:ext cx="3998381" cy="1645903"/>
          </a:xfrm>
          <a:prstGeom prst="rect">
            <a:avLst/>
          </a:prstGeom>
          <a:ln>
            <a:noFill/>
          </a:ln>
          <a:effectLst>
            <a:outerShdw blurRad="190500" algn="tl" rotWithShape="0">
              <a:srgbClr val="000000">
                <a:alpha val="70000"/>
              </a:srgbClr>
            </a:outerShdw>
          </a:effectLst>
        </p:spPr>
      </p:pic>
      <p:pic>
        <p:nvPicPr>
          <p:cNvPr id="27" name="Picture 26">
            <a:extLst>
              <a:ext uri="{FF2B5EF4-FFF2-40B4-BE49-F238E27FC236}">
                <a16:creationId xmlns:a16="http://schemas.microsoft.com/office/drawing/2014/main" id="{D8CF6E82-1BE0-1B4F-41F4-1A0D206AAA53}"/>
              </a:ext>
            </a:extLst>
          </p:cNvPr>
          <p:cNvPicPr>
            <a:picLocks noChangeAspect="1"/>
          </p:cNvPicPr>
          <p:nvPr/>
        </p:nvPicPr>
        <p:blipFill>
          <a:blip r:embed="rId10">
            <a:extLst>
              <a:ext uri="{BEBA8EAE-BF5A-486C-A8C5-ECC9F3942E4B}">
                <a14:imgProps xmlns:a14="http://schemas.microsoft.com/office/drawing/2010/main">
                  <a14:imgLayer r:embed="rId11">
                    <a14:imgEffect>
                      <a14:sharpenSoften amount="25000"/>
                    </a14:imgEffect>
                  </a14:imgLayer>
                </a14:imgProps>
              </a:ext>
            </a:extLst>
          </a:blip>
          <a:srcRect r="3088"/>
          <a:stretch>
            <a:fillRect/>
          </a:stretch>
        </p:blipFill>
        <p:spPr>
          <a:xfrm>
            <a:off x="6872288" y="4734296"/>
            <a:ext cx="4482040" cy="164942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530337214"/>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382C7-A815-B7DD-4F6D-CB4029844F50}"/>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2F8B9777-59A1-0685-05A9-E3B8C94FE6F4}"/>
              </a:ext>
            </a:extLst>
          </p:cNvPr>
          <p:cNvSpPr/>
          <p:nvPr/>
        </p:nvSpPr>
        <p:spPr>
          <a:xfrm>
            <a:off x="3578" y="-14748"/>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3" name="Date Placeholder 3">
            <a:extLst>
              <a:ext uri="{FF2B5EF4-FFF2-40B4-BE49-F238E27FC236}">
                <a16:creationId xmlns:a16="http://schemas.microsoft.com/office/drawing/2014/main" id="{C49256DD-4FAA-B1AA-DB4E-489AFB29A7F8}"/>
              </a:ext>
            </a:extLst>
          </p:cNvPr>
          <p:cNvSpPr txBox="1">
            <a:spLocks/>
          </p:cNvSpPr>
          <p:nvPr/>
        </p:nvSpPr>
        <p:spPr>
          <a:xfrm>
            <a:off x="11231496" y="6537107"/>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51</a:t>
            </a:r>
          </a:p>
        </p:txBody>
      </p:sp>
      <p:sp>
        <p:nvSpPr>
          <p:cNvPr id="7" name="Title 10">
            <a:extLst>
              <a:ext uri="{FF2B5EF4-FFF2-40B4-BE49-F238E27FC236}">
                <a16:creationId xmlns:a16="http://schemas.microsoft.com/office/drawing/2014/main" id="{E2EA6B8B-506D-A1B4-8A04-766F38B573F8}"/>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Performance testing và optimization</a:t>
            </a:r>
            <a:endParaRPr lang="en-US" sz="3200" b="1" dirty="0">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80F2105A-70E4-010B-9C4E-2FC066E651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5B8E0C7A-6A1A-CE2A-EFC8-83E0B8382CA5}"/>
              </a:ext>
            </a:extLst>
          </p:cNvPr>
          <p:cNvGraphicFramePr>
            <a:graphicFrameLocks noGrp="1"/>
          </p:cNvGraphicFramePr>
          <p:nvPr>
            <p:extLst>
              <p:ext uri="{D42A27DB-BD31-4B8C-83A1-F6EECF244321}">
                <p14:modId xmlns:p14="http://schemas.microsoft.com/office/powerpoint/2010/main" val="1263832839"/>
              </p:ext>
            </p:extLst>
          </p:nvPr>
        </p:nvGraphicFramePr>
        <p:xfrm>
          <a:off x="638629" y="1839929"/>
          <a:ext cx="11081420" cy="2499360"/>
        </p:xfrm>
        <a:graphic>
          <a:graphicData uri="http://schemas.openxmlformats.org/drawingml/2006/table">
            <a:tbl>
              <a:tblPr>
                <a:tableStyleId>{D7AC3CCA-C797-4891-BE02-D94E43425B78}</a:tableStyleId>
              </a:tblPr>
              <a:tblGrid>
                <a:gridCol w="3169096">
                  <a:extLst>
                    <a:ext uri="{9D8B030D-6E8A-4147-A177-3AD203B41FA5}">
                      <a16:colId xmlns:a16="http://schemas.microsoft.com/office/drawing/2014/main" val="2214530984"/>
                    </a:ext>
                  </a:extLst>
                </a:gridCol>
                <a:gridCol w="1760562">
                  <a:extLst>
                    <a:ext uri="{9D8B030D-6E8A-4147-A177-3AD203B41FA5}">
                      <a16:colId xmlns:a16="http://schemas.microsoft.com/office/drawing/2014/main" val="2662390662"/>
                    </a:ext>
                  </a:extLst>
                </a:gridCol>
                <a:gridCol w="2511188">
                  <a:extLst>
                    <a:ext uri="{9D8B030D-6E8A-4147-A177-3AD203B41FA5}">
                      <a16:colId xmlns:a16="http://schemas.microsoft.com/office/drawing/2014/main" val="2926072606"/>
                    </a:ext>
                  </a:extLst>
                </a:gridCol>
                <a:gridCol w="3640574">
                  <a:extLst>
                    <a:ext uri="{9D8B030D-6E8A-4147-A177-3AD203B41FA5}">
                      <a16:colId xmlns:a16="http://schemas.microsoft.com/office/drawing/2014/main" val="989252950"/>
                    </a:ext>
                  </a:extLst>
                </a:gridCol>
              </a:tblGrid>
              <a:tr h="365760">
                <a:tc>
                  <a:txBody>
                    <a:bodyPr/>
                    <a:lstStyle/>
                    <a:p>
                      <a:pPr>
                        <a:buNone/>
                      </a:pPr>
                      <a:r>
                        <a:rPr lang="en-US" sz="2000">
                          <a:latin typeface="Cambria" panose="02040503050406030204" pitchFamily="18" charset="0"/>
                          <a:ea typeface="Cambria" panose="02040503050406030204" pitchFamily="18" charset="0"/>
                        </a:rPr>
                        <a:t>Thao tác</a:t>
                      </a:r>
                    </a:p>
                  </a:txBody>
                  <a:tcPr anchor="ctr">
                    <a:solidFill>
                      <a:schemeClr val="tx1"/>
                    </a:solidFill>
                  </a:tcPr>
                </a:tc>
                <a:tc>
                  <a:txBody>
                    <a:bodyPr/>
                    <a:lstStyle/>
                    <a:p>
                      <a:pPr>
                        <a:buNone/>
                      </a:pPr>
                      <a:r>
                        <a:rPr lang="en-US" sz="2000">
                          <a:latin typeface="Cambria" panose="02040503050406030204" pitchFamily="18" charset="0"/>
                          <a:ea typeface="Cambria" panose="02040503050406030204" pitchFamily="18" charset="0"/>
                        </a:rPr>
                        <a:t>Drift (ORM)</a:t>
                      </a:r>
                    </a:p>
                  </a:txBody>
                  <a:tcPr anchor="ctr">
                    <a:solidFill>
                      <a:schemeClr val="tx1"/>
                    </a:solidFill>
                  </a:tcPr>
                </a:tc>
                <a:tc>
                  <a:txBody>
                    <a:bodyPr/>
                    <a:lstStyle/>
                    <a:p>
                      <a:pPr>
                        <a:buNone/>
                      </a:pPr>
                      <a:r>
                        <a:rPr lang="en-US" sz="2000">
                          <a:latin typeface="Cambria" panose="02040503050406030204" pitchFamily="18" charset="0"/>
                          <a:ea typeface="Cambria" panose="02040503050406030204" pitchFamily="18" charset="0"/>
                        </a:rPr>
                        <a:t>SQLite thuần</a:t>
                      </a:r>
                    </a:p>
                  </a:txBody>
                  <a:tcPr anchor="ctr">
                    <a:solidFill>
                      <a:schemeClr val="tx1"/>
                    </a:solidFill>
                  </a:tcPr>
                </a:tc>
                <a:tc>
                  <a:txBody>
                    <a:bodyPr/>
                    <a:lstStyle/>
                    <a:p>
                      <a:pPr>
                        <a:buNone/>
                      </a:pPr>
                      <a:r>
                        <a:rPr lang="en-US" sz="2000">
                          <a:latin typeface="Cambria" panose="02040503050406030204" pitchFamily="18" charset="0"/>
                          <a:ea typeface="Cambria" panose="02040503050406030204" pitchFamily="18" charset="0"/>
                        </a:rPr>
                        <a:t>Nhận xét</a:t>
                      </a:r>
                    </a:p>
                  </a:txBody>
                  <a:tcPr anchor="ctr">
                    <a:solidFill>
                      <a:schemeClr val="tx1"/>
                    </a:solidFill>
                  </a:tcPr>
                </a:tc>
                <a:extLst>
                  <a:ext uri="{0D108BD9-81ED-4DB2-BD59-A6C34878D82A}">
                    <a16:rowId xmlns:a16="http://schemas.microsoft.com/office/drawing/2014/main" val="2022570271"/>
                  </a:ext>
                </a:extLst>
              </a:tr>
              <a:tr h="365760">
                <a:tc>
                  <a:txBody>
                    <a:bodyPr/>
                    <a:lstStyle/>
                    <a:p>
                      <a:pPr>
                        <a:buNone/>
                      </a:pPr>
                      <a:r>
                        <a:rPr lang="en-US" sz="2000">
                          <a:latin typeface="Cambria" panose="02040503050406030204" pitchFamily="18" charset="0"/>
                          <a:ea typeface="Cambria" panose="02040503050406030204" pitchFamily="18" charset="0"/>
                        </a:rPr>
                        <a:t>Insert từng bản ghi</a:t>
                      </a:r>
                    </a:p>
                  </a:txBody>
                  <a:tcPr anchor="ctr">
                    <a:solidFill>
                      <a:schemeClr val="tx1"/>
                    </a:solidFill>
                  </a:tcPr>
                </a:tc>
                <a:tc>
                  <a:txBody>
                    <a:bodyPr/>
                    <a:lstStyle/>
                    <a:p>
                      <a:pPr algn="ctr">
                        <a:buNone/>
                      </a:pPr>
                      <a:r>
                        <a:rPr lang="en-US" sz="2000" b="0">
                          <a:latin typeface="Cambria" panose="02040503050406030204" pitchFamily="18" charset="0"/>
                          <a:ea typeface="Cambria" panose="02040503050406030204" pitchFamily="18" charset="0"/>
                        </a:rPr>
                        <a:t>2319 ms</a:t>
                      </a:r>
                    </a:p>
                  </a:txBody>
                  <a:tcPr anchor="ctr">
                    <a:solidFill>
                      <a:schemeClr val="tx1"/>
                    </a:solidFill>
                  </a:tcPr>
                </a:tc>
                <a:tc>
                  <a:txBody>
                    <a:bodyPr/>
                    <a:lstStyle/>
                    <a:p>
                      <a:pPr algn="ctr">
                        <a:buNone/>
                      </a:pPr>
                      <a:r>
                        <a:rPr lang="en-US" sz="2000" b="0">
                          <a:latin typeface="Cambria" panose="02040503050406030204" pitchFamily="18" charset="0"/>
                          <a:ea typeface="Cambria" panose="02040503050406030204" pitchFamily="18" charset="0"/>
                        </a:rPr>
                        <a:t>1834 ms</a:t>
                      </a:r>
                    </a:p>
                  </a:txBody>
                  <a:tcPr anchor="ctr">
                    <a:solidFill>
                      <a:schemeClr val="tx1"/>
                    </a:solidFill>
                  </a:tcPr>
                </a:tc>
                <a:tc>
                  <a:txBody>
                    <a:bodyPr/>
                    <a:lstStyle/>
                    <a:p>
                      <a:pPr>
                        <a:buNone/>
                      </a:pPr>
                      <a:r>
                        <a:rPr lang="vi-VN" sz="2000" dirty="0">
                          <a:latin typeface="Cambria" panose="02040503050406030204" pitchFamily="18" charset="0"/>
                          <a:ea typeface="Cambria" panose="02040503050406030204" pitchFamily="18" charset="0"/>
                        </a:rPr>
                        <a:t>SQLite nhanh hơn do Drift có lớp ORM mapping.</a:t>
                      </a:r>
                    </a:p>
                  </a:txBody>
                  <a:tcPr anchor="ctr">
                    <a:solidFill>
                      <a:schemeClr val="tx1"/>
                    </a:solidFill>
                  </a:tcPr>
                </a:tc>
                <a:extLst>
                  <a:ext uri="{0D108BD9-81ED-4DB2-BD59-A6C34878D82A}">
                    <a16:rowId xmlns:a16="http://schemas.microsoft.com/office/drawing/2014/main" val="1578924350"/>
                  </a:ext>
                </a:extLst>
              </a:tr>
              <a:tr h="640080">
                <a:tc>
                  <a:txBody>
                    <a:bodyPr/>
                    <a:lstStyle/>
                    <a:p>
                      <a:pPr>
                        <a:buNone/>
                      </a:pPr>
                      <a:r>
                        <a:rPr lang="en-US" sz="2000">
                          <a:latin typeface="Cambria" panose="02040503050406030204" pitchFamily="18" charset="0"/>
                          <a:ea typeface="Cambria" panose="02040503050406030204" pitchFamily="18" charset="0"/>
                        </a:rPr>
                        <a:t>Delete từng bản ghi</a:t>
                      </a:r>
                    </a:p>
                  </a:txBody>
                  <a:tcPr anchor="ctr">
                    <a:solidFill>
                      <a:schemeClr val="tx1"/>
                    </a:solidFill>
                  </a:tcPr>
                </a:tc>
                <a:tc>
                  <a:txBody>
                    <a:bodyPr/>
                    <a:lstStyle/>
                    <a:p>
                      <a:pPr algn="ctr">
                        <a:buNone/>
                      </a:pPr>
                      <a:r>
                        <a:rPr lang="en-US" sz="2000" b="0">
                          <a:latin typeface="Cambria" panose="02040503050406030204" pitchFamily="18" charset="0"/>
                          <a:ea typeface="Cambria" panose="02040503050406030204" pitchFamily="18" charset="0"/>
                        </a:rPr>
                        <a:t>1995 ms</a:t>
                      </a:r>
                    </a:p>
                  </a:txBody>
                  <a:tcPr anchor="ctr">
                    <a:solidFill>
                      <a:schemeClr val="tx1"/>
                    </a:solidFill>
                  </a:tcPr>
                </a:tc>
                <a:tc>
                  <a:txBody>
                    <a:bodyPr/>
                    <a:lstStyle/>
                    <a:p>
                      <a:pPr algn="ctr">
                        <a:buNone/>
                      </a:pPr>
                      <a:r>
                        <a:rPr lang="en-US" sz="2000" b="0">
                          <a:latin typeface="Cambria" panose="02040503050406030204" pitchFamily="18" charset="0"/>
                          <a:ea typeface="Cambria" panose="02040503050406030204" pitchFamily="18" charset="0"/>
                        </a:rPr>
                        <a:t>1727 ms</a:t>
                      </a:r>
                    </a:p>
                  </a:txBody>
                  <a:tcPr anchor="ctr">
                    <a:solidFill>
                      <a:schemeClr val="tx1"/>
                    </a:solidFill>
                  </a:tcPr>
                </a:tc>
                <a:tc>
                  <a:txBody>
                    <a:bodyPr/>
                    <a:lstStyle/>
                    <a:p>
                      <a:pPr>
                        <a:buNone/>
                      </a:pPr>
                      <a:r>
                        <a:rPr lang="vi-VN" sz="2000" dirty="0">
                          <a:latin typeface="Cambria" panose="02040503050406030204" pitchFamily="18" charset="0"/>
                          <a:ea typeface="Cambria" panose="02040503050406030204" pitchFamily="18" charset="0"/>
                        </a:rPr>
                        <a:t>SQLite nhanh hơn nhẹ vì gọi trực tiếp SQL.</a:t>
                      </a:r>
                    </a:p>
                  </a:txBody>
                  <a:tcPr anchor="ctr">
                    <a:solidFill>
                      <a:schemeClr val="tx1"/>
                    </a:solidFill>
                  </a:tcPr>
                </a:tc>
                <a:extLst>
                  <a:ext uri="{0D108BD9-81ED-4DB2-BD59-A6C34878D82A}">
                    <a16:rowId xmlns:a16="http://schemas.microsoft.com/office/drawing/2014/main" val="2623116204"/>
                  </a:ext>
                </a:extLst>
              </a:tr>
              <a:tr h="365760">
                <a:tc>
                  <a:txBody>
                    <a:bodyPr/>
                    <a:lstStyle/>
                    <a:p>
                      <a:pPr>
                        <a:buNone/>
                      </a:pPr>
                      <a:r>
                        <a:rPr lang="en-US" sz="2000">
                          <a:latin typeface="Cambria" panose="02040503050406030204" pitchFamily="18" charset="0"/>
                          <a:ea typeface="Cambria" panose="02040503050406030204" pitchFamily="18" charset="0"/>
                        </a:rPr>
                        <a:t>Insert batch</a:t>
                      </a:r>
                    </a:p>
                  </a:txBody>
                  <a:tcPr anchor="ctr">
                    <a:solidFill>
                      <a:schemeClr val="tx1"/>
                    </a:solidFill>
                  </a:tcPr>
                </a:tc>
                <a:tc>
                  <a:txBody>
                    <a:bodyPr/>
                    <a:lstStyle/>
                    <a:p>
                      <a:pPr algn="ctr">
                        <a:buNone/>
                      </a:pPr>
                      <a:r>
                        <a:rPr lang="en-US" sz="2000" b="0">
                          <a:latin typeface="Cambria" panose="02040503050406030204" pitchFamily="18" charset="0"/>
                          <a:ea typeface="Cambria" panose="02040503050406030204" pitchFamily="18" charset="0"/>
                        </a:rPr>
                        <a:t>22 ms</a:t>
                      </a:r>
                    </a:p>
                  </a:txBody>
                  <a:tcPr anchor="ctr">
                    <a:solidFill>
                      <a:schemeClr val="tx1"/>
                    </a:solidFill>
                  </a:tcPr>
                </a:tc>
                <a:tc>
                  <a:txBody>
                    <a:bodyPr/>
                    <a:lstStyle/>
                    <a:p>
                      <a:pPr algn="ctr">
                        <a:buNone/>
                      </a:pPr>
                      <a:r>
                        <a:rPr lang="en-US" sz="2000" b="0">
                          <a:latin typeface="Cambria" panose="02040503050406030204" pitchFamily="18" charset="0"/>
                          <a:ea typeface="Cambria" panose="02040503050406030204" pitchFamily="18" charset="0"/>
                        </a:rPr>
                        <a:t>60 ms</a:t>
                      </a:r>
                    </a:p>
                  </a:txBody>
                  <a:tcPr anchor="ctr">
                    <a:solidFill>
                      <a:schemeClr val="tx1"/>
                    </a:solidFill>
                  </a:tcPr>
                </a:tc>
                <a:tc>
                  <a:txBody>
                    <a:bodyPr/>
                    <a:lstStyle/>
                    <a:p>
                      <a:pPr>
                        <a:buNone/>
                      </a:pPr>
                      <a:r>
                        <a:rPr lang="vi-VN" sz="2000" b="0" dirty="0">
                          <a:latin typeface="Cambria" panose="02040503050406030204" pitchFamily="18" charset="0"/>
                          <a:ea typeface="Cambria" panose="02040503050406030204" pitchFamily="18" charset="0"/>
                        </a:rPr>
                        <a:t>Drift vượt trội ở batch do tối ưu</a:t>
                      </a:r>
                      <a:r>
                        <a:rPr lang="en-US" sz="2000" b="0" dirty="0">
                          <a:latin typeface="Cambria" panose="02040503050406030204" pitchFamily="18" charset="0"/>
                          <a:ea typeface="Cambria" panose="02040503050406030204" pitchFamily="18" charset="0"/>
                        </a:rPr>
                        <a:t>.</a:t>
                      </a:r>
                      <a:endParaRPr lang="vi-VN" sz="2000" b="0" dirty="0">
                        <a:latin typeface="Cambria" panose="02040503050406030204" pitchFamily="18" charset="0"/>
                        <a:ea typeface="Cambria" panose="02040503050406030204" pitchFamily="18" charset="0"/>
                      </a:endParaRPr>
                    </a:p>
                  </a:txBody>
                  <a:tcPr anchor="ctr">
                    <a:solidFill>
                      <a:schemeClr val="tx1"/>
                    </a:solidFill>
                  </a:tcPr>
                </a:tc>
                <a:extLst>
                  <a:ext uri="{0D108BD9-81ED-4DB2-BD59-A6C34878D82A}">
                    <a16:rowId xmlns:a16="http://schemas.microsoft.com/office/drawing/2014/main" val="2981579978"/>
                  </a:ext>
                </a:extLst>
              </a:tr>
            </a:tbl>
          </a:graphicData>
        </a:graphic>
      </p:graphicFrame>
      <p:sp>
        <p:nvSpPr>
          <p:cNvPr id="15" name="TextBox 14">
            <a:extLst>
              <a:ext uri="{FF2B5EF4-FFF2-40B4-BE49-F238E27FC236}">
                <a16:creationId xmlns:a16="http://schemas.microsoft.com/office/drawing/2014/main" id="{223BC9A0-0CBC-7FE2-52E8-BD90121581E0}"/>
              </a:ext>
            </a:extLst>
          </p:cNvPr>
          <p:cNvSpPr txBox="1"/>
          <p:nvPr/>
        </p:nvSpPr>
        <p:spPr>
          <a:xfrm>
            <a:off x="515799" y="1020504"/>
            <a:ext cx="3204322" cy="400110"/>
          </a:xfrm>
          <a:prstGeom prst="rect">
            <a:avLst/>
          </a:prstGeom>
          <a:noFill/>
        </p:spPr>
        <p:txBody>
          <a:bodyPr wrap="square" rtlCol="0">
            <a:spAutoFit/>
          </a:bodyPr>
          <a:lstStyle/>
          <a:p>
            <a:pPr marL="285750" indent="-285750">
              <a:buFont typeface="Wingdings" panose="05000000000000000000" pitchFamily="2" charset="2"/>
              <a:buChar char="q"/>
            </a:pPr>
            <a:r>
              <a:rPr lang="vi-VN" sz="2000" b="1" dirty="0">
                <a:solidFill>
                  <a:schemeClr val="bg1"/>
                </a:solidFill>
                <a:latin typeface="Cambria" panose="02040503050406030204" pitchFamily="18" charset="0"/>
                <a:ea typeface="Cambria" panose="02040503050406030204" pitchFamily="18" charset="0"/>
              </a:rPr>
              <a:t>Kết luận</a:t>
            </a:r>
            <a:endParaRPr lang="en-US" sz="2000" b="1"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59485057"/>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CCB86-DF51-2AB1-0791-611476086637}"/>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E47E42B2-761C-766D-84B3-4ADC85F87B5F}"/>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9781385F-A8C8-C39E-7290-D8E7EEFB17FE}"/>
              </a:ext>
            </a:extLst>
          </p:cNvPr>
          <p:cNvSpPr txBox="1">
            <a:spLocks/>
          </p:cNvSpPr>
          <p:nvPr/>
        </p:nvSpPr>
        <p:spPr>
          <a:xfrm>
            <a:off x="11204200" y="655075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52</a:t>
            </a:r>
          </a:p>
        </p:txBody>
      </p:sp>
      <p:pic>
        <p:nvPicPr>
          <p:cNvPr id="9" name="Picture 4" descr="Tải mẫu logo trường đại học Bách Khoa Đà Nẵng (DUT) file ...">
            <a:extLst>
              <a:ext uri="{FF2B5EF4-FFF2-40B4-BE49-F238E27FC236}">
                <a16:creationId xmlns:a16="http://schemas.microsoft.com/office/drawing/2014/main" id="{AE40DCC3-B7AA-45C5-FEF0-609B16BD47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F76B34E-5E74-E035-9E0E-D5E8127D619B}"/>
              </a:ext>
            </a:extLst>
          </p:cNvPr>
          <p:cNvSpPr txBox="1"/>
          <p:nvPr/>
        </p:nvSpPr>
        <p:spPr>
          <a:xfrm>
            <a:off x="638629" y="963186"/>
            <a:ext cx="9717540" cy="861774"/>
          </a:xfrm>
          <a:prstGeom prst="rect">
            <a:avLst/>
          </a:prstGeom>
          <a:noFill/>
        </p:spPr>
        <p:txBody>
          <a:bodyPr wrap="square" rtlCol="0">
            <a:spAutoFit/>
          </a:bodyPr>
          <a:lstStyle/>
          <a:p>
            <a:pPr marL="342900" indent="-342900">
              <a:lnSpc>
                <a:spcPct val="150000"/>
              </a:lnSpc>
              <a:buFont typeface="Wingdings" panose="05000000000000000000" pitchFamily="2" charset="2"/>
              <a:buChar char="§"/>
            </a:pPr>
            <a:r>
              <a:rPr lang="en-US" sz="2000" b="1">
                <a:solidFill>
                  <a:schemeClr val="bg1"/>
                </a:solidFill>
                <a:latin typeface="Cambria" panose="02040503050406030204" pitchFamily="18" charset="0"/>
                <a:ea typeface="Cambria" panose="02040503050406030204" pitchFamily="18" charset="0"/>
              </a:rPr>
              <a:t>Tài liệu tham khảo:</a:t>
            </a:r>
          </a:p>
          <a:p>
            <a:endParaRPr lang="en-US" sz="2000" b="1">
              <a:solidFill>
                <a:schemeClr val="bg1"/>
              </a:solidFill>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BF2906AD-F0FC-C073-DA19-ECD7F16B2997}"/>
              </a:ext>
            </a:extLst>
          </p:cNvPr>
          <p:cNvSpPr txBox="1"/>
          <p:nvPr/>
        </p:nvSpPr>
        <p:spPr>
          <a:xfrm>
            <a:off x="2309883" y="1679125"/>
            <a:ext cx="9044446" cy="5632311"/>
          </a:xfrm>
          <a:prstGeom prst="rect">
            <a:avLst/>
          </a:prstGeom>
          <a:noFill/>
        </p:spPr>
        <p:txBody>
          <a:bodyPr wrap="square">
            <a:spAutoFit/>
          </a:bodyPr>
          <a:lstStyle/>
          <a:p>
            <a:r>
              <a:rPr lang="en-US" sz="2000">
                <a:solidFill>
                  <a:srgbClr val="0070C0"/>
                </a:solidFill>
                <a:latin typeface="Cambria" panose="02040503050406030204" pitchFamily="18" charset="0"/>
                <a:ea typeface="Cambria" panose="02040503050406030204" pitchFamily="18" charset="0"/>
                <a:hlinkClick r:id="rId4">
                  <a:extLst>
                    <a:ext uri="{A12FA001-AC4F-418D-AE19-62706E023703}">
                      <ahyp:hlinkClr xmlns:ahyp="http://schemas.microsoft.com/office/drawing/2018/hyperlinkcolor" val="tx"/>
                    </a:ext>
                  </a:extLst>
                </a:hlinkClick>
              </a:rPr>
              <a:t>https://docs.flutter.dev/cookbook/persistence/sqlite</a:t>
            </a:r>
            <a:endParaRPr lang="en-US" sz="2000">
              <a:solidFill>
                <a:srgbClr val="0070C0"/>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hlinkClick r:id="rId5"/>
              </a:rPr>
              <a:t>https://drift.simonbinder.eu/dart_api/select/#joins</a:t>
            </a:r>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hlinkClick r:id="rId6"/>
              </a:rPr>
              <a:t>https://api.dart.dev/dart-core/String/contains.html</a:t>
            </a:r>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hlinkClick r:id="rId7"/>
              </a:rPr>
              <a:t>https://drift.simonbinder.eu/setup/</a:t>
            </a:r>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hlinkClick r:id="rId8"/>
              </a:rPr>
              <a:t>https://docs.flutter.dev/app-architecture/design-patterns/sql</a:t>
            </a:r>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hlinkClick r:id="rId9"/>
              </a:rPr>
              <a:t>https://www.sqlite.org/lang_createtable.html</a:t>
            </a:r>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hlinkClick r:id="rId10"/>
              </a:rPr>
              <a:t>https://www.sqlite.org/foreignkeys.html</a:t>
            </a:r>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hlinkClick r:id="rId11"/>
              </a:rPr>
              <a:t>https://api.flutter.dev/flutter/widgets/</a:t>
            </a:r>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hlinkClick r:id="rId12"/>
              </a:rPr>
              <a:t>https://api.dart.dev/dart-core/String-class.html</a:t>
            </a:r>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hlinkClick r:id="rId13"/>
              </a:rPr>
              <a:t>https://pub.dev/packages/path_provider</a:t>
            </a:r>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hlinkClick r:id="rId14"/>
              </a:rPr>
              <a:t>https://dart.dev/effective-dart/style#do-name-types-using- uppercamelcase</a:t>
            </a:r>
            <a:endParaRPr lang="en-US" sz="2000">
              <a:solidFill>
                <a:schemeClr val="bg1"/>
              </a:solidFill>
              <a:latin typeface="Cambria" panose="02040503050406030204" pitchFamily="18" charset="0"/>
              <a:ea typeface="Cambria" panose="02040503050406030204" pitchFamily="18" charset="0"/>
            </a:endParaRPr>
          </a:p>
          <a:p>
            <a:r>
              <a:rPr lang="en-US" sz="2000">
                <a:solidFill>
                  <a:srgbClr val="0070C0"/>
                </a:solidFill>
                <a:latin typeface="Cambria" panose="02040503050406030204" pitchFamily="18" charset="0"/>
                <a:ea typeface="Cambria" panose="02040503050406030204" pitchFamily="18" charset="0"/>
              </a:rPr>
              <a:t>TS. Nguyễn Duy Nhật Viễn – Slide bài giảng</a:t>
            </a:r>
          </a:p>
          <a:p>
            <a:pPr marL="342900" indent="-342900">
              <a:buFont typeface="Arial" panose="020B0604020202020204" pitchFamily="34" charset="0"/>
              <a:buChar char="•"/>
            </a:pPr>
            <a:endParaRPr lang="en-US" sz="2000">
              <a:solidFill>
                <a:schemeClr val="bg1"/>
              </a:solidFill>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endParaRPr lang="en-US" sz="2000">
              <a:solidFill>
                <a:schemeClr val="bg1"/>
              </a:solidFill>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endParaRPr lang="en-US" sz="2000">
              <a:solidFill>
                <a:schemeClr val="bg1"/>
              </a:solidFill>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endParaRPr lang="en-US" sz="2000">
              <a:solidFill>
                <a:schemeClr val="bg1"/>
              </a:solidFill>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endParaRPr lang="en-US" sz="2000">
              <a:solidFill>
                <a:schemeClr val="bg1"/>
              </a:solidFill>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endParaRPr lang="en-US" sz="2000">
              <a:solidFill>
                <a:schemeClr val="bg1"/>
              </a:solidFill>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859BD03F-08FD-D62E-2D5D-C8FFEC231BB1}"/>
              </a:ext>
            </a:extLst>
          </p:cNvPr>
          <p:cNvSpPr txBox="1"/>
          <p:nvPr/>
        </p:nvSpPr>
        <p:spPr>
          <a:xfrm>
            <a:off x="1794085" y="1679125"/>
            <a:ext cx="658503" cy="3785652"/>
          </a:xfrm>
          <a:prstGeom prst="rect">
            <a:avLst/>
          </a:prstGeom>
          <a:noFill/>
        </p:spPr>
        <p:txBody>
          <a:bodyPr wrap="square" rtlCol="0">
            <a:spAutoFit/>
          </a:bodyPr>
          <a:lstStyle/>
          <a:p>
            <a:r>
              <a:rPr lang="en-US" sz="2000">
                <a:solidFill>
                  <a:srgbClr val="0070C0"/>
                </a:solidFill>
                <a:latin typeface="Cambria" panose="02040503050406030204" pitchFamily="18" charset="0"/>
                <a:ea typeface="Cambria" panose="02040503050406030204" pitchFamily="18" charset="0"/>
              </a:rPr>
              <a:t>[1]</a:t>
            </a:r>
          </a:p>
          <a:p>
            <a:r>
              <a:rPr lang="en-US" sz="2000">
                <a:solidFill>
                  <a:srgbClr val="0070C0"/>
                </a:solidFill>
                <a:latin typeface="Cambria" panose="02040503050406030204" pitchFamily="18" charset="0"/>
                <a:ea typeface="Cambria" panose="02040503050406030204" pitchFamily="18" charset="0"/>
              </a:rPr>
              <a:t>[2]</a:t>
            </a:r>
          </a:p>
          <a:p>
            <a:r>
              <a:rPr lang="en-US" sz="2000">
                <a:solidFill>
                  <a:srgbClr val="0070C0"/>
                </a:solidFill>
                <a:latin typeface="Cambria" panose="02040503050406030204" pitchFamily="18" charset="0"/>
                <a:ea typeface="Cambria" panose="02040503050406030204" pitchFamily="18" charset="0"/>
              </a:rPr>
              <a:t>[3]</a:t>
            </a:r>
          </a:p>
          <a:p>
            <a:r>
              <a:rPr lang="en-US" sz="2000">
                <a:solidFill>
                  <a:srgbClr val="0070C0"/>
                </a:solidFill>
                <a:latin typeface="Cambria" panose="02040503050406030204" pitchFamily="18" charset="0"/>
                <a:ea typeface="Cambria" panose="02040503050406030204" pitchFamily="18" charset="0"/>
              </a:rPr>
              <a:t>[4]</a:t>
            </a:r>
          </a:p>
          <a:p>
            <a:r>
              <a:rPr lang="en-US" sz="2000">
                <a:solidFill>
                  <a:srgbClr val="0070C0"/>
                </a:solidFill>
                <a:latin typeface="Cambria" panose="02040503050406030204" pitchFamily="18" charset="0"/>
                <a:ea typeface="Cambria" panose="02040503050406030204" pitchFamily="18" charset="0"/>
              </a:rPr>
              <a:t>[5]</a:t>
            </a:r>
          </a:p>
          <a:p>
            <a:r>
              <a:rPr lang="en-US" sz="2000">
                <a:solidFill>
                  <a:srgbClr val="0070C0"/>
                </a:solidFill>
                <a:latin typeface="Cambria" panose="02040503050406030204" pitchFamily="18" charset="0"/>
                <a:ea typeface="Cambria" panose="02040503050406030204" pitchFamily="18" charset="0"/>
              </a:rPr>
              <a:t>[6]</a:t>
            </a:r>
          </a:p>
          <a:p>
            <a:r>
              <a:rPr lang="en-US" sz="2000">
                <a:solidFill>
                  <a:srgbClr val="0070C0"/>
                </a:solidFill>
                <a:latin typeface="Cambria" panose="02040503050406030204" pitchFamily="18" charset="0"/>
                <a:ea typeface="Cambria" panose="02040503050406030204" pitchFamily="18" charset="0"/>
              </a:rPr>
              <a:t>[7]</a:t>
            </a:r>
          </a:p>
          <a:p>
            <a:r>
              <a:rPr lang="en-US" sz="2000">
                <a:solidFill>
                  <a:srgbClr val="0070C0"/>
                </a:solidFill>
                <a:latin typeface="Cambria" panose="02040503050406030204" pitchFamily="18" charset="0"/>
                <a:ea typeface="Cambria" panose="02040503050406030204" pitchFamily="18" charset="0"/>
              </a:rPr>
              <a:t>[8]</a:t>
            </a:r>
          </a:p>
          <a:p>
            <a:r>
              <a:rPr lang="en-US" sz="2000">
                <a:solidFill>
                  <a:srgbClr val="0070C0"/>
                </a:solidFill>
                <a:latin typeface="Cambria" panose="02040503050406030204" pitchFamily="18" charset="0"/>
                <a:ea typeface="Cambria" panose="02040503050406030204" pitchFamily="18" charset="0"/>
              </a:rPr>
              <a:t>[9]</a:t>
            </a:r>
          </a:p>
          <a:p>
            <a:r>
              <a:rPr lang="en-US" sz="2000">
                <a:solidFill>
                  <a:srgbClr val="0070C0"/>
                </a:solidFill>
                <a:latin typeface="Cambria" panose="02040503050406030204" pitchFamily="18" charset="0"/>
                <a:ea typeface="Cambria" panose="02040503050406030204" pitchFamily="18" charset="0"/>
              </a:rPr>
              <a:t>[10]</a:t>
            </a:r>
          </a:p>
          <a:p>
            <a:r>
              <a:rPr lang="en-US" sz="2000">
                <a:solidFill>
                  <a:srgbClr val="0070C0"/>
                </a:solidFill>
                <a:latin typeface="Cambria" panose="02040503050406030204" pitchFamily="18" charset="0"/>
                <a:ea typeface="Cambria" panose="02040503050406030204" pitchFamily="18" charset="0"/>
              </a:rPr>
              <a:t>[11]</a:t>
            </a:r>
          </a:p>
          <a:p>
            <a:r>
              <a:rPr lang="en-US" sz="2000">
                <a:solidFill>
                  <a:srgbClr val="0070C0"/>
                </a:solidFill>
                <a:latin typeface="Cambria" panose="02040503050406030204" pitchFamily="18" charset="0"/>
                <a:ea typeface="Cambria" panose="02040503050406030204" pitchFamily="18" charset="0"/>
              </a:rPr>
              <a:t>[12]</a:t>
            </a:r>
          </a:p>
        </p:txBody>
      </p:sp>
    </p:spTree>
    <p:extLst>
      <p:ext uri="{BB962C8B-B14F-4D97-AF65-F5344CB8AC3E}">
        <p14:creationId xmlns:p14="http://schemas.microsoft.com/office/powerpoint/2010/main" val="1882684021"/>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DE610-D633-74E4-4AEA-E94B4A8B007C}"/>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BF58750-74C9-84DF-155A-BF4F84F9C2C3}"/>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9E8DB5D1-5CB0-F8BC-E165-FCF564AD966D}"/>
              </a:ext>
            </a:extLst>
          </p:cNvPr>
          <p:cNvSpPr txBox="1">
            <a:spLocks/>
          </p:cNvSpPr>
          <p:nvPr/>
        </p:nvSpPr>
        <p:spPr>
          <a:xfrm>
            <a:off x="11245144" y="655075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53</a:t>
            </a:r>
          </a:p>
        </p:txBody>
      </p:sp>
      <p:pic>
        <p:nvPicPr>
          <p:cNvPr id="9" name="Picture 4" descr="Tải mẫu logo trường đại học Bách Khoa Đà Nẵng (DUT) file ...">
            <a:extLst>
              <a:ext uri="{FF2B5EF4-FFF2-40B4-BE49-F238E27FC236}">
                <a16:creationId xmlns:a16="http://schemas.microsoft.com/office/drawing/2014/main" id="{41963719-82F8-7F49-02A1-6634EC7A40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6254160-DB8D-3015-B398-619A3F4BD72C}"/>
              </a:ext>
            </a:extLst>
          </p:cNvPr>
          <p:cNvSpPr txBox="1"/>
          <p:nvPr/>
        </p:nvSpPr>
        <p:spPr>
          <a:xfrm>
            <a:off x="638629" y="963186"/>
            <a:ext cx="9717540" cy="861774"/>
          </a:xfrm>
          <a:prstGeom prst="rect">
            <a:avLst/>
          </a:prstGeom>
          <a:noFill/>
        </p:spPr>
        <p:txBody>
          <a:bodyPr wrap="square" rtlCol="0">
            <a:spAutoFit/>
          </a:bodyPr>
          <a:lstStyle/>
          <a:p>
            <a:pPr marL="342900" indent="-342900">
              <a:lnSpc>
                <a:spcPct val="150000"/>
              </a:lnSpc>
              <a:buFont typeface="Wingdings" panose="05000000000000000000" pitchFamily="2" charset="2"/>
              <a:buChar char="§"/>
            </a:pPr>
            <a:r>
              <a:rPr lang="en-US" sz="2000" b="1">
                <a:solidFill>
                  <a:schemeClr val="bg1"/>
                </a:solidFill>
                <a:latin typeface="Cambria" panose="02040503050406030204" pitchFamily="18" charset="0"/>
                <a:ea typeface="Cambria" panose="02040503050406030204" pitchFamily="18" charset="0"/>
              </a:rPr>
              <a:t>Phân công công việc:</a:t>
            </a:r>
          </a:p>
          <a:p>
            <a:endParaRPr lang="en-US" sz="2000" b="1">
              <a:solidFill>
                <a:schemeClr val="bg1"/>
              </a:solidFill>
              <a:latin typeface="Cambria" panose="02040503050406030204" pitchFamily="18" charset="0"/>
              <a:ea typeface="Cambria" panose="02040503050406030204" pitchFamily="18" charset="0"/>
            </a:endParaRPr>
          </a:p>
        </p:txBody>
      </p:sp>
      <p:graphicFrame>
        <p:nvGraphicFramePr>
          <p:cNvPr id="4" name="Table 3">
            <a:extLst>
              <a:ext uri="{FF2B5EF4-FFF2-40B4-BE49-F238E27FC236}">
                <a16:creationId xmlns:a16="http://schemas.microsoft.com/office/drawing/2014/main" id="{FC4225C7-4A85-B520-61CF-67D0AD3DFEA0}"/>
              </a:ext>
            </a:extLst>
          </p:cNvPr>
          <p:cNvGraphicFramePr>
            <a:graphicFrameLocks noGrp="1"/>
          </p:cNvGraphicFramePr>
          <p:nvPr>
            <p:extLst>
              <p:ext uri="{D42A27DB-BD31-4B8C-83A1-F6EECF244321}">
                <p14:modId xmlns:p14="http://schemas.microsoft.com/office/powerpoint/2010/main" val="3026564341"/>
              </p:ext>
            </p:extLst>
          </p:nvPr>
        </p:nvGraphicFramePr>
        <p:xfrm>
          <a:off x="787326" y="1824960"/>
          <a:ext cx="10353480" cy="2407920"/>
        </p:xfrm>
        <a:graphic>
          <a:graphicData uri="http://schemas.openxmlformats.org/drawingml/2006/table">
            <a:tbl>
              <a:tblPr firstRow="1" bandRow="1"/>
              <a:tblGrid>
                <a:gridCol w="3451160">
                  <a:extLst>
                    <a:ext uri="{9D8B030D-6E8A-4147-A177-3AD203B41FA5}">
                      <a16:colId xmlns:a16="http://schemas.microsoft.com/office/drawing/2014/main" val="4088609260"/>
                    </a:ext>
                  </a:extLst>
                </a:gridCol>
                <a:gridCol w="3772750">
                  <a:extLst>
                    <a:ext uri="{9D8B030D-6E8A-4147-A177-3AD203B41FA5}">
                      <a16:colId xmlns:a16="http://schemas.microsoft.com/office/drawing/2014/main" val="712046500"/>
                    </a:ext>
                  </a:extLst>
                </a:gridCol>
                <a:gridCol w="3129570">
                  <a:extLst>
                    <a:ext uri="{9D8B030D-6E8A-4147-A177-3AD203B41FA5}">
                      <a16:colId xmlns:a16="http://schemas.microsoft.com/office/drawing/2014/main" val="400615402"/>
                    </a:ext>
                  </a:extLst>
                </a:gridCol>
              </a:tblGrid>
              <a:tr h="370840">
                <a:tc>
                  <a:txBody>
                    <a:bodyPr/>
                    <a:lstStyle/>
                    <a:p>
                      <a:r>
                        <a:rPr lang="en-US" sz="2000">
                          <a:solidFill>
                            <a:schemeClr val="bg1"/>
                          </a:solidFill>
                          <a:latin typeface="Cambria" panose="02040503050406030204" pitchFamily="18" charset="0"/>
                          <a:ea typeface="Cambria" panose="02040503050406030204" pitchFamily="18" charset="0"/>
                        </a:rPr>
                        <a:t>Họ và tên</a:t>
                      </a:r>
                    </a:p>
                  </a:txBody>
                  <a:tcPr/>
                </a:tc>
                <a:tc>
                  <a:txBody>
                    <a:bodyPr/>
                    <a:lstStyle/>
                    <a:p>
                      <a:r>
                        <a:rPr lang="en-US" sz="2000">
                          <a:solidFill>
                            <a:schemeClr val="bg1"/>
                          </a:solidFill>
                          <a:latin typeface="Cambria" panose="02040503050406030204" pitchFamily="18" charset="0"/>
                          <a:ea typeface="Cambria" panose="02040503050406030204" pitchFamily="18" charset="0"/>
                        </a:rPr>
                        <a:t>Nhiệm vụ</a:t>
                      </a:r>
                    </a:p>
                  </a:txBody>
                  <a:tcPr/>
                </a:tc>
                <a:tc>
                  <a:txBody>
                    <a:bodyPr/>
                    <a:lstStyle/>
                    <a:p>
                      <a:r>
                        <a:rPr lang="en-US" sz="2000">
                          <a:solidFill>
                            <a:schemeClr val="bg1"/>
                          </a:solidFill>
                          <a:latin typeface="Cambria" panose="02040503050406030204" pitchFamily="18" charset="0"/>
                          <a:ea typeface="Cambria" panose="02040503050406030204" pitchFamily="18" charset="0"/>
                        </a:rPr>
                        <a:t>Khối lượng</a:t>
                      </a:r>
                    </a:p>
                  </a:txBody>
                  <a:tcPr/>
                </a:tc>
                <a:extLst>
                  <a:ext uri="{0D108BD9-81ED-4DB2-BD59-A6C34878D82A}">
                    <a16:rowId xmlns:a16="http://schemas.microsoft.com/office/drawing/2014/main" val="3154929555"/>
                  </a:ext>
                </a:extLst>
              </a:tr>
              <a:tr h="370840">
                <a:tc>
                  <a:txBody>
                    <a:bodyPr/>
                    <a:lstStyle/>
                    <a:p>
                      <a:r>
                        <a:rPr lang="en-US" sz="2000">
                          <a:solidFill>
                            <a:schemeClr val="bg1"/>
                          </a:solidFill>
                          <a:latin typeface="Cambria" panose="02040503050406030204" pitchFamily="18" charset="0"/>
                          <a:ea typeface="Cambria" panose="02040503050406030204" pitchFamily="18" charset="0"/>
                        </a:rPr>
                        <a:t>Lưu Văn Thành Huy</a:t>
                      </a:r>
                    </a:p>
                  </a:txBody>
                  <a:tcPr/>
                </a:tc>
                <a:tc>
                  <a:txBody>
                    <a:bodyPr/>
                    <a:lstStyle/>
                    <a:p>
                      <a:r>
                        <a:rPr lang="en-US" sz="2000">
                          <a:solidFill>
                            <a:schemeClr val="bg1"/>
                          </a:solidFill>
                          <a:latin typeface="Cambria" panose="02040503050406030204" pitchFamily="18" charset="0"/>
                          <a:ea typeface="Cambria" panose="02040503050406030204" pitchFamily="18" charset="0"/>
                        </a:rPr>
                        <a:t>Tìm hiểu về SQLite, các truy vấn phức tạp, relationships với SQLite và Performance testing</a:t>
                      </a:r>
                    </a:p>
                  </a:txBody>
                  <a:tcPr/>
                </a:tc>
                <a:tc>
                  <a:txBody>
                    <a:bodyPr/>
                    <a:lstStyle/>
                    <a:p>
                      <a:r>
                        <a:rPr lang="en-US" sz="2000">
                          <a:solidFill>
                            <a:schemeClr val="bg1"/>
                          </a:solidFill>
                          <a:latin typeface="Cambria" panose="02040503050406030204" pitchFamily="18" charset="0"/>
                          <a:ea typeface="Cambria" panose="02040503050406030204" pitchFamily="18" charset="0"/>
                        </a:rPr>
                        <a:t>50%</a:t>
                      </a:r>
                    </a:p>
                  </a:txBody>
                  <a:tcPr/>
                </a:tc>
                <a:extLst>
                  <a:ext uri="{0D108BD9-81ED-4DB2-BD59-A6C34878D82A}">
                    <a16:rowId xmlns:a16="http://schemas.microsoft.com/office/drawing/2014/main" val="3680798931"/>
                  </a:ext>
                </a:extLst>
              </a:tr>
              <a:tr h="370840">
                <a:tc>
                  <a:txBody>
                    <a:bodyPr/>
                    <a:lstStyle/>
                    <a:p>
                      <a:r>
                        <a:rPr lang="en-US" sz="2000">
                          <a:solidFill>
                            <a:schemeClr val="bg1"/>
                          </a:solidFill>
                          <a:latin typeface="Cambria" panose="02040503050406030204" pitchFamily="18" charset="0"/>
                          <a:ea typeface="Cambria" panose="02040503050406030204" pitchFamily="18" charset="0"/>
                        </a:rPr>
                        <a:t>Lê Thanh Bản</a:t>
                      </a:r>
                    </a:p>
                  </a:txBody>
                  <a:tcPr/>
                </a:tc>
                <a:tc>
                  <a:txBody>
                    <a:bodyPr/>
                    <a:lstStyle/>
                    <a:p>
                      <a:r>
                        <a:rPr lang="en-US" sz="2000">
                          <a:solidFill>
                            <a:schemeClr val="bg1"/>
                          </a:solidFill>
                          <a:latin typeface="Cambria" panose="02040503050406030204" pitchFamily="18" charset="0"/>
                          <a:ea typeface="Cambria" panose="02040503050406030204" pitchFamily="18" charset="0"/>
                        </a:rPr>
                        <a:t>Tìm hiểu về Drift, các truy vấn phức tạp, relationships với Drift và optimization</a:t>
                      </a:r>
                    </a:p>
                  </a:txBody>
                  <a:tcPr/>
                </a:tc>
                <a:tc>
                  <a:txBody>
                    <a:bodyPr/>
                    <a:lstStyle/>
                    <a:p>
                      <a:r>
                        <a:rPr lang="en-US" sz="2000">
                          <a:solidFill>
                            <a:schemeClr val="bg1"/>
                          </a:solidFill>
                          <a:latin typeface="Cambria" panose="02040503050406030204" pitchFamily="18" charset="0"/>
                          <a:ea typeface="Cambria" panose="02040503050406030204" pitchFamily="18" charset="0"/>
                        </a:rPr>
                        <a:t>50%</a:t>
                      </a:r>
                    </a:p>
                  </a:txBody>
                  <a:tcPr/>
                </a:tc>
                <a:extLst>
                  <a:ext uri="{0D108BD9-81ED-4DB2-BD59-A6C34878D82A}">
                    <a16:rowId xmlns:a16="http://schemas.microsoft.com/office/drawing/2014/main" val="3893230849"/>
                  </a:ext>
                </a:extLst>
              </a:tr>
            </a:tbl>
          </a:graphicData>
        </a:graphic>
      </p:graphicFrame>
    </p:spTree>
    <p:extLst>
      <p:ext uri="{BB962C8B-B14F-4D97-AF65-F5344CB8AC3E}">
        <p14:creationId xmlns:p14="http://schemas.microsoft.com/office/powerpoint/2010/main" val="3864682871"/>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1AEB0-05FC-1B56-4FE3-252539D8EB6A}"/>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19B054D-54D9-28BF-1A2C-21C8E3A05956}"/>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7F08E5D6-CA6A-B1F5-8E9F-592AA1981EE8}"/>
              </a:ext>
            </a:extLst>
          </p:cNvPr>
          <p:cNvSpPr txBox="1"/>
          <p:nvPr/>
        </p:nvSpPr>
        <p:spPr>
          <a:xfrm>
            <a:off x="3004456" y="2638753"/>
            <a:ext cx="6168572" cy="1446550"/>
          </a:xfrm>
          <a:prstGeom prst="rect">
            <a:avLst/>
          </a:prstGeom>
          <a:noFill/>
        </p:spPr>
        <p:txBody>
          <a:bodyPr wrap="square" rtlCol="0">
            <a:spAutoFit/>
          </a:bodyPr>
          <a:lstStyle/>
          <a:p>
            <a:pPr algn="ctr"/>
            <a:r>
              <a:rPr lang="en-US" sz="4400" b="1">
                <a:solidFill>
                  <a:schemeClr val="bg1"/>
                </a:solidFill>
                <a:latin typeface="Cambria" panose="02040503050406030204" pitchFamily="18" charset="0"/>
                <a:ea typeface="Cambria" panose="02040503050406030204" pitchFamily="18" charset="0"/>
              </a:rPr>
              <a:t>Cảm ơn thầy cùng các bạn đã lắng nghe !</a:t>
            </a:r>
          </a:p>
        </p:txBody>
      </p:sp>
      <p:sp>
        <p:nvSpPr>
          <p:cNvPr id="4" name="Rectangle 3">
            <a:extLst>
              <a:ext uri="{FF2B5EF4-FFF2-40B4-BE49-F238E27FC236}">
                <a16:creationId xmlns:a16="http://schemas.microsoft.com/office/drawing/2014/main" id="{B54BACDC-915A-6754-422A-C06F3787D515}"/>
              </a:ext>
            </a:extLst>
          </p:cNvPr>
          <p:cNvSpPr/>
          <p:nvPr/>
        </p:nvSpPr>
        <p:spPr>
          <a:xfrm>
            <a:off x="3130062" y="2321169"/>
            <a:ext cx="6042966" cy="2215662"/>
          </a:xfrm>
          <a:prstGeom prst="rect">
            <a:avLst/>
          </a:prstGeom>
          <a:noFill/>
          <a:ln w="38100" cap="flat" cmpd="sng" algn="ctr">
            <a:solidFill>
              <a:srgbClr val="00B05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197131BC-D6D6-0707-1B11-F4452FCA7E41}"/>
              </a:ext>
            </a:extLst>
          </p:cNvPr>
          <p:cNvSpPr txBox="1">
            <a:spLocks/>
          </p:cNvSpPr>
          <p:nvPr/>
        </p:nvSpPr>
        <p:spPr>
          <a:xfrm>
            <a:off x="11204200" y="655075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54</a:t>
            </a:r>
          </a:p>
        </p:txBody>
      </p:sp>
    </p:spTree>
    <p:extLst>
      <p:ext uri="{BB962C8B-B14F-4D97-AF65-F5344CB8AC3E}">
        <p14:creationId xmlns:p14="http://schemas.microsoft.com/office/powerpoint/2010/main" val="1399081211"/>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3DFloatVTI">
  <a:themeElements>
    <a:clrScheme name="Float">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Float">
      <a:majorFont>
        <a:latin typeface="Walbaum Display"/>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3DFloatVTI" id="{F59BA300-ED19-4B39-9AE3-7882B1DE8B78}" vid="{0FEC63E3-719F-4F50-9F1E-5B8BAF39109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3BC42CFF30DAD49AD9447EB755AC427" ma:contentTypeVersion="5" ma:contentTypeDescription="Create a new document." ma:contentTypeScope="" ma:versionID="21b79db815ffa5220659b976ec10bf65">
  <xsd:schema xmlns:xsd="http://www.w3.org/2001/XMLSchema" xmlns:xs="http://www.w3.org/2001/XMLSchema" xmlns:p="http://schemas.microsoft.com/office/2006/metadata/properties" xmlns:ns3="87ded781-2f94-4d69-8848-7c5557f2fdca" targetNamespace="http://schemas.microsoft.com/office/2006/metadata/properties" ma:root="true" ma:fieldsID="3de7ec367e1d1855adcfb4822c55796b" ns3:_="">
    <xsd:import namespace="87ded781-2f94-4d69-8848-7c5557f2fdca"/>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_activity"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7ded781-2f94-4d69-8848-7c5557f2fd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_activity" ma:index="11" nillable="true" ma:displayName="_activity" ma:hidden="true" ma:internalName="_activity">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87ded781-2f94-4d69-8848-7c5557f2fdca" xsi:nil="true"/>
  </documentManagement>
</p:properties>
</file>

<file path=customXml/itemProps1.xml><?xml version="1.0" encoding="utf-8"?>
<ds:datastoreItem xmlns:ds="http://schemas.openxmlformats.org/officeDocument/2006/customXml" ds:itemID="{0659FB29-8DFB-4971-B0DF-CD856EA68F7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7ded781-2f94-4d69-8848-7c5557f2fd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7872E24-E975-488F-ABD8-BF1D3ECDDD3F}">
  <ds:schemaRefs>
    <ds:schemaRef ds:uri="http://schemas.microsoft.com/sharepoint/v3/contenttype/forms"/>
  </ds:schemaRefs>
</ds:datastoreItem>
</file>

<file path=customXml/itemProps3.xml><?xml version="1.0" encoding="utf-8"?>
<ds:datastoreItem xmlns:ds="http://schemas.openxmlformats.org/officeDocument/2006/customXml" ds:itemID="{B6C9A345-86F4-4337-9954-491FDB3307E7}">
  <ds:schemaRefs>
    <ds:schemaRef ds:uri="http://schemas.microsoft.com/office/2006/documentManagement/types"/>
    <ds:schemaRef ds:uri="http://www.w3.org/XML/1998/namespace"/>
    <ds:schemaRef ds:uri="http://purl.org/dc/elements/1.1/"/>
    <ds:schemaRef ds:uri="http://schemas.microsoft.com/office/infopath/2007/PartnerControls"/>
    <ds:schemaRef ds:uri="http://purl.org/dc/terms/"/>
    <ds:schemaRef ds:uri="87ded781-2f94-4d69-8848-7c5557f2fdca"/>
    <ds:schemaRef ds:uri="http://schemas.microsoft.com/office/2006/metadata/properties"/>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2944</TotalTime>
  <Words>34332</Words>
  <Application>Microsoft Office PowerPoint</Application>
  <PresentationFormat>Widescreen</PresentationFormat>
  <Paragraphs>3059</Paragraphs>
  <Slides>54</Slides>
  <Notes>52</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54</vt:i4>
      </vt:variant>
    </vt:vector>
  </HeadingPairs>
  <TitlesOfParts>
    <vt:vector size="65" baseType="lpstr">
      <vt:lpstr>Aptos</vt:lpstr>
      <vt:lpstr>Aptos Display</vt:lpstr>
      <vt:lpstr>Arial</vt:lpstr>
      <vt:lpstr>Calibri</vt:lpstr>
      <vt:lpstr>Cambria</vt:lpstr>
      <vt:lpstr>Courier New</vt:lpstr>
      <vt:lpstr>Gill Sans MT</vt:lpstr>
      <vt:lpstr>Walbaum Display</vt:lpstr>
      <vt:lpstr>Wingdings</vt:lpstr>
      <vt:lpstr>Office Theme</vt:lpstr>
      <vt:lpstr>3DFloatVTI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Lê Thanh Căn</dc:creator>
  <cp:lastModifiedBy>Lê Thanh Bản</cp:lastModifiedBy>
  <cp:revision>52</cp:revision>
  <dcterms:created xsi:type="dcterms:W3CDTF">2025-10-17T10:17:54Z</dcterms:created>
  <dcterms:modified xsi:type="dcterms:W3CDTF">2025-10-27T10:39:09Z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0x01010043BC42CFF30DAD49AD9447EB755AC427</vt:lpwstr>
  </property>
</Properties>
</file>